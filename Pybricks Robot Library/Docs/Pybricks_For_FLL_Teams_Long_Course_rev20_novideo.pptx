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59" d="100"/>
          <a:sy n="159" d="100"/>
        </p:scale>
        <p:origin x="8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a:rPr>
              <a:t>Click to move the slide</a:t>
            </a:r>
          </a:p>
        </p:txBody>
      </p:sp>
      <p:sp>
        <p:nvSpPr>
          <p:cNvPr id="4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4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46" name="PlaceHolder 4"/>
          <p:cNvSpPr>
            <a:spLocks noGrp="1"/>
          </p:cNvSpPr>
          <p:nvPr>
            <p:ph type="dt" idx="9"/>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47" name="PlaceHolder 5"/>
          <p:cNvSpPr>
            <a:spLocks noGrp="1"/>
          </p:cNvSpPr>
          <p:nvPr>
            <p:ph type="ftr" idx="10"/>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48" name="PlaceHolder 6"/>
          <p:cNvSpPr>
            <a:spLocks noGrp="1"/>
          </p:cNvSpPr>
          <p:nvPr>
            <p:ph type="sldNum" idx="11"/>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113E4D0-220C-407E-AD0F-8839B4D25C3C}"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github.com/orgs/pybricks/discussions/1721"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spike.legoeducation.com" TargetMode="External"/><Relationship Id="rId3" Type="http://schemas.openxmlformats.org/officeDocument/2006/relationships/hyperlink" Target="https://www.youtube.com/watch?v=wrTzz1ch-J8" TargetMode="External"/><Relationship Id="rId7" Type="http://schemas.openxmlformats.org/officeDocument/2006/relationships/hyperlink" Target="https://brickarchitect.com/labels" TargetMode="External"/><Relationship Id="rId2" Type="http://schemas.openxmlformats.org/officeDocument/2006/relationships/slide" Target="../slides/slide103.xml"/><Relationship Id="rId1" Type="http://schemas.openxmlformats.org/officeDocument/2006/relationships/notesMaster" Target="../notesMasters/notesMaster1.xml"/><Relationship Id="rId6" Type="http://schemas.openxmlformats.org/officeDocument/2006/relationships/hyperlink" Target="http://www.andymark.com" TargetMode="External"/><Relationship Id="rId5" Type="http://schemas.openxmlformats.org/officeDocument/2006/relationships/hyperlink" Target="https://docs.google.com/document/d/1Vy9_4ZiiUzzuD4pZSd3Efc4Os2hiR144xzE7PRUn17U/edit?tab=t.0#heading=h.iayj6gyodci5" TargetMode="External"/><Relationship Id="rId4" Type="http://schemas.openxmlformats.org/officeDocument/2006/relationships/hyperlink" Target="https://flltutorials.com/translations/en-us/RobotGame/TechnicBasics.pd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PlaceHolder 1"/>
          <p:cNvSpPr>
            <a:spLocks noGrp="1" noRot="1" noChangeAspect="1"/>
          </p:cNvSpPr>
          <p:nvPr>
            <p:ph type="sldImg"/>
          </p:nvPr>
        </p:nvSpPr>
        <p:spPr>
          <a:xfrm>
            <a:off x="685800" y="1143000"/>
            <a:ext cx="5486040" cy="3085920"/>
          </a:xfrm>
          <a:prstGeom prst="rect">
            <a:avLst/>
          </a:prstGeom>
          <a:ln w="0">
            <a:noFill/>
          </a:ln>
        </p:spPr>
      </p:sp>
      <p:sp>
        <p:nvSpPr>
          <p:cNvPr id="58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indent="0" algn="l">
              <a:buNone/>
            </a:pPr>
            <a:endParaRPr lang="en-US" sz="1100" b="0" u="none" strike="noStrike">
              <a:solidFill>
                <a:srgbClr val="000000"/>
              </a:solidFill>
              <a:effectLst/>
              <a:uFillTx/>
              <a:latin typeface="Arial"/>
            </a:endParaRPr>
          </a:p>
        </p:txBody>
      </p:sp>
      <p:sp>
        <p:nvSpPr>
          <p:cNvPr id="587" name="PlaceHolder 3"/>
          <p:cNvSpPr>
            <a:spLocks noGrp="1"/>
          </p:cNvSpPr>
          <p:nvPr>
            <p:ph type="sldNum" idx="12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400" b="0" u="none" strike="noStrike">
                <a:solidFill>
                  <a:srgbClr val="000000"/>
                </a:solidFill>
                <a:effectLst/>
                <a:uFillTx/>
                <a:latin typeface="Arial"/>
                <a:ea typeface="Arial"/>
              </a:defRPr>
            </a:lvl1pPr>
          </a:lstStyle>
          <a:p>
            <a:pPr indent="0" algn="r">
              <a:lnSpc>
                <a:spcPct val="100000"/>
              </a:lnSpc>
              <a:buNone/>
              <a:tabLst>
                <a:tab pos="0" algn="l"/>
              </a:tabLst>
            </a:pPr>
            <a:fld id="{89FE4849-1AEA-4624-9949-EFCBDA8ED99D}" type="slidenum">
              <a:rPr lang="en" sz="1400" b="0" u="none" strike="noStrike">
                <a:solidFill>
                  <a:srgbClr val="000000"/>
                </a:solidFill>
                <a:effectLst/>
                <a:uFillTx/>
                <a:latin typeface="Arial"/>
                <a:ea typeface="Arial"/>
              </a:rPr>
              <a:t>1</a:t>
            </a:fld>
            <a:endParaRPr lang="en-US" sz="14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PlaceHolder 1"/>
          <p:cNvSpPr>
            <a:spLocks noGrp="1" noRot="1" noChangeAspect="1"/>
          </p:cNvSpPr>
          <p:nvPr>
            <p:ph type="sldImg"/>
          </p:nvPr>
        </p:nvSpPr>
        <p:spPr>
          <a:xfrm>
            <a:off x="685800" y="1143000"/>
            <a:ext cx="5486040" cy="3085920"/>
          </a:xfrm>
          <a:prstGeom prst="rect">
            <a:avLst/>
          </a:prstGeom>
          <a:ln w="0">
            <a:noFill/>
          </a:ln>
        </p:spPr>
      </p:sp>
      <p:sp>
        <p:nvSpPr>
          <p:cNvPr id="58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indent="0" algn="l">
              <a:buNone/>
            </a:pPr>
            <a:endParaRPr lang="en-US" sz="1100" b="0" u="none" strike="noStrike">
              <a:solidFill>
                <a:srgbClr val="000000"/>
              </a:solidFill>
              <a:effectLst/>
              <a:uFillTx/>
              <a:latin typeface="Arial"/>
            </a:endParaRPr>
          </a:p>
        </p:txBody>
      </p:sp>
      <p:sp>
        <p:nvSpPr>
          <p:cNvPr id="590" name="PlaceHolder 3"/>
          <p:cNvSpPr>
            <a:spLocks noGrp="1"/>
          </p:cNvSpPr>
          <p:nvPr>
            <p:ph type="sldNum" idx="1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400" b="0" u="none" strike="noStrike">
                <a:solidFill>
                  <a:srgbClr val="000000"/>
                </a:solidFill>
                <a:effectLst/>
                <a:uFillTx/>
                <a:latin typeface="Arial"/>
                <a:ea typeface="Arial"/>
              </a:defRPr>
            </a:lvl1pPr>
          </a:lstStyle>
          <a:p>
            <a:pPr indent="0" algn="r">
              <a:lnSpc>
                <a:spcPct val="100000"/>
              </a:lnSpc>
              <a:buNone/>
              <a:tabLst>
                <a:tab pos="0" algn="l"/>
              </a:tabLst>
            </a:pPr>
            <a:fld id="{0E1F825B-FF84-44AD-9370-810F3AE40D27}" type="slidenum">
              <a:rPr lang="en" sz="1400" b="0" u="none" strike="noStrike">
                <a:solidFill>
                  <a:srgbClr val="000000"/>
                </a:solidFill>
                <a:effectLst/>
                <a:uFillTx/>
                <a:latin typeface="Arial"/>
                <a:ea typeface="Arial"/>
              </a:rPr>
              <a:t>4</a:t>
            </a:fld>
            <a:endParaRPr lang="en-US" sz="14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PlaceHolder 1"/>
          <p:cNvSpPr>
            <a:spLocks noGrp="1" noRot="1" noChangeAspect="1"/>
          </p:cNvSpPr>
          <p:nvPr>
            <p:ph type="sldImg"/>
          </p:nvPr>
        </p:nvSpPr>
        <p:spPr>
          <a:xfrm>
            <a:off x="380880" y="685800"/>
            <a:ext cx="6095520" cy="3428640"/>
          </a:xfrm>
          <a:prstGeom prst="rect">
            <a:avLst/>
          </a:prstGeom>
          <a:ln w="0">
            <a:noFill/>
          </a:ln>
        </p:spPr>
      </p:sp>
      <p:sp>
        <p:nvSpPr>
          <p:cNvPr id="592"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Initialize the Prime Hub </a:t>
            </a:r>
            <a:endParaRPr lang="en-US" sz="1500" b="0" u="none" strike="noStrike">
              <a:solidFill>
                <a:srgbClr val="000000"/>
              </a:solidFill>
              <a:effectLst/>
              <a:uFillTx/>
              <a:latin typeface="Arial"/>
            </a:endParaRPr>
          </a:p>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Initialize 3 motors  (</a:t>
            </a:r>
            <a:r>
              <a:rPr lang="en" sz="1500" b="0" i="1" u="none" strike="noStrike">
                <a:solidFill>
                  <a:schemeClr val="dk1"/>
                </a:solidFill>
                <a:effectLst/>
                <a:uFillTx/>
                <a:latin typeface="Arial"/>
                <a:ea typeface="Arial"/>
              </a:rPr>
              <a:t>right_motor, left_motor, attachment_motor</a:t>
            </a:r>
            <a:r>
              <a:rPr lang="en" sz="1500" b="0" u="none" strike="noStrike">
                <a:solidFill>
                  <a:schemeClr val="dk1"/>
                </a:solidFill>
                <a:effectLst/>
                <a:uFillTx/>
                <a:latin typeface="Arial"/>
                <a:ea typeface="Arial"/>
              </a:rPr>
              <a:t>).</a:t>
            </a:r>
            <a:endParaRPr lang="en-US" sz="1500" b="0" u="none" strike="noStrike">
              <a:solidFill>
                <a:srgbClr val="000000"/>
              </a:solidFill>
              <a:effectLst/>
              <a:uFillTx/>
              <a:latin typeface="Arial"/>
            </a:endParaRPr>
          </a:p>
          <a:p>
            <a:pPr marL="914400" lvl="1" indent="-324000" algn="l">
              <a:lnSpc>
                <a:spcPct val="115000"/>
              </a:lnSpc>
              <a:buClr>
                <a:srgbClr val="000000"/>
              </a:buClr>
              <a:buFont typeface="Arial"/>
              <a:buAutoNum type="alphaLcPeriod"/>
            </a:pPr>
            <a:r>
              <a:rPr lang="en" sz="1500" b="0" u="none" strike="noStrike">
                <a:solidFill>
                  <a:schemeClr val="dk1"/>
                </a:solidFill>
                <a:effectLst/>
                <a:uFillTx/>
                <a:latin typeface="Arial"/>
                <a:ea typeface="Arial"/>
              </a:rPr>
              <a:t>Since left and &amp; motors are opposite of each other, you need make the “forward wheel directions” opposite</a:t>
            </a:r>
            <a:endParaRPr lang="en-US" sz="1500" b="0" u="none" strike="noStrike">
              <a:solidFill>
                <a:srgbClr val="000000"/>
              </a:solidFill>
              <a:effectLst/>
              <a:uFillTx/>
              <a:latin typeface="Arial"/>
            </a:endParaRPr>
          </a:p>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Configure the “Drive Base” object so it knows which motors are for driving (</a:t>
            </a:r>
            <a:r>
              <a:rPr lang="en" sz="1500" b="0" i="1" u="none" strike="noStrike">
                <a:solidFill>
                  <a:schemeClr val="dk1"/>
                </a:solidFill>
                <a:effectLst/>
                <a:uFillTx/>
                <a:latin typeface="Arial"/>
                <a:ea typeface="Arial"/>
              </a:rPr>
              <a:t>left_motor</a:t>
            </a:r>
            <a:r>
              <a:rPr lang="en" sz="1500" b="0" u="none" strike="noStrike">
                <a:solidFill>
                  <a:schemeClr val="dk1"/>
                </a:solidFill>
                <a:effectLst/>
                <a:uFillTx/>
                <a:latin typeface="Arial"/>
                <a:ea typeface="Arial"/>
              </a:rPr>
              <a:t> &amp; </a:t>
            </a:r>
            <a:r>
              <a:rPr lang="en" sz="1500" b="0" i="1" u="none" strike="noStrike">
                <a:solidFill>
                  <a:schemeClr val="dk1"/>
                </a:solidFill>
                <a:effectLst/>
                <a:uFillTx/>
                <a:latin typeface="Arial"/>
                <a:ea typeface="Arial"/>
              </a:rPr>
              <a:t>right_motor</a:t>
            </a:r>
            <a:r>
              <a:rPr lang="en" sz="1500" b="0" u="none" strike="noStrike">
                <a:solidFill>
                  <a:schemeClr val="dk1"/>
                </a:solidFill>
                <a:effectLst/>
                <a:uFillTx/>
                <a:latin typeface="Arial"/>
                <a:ea typeface="Arial"/>
              </a:rPr>
              <a:t>), what size wheels you are using, and how far the center of wheels are part</a:t>
            </a:r>
            <a:endParaRPr lang="en-US" sz="1500" b="0" u="none" strike="noStrike">
              <a:solidFill>
                <a:srgbClr val="000000"/>
              </a:solidFill>
              <a:effectLst/>
              <a:uFillTx/>
              <a:latin typeface="Arial"/>
            </a:endParaRPr>
          </a:p>
          <a:p>
            <a:pPr marL="914400" lvl="1" indent="-324000" algn="l">
              <a:lnSpc>
                <a:spcPct val="115000"/>
              </a:lnSpc>
              <a:buClr>
                <a:srgbClr val="000000"/>
              </a:buClr>
              <a:buFont typeface="Arial"/>
              <a:buAutoNum type="alphaLcPeriod"/>
            </a:pPr>
            <a:r>
              <a:rPr lang="en" sz="1500" b="0" u="none" strike="noStrike">
                <a:solidFill>
                  <a:schemeClr val="dk1"/>
                </a:solidFill>
                <a:effectLst/>
                <a:uFillTx/>
                <a:latin typeface="Arial"/>
                <a:ea typeface="Arial"/>
              </a:rPr>
              <a:t>The “Drive Base” object is how to control driving speed, driving acceleration, turn speed, turn acceleration, enable the gyroscope, and others aspects of the robot</a:t>
            </a:r>
            <a:endParaRPr lang="en-US" sz="1500" b="0" u="none" strike="noStrike">
              <a:solidFill>
                <a:srgbClr val="000000"/>
              </a:solidFill>
              <a:effectLst/>
              <a:uFillTx/>
              <a:latin typeface="Arial"/>
            </a:endParaRPr>
          </a:p>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Create the “main” program </a:t>
            </a:r>
            <a:endParaRPr lang="en-US" sz="1500" b="0" u="none" strike="noStrike">
              <a:solidFill>
                <a:srgbClr val="000000"/>
              </a:solidFill>
              <a:effectLst/>
              <a:uFillTx/>
              <a:latin typeface="Arial"/>
            </a:endParaRPr>
          </a:p>
          <a:p>
            <a:pPr marL="914400" lvl="1" indent="-324000" algn="l">
              <a:lnSpc>
                <a:spcPct val="115000"/>
              </a:lnSpc>
              <a:buClr>
                <a:srgbClr val="000000"/>
              </a:buClr>
              <a:buFont typeface="Arial"/>
              <a:buAutoNum type="alphaLcPeriod"/>
            </a:pPr>
            <a:r>
              <a:rPr lang="en" sz="1500" b="0" u="none" strike="noStrike">
                <a:solidFill>
                  <a:schemeClr val="dk1"/>
                </a:solidFill>
                <a:effectLst/>
                <a:uFillTx/>
                <a:latin typeface="Arial"/>
                <a:ea typeface="Arial"/>
              </a:rPr>
              <a:t>The main program called the “pybricks_class_bc_task1” function</a:t>
            </a:r>
            <a:endParaRPr lang="en-US" sz="1500" b="0" u="none" strike="noStrike">
              <a:solidFill>
                <a:srgbClr val="000000"/>
              </a:solidFill>
              <a:effectLst/>
              <a:uFillTx/>
              <a:latin typeface="Arial"/>
            </a:endParaRPr>
          </a:p>
          <a:p>
            <a:pPr indent="0" algn="l">
              <a:lnSpc>
                <a:spcPct val="115000"/>
              </a:lnSpc>
              <a:buNone/>
              <a:tabLst>
                <a:tab pos="0" algn="l"/>
              </a:tabLst>
            </a:pPr>
            <a:endParaRPr lang="en-US" sz="1500" b="0" u="none" strike="noStrike">
              <a:solidFill>
                <a:srgbClr val="000000"/>
              </a:solidFill>
              <a:effectLst/>
              <a:uFillTx/>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PlaceHolder 1"/>
          <p:cNvSpPr>
            <a:spLocks noGrp="1" noRot="1" noChangeAspect="1"/>
          </p:cNvSpPr>
          <p:nvPr>
            <p:ph type="sldImg"/>
          </p:nvPr>
        </p:nvSpPr>
        <p:spPr>
          <a:xfrm>
            <a:off x="380880" y="685800"/>
            <a:ext cx="6095520" cy="3428640"/>
          </a:xfrm>
          <a:prstGeom prst="rect">
            <a:avLst/>
          </a:prstGeom>
          <a:ln w="0">
            <a:noFill/>
          </a:ln>
        </p:spPr>
      </p:sp>
      <p:sp>
        <p:nvSpPr>
          <p:cNvPr id="594"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Initialize the Prime Hub </a:t>
            </a:r>
            <a:endParaRPr lang="en-US" sz="1500" b="0" u="none" strike="noStrike">
              <a:solidFill>
                <a:srgbClr val="000000"/>
              </a:solidFill>
              <a:effectLst/>
              <a:uFillTx/>
              <a:latin typeface="Arial"/>
            </a:endParaRPr>
          </a:p>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Initialize 3 motors  (</a:t>
            </a:r>
            <a:r>
              <a:rPr lang="en" sz="1500" b="0" i="1" u="none" strike="noStrike">
                <a:solidFill>
                  <a:schemeClr val="dk1"/>
                </a:solidFill>
                <a:effectLst/>
                <a:uFillTx/>
                <a:latin typeface="Arial"/>
                <a:ea typeface="Arial"/>
              </a:rPr>
              <a:t>right_motor, left_motor, attachment_motor</a:t>
            </a:r>
            <a:r>
              <a:rPr lang="en" sz="1500" b="0" u="none" strike="noStrike">
                <a:solidFill>
                  <a:schemeClr val="dk1"/>
                </a:solidFill>
                <a:effectLst/>
                <a:uFillTx/>
                <a:latin typeface="Arial"/>
                <a:ea typeface="Arial"/>
              </a:rPr>
              <a:t>).</a:t>
            </a:r>
            <a:endParaRPr lang="en-US" sz="1500" b="0" u="none" strike="noStrike">
              <a:solidFill>
                <a:srgbClr val="000000"/>
              </a:solidFill>
              <a:effectLst/>
              <a:uFillTx/>
              <a:latin typeface="Arial"/>
            </a:endParaRPr>
          </a:p>
          <a:p>
            <a:pPr marL="914400" lvl="1" indent="-324000" algn="l">
              <a:lnSpc>
                <a:spcPct val="115000"/>
              </a:lnSpc>
              <a:buClr>
                <a:srgbClr val="000000"/>
              </a:buClr>
              <a:buFont typeface="Arial"/>
              <a:buAutoNum type="alphaLcPeriod"/>
            </a:pPr>
            <a:r>
              <a:rPr lang="en" sz="1500" b="0" u="none" strike="noStrike">
                <a:solidFill>
                  <a:schemeClr val="dk1"/>
                </a:solidFill>
                <a:effectLst/>
                <a:uFillTx/>
                <a:latin typeface="Arial"/>
                <a:ea typeface="Arial"/>
              </a:rPr>
              <a:t>Since left and &amp; motors are opposite of each other, you need make the “forward wheel directions” opposite</a:t>
            </a:r>
            <a:endParaRPr lang="en-US" sz="1500" b="0" u="none" strike="noStrike">
              <a:solidFill>
                <a:srgbClr val="000000"/>
              </a:solidFill>
              <a:effectLst/>
              <a:uFillTx/>
              <a:latin typeface="Arial"/>
            </a:endParaRPr>
          </a:p>
          <a:p>
            <a:pPr marL="457200" indent="-324000" algn="l">
              <a:lnSpc>
                <a:spcPct val="115000"/>
              </a:lnSpc>
              <a:buClr>
                <a:srgbClr val="000000"/>
              </a:buClr>
              <a:buFont typeface="Arial"/>
              <a:buAutoNum type="arabicPeriod"/>
            </a:pPr>
            <a:r>
              <a:rPr lang="en" sz="1500" b="0" u="none" strike="noStrike">
                <a:solidFill>
                  <a:schemeClr val="dk1"/>
                </a:solidFill>
                <a:effectLst/>
                <a:uFillTx/>
                <a:latin typeface="Arial"/>
                <a:ea typeface="Arial"/>
              </a:rPr>
              <a:t>Configure the “Drive Base” object so it knows which motors are for driving (</a:t>
            </a:r>
            <a:r>
              <a:rPr lang="en" sz="1500" b="0" i="1" u="none" strike="noStrike">
                <a:solidFill>
                  <a:schemeClr val="dk1"/>
                </a:solidFill>
                <a:effectLst/>
                <a:uFillTx/>
                <a:latin typeface="Arial"/>
                <a:ea typeface="Arial"/>
              </a:rPr>
              <a:t>left_motor</a:t>
            </a:r>
            <a:r>
              <a:rPr lang="en" sz="1500" b="0" u="none" strike="noStrike">
                <a:solidFill>
                  <a:schemeClr val="dk1"/>
                </a:solidFill>
                <a:effectLst/>
                <a:uFillTx/>
                <a:latin typeface="Arial"/>
                <a:ea typeface="Arial"/>
              </a:rPr>
              <a:t> &amp; </a:t>
            </a:r>
            <a:r>
              <a:rPr lang="en" sz="1500" b="0" i="1" u="none" strike="noStrike">
                <a:solidFill>
                  <a:schemeClr val="dk1"/>
                </a:solidFill>
                <a:effectLst/>
                <a:uFillTx/>
                <a:latin typeface="Arial"/>
                <a:ea typeface="Arial"/>
              </a:rPr>
              <a:t>right_motor</a:t>
            </a:r>
            <a:r>
              <a:rPr lang="en" sz="1500" b="0" u="none" strike="noStrike">
                <a:solidFill>
                  <a:schemeClr val="dk1"/>
                </a:solidFill>
                <a:effectLst/>
                <a:uFillTx/>
                <a:latin typeface="Arial"/>
                <a:ea typeface="Arial"/>
              </a:rPr>
              <a:t>), what size wheels you are using (62.4mm) , and how far the center of wheels are part (204mm)</a:t>
            </a:r>
            <a:endParaRPr lang="en-US" sz="1500" b="0" u="none" strike="noStrike">
              <a:solidFill>
                <a:srgbClr val="000000"/>
              </a:solidFill>
              <a:effectLst/>
              <a:uFillTx/>
              <a:latin typeface="Arial"/>
            </a:endParaRPr>
          </a:p>
          <a:p>
            <a:pPr marL="914400" lvl="1" indent="-324000" algn="l">
              <a:lnSpc>
                <a:spcPct val="115000"/>
              </a:lnSpc>
              <a:buClr>
                <a:srgbClr val="000000"/>
              </a:buClr>
              <a:buFont typeface="Arial"/>
              <a:buAutoNum type="alphaLcPeriod"/>
            </a:pPr>
            <a:r>
              <a:rPr lang="en" sz="1500" b="0" u="none" strike="noStrike">
                <a:solidFill>
                  <a:schemeClr val="dk1"/>
                </a:solidFill>
                <a:effectLst/>
                <a:uFillTx/>
                <a:latin typeface="Arial"/>
                <a:ea typeface="Arial"/>
              </a:rPr>
              <a:t>The “Drive Base” object is how to control driving speed, driving acceleration, turn speed, turn acceleration, enable the gyroscope, and others aspects of the robot</a:t>
            </a:r>
            <a:endParaRPr lang="en-US" sz="1500" b="0" u="none" strike="noStrike">
              <a:solidFill>
                <a:srgbClr val="000000"/>
              </a:solidFill>
              <a:effectLst/>
              <a:uFillTx/>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PlaceHolder 1"/>
          <p:cNvSpPr>
            <a:spLocks noGrp="1" noRot="1" noChangeAspect="1"/>
          </p:cNvSpPr>
          <p:nvPr>
            <p:ph type="sldImg"/>
          </p:nvPr>
        </p:nvSpPr>
        <p:spPr>
          <a:xfrm>
            <a:off x="380880" y="685800"/>
            <a:ext cx="6095520" cy="3428640"/>
          </a:xfrm>
          <a:prstGeom prst="rect">
            <a:avLst/>
          </a:prstGeom>
          <a:ln w="0">
            <a:noFill/>
          </a:ln>
        </p:spPr>
      </p:sp>
      <p:sp>
        <p:nvSpPr>
          <p:cNvPr id="596"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52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Enter a comment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Print a message about configuring the robot</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Enable the Gyroscope</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Configure “drive base” speed (mm/s) and acceleration (mm/s</a:t>
            </a:r>
            <a:r>
              <a:rPr lang="en" sz="1800" b="0" u="none" strike="noStrike" baseline="30000">
                <a:solidFill>
                  <a:schemeClr val="dk1"/>
                </a:solidFill>
                <a:effectLst/>
                <a:uFillTx/>
                <a:latin typeface="Arial"/>
                <a:ea typeface="Arial"/>
              </a:rPr>
              <a:t>2</a:t>
            </a:r>
            <a:r>
              <a:rPr lang="en" sz="1800" b="0" u="none" strike="noStrike">
                <a:solidFill>
                  <a:schemeClr val="dk1"/>
                </a:solidFill>
                <a:effectLst/>
                <a:uFillTx/>
                <a:latin typeface="Arial"/>
                <a:ea typeface="Arial"/>
              </a:rPr>
              <a:t>) and Turn Speed (degrees/s)</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Print a message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Drive straight 300mm then hold position</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Move attachment down by 190 degrees (note the NEGATIVE sign) at 900 degrees/second then hold attachment at that position</a:t>
            </a:r>
            <a:endParaRPr lang="en-US" sz="1800" b="0" u="none" strike="noStrike">
              <a:solidFill>
                <a:srgbClr val="000000"/>
              </a:solidFill>
              <a:effectLst/>
              <a:uFillTx/>
              <a:latin typeface="Arial"/>
            </a:endParaRPr>
          </a:p>
          <a:p>
            <a:pPr marL="914400" lvl="1" indent="-343080" algn="l">
              <a:lnSpc>
                <a:spcPct val="115000"/>
              </a:lnSpc>
              <a:buClr>
                <a:srgbClr val="000000"/>
              </a:buClr>
              <a:buFont typeface="Arial"/>
              <a:buAutoNum type="alphaLcPeriod"/>
            </a:pPr>
            <a:r>
              <a:rPr lang="en" sz="1800" b="0" u="none" strike="noStrike">
                <a:solidFill>
                  <a:schemeClr val="dk1"/>
                </a:solidFill>
                <a:effectLst/>
                <a:uFillTx/>
                <a:latin typeface="Arial"/>
                <a:ea typeface="Arial"/>
              </a:rPr>
              <a:t>Whether the direction is positive or negative depends on the orientation of motor relative to the bottom of the robot.</a:t>
            </a:r>
            <a:endParaRPr lang="en-US" sz="18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PlaceHolder 1"/>
          <p:cNvSpPr>
            <a:spLocks noGrp="1" noRot="1" noChangeAspect="1"/>
          </p:cNvSpPr>
          <p:nvPr>
            <p:ph type="sldImg"/>
          </p:nvPr>
        </p:nvSpPr>
        <p:spPr>
          <a:xfrm>
            <a:off x="380880" y="685800"/>
            <a:ext cx="6095520" cy="3428640"/>
          </a:xfrm>
          <a:prstGeom prst="rect">
            <a:avLst/>
          </a:prstGeom>
          <a:ln w="0">
            <a:noFill/>
          </a:ln>
        </p:spPr>
      </p:sp>
      <p:sp>
        <p:nvSpPr>
          <p:cNvPr id="598"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52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Wait 1.5 seconds (1500 milliseconds)</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Lift move attachment up by 190 degrees at 900 degrees/second then hold attachment at that position</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Drive backwards 150mm (note negative sign)</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Turn right by 90 degrees</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Drive forwards 200 mm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Print another message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startAt="6"/>
            </a:pPr>
            <a:r>
              <a:rPr lang="en" sz="1800" b="0" u="none" strike="noStrike">
                <a:solidFill>
                  <a:schemeClr val="dk1"/>
                </a:solidFill>
                <a:effectLst/>
                <a:uFillTx/>
                <a:latin typeface="Arial"/>
                <a:ea typeface="Arial"/>
              </a:rPr>
              <a:t>Disable gyroscope (by setting drive base to rotation sensors)</a:t>
            </a:r>
            <a:endParaRPr lang="en-US" sz="18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PlaceHolder 1"/>
          <p:cNvSpPr>
            <a:spLocks noGrp="1" noRot="1" noChangeAspect="1"/>
          </p:cNvSpPr>
          <p:nvPr>
            <p:ph type="sldImg"/>
          </p:nvPr>
        </p:nvSpPr>
        <p:spPr>
          <a:xfrm>
            <a:off x="380880" y="685800"/>
            <a:ext cx="6095520" cy="3428640"/>
          </a:xfrm>
          <a:prstGeom prst="rect">
            <a:avLst/>
          </a:prstGeom>
          <a:ln w="0">
            <a:noFill/>
          </a:ln>
        </p:spPr>
      </p:sp>
      <p:sp>
        <p:nvSpPr>
          <p:cNvPr id="600"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Create the “main” program </a:t>
            </a:r>
            <a:endParaRPr lang="en-US" sz="1800" b="0" u="none" strike="noStrike">
              <a:solidFill>
                <a:srgbClr val="000000"/>
              </a:solidFill>
              <a:effectLst/>
              <a:uFillTx/>
              <a:latin typeface="Arial"/>
            </a:endParaRPr>
          </a:p>
          <a:p>
            <a:pPr marL="914400" lvl="1" indent="-330120" algn="l">
              <a:lnSpc>
                <a:spcPct val="115000"/>
              </a:lnSpc>
              <a:buClr>
                <a:srgbClr val="000000"/>
              </a:buClr>
              <a:buFont typeface="Arial"/>
              <a:buAutoNum type="alphaLcPeriod"/>
            </a:pPr>
            <a:r>
              <a:rPr lang="en" sz="1600" b="0" u="none" strike="noStrike">
                <a:solidFill>
                  <a:schemeClr val="dk1"/>
                </a:solidFill>
                <a:effectLst/>
                <a:uFillTx/>
                <a:latin typeface="Arial"/>
                <a:ea typeface="Arial"/>
              </a:rPr>
              <a:t>The main program called the “pybricks_class_bc_task1” function</a:t>
            </a:r>
            <a:endParaRPr lang="en-US" sz="1600" b="0" u="none" strike="noStrike">
              <a:solidFill>
                <a:srgbClr val="000000"/>
              </a:solidFill>
              <a:effectLst/>
              <a:uFillTx/>
              <a:latin typeface="Arial"/>
            </a:endParaRPr>
          </a:p>
          <a:p>
            <a:pPr marL="457200" indent="-352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Enable the Gyroscope</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Configure “drive base” speed (mm/s), acceleration (mm/s</a:t>
            </a:r>
            <a:r>
              <a:rPr lang="en" sz="1800" b="0" u="none" strike="noStrike" baseline="30000">
                <a:solidFill>
                  <a:schemeClr val="dk1"/>
                </a:solidFill>
                <a:effectLst/>
                <a:uFillTx/>
                <a:latin typeface="Arial"/>
                <a:ea typeface="Arial"/>
              </a:rPr>
              <a:t>2</a:t>
            </a:r>
            <a:r>
              <a:rPr lang="en" sz="1800" b="0" u="none" strike="noStrike">
                <a:solidFill>
                  <a:schemeClr val="dk1"/>
                </a:solidFill>
                <a:effectLst/>
                <a:uFillTx/>
                <a:latin typeface="Arial"/>
                <a:ea typeface="Arial"/>
              </a:rPr>
              <a:t>), and “drive base” turn rate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Print a message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Drive straight forward for 250mm</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Move attachment at speed of 900 deg/sec by -190 degrees (down for my robot) then hold</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Move attachment at speed of 900 deg/sec by 190 degrees (up for my robot) then hold</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Drive straight backward for 150mm (-150)</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Turn 90 degrees to right</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Drive straight forward for 200mm</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Print a 2nd message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Disable the Gyroscope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pPr>
            <a:r>
              <a:rPr lang="en" sz="1800" b="0" u="none" strike="noStrike">
                <a:solidFill>
                  <a:schemeClr val="dk1"/>
                </a:solidFill>
                <a:effectLst/>
                <a:uFillTx/>
                <a:latin typeface="Arial"/>
                <a:ea typeface="Arial"/>
              </a:rPr>
              <a:t>Run the pybricks_class_bc_task1() function</a:t>
            </a:r>
            <a:endParaRPr lang="en-US" sz="1800" b="0" u="none" strike="noStrike">
              <a:solidFill>
                <a:srgbClr val="000000"/>
              </a:solidFill>
              <a:effectLst/>
              <a:uFillTx/>
              <a:latin typeface="Arial"/>
            </a:endParaRPr>
          </a:p>
          <a:p>
            <a:pPr marL="914400" lvl="1" indent="-343080" algn="l">
              <a:lnSpc>
                <a:spcPct val="115000"/>
              </a:lnSpc>
              <a:buClr>
                <a:srgbClr val="000000"/>
              </a:buClr>
              <a:buFont typeface="Arial"/>
              <a:buAutoNum type="alphaLcPeriod"/>
            </a:pPr>
            <a:r>
              <a:rPr lang="en" sz="1800" b="1" u="none" strike="noStrike">
                <a:solidFill>
                  <a:schemeClr val="dk1"/>
                </a:solidFill>
                <a:effectLst/>
                <a:uFillTx/>
                <a:latin typeface="Courier New"/>
                <a:ea typeface="Courier New"/>
              </a:rPr>
              <a:t>run_task()</a:t>
            </a:r>
            <a:r>
              <a:rPr lang="en" sz="1800" b="0" u="none" strike="noStrike">
                <a:solidFill>
                  <a:schemeClr val="dk1"/>
                </a:solidFill>
                <a:effectLst/>
                <a:uFillTx/>
                <a:latin typeface="Arial"/>
                <a:ea typeface="Arial"/>
              </a:rPr>
              <a:t> is not needed in this case since multi-task (e.g., multitaskis not being done. Which is also why </a:t>
            </a:r>
            <a:r>
              <a:rPr lang="en" sz="1800" b="1" u="none" strike="noStrike">
                <a:solidFill>
                  <a:schemeClr val="dk1"/>
                </a:solidFill>
                <a:effectLst/>
                <a:uFillTx/>
                <a:latin typeface="Courier New"/>
                <a:ea typeface="Courier New"/>
              </a:rPr>
              <a:t>await</a:t>
            </a:r>
            <a:r>
              <a:rPr lang="en" sz="1800" b="0" u="none" strike="noStrike">
                <a:solidFill>
                  <a:schemeClr val="dk1"/>
                </a:solidFill>
                <a:effectLst/>
                <a:uFillTx/>
                <a:latin typeface="Arial"/>
                <a:ea typeface="Arial"/>
              </a:rPr>
              <a:t> isn’t needed</a:t>
            </a:r>
            <a:endParaRPr lang="en-US" sz="18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380880" y="685800"/>
            <a:ext cx="6095520" cy="3428640"/>
          </a:xfrm>
          <a:prstGeom prst="rect">
            <a:avLst/>
          </a:prstGeom>
          <a:ln w="0">
            <a:noFill/>
          </a:ln>
        </p:spPr>
      </p:sp>
      <p:sp>
        <p:nvSpPr>
          <p:cNvPr id="602"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24000" algn="l">
              <a:lnSpc>
                <a:spcPct val="100000"/>
              </a:lnSpc>
              <a:buClr>
                <a:srgbClr val="000000"/>
              </a:buClr>
              <a:buFont typeface="Arial"/>
              <a:buAutoNum type="arabicParenR"/>
            </a:pPr>
            <a:r>
              <a:rPr lang="en-US" sz="1500" b="0" u="none" strike="noStrike">
                <a:solidFill>
                  <a:srgbClr val="000000"/>
                </a:solidFill>
                <a:effectLst/>
                <a:uFillTx/>
                <a:latin typeface="Arial"/>
                <a:ea typeface="Arial"/>
              </a:rPr>
              <a:t>Set the revision number of the menu. This is displayed later and helps with configuration management</a:t>
            </a:r>
            <a:endParaRPr lang="en-US" sz="1500" b="0" u="none" strike="noStrike">
              <a:solidFill>
                <a:srgbClr val="000000"/>
              </a:solidFill>
              <a:effectLst/>
              <a:uFillTx/>
              <a:latin typeface="Arial"/>
            </a:endParaRPr>
          </a:p>
          <a:p>
            <a:pPr marL="457200" indent="-324000" algn="l">
              <a:lnSpc>
                <a:spcPct val="100000"/>
              </a:lnSpc>
              <a:buClr>
                <a:srgbClr val="000000"/>
              </a:buClr>
              <a:buFont typeface="Arial"/>
              <a:buAutoNum type="arabicParenR"/>
            </a:pPr>
            <a:r>
              <a:rPr lang="en-US" sz="1500" b="0" u="none" strike="noStrike">
                <a:solidFill>
                  <a:srgbClr val="000000"/>
                </a:solidFill>
                <a:effectLst/>
                <a:uFillTx/>
                <a:latin typeface="Arial"/>
                <a:ea typeface="Arial"/>
              </a:rPr>
              <a:t>Import the library we created</a:t>
            </a:r>
            <a:endParaRPr lang="en-US" sz="1500" b="0" u="none" strike="noStrike">
              <a:solidFill>
                <a:srgbClr val="000000"/>
              </a:solidFill>
              <a:effectLst/>
              <a:uFillTx/>
              <a:latin typeface="Arial"/>
            </a:endParaRPr>
          </a:p>
          <a:p>
            <a:pPr marL="457200" indent="-324000" algn="l" defTabSz="914400">
              <a:lnSpc>
                <a:spcPct val="100000"/>
              </a:lnSpc>
              <a:buClr>
                <a:srgbClr val="000000"/>
              </a:buClr>
              <a:buFont typeface="Arial"/>
              <a:buAutoNum type="arabicParenR"/>
            </a:pPr>
            <a:r>
              <a:rPr lang="en-US" sz="1500" b="0" u="none" strike="noStrike">
                <a:solidFill>
                  <a:srgbClr val="000000"/>
                </a:solidFill>
                <a:effectLst/>
                <a:uFillTx/>
                <a:latin typeface="Arial"/>
                <a:ea typeface="Arial"/>
              </a:rPr>
              <a:t>Print out the menu revision number</a:t>
            </a:r>
            <a:endParaRPr lang="en-US" sz="1500" b="0" u="none" strike="noStrike">
              <a:solidFill>
                <a:srgbClr val="000000"/>
              </a:solidFill>
              <a:effectLst/>
              <a:uFillTx/>
              <a:latin typeface="Arial"/>
            </a:endParaRPr>
          </a:p>
          <a:p>
            <a:pPr marL="457200" indent="-324000" algn="l" defTabSz="914400">
              <a:lnSpc>
                <a:spcPct val="100000"/>
              </a:lnSpc>
              <a:buClr>
                <a:srgbClr val="000000"/>
              </a:buClr>
              <a:buFont typeface="Arial"/>
              <a:buAutoNum type="arabicParenR"/>
            </a:pPr>
            <a:r>
              <a:rPr lang="en-US" sz="1500" b="0" u="none" strike="noStrike">
                <a:solidFill>
                  <a:srgbClr val="000000"/>
                </a:solidFill>
                <a:effectLst/>
                <a:uFillTx/>
                <a:latin typeface="Arial"/>
                <a:ea typeface="Arial"/>
              </a:rPr>
              <a:t>Import your tasks and their main functions (pybricks_class_task1, pybricks_class_task2, </a:t>
            </a:r>
            <a:r>
              <a:rPr lang="en-US" sz="1500" b="0" u="none" strike="noStrike">
                <a:solidFill>
                  <a:schemeClr val="dk1"/>
                </a:solidFill>
                <a:effectLst/>
                <a:uFillTx/>
                <a:latin typeface="Arial"/>
                <a:ea typeface="Arial"/>
              </a:rPr>
              <a:t>pybricks_class_task3</a:t>
            </a:r>
            <a:r>
              <a:rPr lang="en-US" sz="1500" b="0" u="none" strike="noStrike">
                <a:solidFill>
                  <a:srgbClr val="000000"/>
                </a:solidFill>
                <a:effectLst/>
                <a:uFillTx/>
                <a:latin typeface="Arial"/>
                <a:ea typeface="Arial"/>
              </a:rPr>
              <a:t>). </a:t>
            </a:r>
            <a:endParaRPr lang="en-US" sz="1500" b="0" u="none" strike="noStrike">
              <a:solidFill>
                <a:srgbClr val="000000"/>
              </a:solidFill>
              <a:effectLst/>
              <a:uFillTx/>
              <a:latin typeface="Arial"/>
            </a:endParaRPr>
          </a:p>
          <a:p>
            <a:pPr marL="914400" lvl="1" indent="-324000" algn="l" defTabSz="914400">
              <a:lnSpc>
                <a:spcPct val="100000"/>
              </a:lnSpc>
              <a:buClr>
                <a:srgbClr val="000000"/>
              </a:buClr>
              <a:buFont typeface="Arial"/>
              <a:buAutoNum type="alphaLcParenR"/>
            </a:pPr>
            <a:r>
              <a:rPr lang="en-US" sz="1500" b="0" u="none" strike="noStrike">
                <a:solidFill>
                  <a:srgbClr val="000000"/>
                </a:solidFill>
                <a:effectLst/>
                <a:uFillTx/>
                <a:latin typeface="Arial"/>
                <a:ea typeface="Arial"/>
              </a:rPr>
              <a:t>Note the _rev# numbers for the tasks. We recommend getting the team members to save changes to their code with increasing revision numbers to the file names. This allows them to “go back in time” to a previous version if they later realize their changes didn’t work out.</a:t>
            </a:r>
            <a:endParaRPr lang="en-US" sz="1500" b="0" u="none" strike="noStrike">
              <a:solidFill>
                <a:srgbClr val="000000"/>
              </a:solidFill>
              <a:effectLst/>
              <a:uFillTx/>
              <a:latin typeface="Arial"/>
            </a:endParaRPr>
          </a:p>
          <a:p>
            <a:pPr marL="914400" lvl="1" indent="-324000" algn="l" defTabSz="914400">
              <a:lnSpc>
                <a:spcPct val="100000"/>
              </a:lnSpc>
              <a:buClr>
                <a:srgbClr val="000000"/>
              </a:buClr>
              <a:buFont typeface="Arial"/>
              <a:buAutoNum type="alphaLcParenR"/>
            </a:pPr>
            <a:r>
              <a:rPr lang="en-US" sz="1500" b="0" u="none" strike="noStrike">
                <a:solidFill>
                  <a:srgbClr val="000000"/>
                </a:solidFill>
                <a:effectLst/>
                <a:uFillTx/>
                <a:latin typeface="Arial"/>
                <a:ea typeface="Arial"/>
              </a:rPr>
              <a:t>We also also recommend putting revision numbers in the code and displaying via print statement when run. See backup slides</a:t>
            </a:r>
            <a:endParaRPr lang="en-US" sz="1500" b="0" u="none" strike="noStrike">
              <a:solidFill>
                <a:srgbClr val="000000"/>
              </a:solidFill>
              <a:effectLst/>
              <a:uFillTx/>
              <a:latin typeface="Arial"/>
            </a:endParaRPr>
          </a:p>
          <a:p>
            <a:pPr marL="914400" lvl="1" indent="-324000" algn="l" defTabSz="914400">
              <a:lnSpc>
                <a:spcPct val="100000"/>
              </a:lnSpc>
              <a:buClr>
                <a:srgbClr val="000000"/>
              </a:buClr>
              <a:buFont typeface="Arial"/>
              <a:buAutoNum type="alphaLcParenR"/>
            </a:pPr>
            <a:r>
              <a:rPr lang="en-US" sz="1500" b="0" u="none" strike="noStrike">
                <a:solidFill>
                  <a:srgbClr val="000000"/>
                </a:solidFill>
                <a:effectLst/>
                <a:uFillTx/>
                <a:latin typeface="Arial"/>
                <a:ea typeface="Arial"/>
              </a:rPr>
              <a:t>Using a revision control system like git also work but that requires a coach with considerably more technical knowledge</a:t>
            </a:r>
            <a:endParaRPr lang="en-US" sz="1500" b="0" u="none" strike="noStrike">
              <a:solidFill>
                <a:srgbClr val="000000"/>
              </a:solidFill>
              <a:effectLst/>
              <a:uFillTx/>
              <a:latin typeface="Arial"/>
            </a:endParaRPr>
          </a:p>
          <a:p>
            <a:pPr indent="0" algn="l" defTabSz="914400">
              <a:lnSpc>
                <a:spcPct val="100000"/>
              </a:lnSpc>
              <a:buNone/>
            </a:pPr>
            <a:endParaRPr lang="en-US" sz="1100" b="0" u="none" strike="noStrike">
              <a:solidFill>
                <a:srgbClr val="000000"/>
              </a:solidFill>
              <a:effectLst/>
              <a:uFillTx/>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PlaceHolder 1"/>
          <p:cNvSpPr>
            <a:spLocks noGrp="1" noRot="1" noChangeAspect="1"/>
          </p:cNvSpPr>
          <p:nvPr>
            <p:ph type="sldImg"/>
          </p:nvPr>
        </p:nvSpPr>
        <p:spPr>
          <a:xfrm>
            <a:off x="380880" y="685800"/>
            <a:ext cx="6095520" cy="3428640"/>
          </a:xfrm>
          <a:prstGeom prst="rect">
            <a:avLst/>
          </a:prstGeom>
          <a:ln w="0">
            <a:noFill/>
          </a:ln>
        </p:spPr>
      </p:sp>
      <p:sp>
        <p:nvSpPr>
          <p:cNvPr id="604"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30120" algn="l">
              <a:lnSpc>
                <a:spcPct val="100000"/>
              </a:lnSpc>
              <a:buClr>
                <a:srgbClr val="000000"/>
              </a:buClr>
              <a:buFont typeface="Arial"/>
              <a:buAutoNum type="arabicParenR" startAt="6"/>
            </a:pPr>
            <a:r>
              <a:rPr lang="en-US" sz="1600" b="0" u="none" strike="noStrike">
                <a:solidFill>
                  <a:srgbClr val="000000"/>
                </a:solidFill>
                <a:effectLst/>
                <a:uFillTx/>
                <a:latin typeface="Arial"/>
                <a:ea typeface="Arial"/>
              </a:rPr>
              <a:t>Start a while loop that runs forever since its conditional is set permanently to True</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US" sz="1600" b="0" u="none" strike="noStrike">
                <a:solidFill>
                  <a:srgbClr val="000000"/>
                </a:solidFill>
                <a:effectLst/>
                <a:uFillTx/>
                <a:latin typeface="Arial"/>
                <a:ea typeface="Arial"/>
              </a:rPr>
              <a:t>Tell the hub what the hub_menu and the possible values for the menu M, 1,2,3, and X</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US" sz="1600" b="0" u="none" strike="noStrike">
                <a:solidFill>
                  <a:srgbClr val="000000"/>
                </a:solidFill>
                <a:effectLst/>
                <a:uFillTx/>
                <a:latin typeface="Arial"/>
                <a:ea typeface="Arial"/>
              </a:rPr>
              <a:t>Assigned the values to actions using IF and ELIF (else if) statements</a:t>
            </a:r>
            <a:endParaRPr lang="en-US" sz="1600" b="0" u="none" strike="noStrike">
              <a:solidFill>
                <a:srgbClr val="000000"/>
              </a:solidFill>
              <a:effectLst/>
              <a:uFillTx/>
              <a:latin typeface="Arial"/>
            </a:endParaRPr>
          </a:p>
          <a:p>
            <a:pPr marL="914400" lvl="1" indent="-330120" algn="l">
              <a:lnSpc>
                <a:spcPct val="100000"/>
              </a:lnSpc>
              <a:buClr>
                <a:srgbClr val="000000"/>
              </a:buClr>
              <a:buFont typeface="Arial"/>
              <a:buAutoNum type="alphaLcParenR"/>
            </a:pPr>
            <a:r>
              <a:rPr lang="en-US" sz="1600" b="0" u="none" strike="noStrike">
                <a:solidFill>
                  <a:srgbClr val="000000"/>
                </a:solidFill>
                <a:effectLst/>
                <a:uFillTx/>
                <a:latin typeface="Arial"/>
                <a:ea typeface="Arial"/>
              </a:rPr>
              <a:t>The actions are the name of functions for your different robot tasks (3 in this case)</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US" sz="1600" b="0" u="none" strike="noStrike">
                <a:solidFill>
                  <a:srgbClr val="000000"/>
                </a:solidFill>
                <a:effectLst/>
                <a:uFillTx/>
                <a:latin typeface="Arial"/>
                <a:ea typeface="Arial"/>
              </a:rPr>
              <a:t>Add exception (error) handling to exit the hub while loop is something goes wrong</a:t>
            </a:r>
            <a:endParaRPr lang="en-US" sz="1600" b="0" u="none" strike="noStrike">
              <a:solidFill>
                <a:srgbClr val="000000"/>
              </a:solidFill>
              <a:effectLst/>
              <a:uFillTx/>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PlaceHolder 1"/>
          <p:cNvSpPr>
            <a:spLocks noGrp="1" noRot="1" noChangeAspect="1"/>
          </p:cNvSpPr>
          <p:nvPr>
            <p:ph type="sldImg"/>
          </p:nvPr>
        </p:nvSpPr>
        <p:spPr>
          <a:xfrm>
            <a:off x="380880" y="685800"/>
            <a:ext cx="6095520" cy="3428640"/>
          </a:xfrm>
          <a:prstGeom prst="rect">
            <a:avLst/>
          </a:prstGeom>
          <a:ln w="0">
            <a:noFill/>
          </a:ln>
        </p:spPr>
      </p:sp>
      <p:sp>
        <p:nvSpPr>
          <p:cNvPr id="606"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330120" algn="l">
              <a:lnSpc>
                <a:spcPct val="100000"/>
              </a:lnSpc>
              <a:buClr>
                <a:srgbClr val="000000"/>
              </a:buClr>
              <a:buFont typeface="Arial"/>
              <a:buAutoNum type="arabicParenR" startAt="6"/>
            </a:pPr>
            <a:r>
              <a:rPr lang="en" sz="1600" b="0" u="none" strike="noStrike">
                <a:solidFill>
                  <a:srgbClr val="000000"/>
                </a:solidFill>
                <a:effectLst/>
                <a:uFillTx/>
                <a:latin typeface="Arial"/>
                <a:ea typeface="Arial"/>
              </a:rPr>
              <a:t>Start a while loop that runs forever since its conditional is set permanently to True</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 sz="1600" b="0" u="none" strike="noStrike">
                <a:solidFill>
                  <a:srgbClr val="000000"/>
                </a:solidFill>
                <a:effectLst/>
                <a:uFillTx/>
                <a:latin typeface="Arial"/>
                <a:ea typeface="Arial"/>
              </a:rPr>
              <a:t>Tell the hub what the hub_menu and the possible values</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 sz="1600" b="0" u="none" strike="noStrike">
                <a:solidFill>
                  <a:srgbClr val="000000"/>
                </a:solidFill>
                <a:effectLst/>
                <a:uFillTx/>
                <a:latin typeface="Arial"/>
                <a:ea typeface="Arial"/>
              </a:rPr>
              <a:t>Assigned the values to actions</a:t>
            </a:r>
            <a:endParaRPr lang="en-US" sz="1600" b="0" u="none" strike="noStrike">
              <a:solidFill>
                <a:srgbClr val="000000"/>
              </a:solidFill>
              <a:effectLst/>
              <a:uFillTx/>
              <a:latin typeface="Arial"/>
            </a:endParaRPr>
          </a:p>
          <a:p>
            <a:pPr marL="914400" lvl="1" indent="-330120" algn="l">
              <a:lnSpc>
                <a:spcPct val="100000"/>
              </a:lnSpc>
              <a:buClr>
                <a:srgbClr val="000000"/>
              </a:buClr>
              <a:buFont typeface="Arial"/>
              <a:buAutoNum type="alphaLcParenR"/>
            </a:pPr>
            <a:r>
              <a:rPr lang="en" sz="1600" b="0" u="none" strike="noStrike">
                <a:solidFill>
                  <a:srgbClr val="000000"/>
                </a:solidFill>
                <a:effectLst/>
                <a:uFillTx/>
                <a:latin typeface="Arial"/>
                <a:ea typeface="Arial"/>
              </a:rPr>
              <a:t>Actions is the name of functions for your different robot tasks (3 in this case)</a:t>
            </a:r>
            <a:endParaRPr lang="en-US" sz="1600" b="0" u="none" strike="noStrike">
              <a:solidFill>
                <a:srgbClr val="000000"/>
              </a:solidFill>
              <a:effectLst/>
              <a:uFillTx/>
              <a:latin typeface="Arial"/>
            </a:endParaRPr>
          </a:p>
          <a:p>
            <a:pPr marL="457200" indent="-330120" algn="l">
              <a:lnSpc>
                <a:spcPct val="100000"/>
              </a:lnSpc>
              <a:buClr>
                <a:srgbClr val="000000"/>
              </a:buClr>
              <a:buFont typeface="Arial"/>
              <a:buAutoNum type="arabicParenR" startAt="6"/>
            </a:pPr>
            <a:r>
              <a:rPr lang="en" sz="1600" b="0" u="none" strike="noStrike">
                <a:solidFill>
                  <a:srgbClr val="000000"/>
                </a:solidFill>
                <a:effectLst/>
                <a:uFillTx/>
                <a:latin typeface="Arial"/>
                <a:ea typeface="Arial"/>
              </a:rPr>
              <a:t>Add exception (error) handling to exit the hub while loop is something goes wrong</a:t>
            </a:r>
            <a:endParaRPr lang="en-US" sz="1600" b="0" u="none" strike="noStrike">
              <a:solidFill>
                <a:srgbClr val="000000"/>
              </a:solidFill>
              <a:effectLst/>
              <a:uFillTx/>
              <a:latin typeface="Arial"/>
            </a:endParaRPr>
          </a:p>
          <a:p>
            <a:pPr indent="0" algn="l">
              <a:lnSpc>
                <a:spcPct val="100000"/>
              </a:lnSpc>
              <a:buNone/>
              <a:tabLst>
                <a:tab pos="0" algn="l"/>
              </a:tabLst>
            </a:pPr>
            <a:endParaRPr lang="en-US" sz="1600" b="0" u="none" strike="noStrike">
              <a:solidFill>
                <a:srgbClr val="000000"/>
              </a:solidFill>
              <a:effectLst/>
              <a:uFillTx/>
              <a:latin typeface="Arial"/>
            </a:endParaRPr>
          </a:p>
          <a:p>
            <a:pPr indent="0" algn="l">
              <a:lnSpc>
                <a:spcPct val="100000"/>
              </a:lnSpc>
              <a:buNone/>
              <a:tabLst>
                <a:tab pos="0" algn="l"/>
              </a:tabLst>
            </a:pPr>
            <a:endParaRPr lang="en-US" sz="1600" b="0" u="none" strike="noStrike">
              <a:solidFill>
                <a:srgbClr val="000000"/>
              </a:solidFill>
              <a:effectLst/>
              <a:uFillTx/>
              <a:latin typeface="Arial"/>
            </a:endParaRPr>
          </a:p>
          <a:p>
            <a:pPr indent="0" algn="l">
              <a:lnSpc>
                <a:spcPct val="100000"/>
              </a:lnSpc>
              <a:buNone/>
              <a:tabLst>
                <a:tab pos="0" algn="l"/>
              </a:tabLst>
            </a:pPr>
            <a:r>
              <a:rPr lang="en" sz="1600" b="0" u="none" strike="noStrike">
                <a:solidFill>
                  <a:srgbClr val="000000"/>
                </a:solidFill>
                <a:effectLst/>
                <a:uFillTx/>
                <a:latin typeface="Arial"/>
                <a:ea typeface="Arial"/>
              </a:rPr>
              <a:t>The source code to the pybricks_class_task#() tasks are in the backup slides in the Pybricks Python Examples section</a:t>
            </a:r>
            <a:endParaRPr lang="en-US" sz="16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381000" y="685800"/>
            <a:ext cx="6096000" cy="3429000"/>
          </a:xfrm>
          <a:prstGeom prst="rect">
            <a:avLst/>
          </a:prstGeom>
          <a:ln w="0">
            <a:noFill/>
          </a:ln>
        </p:spPr>
      </p:sp>
      <p:sp>
        <p:nvSpPr>
          <p:cNvPr id="608"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Analogy: Imagine two dogs racing to their owner, depending on which dogs wins, different things happen.</a:t>
            </a:r>
            <a:endParaRPr lang="en-US" sz="1100" b="0" u="none" strike="noStrike">
              <a:solidFill>
                <a:srgbClr val="000000"/>
              </a:solidFill>
              <a:effectLst/>
              <a:uFillTx/>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PlaceHolder 1"/>
          <p:cNvSpPr>
            <a:spLocks noGrp="1" noRot="1" noChangeAspect="1"/>
          </p:cNvSpPr>
          <p:nvPr>
            <p:ph type="sldImg"/>
          </p:nvPr>
        </p:nvSpPr>
        <p:spPr>
          <a:xfrm>
            <a:off x="381000" y="685800"/>
            <a:ext cx="6096000" cy="3429000"/>
          </a:xfrm>
          <a:prstGeom prst="rect">
            <a:avLst/>
          </a:prstGeom>
          <a:ln w="0">
            <a:noFill/>
          </a:ln>
        </p:spPr>
      </p:sp>
      <p:sp>
        <p:nvSpPr>
          <p:cNvPr id="610"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1600" b="0" u="none" strike="noStrike">
                <a:solidFill>
                  <a:srgbClr val="000000"/>
                </a:solidFill>
                <a:effectLst/>
                <a:uFillTx/>
                <a:latin typeface="Arial"/>
                <a:ea typeface="Arial"/>
              </a:rPr>
              <a:t>For more details see:</a:t>
            </a:r>
            <a:endParaRPr lang="en-US" sz="1600" b="0" u="none" strike="noStrike">
              <a:solidFill>
                <a:srgbClr val="000000"/>
              </a:solidFill>
              <a:effectLst/>
              <a:uFillTx/>
              <a:latin typeface="Arial"/>
            </a:endParaRPr>
          </a:p>
          <a:p>
            <a:pPr indent="0" algn="l">
              <a:lnSpc>
                <a:spcPct val="100000"/>
              </a:lnSpc>
              <a:buNone/>
              <a:tabLst>
                <a:tab pos="0" algn="l"/>
              </a:tabLst>
            </a:pPr>
            <a:r>
              <a:rPr lang="en" sz="1600" b="0" u="sng" strike="noStrike">
                <a:solidFill>
                  <a:schemeClr val="hlink"/>
                </a:solidFill>
                <a:effectLst/>
                <a:uFillTx/>
                <a:latin typeface="Arial"/>
                <a:ea typeface="Arial"/>
                <a:hlinkClick r:id="rId3"/>
              </a:rPr>
              <a:t>https://github.com/orgs/pybricks/discussions/1721</a:t>
            </a:r>
            <a:endParaRPr lang="en-US" sz="16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PlaceHolder 1"/>
          <p:cNvSpPr>
            <a:spLocks noGrp="1" noRot="1" noChangeAspect="1"/>
          </p:cNvSpPr>
          <p:nvPr>
            <p:ph type="sldImg"/>
          </p:nvPr>
        </p:nvSpPr>
        <p:spPr>
          <a:xfrm>
            <a:off x="381000" y="685800"/>
            <a:ext cx="6096000" cy="3429000"/>
          </a:xfrm>
          <a:prstGeom prst="rect">
            <a:avLst/>
          </a:prstGeom>
          <a:ln w="0">
            <a:noFill/>
          </a:ln>
        </p:spPr>
      </p:sp>
      <p:sp>
        <p:nvSpPr>
          <p:cNvPr id="612"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158760" indent="0" algn="l">
              <a:lnSpc>
                <a:spcPct val="100000"/>
              </a:lnSpc>
              <a:buNone/>
              <a:tabLst>
                <a:tab pos="0" algn="l"/>
              </a:tabLst>
            </a:pPr>
            <a:br>
              <a:rPr sz="1100"/>
            </a:br>
            <a:endParaRPr lang="en-US" sz="1100" b="0" u="none" strike="noStrike">
              <a:solidFill>
                <a:srgbClr val="000000"/>
              </a:solidFill>
              <a:effectLst/>
              <a:uFillTx/>
              <a:latin typeface="Arial"/>
            </a:endParaRPr>
          </a:p>
          <a:p>
            <a:pPr marL="158760"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PlaceHolder 1"/>
          <p:cNvSpPr>
            <a:spLocks noGrp="1" noRot="1" noChangeAspect="1"/>
          </p:cNvSpPr>
          <p:nvPr>
            <p:ph type="sldImg"/>
          </p:nvPr>
        </p:nvSpPr>
        <p:spPr>
          <a:xfrm>
            <a:off x="381000" y="685800"/>
            <a:ext cx="6096000" cy="3429000"/>
          </a:xfrm>
          <a:prstGeom prst="rect">
            <a:avLst/>
          </a:prstGeom>
          <a:ln w="0">
            <a:noFill/>
          </a:ln>
        </p:spPr>
      </p:sp>
      <p:sp>
        <p:nvSpPr>
          <p:cNvPr id="614"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gn="ctr">
              <a:lnSpc>
                <a:spcPct val="115000"/>
              </a:lnSpc>
              <a:buNone/>
              <a:tabLst>
                <a:tab pos="0" algn="l"/>
              </a:tabLst>
            </a:pPr>
            <a:r>
              <a:rPr lang="en" sz="2600" b="0" u="none" strike="noStrike">
                <a:solidFill>
                  <a:schemeClr val="dk1"/>
                </a:solidFill>
                <a:effectLst/>
                <a:uFillTx/>
                <a:latin typeface="Arial"/>
                <a:ea typeface="Arial"/>
              </a:rPr>
              <a:t>Thoughts on the Robot Game</a:t>
            </a:r>
            <a:endParaRPr lang="en-US" sz="2600" b="0" u="none" strike="noStrike">
              <a:solidFill>
                <a:srgbClr val="000000"/>
              </a:solidFill>
              <a:effectLst/>
              <a:uFillTx/>
              <a:latin typeface="Arial"/>
            </a:endParaRPr>
          </a:p>
          <a:p>
            <a:pPr indent="0" algn="ctr">
              <a:lnSpc>
                <a:spcPct val="115000"/>
              </a:lnSpc>
              <a:spcBef>
                <a:spcPts val="300"/>
              </a:spcBef>
              <a:buNone/>
              <a:tabLst>
                <a:tab pos="0" algn="l"/>
              </a:tabLst>
            </a:pPr>
            <a:endParaRPr lang="en-US" sz="1200" b="0" u="none" strike="noStrike">
              <a:solidFill>
                <a:srgbClr val="000000"/>
              </a:solidFill>
              <a:effectLst/>
              <a:uFillTx/>
              <a:latin typeface="Arial"/>
            </a:endParaRPr>
          </a:p>
          <a:p>
            <a:pPr indent="0" algn="ctr">
              <a:lnSpc>
                <a:spcPct val="115000"/>
              </a:lnSpc>
              <a:buNone/>
              <a:tabLst>
                <a:tab pos="0" algn="l"/>
              </a:tabLst>
            </a:pPr>
            <a:r>
              <a:rPr lang="en" sz="1200" b="0" u="none" strike="noStrike">
                <a:solidFill>
                  <a:schemeClr val="dk1"/>
                </a:solidFill>
                <a:effectLst/>
                <a:uFillTx/>
                <a:latin typeface="Arial"/>
                <a:ea typeface="Arial"/>
              </a:rPr>
              <a:t>21 April 2025</a:t>
            </a:r>
            <a:endParaRPr lang="en-US" sz="1200" b="0" u="none" strike="noStrike">
              <a:solidFill>
                <a:srgbClr val="000000"/>
              </a:solidFill>
              <a:effectLst/>
              <a:uFillTx/>
              <a:latin typeface="Arial"/>
            </a:endParaRPr>
          </a:p>
          <a:p>
            <a:pPr indent="0" algn="ctr">
              <a:lnSpc>
                <a:spcPct val="115000"/>
              </a:lnSpc>
              <a:buNone/>
              <a:tabLst>
                <a:tab pos="0" algn="l"/>
              </a:tabLst>
            </a:pPr>
            <a:r>
              <a:rPr lang="en" sz="1200" b="0" u="none" strike="noStrike">
                <a:solidFill>
                  <a:schemeClr val="dk1"/>
                </a:solidFill>
                <a:effectLst/>
                <a:uFillTx/>
                <a:latin typeface="Arial"/>
                <a:ea typeface="Arial"/>
              </a:rPr>
              <a:t>Revision 1.7</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Terminology</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Task/Run</a:t>
            </a:r>
            <a:r>
              <a:rPr lang="en" sz="1200" b="0" u="none" strike="noStrike">
                <a:solidFill>
                  <a:schemeClr val="dk1"/>
                </a:solidFill>
                <a:effectLst/>
                <a:uFillTx/>
                <a:latin typeface="Arial"/>
                <a:ea typeface="Arial"/>
              </a:rPr>
              <a:t> - A combination of one or more missions (or parts of missions)</a:t>
            </a: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Mission</a:t>
            </a:r>
            <a:r>
              <a:rPr lang="en" sz="1200" b="0" u="none" strike="noStrike">
                <a:solidFill>
                  <a:schemeClr val="dk1"/>
                </a:solidFill>
                <a:effectLst/>
                <a:uFillTx/>
                <a:latin typeface="Arial"/>
                <a:ea typeface="Arial"/>
              </a:rPr>
              <a:t> - A defined set of one or more objectives in a FLL Robot Game. Missions are usually associated with a single Lego structure on the board. But some missions can contain multiple components or pieces distributed around the board.</a:t>
            </a: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Driver</a:t>
            </a:r>
            <a:r>
              <a:rPr lang="en" sz="1200" b="0" u="none" strike="noStrike">
                <a:solidFill>
                  <a:schemeClr val="dk1"/>
                </a:solidFill>
                <a:effectLst/>
                <a:uFillTx/>
                <a:latin typeface="Arial"/>
                <a:ea typeface="Arial"/>
              </a:rPr>
              <a:t> - The team member responsible for initiating the robot for each task</a:t>
            </a: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Rigger</a:t>
            </a:r>
            <a:r>
              <a:rPr lang="en" sz="1200" b="0" u="none" strike="noStrike">
                <a:solidFill>
                  <a:schemeClr val="dk1"/>
                </a:solidFill>
                <a:effectLst/>
                <a:uFillTx/>
                <a:latin typeface="Arial"/>
                <a:ea typeface="Arial"/>
              </a:rPr>
              <a:t> - The team member responsible for assisting the driver with the robot</a:t>
            </a: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Signer</a:t>
            </a:r>
            <a:r>
              <a:rPr lang="en" sz="1200" b="0" u="none" strike="noStrike">
                <a:solidFill>
                  <a:schemeClr val="dk1"/>
                </a:solidFill>
                <a:effectLst/>
                <a:uFillTx/>
                <a:latin typeface="Arial"/>
                <a:ea typeface="Arial"/>
              </a:rPr>
              <a:t> - The team member responsible for signing the score sheet.</a:t>
            </a: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Crew</a:t>
            </a:r>
            <a:r>
              <a:rPr lang="en" sz="1200" b="0" u="none" strike="noStrike">
                <a:solidFill>
                  <a:schemeClr val="dk1"/>
                </a:solidFill>
                <a:effectLst/>
                <a:uFillTx/>
                <a:latin typeface="Arial"/>
                <a:ea typeface="Arial"/>
              </a:rPr>
              <a:t> - A subset of the team that is currently assigned to the table for a match</a:t>
            </a: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Robot Game Personnel Roles</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Only four team members may be at the table during the execution of the game (2 per side). But they switch with other team members not at table  BUT they can not change sides during a round.</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However, all team members may assist in board configuration verification, home base setup, and scoring.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Coaches should consider having primary and secondary crews (depending on the number of kids on the team). Teams with more than 4 members  usually have primary and secondary crews. With the primary crew being the team members that demonstrate the most consistent highest scoring performance when running the Robot Game in practice. The primary crew starts the Robot Game during the competition. If they achieve the team’s highest possible score (or close to it), then the team should strongly consider giving other team members a chance at the robot game table.</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Some teams use colors, animal names, or other ways to identify the crews to avoid the perception of ranking the members of the team.</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Typically a team is broken down into the following roles for the robot game:</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Driver</a:t>
            </a:r>
            <a:r>
              <a:rPr lang="en" sz="1200" b="0" u="none" strike="noStrike">
                <a:solidFill>
                  <a:schemeClr val="dk1"/>
                </a:solidFill>
                <a:effectLst/>
                <a:uFillTx/>
                <a:latin typeface="Arial"/>
                <a:ea typeface="Arial"/>
              </a:rPr>
              <a:t> - The team member role at each home base responsible for:</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Selecting and initiating a task on the robot hub</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Verifying that the right attachment(s) are installed for the selected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Verifying the attachments are secure in the right location and orientation</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Placing the robot at the correct location in the home base and at correct location in the positioning rig (if applicable)</a:t>
            </a:r>
            <a:endParaRPr lang="en-US" sz="1200" b="0" u="none" strike="noStrike">
              <a:solidFill>
                <a:srgbClr val="000000"/>
              </a:solidFill>
              <a:effectLst/>
              <a:uFillTx/>
              <a:latin typeface="Arial"/>
            </a:endParaRPr>
          </a:p>
          <a:p>
            <a:pPr marL="457200"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Rigger</a:t>
            </a:r>
            <a:r>
              <a:rPr lang="en" sz="1200" b="0" u="none" strike="noStrike">
                <a:solidFill>
                  <a:schemeClr val="dk1"/>
                </a:solidFill>
                <a:effectLst/>
                <a:uFillTx/>
                <a:latin typeface="Arial"/>
                <a:ea typeface="Arial"/>
              </a:rPr>
              <a:t> - The team member role at each home base responsible for:</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Providing the correct attachments to the driver for the next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Securing used attachments so they are not in the way of the robot for the next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Securing any mission parts that were retrieved during the previous task that will not be used in next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Providing any mission parts to the driver that need to be delivered during next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Verifying the robot and positioning rig are the in the correct position for the next task</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Verifying the right task number has been picked on the hub</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Double checking the driver before the mission starts </a:t>
            </a:r>
            <a:endParaRPr lang="en-US" sz="1200" b="0" u="none" strike="noStrike">
              <a:solidFill>
                <a:srgbClr val="000000"/>
              </a:solidFill>
              <a:effectLst/>
              <a:uFillTx/>
              <a:latin typeface="Arial"/>
            </a:endParaRPr>
          </a:p>
          <a:p>
            <a:pPr marL="457200"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1" u="none" strike="noStrike">
                <a:solidFill>
                  <a:schemeClr val="dk1"/>
                </a:solidFill>
                <a:effectLst/>
                <a:uFillTx/>
                <a:latin typeface="Arial"/>
                <a:ea typeface="Arial"/>
              </a:rPr>
              <a:t>Signer</a:t>
            </a:r>
            <a:r>
              <a:rPr lang="en" sz="1200" b="0" u="none" strike="noStrike">
                <a:solidFill>
                  <a:schemeClr val="dk1"/>
                </a:solidFill>
                <a:effectLst/>
                <a:uFillTx/>
                <a:latin typeface="Arial"/>
                <a:ea typeface="Arial"/>
              </a:rPr>
              <a:t> - The team member responsible for signing for the team that the accomplished robot missions were correct. This team member:</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Is responsible for verifying the scoring sheet accurately reflects the missions the team achieved. The scores will be posted in the scoring system usually a short time after the round is over.</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eriod"/>
              <a:tabLst>
                <a:tab pos="0" algn="l"/>
              </a:tabLst>
            </a:pPr>
            <a:r>
              <a:rPr lang="en" sz="1200" b="0" u="none" strike="noStrike">
                <a:solidFill>
                  <a:schemeClr val="dk1"/>
                </a:solidFill>
                <a:effectLst/>
                <a:uFillTx/>
                <a:latin typeface="Arial"/>
                <a:ea typeface="Arial"/>
              </a:rPr>
              <a:t>Some FLL tournaments use https://flltournament.com and the scores are posted on that website usually within 10-15 minutes of a robot game round being complete.</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Must have a thorough understanding of all the missions, the correct “end state” for each mission (or part of mission if scored separately), and the points for each mission.</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eriod"/>
              <a:tabLst>
                <a:tab pos="0" algn="l"/>
              </a:tabLst>
            </a:pPr>
            <a:r>
              <a:rPr lang="en" sz="1200" b="0" u="none" strike="noStrike">
                <a:solidFill>
                  <a:schemeClr val="dk1"/>
                </a:solidFill>
                <a:effectLst/>
                <a:uFillTx/>
                <a:latin typeface="Arial"/>
                <a:ea typeface="Arial"/>
              </a:rPr>
              <a:t>NOTE: During the session there are usually a few updates to the robot game that can alter how missions are positioned (start or end state)  or scored.</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Should be the team member responsible for notifying the referee that the table configuration is correct and the team is ready for the game to start</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eriod"/>
              <a:tabLst>
                <a:tab pos="0" algn="l"/>
              </a:tabLst>
            </a:pPr>
            <a:r>
              <a:rPr lang="en" sz="1200" b="0" u="none" strike="noStrike">
                <a:solidFill>
                  <a:schemeClr val="dk1"/>
                </a:solidFill>
                <a:effectLst/>
                <a:uFillTx/>
                <a:latin typeface="Arial"/>
                <a:ea typeface="Arial"/>
              </a:rPr>
              <a:t>This team member does not have to be one of the team members at the table during the game but they are recommended to be primary team</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 signer role is usually handled by one of the drivers or riggers at the table but does not have to be.</a:t>
            </a: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	</a:t>
            </a: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All team members need to be able to perform both driver and rigger functions and on both sides of the board. However, from a practical perspective team members will likely want to specialize in their roles and side of the board in order to optimize their performance and reduce their stress.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Some teams change the assignment for each match.</a:t>
            </a: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 </a:t>
            </a: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It is common that some team members will not want to be “at the table” during the robot game part of the competition. All team members should be encouraged to participate in the robot game, they should not be forced or coerced to run the robot game.  However, this is not the same for the judging sessions in which all team members </a:t>
            </a:r>
            <a:r>
              <a:rPr lang="en" sz="1200" b="1" u="none" strike="noStrike">
                <a:solidFill>
                  <a:schemeClr val="dk1"/>
                </a:solidFill>
                <a:effectLst/>
                <a:uFillTx/>
                <a:latin typeface="Arial"/>
                <a:ea typeface="Arial"/>
              </a:rPr>
              <a:t>must</a:t>
            </a:r>
            <a:r>
              <a:rPr lang="en" sz="1200" b="0" u="none" strike="noStrike">
                <a:solidFill>
                  <a:schemeClr val="dk1"/>
                </a:solidFill>
                <a:effectLst/>
                <a:uFillTx/>
                <a:latin typeface="Arial"/>
                <a:ea typeface="Arial"/>
              </a:rPr>
              <a:t> participate.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Gracious Professionalism and Core Values must be demonstrated before, during, and after the robot game. The team should:</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arenR"/>
              <a:tabLst>
                <a:tab pos="0" algn="l"/>
              </a:tabLst>
            </a:pPr>
            <a:r>
              <a:rPr lang="en" sz="1200" b="0" u="none" strike="noStrike">
                <a:solidFill>
                  <a:schemeClr val="dk1"/>
                </a:solidFill>
                <a:effectLst/>
                <a:uFillTx/>
                <a:latin typeface="Arial"/>
                <a:ea typeface="Arial"/>
              </a:rPr>
              <a:t>Before the match starts:</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arenR"/>
              <a:tabLst>
                <a:tab pos="0" algn="l"/>
              </a:tabLst>
            </a:pPr>
            <a:r>
              <a:rPr lang="en" sz="1200" b="0" u="none" strike="noStrike">
                <a:solidFill>
                  <a:schemeClr val="dk1"/>
                </a:solidFill>
                <a:effectLst/>
                <a:uFillTx/>
                <a:latin typeface="Arial"/>
                <a:ea typeface="Arial"/>
              </a:rPr>
              <a:t>Greet the opposing team and wish them well</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arenR"/>
              <a:tabLst>
                <a:tab pos="0" algn="l"/>
              </a:tabLst>
            </a:pPr>
            <a:r>
              <a:rPr lang="en" sz="1200" b="0" u="none" strike="noStrike">
                <a:solidFill>
                  <a:schemeClr val="dk1"/>
                </a:solidFill>
                <a:effectLst/>
                <a:uFillTx/>
                <a:latin typeface="Arial"/>
                <a:ea typeface="Arial"/>
              </a:rPr>
              <a:t>Greet the table referee and thank them for volunteering.</a:t>
            </a:r>
            <a:endParaRPr lang="en-US" sz="1200" b="0" u="none" strike="noStrike">
              <a:solidFill>
                <a:srgbClr val="000000"/>
              </a:solidFill>
              <a:effectLst/>
              <a:uFillTx/>
              <a:latin typeface="Arial"/>
            </a:endParaRPr>
          </a:p>
          <a:p>
            <a:pPr marL="1371600" lvl="2" indent="-304920" algn="l">
              <a:lnSpc>
                <a:spcPct val="115000"/>
              </a:lnSpc>
              <a:buClr>
                <a:srgbClr val="000000"/>
              </a:buClr>
              <a:buFont typeface="Arial"/>
              <a:buAutoNum type="romanLcParenR"/>
              <a:tabLst>
                <a:tab pos="0" algn="l"/>
              </a:tabLst>
            </a:pPr>
            <a:r>
              <a:rPr lang="en" sz="1200" b="0" u="none" strike="noStrike">
                <a:solidFill>
                  <a:schemeClr val="dk1"/>
                </a:solidFill>
                <a:effectLst/>
                <a:uFillTx/>
                <a:latin typeface="Arial"/>
                <a:ea typeface="Arial"/>
              </a:rPr>
              <a:t>Giving the referee a high five!</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AutoNum type="arabicParenR"/>
              <a:tabLst>
                <a:tab pos="0" algn="l"/>
              </a:tabLst>
            </a:pPr>
            <a:r>
              <a:rPr lang="en" sz="1200" b="0" u="none" strike="noStrike">
                <a:solidFill>
                  <a:schemeClr val="dk1"/>
                </a:solidFill>
                <a:effectLst/>
                <a:uFillTx/>
                <a:latin typeface="Arial"/>
                <a:ea typeface="Arial"/>
              </a:rPr>
              <a:t>After the match</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arenR"/>
              <a:tabLst>
                <a:tab pos="0" algn="l"/>
              </a:tabLst>
            </a:pPr>
            <a:r>
              <a:rPr lang="en" sz="1200" b="0" u="none" strike="noStrike">
                <a:solidFill>
                  <a:schemeClr val="dk1"/>
                </a:solidFill>
                <a:effectLst/>
                <a:uFillTx/>
                <a:latin typeface="Arial"/>
                <a:ea typeface="Arial"/>
              </a:rPr>
              <a:t>Thank the opposing team for a good match</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AutoNum type="alphaLcParenR"/>
              <a:tabLst>
                <a:tab pos="0" algn="l"/>
              </a:tabLst>
            </a:pPr>
            <a:r>
              <a:rPr lang="en" sz="1200" b="0" u="none" strike="noStrike">
                <a:solidFill>
                  <a:schemeClr val="dk1"/>
                </a:solidFill>
                <a:effectLst/>
                <a:uFillTx/>
                <a:latin typeface="Arial"/>
                <a:ea typeface="Arial"/>
              </a:rPr>
              <a:t>Thank the referee</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It is critical that team members be polite and respectful to the referees before, during, and after (during scoring). They can defend their position but most do so in a way that leverages gracious professionalism. They need to be kind and respectful to the referees. The judges and referees are all volunteers and many are current or former coaches.</a:t>
            </a:r>
            <a:endParaRPr lang="en-US" sz="1200" b="0" u="none" strike="noStrike">
              <a:solidFill>
                <a:srgbClr val="000000"/>
              </a:solidFill>
              <a:effectLst/>
              <a:uFillTx/>
              <a:latin typeface="Arial"/>
            </a:endParaRPr>
          </a:p>
          <a:p>
            <a:pPr indent="0" algn="l">
              <a:lnSpc>
                <a:spcPct val="115000"/>
              </a:lnSpc>
              <a:buNone/>
              <a:tabLst>
                <a:tab pos="0" algn="l"/>
              </a:tabLst>
            </a:pPr>
            <a:endParaRPr lang="en-US" sz="1100" b="0" u="none" strike="noStrike">
              <a:solidFill>
                <a:srgbClr val="000000"/>
              </a:solidFill>
              <a:effectLst/>
              <a:uFillTx/>
              <a:latin typeface="Arial"/>
            </a:endParaRPr>
          </a:p>
          <a:p>
            <a:pPr indent="0" algn="l">
              <a:lnSpc>
                <a:spcPct val="115000"/>
              </a:lnSpc>
              <a:spcBef>
                <a:spcPts val="2001"/>
              </a:spcBef>
              <a:buNone/>
              <a:tabLst>
                <a:tab pos="0" algn="l"/>
              </a:tabLst>
            </a:pPr>
            <a:endParaRPr lang="en-US" sz="1100" b="0" u="none" strike="noStrike">
              <a:solidFill>
                <a:srgbClr val="000000"/>
              </a:solidFill>
              <a:effectLst/>
              <a:uFillTx/>
              <a:latin typeface="Arial"/>
            </a:endParaRPr>
          </a:p>
          <a:p>
            <a:pPr indent="0" algn="l">
              <a:lnSpc>
                <a:spcPct val="115000"/>
              </a:lnSpc>
              <a:spcBef>
                <a:spcPts val="2001"/>
              </a:spcBef>
              <a:buNone/>
              <a:tabLst>
                <a:tab pos="0" algn="l"/>
              </a:tabLst>
            </a:pPr>
            <a:r>
              <a:rPr lang="en" sz="1100" b="0" u="none" strike="noStrike">
                <a:solidFill>
                  <a:schemeClr val="dk1"/>
                </a:solidFill>
                <a:effectLst/>
                <a:uFillTx/>
                <a:latin typeface="Arial"/>
                <a:ea typeface="Arial"/>
              </a:rPr>
              <a:t>Tasks vs. Missions</a:t>
            </a:r>
            <a:endParaRPr lang="en-US" sz="1100" b="0" u="none" strike="noStrike">
              <a:solidFill>
                <a:srgbClr val="000000"/>
              </a:solidFill>
              <a:effectLst/>
              <a:uFillTx/>
              <a:latin typeface="Arial"/>
            </a:endParaRPr>
          </a:p>
          <a:p>
            <a:pPr indent="0" algn="l">
              <a:lnSpc>
                <a:spcPct val="115000"/>
              </a:lnSpc>
              <a:spcBef>
                <a:spcPts val="601"/>
              </a:spcBef>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One common approach to approaching the robot game is combining multiple missions (or parts of missions) into tasks. This is typically done to:</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Optimize the amount of missions that can be completed in the shortest period of time</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Minimize the number of returns to home base</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Minimize the number of attachments that need to be created</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Minimize the number of programs stored and thus have to be selected during the robot game execution</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 It is an effective and proven approach, however; there are some risks and considerations</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There is an increased risk that if a mission fails within the task it could cause all others in that task to fail </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Restarting a task (by potentially retrieving the robot mid-task) rarely works reliably because robot positioning is so precise that changes on the board and models will likely cause the robot to behave in unpredictable ways</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There should be a careful balance between the number of missions per task and the number of tasks.</a:t>
            </a: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Developing Tasks</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1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Teams should look at how to solve specific missions from all angles: front, back, left, right, and from the top.  Try to avoid “start location/home base” bias when looking at how to solve a mission. Frequently the most efficient and reliable way to solve a mission is not obvious from the home base position.</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There usually is more than one way to solve a mission. In most cases it is the end state that matters. There are some restrictions for specific missions - pay careful attention to Robot Game Book and any updates that come out during the season.</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Many missions have an “obvious” solution but that might not be the “best or optimal” solution. For example in the 2023/2024 Masterpiece season “Mission 12 Virtual Reality Artist” the obvious solution was to use the orange paddle to rotate the chicken. However, close inspection of the mission model revealed that a front facing gear was exposed and some teams simply drove up to the mission, connected to the gear with gears attached to the robot’s motors, and then rapidly spun the gear to turn the Chicken in 1-2 seconds.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Robot Game Play Book</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 robot game can be very nerve racking for anyone, especially young kids. You are allowed to have 2 double-sided sheets of paper (1 per home base) at the table. Teams might want to consider having a “play book” with pictures of different robot/attachment configurations in task/execution order to help as both a reminder, a way to double check, and a “crutch” in case they get stage fright.</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Robot Design and Mission Presentation</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A quarter of the team’s score is in the robot design presentation therefore it is essential that the team document their approach to the robot game and be able to effectively present this to the judges.</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This presentation typically contains the following parts:</a:t>
            </a:r>
            <a:endParaRPr lang="en-US" sz="1200" b="0" u="none" strike="noStrike">
              <a:solidFill>
                <a:srgbClr val="000000"/>
              </a:solidFill>
              <a:effectLst/>
              <a:uFillTx/>
              <a:latin typeface="Arial"/>
            </a:endParaRPr>
          </a:p>
          <a:p>
            <a:pPr marL="457200" indent="0" algn="l">
              <a:lnSpc>
                <a:spcPct val="115000"/>
              </a:lnSpc>
              <a:buNone/>
              <a:tabLst>
                <a:tab pos="0" algn="l"/>
              </a:tabLst>
            </a:pP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Explanation and rationale for the robot design and how it was developed and tested. </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Specific emphasis should be on how it evolved over time based on testing and potentially sharing the design with others</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What was the rationale for the location and position of the attachment motors?</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Were the attachments replaceable or fixed in position? And why?</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Did they have a  mix of motorized and non-motorized attachments? If so, why?</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Why did the team choose the specific wheels? </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Did they use casters or wheel-less hubs for the back of the robot? How did they decide which? </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Explanation and rationale for the attachment designs and what missions they are used for?</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How did they evolve over time especially as a result of testing?</a:t>
            </a:r>
            <a:endParaRPr lang="en-US" sz="1200" b="0" u="none" strike="noStrike">
              <a:solidFill>
                <a:srgbClr val="000000"/>
              </a:solidFill>
              <a:effectLst/>
              <a:uFillTx/>
              <a:latin typeface="Arial"/>
            </a:endParaRPr>
          </a:p>
          <a:p>
            <a:pPr marL="914400" lvl="1"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Did the team end up using the original number attachments or did they find a way to use less attachments for more missions when the team started combining missions for the robot game?</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Which tasks did the team implement and why?</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How did the team decide which missions were going to be executed during the competition?</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For what missions did they complete the attachment and coding but decided not to run during the competition and why?</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Consider having team members evaluate missions based on complexity and reliability, then document the results for part of the robot design presentation.</a:t>
            </a:r>
            <a:endParaRPr lang="en-US" sz="1200" b="0" u="none" strike="noStrike">
              <a:solidFill>
                <a:srgbClr val="000000"/>
              </a:solidFill>
              <a:effectLst/>
              <a:uFillTx/>
              <a:latin typeface="Arial"/>
            </a:endParaRPr>
          </a:p>
          <a:p>
            <a:pPr marL="457200" indent="-304920" algn="l">
              <a:lnSpc>
                <a:spcPct val="115000"/>
              </a:lnSpc>
              <a:buClr>
                <a:srgbClr val="000000"/>
              </a:buClr>
              <a:buFont typeface="Arial"/>
              <a:buChar char="●"/>
              <a:tabLst>
                <a:tab pos="0" algn="l"/>
              </a:tabLst>
            </a:pPr>
            <a:r>
              <a:rPr lang="en" sz="1200" b="0" u="none" strike="noStrike">
                <a:solidFill>
                  <a:schemeClr val="dk1"/>
                </a:solidFill>
                <a:effectLst/>
                <a:uFillTx/>
                <a:latin typeface="Arial"/>
                <a:ea typeface="Arial"/>
              </a:rPr>
              <a:t>What was the process they used for testing the robots?</a:t>
            </a:r>
            <a:endParaRPr lang="en-US" sz="1200" b="0" u="none" strike="noStrike">
              <a:solidFill>
                <a:srgbClr val="000000"/>
              </a:solidFill>
              <a:effectLst/>
              <a:uFillTx/>
              <a:latin typeface="Arial"/>
            </a:endParaRPr>
          </a:p>
          <a:p>
            <a:pPr indent="0" algn="l">
              <a:lnSpc>
                <a:spcPct val="115000"/>
              </a:lnSpc>
              <a:spcBef>
                <a:spcPts val="1199"/>
              </a:spcBef>
              <a:buNone/>
              <a:tabLst>
                <a:tab pos="0" algn="l"/>
              </a:tabLst>
            </a:pPr>
            <a:endParaRPr lang="en-US" sz="11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Recording the Game</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100" b="0" u="none" strike="noStrike">
              <a:solidFill>
                <a:srgbClr val="000000"/>
              </a:solidFill>
              <a:effectLst/>
              <a:uFillTx/>
              <a:latin typeface="Arial"/>
            </a:endParaRPr>
          </a:p>
          <a:p>
            <a:pPr indent="0" algn="l">
              <a:lnSpc>
                <a:spcPct val="115000"/>
              </a:lnSpc>
              <a:buNone/>
              <a:tabLst>
                <a:tab pos="0" algn="l"/>
              </a:tabLst>
            </a:pPr>
            <a:r>
              <a:rPr lang="en" sz="1100" b="0" u="none" strike="noStrike">
                <a:solidFill>
                  <a:schemeClr val="dk1"/>
                </a:solidFill>
                <a:effectLst/>
                <a:uFillTx/>
                <a:latin typeface="Arial"/>
                <a:ea typeface="Arial"/>
              </a:rPr>
              <a:t>Tournaments usually let coaches record the game so long as it does not interfere. Using a long telescoping pole (10-15ft) with a camera/phone with a wide angle lens or fish eye lens is the recommended approach. Drones are not likely going to be allowed.  You will be required to stand a good distance (could be 10ft or more) from the end of the table.</a:t>
            </a:r>
            <a:endParaRPr lang="en-US" sz="1100" b="0" u="none" strike="noStrike">
              <a:solidFill>
                <a:srgbClr val="000000"/>
              </a:solidFill>
              <a:effectLst/>
              <a:uFillTx/>
              <a:latin typeface="Arial"/>
            </a:endParaRPr>
          </a:p>
          <a:p>
            <a:pPr indent="0" algn="l">
              <a:lnSpc>
                <a:spcPct val="115000"/>
              </a:lnSpc>
              <a:buNone/>
              <a:tabLst>
                <a:tab pos="0" algn="l"/>
              </a:tabLst>
            </a:pPr>
            <a:endParaRPr lang="en-US" sz="1100" b="0" u="none" strike="noStrike">
              <a:solidFill>
                <a:srgbClr val="000000"/>
              </a:solidFill>
              <a:effectLst/>
              <a:uFillTx/>
              <a:latin typeface="Arial"/>
            </a:endParaRPr>
          </a:p>
          <a:p>
            <a:pPr indent="0" algn="l">
              <a:lnSpc>
                <a:spcPct val="115000"/>
              </a:lnSpc>
              <a:buNone/>
              <a:tabLst>
                <a:tab pos="0" algn="l"/>
              </a:tabLst>
            </a:pPr>
            <a:r>
              <a:rPr lang="en" sz="1100" b="0" u="none" strike="noStrike">
                <a:solidFill>
                  <a:schemeClr val="dk1"/>
                </a:solidFill>
                <a:effectLst/>
                <a:uFillTx/>
                <a:latin typeface="Arial"/>
                <a:ea typeface="Arial"/>
              </a:rPr>
              <a:t>Recording serves several purposes:</a:t>
            </a:r>
            <a:endParaRPr lang="en-US" sz="1100" b="0" u="none" strike="noStrike">
              <a:solidFill>
                <a:srgbClr val="000000"/>
              </a:solidFill>
              <a:effectLst/>
              <a:uFillTx/>
              <a:latin typeface="Arial"/>
            </a:endParaRPr>
          </a:p>
          <a:p>
            <a:pPr marL="457200" indent="-298440" algn="l">
              <a:lnSpc>
                <a:spcPct val="115000"/>
              </a:lnSpc>
              <a:buClr>
                <a:srgbClr val="000000"/>
              </a:buClr>
              <a:buFont typeface="Arial"/>
              <a:buAutoNum type="arabicParenR"/>
              <a:tabLst>
                <a:tab pos="0" algn="l"/>
              </a:tabLst>
            </a:pPr>
            <a:r>
              <a:rPr lang="en" sz="1100" b="0" u="none" strike="noStrike">
                <a:solidFill>
                  <a:schemeClr val="dk1"/>
                </a:solidFill>
                <a:effectLst/>
                <a:uFillTx/>
                <a:latin typeface="Arial"/>
                <a:ea typeface="Arial"/>
              </a:rPr>
              <a:t>Providing a record of the team’s accomplishment</a:t>
            </a:r>
            <a:endParaRPr lang="en-US" sz="1100" b="0" u="none" strike="noStrike">
              <a:solidFill>
                <a:srgbClr val="000000"/>
              </a:solidFill>
              <a:effectLst/>
              <a:uFillTx/>
              <a:latin typeface="Arial"/>
            </a:endParaRPr>
          </a:p>
          <a:p>
            <a:pPr marL="457200" indent="-298440" algn="l">
              <a:lnSpc>
                <a:spcPct val="115000"/>
              </a:lnSpc>
              <a:buClr>
                <a:srgbClr val="000000"/>
              </a:buClr>
              <a:buFont typeface="Arial"/>
              <a:buAutoNum type="arabicParenR"/>
              <a:tabLst>
                <a:tab pos="0" algn="l"/>
              </a:tabLst>
            </a:pPr>
            <a:r>
              <a:rPr lang="en" sz="1100" b="0" u="none" strike="noStrike">
                <a:solidFill>
                  <a:schemeClr val="dk1"/>
                </a:solidFill>
                <a:effectLst/>
                <a:uFillTx/>
                <a:latin typeface="Arial"/>
                <a:ea typeface="Arial"/>
              </a:rPr>
              <a:t>Providing a mechanism for after action review/analysis - especially important if you have more rounds left</a:t>
            </a:r>
            <a:endParaRPr lang="en-US" sz="1100" b="0" u="none" strike="noStrike">
              <a:solidFill>
                <a:srgbClr val="000000"/>
              </a:solidFill>
              <a:effectLst/>
              <a:uFillTx/>
              <a:latin typeface="Arial"/>
            </a:endParaRPr>
          </a:p>
          <a:p>
            <a:pPr marL="457200" indent="-298440" algn="l">
              <a:lnSpc>
                <a:spcPct val="115000"/>
              </a:lnSpc>
              <a:buClr>
                <a:srgbClr val="000000"/>
              </a:buClr>
              <a:buFont typeface="Arial"/>
              <a:buAutoNum type="arabicParenR"/>
              <a:tabLst>
                <a:tab pos="0" algn="l"/>
              </a:tabLst>
            </a:pPr>
            <a:r>
              <a:rPr lang="en" sz="1100" b="0" u="none" strike="noStrike">
                <a:solidFill>
                  <a:schemeClr val="dk1"/>
                </a:solidFill>
                <a:effectLst/>
                <a:uFillTx/>
                <a:latin typeface="Arial"/>
                <a:ea typeface="Arial"/>
              </a:rPr>
              <a:t>Training for future new team members or new teams</a:t>
            </a:r>
            <a:endParaRPr lang="en-US" sz="1100" b="0" u="none" strike="noStrike">
              <a:solidFill>
                <a:srgbClr val="000000"/>
              </a:solidFill>
              <a:effectLst/>
              <a:uFillTx/>
              <a:latin typeface="Arial"/>
            </a:endParaRPr>
          </a:p>
          <a:p>
            <a:pPr indent="0" algn="l">
              <a:lnSpc>
                <a:spcPct val="100000"/>
              </a:lnSpc>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PlaceHolder 1"/>
          <p:cNvSpPr>
            <a:spLocks noGrp="1" noRot="1" noChangeAspect="1"/>
          </p:cNvSpPr>
          <p:nvPr>
            <p:ph type="sldImg"/>
          </p:nvPr>
        </p:nvSpPr>
        <p:spPr>
          <a:xfrm>
            <a:off x="381000" y="685800"/>
            <a:ext cx="6096000" cy="3429000"/>
          </a:xfrm>
          <a:prstGeom prst="rect">
            <a:avLst/>
          </a:prstGeom>
          <a:ln w="0">
            <a:noFill/>
          </a:ln>
        </p:spPr>
      </p:sp>
      <p:sp>
        <p:nvSpPr>
          <p:cNvPr id="616"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gn="l">
              <a:lnSpc>
                <a:spcPct val="115000"/>
              </a:lnSpc>
              <a:buNone/>
              <a:tabLst>
                <a:tab pos="0" algn="l"/>
              </a:tabLst>
            </a:pPr>
            <a:r>
              <a:rPr lang="en" sz="1200" b="0" u="none" strike="noStrike">
                <a:solidFill>
                  <a:schemeClr val="dk1"/>
                </a:solidFill>
                <a:effectLst/>
                <a:uFillTx/>
                <a:latin typeface="Arial"/>
                <a:ea typeface="Arial"/>
              </a:rPr>
              <a:t>There are no specific rules in FLL on how teams should or should not be structured. Teams need to be at least 2 kids and up to 10. Coaches should strongly consider having a mix of ages/grades on a team especially if the older team members have participated in FLL in prior seasons. Having at least a couple of team members with prior experience will really help new team members both with knowledge and reducing some of the stress with the unknown.</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Organizations with multiple competition and recreational teams might want to consider having “Varsity” and “Junior Varsity” teams similar to how many schools treat sports teams.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 most important details for all competition teams is that the team needs to be able to demonstrate that each team member participated in the innovation project, robot design and build, attachment design, and build, programming, and testing, and updating the robot and attachments based on the testing. Work does not have to evenly split between team members but each team member needs to be able to demonstrate/explain how they helped the team in each area!</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Some coaches have found success in having the team pick a “captain” while others have worked well with no designated “leader”.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One approach is to split the missions so that each member takes at least one mission depending on the number of missions and team members. FLL typically has around 15 missions with some missions containing multiple sub-parts. Each person would be responsible for designing and building the attachment for their assigned mission(s). Once the attachment is designed and built,  it is given to another teammate to code the mission including getting from home base to the mission.</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Once a significant portion of missions are done the team is split into two groups, left and right. They are responsible for combining the missions into tasks/runs that are launched from their side.  </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There are several cons to this approach.  You need multiple robots and laptops  (at least two of each) otherwise there is a bottleneck in integrating the code and testing the attachments.  You also need a significant number of lego pieces.  The biggest con is team members can get tunnel visioned so that what they worked on is THE MOST IMPORTANT part of the robot game and unwilling to help others or work together to solve things.</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r>
              <a:rPr lang="en" sz="1200" b="0" u="none" strike="noStrike">
                <a:solidFill>
                  <a:schemeClr val="dk1"/>
                </a:solidFill>
                <a:effectLst/>
                <a:uFillTx/>
                <a:latin typeface="Arial"/>
                <a:ea typeface="Arial"/>
              </a:rPr>
              <a:t>The pro to this approach is every mission is attempted and/or may have a viable solution.  Also this checks the judging rubric box of everyone building and coding the robot.</a:t>
            </a: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PlaceHolder 1"/>
          <p:cNvSpPr>
            <a:spLocks noGrp="1" noRot="1" noChangeAspect="1"/>
          </p:cNvSpPr>
          <p:nvPr>
            <p:ph type="sldImg"/>
          </p:nvPr>
        </p:nvSpPr>
        <p:spPr>
          <a:xfrm>
            <a:off x="381000" y="685800"/>
            <a:ext cx="6096000" cy="3429000"/>
          </a:xfrm>
          <a:prstGeom prst="rect">
            <a:avLst/>
          </a:prstGeom>
          <a:ln w="0">
            <a:noFill/>
          </a:ln>
        </p:spPr>
      </p:sp>
      <p:sp>
        <p:nvSpPr>
          <p:cNvPr id="618"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gn="ctr">
              <a:lnSpc>
                <a:spcPct val="100000"/>
              </a:lnSpc>
              <a:buNone/>
              <a:tabLst>
                <a:tab pos="0" algn="l"/>
              </a:tabLst>
            </a:pPr>
            <a:endParaRPr lang="en-US" sz="1100" b="0" u="none" strike="noStrike">
              <a:solidFill>
                <a:srgbClr val="000000"/>
              </a:solidFill>
              <a:effectLst/>
              <a:uFillTx/>
              <a:latin typeface="Arial"/>
            </a:endParaRPr>
          </a:p>
          <a:p>
            <a:pPr indent="0" algn="ctr">
              <a:lnSpc>
                <a:spcPct val="100000"/>
              </a:lnSpc>
              <a:buNone/>
              <a:tabLst>
                <a:tab pos="0" algn="l"/>
              </a:tabLst>
            </a:pPr>
            <a:r>
              <a:rPr lang="en" sz="1100" b="0" u="none" strike="noStrike">
                <a:solidFill>
                  <a:srgbClr val="000000"/>
                </a:solidFill>
                <a:effectLst/>
                <a:uFillTx/>
                <a:latin typeface="Arial"/>
                <a:ea typeface="Arial"/>
              </a:rPr>
              <a:t>   </a:t>
            </a:r>
            <a:r>
              <a:rPr lang="en" sz="2000" b="0" u="none" strike="noStrike">
                <a:solidFill>
                  <a:schemeClr val="dk1"/>
                </a:solidFill>
                <a:effectLst/>
                <a:uFillTx/>
                <a:latin typeface="Arial"/>
                <a:ea typeface="Arial"/>
              </a:rPr>
              <a:t>Essentials for New Teams</a:t>
            </a:r>
            <a:endParaRPr lang="en-US" sz="2000" b="0" u="none" strike="noStrike">
              <a:solidFill>
                <a:srgbClr val="000000"/>
              </a:solidFill>
              <a:effectLst/>
              <a:uFillTx/>
              <a:latin typeface="Arial"/>
            </a:endParaRPr>
          </a:p>
          <a:p>
            <a:pPr indent="0" algn="ctr">
              <a:lnSpc>
                <a:spcPct val="115000"/>
              </a:lnSpc>
              <a:buNone/>
              <a:tabLst>
                <a:tab pos="0" algn="l"/>
              </a:tabLst>
            </a:pPr>
            <a:endParaRPr lang="en-US" sz="2000" b="0" u="none" strike="noStrike">
              <a:solidFill>
                <a:srgbClr val="000000"/>
              </a:solidFill>
              <a:effectLst/>
              <a:uFillTx/>
              <a:latin typeface="Arial"/>
            </a:endParaRPr>
          </a:p>
          <a:p>
            <a:pPr indent="0" algn="ctr">
              <a:lnSpc>
                <a:spcPct val="115000"/>
              </a:lnSpc>
              <a:buNone/>
              <a:tabLst>
                <a:tab pos="0" algn="l"/>
              </a:tabLst>
            </a:pPr>
            <a:r>
              <a:rPr lang="en" sz="1200" b="0" u="none" strike="noStrike">
                <a:solidFill>
                  <a:schemeClr val="dk1"/>
                </a:solidFill>
                <a:effectLst/>
                <a:uFillTx/>
                <a:latin typeface="Arial"/>
                <a:ea typeface="Arial"/>
              </a:rPr>
              <a:t>22 July 2025</a:t>
            </a:r>
            <a:endParaRPr lang="en-US" sz="1200" b="0" u="none" strike="noStrike">
              <a:solidFill>
                <a:srgbClr val="000000"/>
              </a:solidFill>
              <a:effectLst/>
              <a:uFillTx/>
              <a:latin typeface="Arial"/>
            </a:endParaRPr>
          </a:p>
          <a:p>
            <a:pPr indent="0" algn="ctr">
              <a:lnSpc>
                <a:spcPct val="115000"/>
              </a:lnSpc>
              <a:buNone/>
              <a:tabLst>
                <a:tab pos="0" algn="l"/>
              </a:tabLst>
            </a:pPr>
            <a:r>
              <a:rPr lang="en" sz="1200" b="0" u="none" strike="noStrike">
                <a:solidFill>
                  <a:schemeClr val="dk1"/>
                </a:solidFill>
                <a:effectLst/>
                <a:uFillTx/>
                <a:latin typeface="Arial"/>
                <a:ea typeface="Arial"/>
              </a:rPr>
              <a:t>Revision 2.1</a:t>
            </a:r>
            <a:endParaRPr lang="en-US" sz="1200" b="0" u="none" strike="noStrike">
              <a:solidFill>
                <a:srgbClr val="000000"/>
              </a:solidFill>
              <a:effectLst/>
              <a:uFillTx/>
              <a:latin typeface="Arial"/>
            </a:endParaRPr>
          </a:p>
          <a:p>
            <a:pPr indent="0" algn="ctr">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Robot Equipment &amp; Parts</a:t>
            </a:r>
            <a:endParaRPr lang="en-US" sz="2000" b="0" u="none" strike="noStrike">
              <a:solidFill>
                <a:srgbClr val="000000"/>
              </a:solidFill>
              <a:effectLst/>
              <a:uFillTx/>
              <a:latin typeface="Arial"/>
            </a:endParaRPr>
          </a:p>
          <a:p>
            <a:pPr indent="0" algn="l">
              <a:lnSpc>
                <a:spcPct val="115000"/>
              </a:lnSpc>
              <a:spcBef>
                <a:spcPts val="601"/>
              </a:spcBef>
              <a:buNone/>
              <a:tabLst>
                <a:tab pos="0" algn="l"/>
              </a:tabLst>
            </a:pPr>
            <a:endParaRPr lang="en-US" sz="1100" b="0" u="none" strike="noStrike">
              <a:solidFill>
                <a:srgbClr val="000000"/>
              </a:solidFill>
              <a:effectLst/>
              <a:uFillTx/>
              <a:latin typeface="Arial"/>
            </a:endParaRPr>
          </a:p>
          <a:p>
            <a:pPr indent="0" algn="l">
              <a:lnSpc>
                <a:spcPct val="115000"/>
              </a:lnSpc>
              <a:buNone/>
              <a:tabLst>
                <a:tab pos="0" algn="l"/>
              </a:tabLst>
            </a:pPr>
            <a:endParaRPr lang="en-US" sz="1100" b="0" u="none" strike="noStrike">
              <a:solidFill>
                <a:srgbClr val="000000"/>
              </a:solidFill>
              <a:effectLst/>
              <a:uFillTx/>
              <a:latin typeface="Arial"/>
            </a:endParaRPr>
          </a:p>
          <a:p>
            <a:pPr indent="0" algn="l">
              <a:lnSpc>
                <a:spcPct val="115000"/>
              </a:lnSpc>
              <a:buNone/>
              <a:tabLst>
                <a:tab pos="0" algn="l"/>
              </a:tabLst>
            </a:pPr>
            <a:r>
              <a:rPr lang="en" sz="1100" b="0" u="none" strike="noStrike">
                <a:solidFill>
                  <a:schemeClr val="dk1"/>
                </a:solidFill>
                <a:effectLst/>
                <a:uFillTx/>
                <a:latin typeface="Arial"/>
                <a:ea typeface="Arial"/>
              </a:rPr>
              <a:t>New FLL teams should invest, at a minimum, in the following Lego sets:</a:t>
            </a:r>
            <a:endParaRPr lang="en-US" sz="1100" b="0" u="none" strike="noStrike">
              <a:solidFill>
                <a:srgbClr val="000000"/>
              </a:solidFill>
              <a:effectLst/>
              <a:uFillTx/>
              <a:latin typeface="Arial"/>
            </a:endParaRPr>
          </a:p>
          <a:p>
            <a:pPr marL="457200" indent="0" algn="l">
              <a:lnSpc>
                <a:spcPct val="115000"/>
              </a:lnSpc>
              <a:buNone/>
              <a:tabLst>
                <a:tab pos="0" algn="l"/>
              </a:tabLst>
            </a:pPr>
            <a:endParaRPr lang="en-US" sz="1100" b="0" u="none" strike="noStrike">
              <a:solidFill>
                <a:srgbClr val="000000"/>
              </a:solidFill>
              <a:effectLst/>
              <a:uFillTx/>
              <a:latin typeface="Arial"/>
            </a:endParaRPr>
          </a:p>
          <a:p>
            <a:pPr marL="457200" indent="-298440" algn="l">
              <a:lnSpc>
                <a:spcPct val="111000"/>
              </a:lnSpc>
              <a:buClr>
                <a:srgbClr val="000000"/>
              </a:buClr>
              <a:buFont typeface="Arial"/>
              <a:buChar char="●"/>
              <a:tabLst>
                <a:tab pos="0" algn="l"/>
              </a:tabLst>
            </a:pPr>
            <a:r>
              <a:rPr lang="en" sz="1100" b="0" u="none" strike="noStrike">
                <a:solidFill>
                  <a:schemeClr val="dk1"/>
                </a:solidFill>
                <a:effectLst/>
                <a:uFillTx/>
                <a:latin typeface="Arial"/>
                <a:ea typeface="Arial"/>
              </a:rPr>
              <a:t>LEGO® Education SPIKE™ Prime Set, </a:t>
            </a:r>
            <a:r>
              <a:rPr lang="en" sz="1100" b="0" u="none" strike="noStrike">
                <a:solidFill>
                  <a:schemeClr val="dk1"/>
                </a:solidFill>
                <a:effectLst/>
                <a:uFillTx/>
                <a:latin typeface="Verdana"/>
                <a:ea typeface="Verdana"/>
              </a:rPr>
              <a:t>45678</a:t>
            </a:r>
            <a:endParaRPr lang="en-US" sz="1100" b="0" u="none" strike="noStrike">
              <a:solidFill>
                <a:srgbClr val="000000"/>
              </a:solidFill>
              <a:effectLst/>
              <a:uFillTx/>
              <a:latin typeface="Arial"/>
            </a:endParaRPr>
          </a:p>
          <a:p>
            <a:pPr marL="457200" indent="-298440" algn="l">
              <a:lnSpc>
                <a:spcPct val="111000"/>
              </a:lnSpc>
              <a:buClr>
                <a:srgbClr val="000000"/>
              </a:buClr>
              <a:buFont typeface="Arial"/>
              <a:buChar char="●"/>
              <a:tabLst>
                <a:tab pos="0" algn="l"/>
              </a:tabLst>
            </a:pPr>
            <a:r>
              <a:rPr lang="en" sz="1100" b="0" u="none" strike="noStrike">
                <a:solidFill>
                  <a:schemeClr val="dk1"/>
                </a:solidFill>
                <a:effectLst/>
                <a:uFillTx/>
                <a:latin typeface="Arial"/>
                <a:ea typeface="Arial"/>
              </a:rPr>
              <a:t>LEGO® Education SPIKE™ Prime Expansion Set, </a:t>
            </a:r>
            <a:r>
              <a:rPr lang="en" sz="1100" b="0" u="none" strike="noStrike">
                <a:solidFill>
                  <a:schemeClr val="dk1"/>
                </a:solidFill>
                <a:effectLst/>
                <a:uFillTx/>
                <a:latin typeface="Verdana"/>
                <a:ea typeface="Verdana"/>
              </a:rPr>
              <a:t>45681</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These are the bare minimum materials needed to have a robot potentially capable of scoring a couple hundred points in the robot game part of the competition. Ideally extra sets allow for more efficient use of time.  This allows for students to build multiple robots and/or attachments in parallel and allows iteration of new attachments without destroying existing ones due to lack of pieces.</a:t>
            </a:r>
            <a:endParaRPr lang="en-US" sz="1100" b="0" u="none" strike="noStrike">
              <a:solidFill>
                <a:srgbClr val="000000"/>
              </a:solidFill>
              <a:effectLst/>
              <a:uFillTx/>
              <a:latin typeface="Arial"/>
            </a:endParaRPr>
          </a:p>
          <a:p>
            <a:pPr indent="0" algn="l">
              <a:lnSpc>
                <a:spcPct val="111000"/>
              </a:lnSpc>
              <a:spcBef>
                <a:spcPts val="1800"/>
              </a:spcBef>
              <a:buNone/>
              <a:tabLst>
                <a:tab pos="0" algn="l"/>
              </a:tabLst>
            </a:pPr>
            <a:r>
              <a:rPr lang="en" sz="1600" b="0" u="none" strike="noStrike">
                <a:solidFill>
                  <a:schemeClr val="dk1"/>
                </a:solidFill>
                <a:effectLst/>
                <a:uFillTx/>
                <a:latin typeface="Arial"/>
                <a:ea typeface="Arial"/>
              </a:rPr>
              <a:t>Spare Pieces</a:t>
            </a:r>
            <a:endParaRPr lang="en-US" sz="16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Building a collection of the following Technic pieces is recommended to successfully move beyond the Advanced Driving Base into more customized robot and attachment designs. A good introduction video into Technic parts is: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sng" strike="noStrike">
                <a:solidFill>
                  <a:srgbClr val="1155CC"/>
                </a:solidFill>
                <a:effectLst/>
                <a:uFillTx/>
                <a:latin typeface="Verdana"/>
                <a:ea typeface="Verdana"/>
                <a:hlinkClick r:id="rId3"/>
              </a:rPr>
              <a:t>https://www.youtube.com/watch?v=wrTzz1ch-J8</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And the FLLTutorials.com presentation at:</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sng" strike="noStrike">
                <a:solidFill>
                  <a:srgbClr val="1155CC"/>
                </a:solidFill>
                <a:effectLst/>
                <a:uFillTx/>
                <a:latin typeface="Verdana"/>
                <a:ea typeface="Verdana"/>
                <a:hlinkClick r:id="rId4"/>
              </a:rPr>
              <a:t>https://flltutorials.com/translations/en-us/RobotGame/TechnicBasics.pdf</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sng" strike="noStrike">
                <a:solidFill>
                  <a:srgbClr val="1155CC"/>
                </a:solidFill>
                <a:effectLst/>
                <a:uFillTx/>
                <a:latin typeface="Verdana"/>
                <a:ea typeface="Verdana"/>
                <a:hlinkClick r:id="rId5"/>
              </a:rPr>
              <a:t>Appendix A </a:t>
            </a:r>
            <a:r>
              <a:rPr lang="en" sz="1100" b="0" u="none" strike="noStrike">
                <a:solidFill>
                  <a:schemeClr val="dk1"/>
                </a:solidFill>
                <a:effectLst/>
                <a:uFillTx/>
                <a:latin typeface="Verdana"/>
                <a:ea typeface="Verdana"/>
              </a:rPr>
              <a:t>contains a list of Lego parts that teams should consider acquiring.</a:t>
            </a:r>
            <a:endParaRPr lang="en-US" sz="1100" b="0" u="none" strike="noStrike">
              <a:solidFill>
                <a:srgbClr val="000000"/>
              </a:solidFill>
              <a:effectLst/>
              <a:uFillTx/>
              <a:latin typeface="Arial"/>
            </a:endParaRPr>
          </a:p>
          <a:p>
            <a:pPr indent="0" algn="l">
              <a:lnSpc>
                <a:spcPct val="125000"/>
              </a:lnSpc>
              <a:spcBef>
                <a:spcPts val="1199"/>
              </a:spcBef>
              <a:buNone/>
              <a:tabLst>
                <a:tab pos="0" algn="l"/>
              </a:tabLst>
            </a:pPr>
            <a:r>
              <a:rPr lang="en" sz="1100" b="0" u="none" strike="noStrike">
                <a:solidFill>
                  <a:schemeClr val="dk1"/>
                </a:solidFill>
                <a:effectLst/>
                <a:uFillTx/>
                <a:latin typeface="Verdana"/>
                <a:ea typeface="Verdana"/>
              </a:rPr>
              <a:t>Bricklink and Brickowl are good places to order sets of individual pieces. You can also get Lego parts from Lego’s Pick-a-Brick site - though the shipping can be long if the parts are coming from Europe. More expensive pieces like Beams with Side Holes or Plates are generally cheaper on Pick-a-Brick than other sites.</a:t>
            </a:r>
            <a:endParaRPr lang="en-US" sz="1100" b="0" u="none" strike="noStrike">
              <a:solidFill>
                <a:srgbClr val="000000"/>
              </a:solidFill>
              <a:effectLst/>
              <a:uFillTx/>
              <a:latin typeface="Arial"/>
            </a:endParaRPr>
          </a:p>
          <a:p>
            <a:pPr indent="0" algn="l">
              <a:lnSpc>
                <a:spcPct val="125000"/>
              </a:lnSpc>
              <a:spcBef>
                <a:spcPts val="799"/>
              </a:spcBef>
              <a:buNone/>
              <a:tabLst>
                <a:tab pos="0" algn="l"/>
              </a:tabLst>
            </a:pPr>
            <a:r>
              <a:rPr lang="en" sz="1100" b="0" u="none" strike="noStrike">
                <a:solidFill>
                  <a:schemeClr val="dk1"/>
                </a:solidFill>
                <a:effectLst/>
                <a:uFillTx/>
                <a:latin typeface="Verdana"/>
                <a:ea typeface="Verdana"/>
              </a:rPr>
              <a:t>Another great option to buy a lot of Lego pieces quickly and cheaply is acquiring previous mission sets that are sometimes sold at a discount at Qualifiers and States. FLL uses AndyMark (</a:t>
            </a:r>
            <a:r>
              <a:rPr lang="en" sz="1100" b="0" u="sng" strike="noStrike">
                <a:solidFill>
                  <a:srgbClr val="1155CC"/>
                </a:solidFill>
                <a:effectLst/>
                <a:uFillTx/>
                <a:latin typeface="Verdana"/>
                <a:ea typeface="Verdana"/>
                <a:hlinkClick r:id="rId6"/>
              </a:rPr>
              <a:t>www.andymark.com</a:t>
            </a:r>
            <a:r>
              <a:rPr lang="en" sz="1100" b="0" u="none" strike="noStrike">
                <a:solidFill>
                  <a:schemeClr val="dk1"/>
                </a:solidFill>
                <a:effectLst/>
                <a:uFillTx/>
                <a:latin typeface="Verdana"/>
                <a:ea typeface="Verdana"/>
              </a:rPr>
              <a:t>) as the official reseller of previous FLL season courses. Most of the courses have a large amount of Technic pieces.</a:t>
            </a:r>
            <a:endParaRPr lang="en-US" sz="1100" b="0" u="none" strike="noStrike">
              <a:solidFill>
                <a:srgbClr val="000000"/>
              </a:solidFill>
              <a:effectLst/>
              <a:uFillTx/>
              <a:latin typeface="Arial"/>
            </a:endParaRPr>
          </a:p>
          <a:p>
            <a:pPr indent="0" algn="l">
              <a:lnSpc>
                <a:spcPct val="111000"/>
              </a:lnSpc>
              <a:spcBef>
                <a:spcPts val="799"/>
              </a:spcBef>
              <a:buNone/>
              <a:tabLst>
                <a:tab pos="0" algn="l"/>
              </a:tabLst>
            </a:pPr>
            <a:r>
              <a:rPr lang="en" sz="1100" b="0" u="none" strike="noStrike">
                <a:solidFill>
                  <a:schemeClr val="dk1"/>
                </a:solidFill>
                <a:effectLst/>
                <a:uFillTx/>
                <a:latin typeface="Verdana"/>
                <a:ea typeface="Verdana"/>
              </a:rPr>
              <a:t>If the team has enough spare Lego parts, keeping old attachments and robots implementations can be beneficial in future seasons.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We strongly recommend keeping previous season boards and assembled missions. Using previous seasons after the competition season is over will help team mature their robot and attachment designs in a way they maximize reuse between seasons. If your organization has multiple teams including competition and recreational teams the previous seasons are great for growing new members of the competition teams.</a:t>
            </a:r>
            <a:endParaRPr lang="en-US" sz="11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Storage</a:t>
            </a:r>
            <a:endParaRPr lang="en-US" sz="2000" b="0" u="none" strike="noStrike">
              <a:solidFill>
                <a:srgbClr val="000000"/>
              </a:solidFill>
              <a:effectLst/>
              <a:uFillTx/>
              <a:latin typeface="Arial"/>
            </a:endParaRPr>
          </a:p>
          <a:p>
            <a:pPr indent="0" algn="l">
              <a:lnSpc>
                <a:spcPct val="111000"/>
              </a:lnSpc>
              <a:spcBef>
                <a:spcPts val="601"/>
              </a:spcBef>
              <a:buNone/>
              <a:tabLst>
                <a:tab pos="0" algn="l"/>
              </a:tabLst>
            </a:pPr>
            <a:r>
              <a:rPr lang="en" sz="1100" b="0" u="none" strike="noStrike">
                <a:solidFill>
                  <a:schemeClr val="dk1"/>
                </a:solidFill>
                <a:effectLst/>
                <a:uFillTx/>
                <a:latin typeface="Verdana"/>
                <a:ea typeface="Verdana"/>
              </a:rPr>
              <a:t>Coaches should consider using storage containers like the following to store your Lego pieces and use the Brick Architect’s labels (</a:t>
            </a:r>
            <a:r>
              <a:rPr lang="en" sz="1100" b="0" u="sng" strike="noStrike">
                <a:solidFill>
                  <a:srgbClr val="1155CC"/>
                </a:solidFill>
                <a:effectLst/>
                <a:uFillTx/>
                <a:latin typeface="Verdana"/>
                <a:ea typeface="Verdana"/>
                <a:hlinkClick r:id="rId7"/>
              </a:rPr>
              <a:t>https://brickarchitect.com/labels</a:t>
            </a:r>
            <a:r>
              <a:rPr lang="en" sz="1100" b="0" u="none" strike="noStrike">
                <a:solidFill>
                  <a:schemeClr val="dk1"/>
                </a:solidFill>
                <a:effectLst/>
                <a:uFillTx/>
                <a:latin typeface="Verdana"/>
                <a:ea typeface="Verdana"/>
              </a:rPr>
              <a:t>)  on the drawers. This makes organizing and finding the pieces much easier.</a:t>
            </a:r>
            <a:endParaRPr lang="en-US" sz="1100" b="0" u="none" strike="noStrike">
              <a:solidFill>
                <a:srgbClr val="000000"/>
              </a:solidFill>
              <a:effectLst/>
              <a:uFillTx/>
              <a:latin typeface="Arial"/>
            </a:endParaRPr>
          </a:p>
          <a:p>
            <a:pPr marL="457200" indent="-304920" algn="l">
              <a:lnSpc>
                <a:spcPct val="133000"/>
              </a:lnSpc>
              <a:spcBef>
                <a:spcPts val="1199"/>
              </a:spcBef>
              <a:buClr>
                <a:srgbClr val="0F1111"/>
              </a:buClr>
              <a:buFont typeface="Arial"/>
              <a:buChar char="●"/>
              <a:tabLst>
                <a:tab pos="0" algn="l"/>
              </a:tabLst>
            </a:pPr>
            <a:r>
              <a:rPr lang="en" sz="1200" b="0" u="none" strike="noStrike">
                <a:solidFill>
                  <a:srgbClr val="0F1111"/>
                </a:solidFill>
                <a:effectLst/>
                <a:uFillTx/>
                <a:latin typeface="Arial"/>
                <a:ea typeface="Arial"/>
              </a:rPr>
              <a:t>Akro-Mils 10724 24-Drawer Plastic Drawer Storage Cabinet</a:t>
            </a:r>
            <a:endParaRPr lang="en-US" sz="1200" b="0" u="none" strike="noStrike">
              <a:solidFill>
                <a:srgbClr val="000000"/>
              </a:solidFill>
              <a:effectLst/>
              <a:uFillTx/>
              <a:latin typeface="Arial"/>
            </a:endParaRPr>
          </a:p>
          <a:p>
            <a:pPr marL="457200" indent="-304920" algn="l">
              <a:lnSpc>
                <a:spcPct val="133000"/>
              </a:lnSpc>
              <a:buClr>
                <a:srgbClr val="0F1111"/>
              </a:buClr>
              <a:buFont typeface="Arial"/>
              <a:buChar char="●"/>
              <a:tabLst>
                <a:tab pos="0" algn="l"/>
              </a:tabLst>
            </a:pPr>
            <a:r>
              <a:rPr lang="en" sz="1200" b="0" u="none" strike="noStrike">
                <a:solidFill>
                  <a:srgbClr val="0F1111"/>
                </a:solidFill>
                <a:effectLst/>
                <a:uFillTx/>
                <a:latin typeface="Arial"/>
                <a:ea typeface="Arial"/>
              </a:rPr>
              <a:t>Akro-Mils 10164 64-Drawer Plastic Drawer Storage Cabinet </a:t>
            </a:r>
            <a:endParaRPr lang="en-US" sz="1200" b="0" u="none" strike="noStrike">
              <a:solidFill>
                <a:srgbClr val="000000"/>
              </a:solidFill>
              <a:effectLst/>
              <a:uFillTx/>
              <a:latin typeface="Arial"/>
            </a:endParaRPr>
          </a:p>
          <a:p>
            <a:pPr marL="457200" indent="-304920" algn="l">
              <a:lnSpc>
                <a:spcPct val="133000"/>
              </a:lnSpc>
              <a:buClr>
                <a:srgbClr val="0F1111"/>
              </a:buClr>
              <a:buFont typeface="Arial"/>
              <a:buChar char="●"/>
              <a:tabLst>
                <a:tab pos="0" algn="l"/>
              </a:tabLst>
            </a:pPr>
            <a:r>
              <a:rPr lang="en" sz="1200" b="0" u="none" strike="noStrike">
                <a:solidFill>
                  <a:srgbClr val="0F1111"/>
                </a:solidFill>
                <a:effectLst/>
                <a:uFillTx/>
                <a:latin typeface="Arial"/>
                <a:ea typeface="Arial"/>
              </a:rPr>
              <a:t>Akro-Mils 10144 44-Drawer Plastic Drawer Storage Cabinet</a:t>
            </a:r>
            <a:endParaRPr lang="en-US" sz="1200" b="0" u="none" strike="noStrike">
              <a:solidFill>
                <a:srgbClr val="000000"/>
              </a:solidFill>
              <a:effectLst/>
              <a:uFillTx/>
              <a:latin typeface="Arial"/>
            </a:endParaRPr>
          </a:p>
          <a:p>
            <a:pPr indent="0" algn="l">
              <a:lnSpc>
                <a:spcPct val="115000"/>
              </a:lnSpc>
              <a:buNone/>
              <a:tabLst>
                <a:tab pos="0" algn="l"/>
              </a:tabLst>
            </a:pPr>
            <a:endParaRPr lang="en-US" sz="1100" b="0" u="none" strike="noStrike">
              <a:solidFill>
                <a:srgbClr val="000000"/>
              </a:solidFill>
              <a:effectLst/>
              <a:uFillTx/>
              <a:latin typeface="Arial"/>
            </a:endParaRPr>
          </a:p>
          <a:p>
            <a:pPr indent="0" algn="l">
              <a:lnSpc>
                <a:spcPct val="111000"/>
              </a:lnSpc>
              <a:buNone/>
              <a:tabLst>
                <a:tab pos="0" algn="l"/>
              </a:tabLst>
            </a:pPr>
            <a:r>
              <a:rPr lang="en" sz="1100" b="0" u="none" strike="noStrike">
                <a:solidFill>
                  <a:schemeClr val="dk1"/>
                </a:solidFill>
                <a:effectLst/>
                <a:uFillTx/>
                <a:latin typeface="Verdana"/>
                <a:ea typeface="Verdana"/>
              </a:rPr>
              <a:t>The boxes that Lego provides for the Spike Prime robots are not good for transporting the robots. They are typically too shallow for many robots, can not hold many attachments, and (most importantly) the lids do not lock in place. The Sterilite 30Qt with Latching lid is a good example. The latching lid is critical to prevent spills becoming a disaster. Especially at competitions! </a:t>
            </a:r>
            <a:endParaRPr lang="en-US" sz="1100" b="0" u="none" strike="noStrike">
              <a:solidFill>
                <a:srgbClr val="000000"/>
              </a:solidFill>
              <a:effectLst/>
              <a:uFillTx/>
              <a:latin typeface="Arial"/>
            </a:endParaRPr>
          </a:p>
          <a:p>
            <a:pPr indent="0" algn="l">
              <a:lnSpc>
                <a:spcPct val="111000"/>
              </a:lnSpc>
              <a:spcBef>
                <a:spcPts val="2001"/>
              </a:spcBef>
              <a:buNone/>
              <a:tabLst>
                <a:tab pos="0" algn="l"/>
              </a:tabLst>
            </a:pPr>
            <a:r>
              <a:rPr lang="en" sz="2000" b="0" u="none" strike="noStrike">
                <a:solidFill>
                  <a:schemeClr val="dk1"/>
                </a:solidFill>
                <a:effectLst/>
                <a:uFillTx/>
                <a:latin typeface="Arial"/>
                <a:ea typeface="Arial"/>
              </a:rPr>
              <a:t>Computers</a:t>
            </a:r>
            <a:endParaRPr lang="en-US" sz="20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 minimum of at least one computer (preferably a laptop) is required. It is recommended that the laptops run Windows or MacOS. It is also recommended to have a 1:1 computer to robot ratio. This will allow each group (assuming each has a dedicated robot) within the team to develop, code and test their attachments at a time. It will also allow the team to split up between robot and innovation project work during team meetings - just be careful to make sure all team members contribute to all the core areas.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Web based Google Docs and Microsoft 365 work well. But local copies of Microsoft Office, OpenOffice/LibreOffice (both free), or Apple’s Pages and Keynote allow the kids to work offline and they can be used in presentations during the innovation and robot design presentations.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Linux can also be used, but teams should be mindful of the potentially higher “training” costs for kids and other parents. While Pybricks can work on Linux unless the team has robust IT support; Windows or MacOS should have a lower administrative burden. Lego Spike’s web app (</a:t>
            </a:r>
            <a:r>
              <a:rPr lang="en" sz="1100" b="0" u="sng" strike="noStrike">
                <a:solidFill>
                  <a:srgbClr val="1155CC"/>
                </a:solidFill>
                <a:effectLst/>
                <a:uFillTx/>
                <a:latin typeface="Verdana"/>
                <a:ea typeface="Verdana"/>
                <a:hlinkClick r:id="rId8"/>
              </a:rPr>
              <a:t>https://spike.legoeducation.com</a:t>
            </a:r>
            <a:r>
              <a:rPr lang="en" sz="1100" b="0" u="none" strike="noStrike">
                <a:solidFill>
                  <a:schemeClr val="dk1"/>
                </a:solidFill>
                <a:effectLst/>
                <a:uFillTx/>
                <a:latin typeface="Verdana"/>
                <a:ea typeface="Verdana"/>
              </a:rPr>
              <a:t>) should run in Chrome on Linux.</a:t>
            </a:r>
            <a:endParaRPr lang="en-US" sz="1100" b="0" u="none" strike="noStrike">
              <a:solidFill>
                <a:srgbClr val="000000"/>
              </a:solidFill>
              <a:effectLst/>
              <a:uFillTx/>
              <a:latin typeface="Arial"/>
            </a:endParaRPr>
          </a:p>
          <a:p>
            <a:pPr indent="0" algn="l">
              <a:lnSpc>
                <a:spcPct val="111000"/>
              </a:lnSpc>
              <a:spcBef>
                <a:spcPts val="2001"/>
              </a:spcBef>
              <a:buNone/>
              <a:tabLst>
                <a:tab pos="0" algn="l"/>
              </a:tabLst>
            </a:pPr>
            <a:r>
              <a:rPr lang="en" sz="2000" b="0" u="none" strike="noStrike">
                <a:solidFill>
                  <a:schemeClr val="dk1"/>
                </a:solidFill>
                <a:effectLst/>
                <a:uFillTx/>
                <a:latin typeface="Arial"/>
                <a:ea typeface="Arial"/>
              </a:rPr>
              <a:t>Game Tables</a:t>
            </a:r>
            <a:endParaRPr lang="en-US" sz="20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FIRST publishes the specification for tables. If you decide to make your own tables, if at all possible avoid cutting the board in half. It will create imperfections that make programming and testing the robot more complicated. But if you have to make two pieces use a 48” piano hinge (on the bottom) to connect the sides while allowing them to fold. You might need ¼” 48” spacers to raise the bottom up slightly to cover the height of the hinge.  Make sure you use latches on each side to hold the sides together when you unfold it.</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In competition saw horses are usually used to hold the tables. However, care should be taken with using sawhorses for development and practice tables as kids are frequently dropping pieces on the floor, crawling under the tables to get them, and sawhorses are not known for their stability. </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Some coaches have used Bora 30” high 8’x4’ Centipedes to support game tables, 29”x24” Folding Banquet Table Legs (attached to the table), and 8’x4’ card tables also work. </a:t>
            </a:r>
            <a:endParaRPr lang="en-US" sz="1100" b="0" u="none" strike="noStrike">
              <a:solidFill>
                <a:srgbClr val="000000"/>
              </a:solidFill>
              <a:effectLst/>
              <a:uFillTx/>
              <a:latin typeface="Arial"/>
            </a:endParaRPr>
          </a:p>
          <a:p>
            <a:pPr indent="0" algn="l">
              <a:lnSpc>
                <a:spcPct val="115000"/>
              </a:lnSpc>
              <a:spcBef>
                <a:spcPts val="2001"/>
              </a:spcBef>
              <a:buNone/>
              <a:tabLst>
                <a:tab pos="0" algn="l"/>
              </a:tabLst>
            </a:pPr>
            <a:r>
              <a:rPr lang="en" sz="2000" b="0" u="none" strike="noStrike">
                <a:solidFill>
                  <a:schemeClr val="dk1"/>
                </a:solidFill>
                <a:effectLst/>
                <a:uFillTx/>
                <a:latin typeface="Arial"/>
                <a:ea typeface="Arial"/>
              </a:rPr>
              <a:t>Programming</a:t>
            </a:r>
            <a:endParaRPr lang="en-US" sz="2000" b="0" u="none" strike="noStrike">
              <a:solidFill>
                <a:srgbClr val="000000"/>
              </a:solidFill>
              <a:effectLst/>
              <a:uFillTx/>
              <a:latin typeface="Arial"/>
            </a:endParaRPr>
          </a:p>
          <a:p>
            <a:pPr indent="0" algn="l">
              <a:lnSpc>
                <a:spcPct val="111000"/>
              </a:lnSpc>
              <a:spcBef>
                <a:spcPts val="601"/>
              </a:spcBef>
              <a:buNone/>
              <a:tabLst>
                <a:tab pos="0" algn="l"/>
              </a:tabLst>
            </a:pPr>
            <a:r>
              <a:rPr lang="en" sz="1100" b="0" u="none" strike="noStrike">
                <a:solidFill>
                  <a:schemeClr val="dk1"/>
                </a:solidFill>
                <a:effectLst/>
                <a:uFillTx/>
                <a:latin typeface="Verdana"/>
                <a:ea typeface="Verdana"/>
              </a:rPr>
              <a:t>The Lego Spike applications for Windows, MacOS, and Browser/Chromebooks have detailed instructions on how to build a robot using the Advanced Driving Base and a number of attachments that can (perhaps with some modifications) be used to complete a number of missions in most FLL games. </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 Windows or Apple laptop is recommended for competition. While a Chromebook will work however it may require an Internet connection to run the Lego Spike or Pybricks application if installation of software is not allowed - this is common on most school Chromebooks.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An alternative to the Lego Spike Application is Pybricks (pybricks.com). It supports Lego Spike hubs, Lego Technic hubs, and Lego Evo3 hubs. It can run over the Internet or it can be installed on a computer (no administrative rights necessary). While Pybricks’ python mode is free, its block coding mode (similar to Scratch and the block coding mode in Lego Spike) does require a small fee. The main advantages of Pybricks over Lego Spike is much better documentation, easy to use gyroscope support, supports code reuse through libraries, and a set of functions that are particularly well suited for the types of programming required for FLL. </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Ultimately teams can be competitive using either Lego Spike or Pybricks Block Coding or Python versions.  If coaches have Python programming experience and kids have sufficient computer skills, Pybricks python is an excellent way help kids enhance their programming skills. </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Some coaches and kids have found debugging (find errors) in code is easier in Python.</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Programming is covered in greater detail in our other documents.</a:t>
            </a:r>
            <a:endParaRPr lang="en-US" sz="1100" b="0" u="none" strike="noStrike">
              <a:solidFill>
                <a:srgbClr val="000000"/>
              </a:solidFill>
              <a:effectLst/>
              <a:uFillTx/>
              <a:latin typeface="Arial"/>
            </a:endParaRPr>
          </a:p>
          <a:p>
            <a:pPr indent="0" algn="l">
              <a:lnSpc>
                <a:spcPct val="111000"/>
              </a:lnSpc>
              <a:spcBef>
                <a:spcPts val="2001"/>
              </a:spcBef>
              <a:buNone/>
              <a:tabLst>
                <a:tab pos="0" algn="l"/>
              </a:tabLst>
            </a:pPr>
            <a:r>
              <a:rPr lang="en" sz="2000" b="0" u="none" strike="noStrike">
                <a:solidFill>
                  <a:schemeClr val="dk1"/>
                </a:solidFill>
                <a:effectLst/>
                <a:uFillTx/>
                <a:latin typeface="Arial"/>
                <a:ea typeface="Arial"/>
              </a:rPr>
              <a:t>Meeting Location &amp; Space</a:t>
            </a:r>
            <a:endParaRPr lang="en-US" sz="20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Space is needed to support the team and mission model setup.  Kids need space to build robots and attachments, the mission table itself is 8’x4’ and kids need space around the table to work on it.</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Ideally have regular meeting times each week to work on the robot and innovation project.  Having regular meetings sets expectations with parents and kids to encourage full participation of the team.</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 whiteboard can be very helpful for the team members during their innovation project meetings.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Competitive teams will need to meet far more than 2-4 hours a week. It is not uncommon for at least one 4-6 hour in person meeting at a coach’s house, community center,  or school every weekend for several months.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Competitive FLL teams are in many ways like competitive sports teams. They require dedication, resources, and lots of time.</a:t>
            </a:r>
            <a:endParaRPr lang="en-US" sz="1100" b="0" u="none" strike="noStrike">
              <a:solidFill>
                <a:srgbClr val="000000"/>
              </a:solidFill>
              <a:effectLst/>
              <a:uFillTx/>
              <a:latin typeface="Arial"/>
            </a:endParaRPr>
          </a:p>
          <a:p>
            <a:pPr indent="0" algn="l">
              <a:lnSpc>
                <a:spcPct val="111000"/>
              </a:lnSpc>
              <a:spcBef>
                <a:spcPts val="1800"/>
              </a:spcBef>
              <a:buNone/>
              <a:tabLst>
                <a:tab pos="0" algn="l"/>
              </a:tabLst>
            </a:pPr>
            <a:r>
              <a:rPr lang="en" sz="1600" b="0" u="none" strike="noStrike">
                <a:solidFill>
                  <a:schemeClr val="dk1"/>
                </a:solidFill>
                <a:effectLst/>
                <a:uFillTx/>
                <a:latin typeface="Arial"/>
                <a:ea typeface="Arial"/>
              </a:rPr>
              <a:t>Presentations at Competition</a:t>
            </a:r>
            <a:endParaRPr lang="en-US" sz="16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At the FLL competition the team will have 30 minutes to present and answer questions about their innovation project and present their robot and attachment design and their to them and their coding. Each presentation is 5 minutes with about 8 minutes of questions by the judges.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It is critical that </a:t>
            </a:r>
            <a:r>
              <a:rPr lang="en" sz="1100" b="1" u="none" strike="noStrike">
                <a:solidFill>
                  <a:schemeClr val="dk1"/>
                </a:solidFill>
                <a:effectLst/>
                <a:uFillTx/>
                <a:latin typeface="Verdana"/>
                <a:ea typeface="Verdana"/>
              </a:rPr>
              <a:t>all</a:t>
            </a:r>
            <a:r>
              <a:rPr lang="en" sz="1100" b="0" u="none" strike="noStrike">
                <a:solidFill>
                  <a:schemeClr val="dk1"/>
                </a:solidFill>
                <a:effectLst/>
                <a:uFillTx/>
                <a:latin typeface="Verdana"/>
                <a:ea typeface="Verdana"/>
              </a:rPr>
              <a:t> team members present equally in both presentations. Unequal presentations will likely cause the judge to specifically target those individuals during the Q&amp;A sessions.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One trick some teams use is to tell the most talkative team members to avoid the first 1-2 questions; and vice versa the least talkative to get the first couple; these questions 'tend' to be easy.  Count the number of questions they have answered and try to aim for 1 or 2.  Keep answers short and to the point, this gives more time for questions and more chances to get higher scores.</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In order to get the max points for the innovation project the team needs to bring a prototype of the innovation project.</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Trifolds are commonly used for both presentations.  Taking pictures during the evolution of the robot and attachments is one way to demonstrate the iterative design process (design, build, test, improve, repeat).</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r>
              <a:rPr lang="en" sz="1100" b="0" u="none" strike="noStrike">
                <a:solidFill>
                  <a:schemeClr val="dk1"/>
                </a:solidFill>
                <a:effectLst/>
                <a:uFillTx/>
                <a:latin typeface="Verdana"/>
                <a:ea typeface="Verdana"/>
              </a:rPr>
              <a:t>Coaches are allowed to record the video and audio during the presentation. An iPhone or Android phone with an external MIC usually works well.</a:t>
            </a:r>
            <a:endParaRPr lang="en-US" sz="1100" b="0" u="none" strike="noStrike">
              <a:solidFill>
                <a:srgbClr val="000000"/>
              </a:solidFill>
              <a:effectLst/>
              <a:uFillTx/>
              <a:latin typeface="Arial"/>
            </a:endParaRPr>
          </a:p>
          <a:p>
            <a:pPr indent="0" algn="l">
              <a:lnSpc>
                <a:spcPct val="111000"/>
              </a:lnSpc>
              <a:spcBef>
                <a:spcPts val="1199"/>
              </a:spcBef>
              <a:buNone/>
              <a:tabLst>
                <a:tab pos="0" algn="l"/>
              </a:tabLst>
            </a:pPr>
            <a:endParaRPr lang="en-US" sz="1100" b="0" u="none" strike="noStrike">
              <a:solidFill>
                <a:srgbClr val="000000"/>
              </a:solidFill>
              <a:effectLst/>
              <a:uFillTx/>
              <a:latin typeface="Arial"/>
            </a:endParaRPr>
          </a:p>
          <a:p>
            <a:pPr indent="0" algn="l">
              <a:lnSpc>
                <a:spcPct val="111000"/>
              </a:lnSpc>
              <a:spcBef>
                <a:spcPts val="1199"/>
              </a:spcBef>
              <a:spcAft>
                <a:spcPts val="1199"/>
              </a:spcAft>
              <a:buNone/>
              <a:tabLst>
                <a:tab pos="0" algn="l"/>
              </a:tabLst>
            </a:pPr>
            <a:endParaRPr lang="en-US" sz="1100" b="0" u="none" strike="noStrike">
              <a:solidFill>
                <a:srgbClr val="000000"/>
              </a:solidFill>
              <a:effectLst/>
              <a:uFillTx/>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cxnSp>
        <p:nvCxnSpPr>
          <p:cNvPr id="2" name="Google Shape;9;p1"/>
          <p:cNvCxnSpPr/>
          <p:nvPr/>
        </p:nvCxnSpPr>
        <p:spPr>
          <a:xfrm>
            <a:off x="180720" y="4572360"/>
            <a:ext cx="8742240" cy="6120"/>
          </a:xfrm>
          <a:prstGeom prst="straightConnector1">
            <a:avLst/>
          </a:prstGeom>
          <a:ln w="12700">
            <a:solidFill>
              <a:srgbClr val="ED1C24"/>
            </a:solidFill>
            <a:miter/>
          </a:ln>
        </p:spPr>
      </p:cxnSp>
      <p:pic>
        <p:nvPicPr>
          <p:cNvPr id="3" name="Google Shape;10;p1"/>
          <p:cNvPicPr/>
          <p:nvPr/>
        </p:nvPicPr>
        <p:blipFill>
          <a:blip r:embed="rId2"/>
          <a:stretch/>
        </p:blipFill>
        <p:spPr>
          <a:xfrm>
            <a:off x="146520" y="4572720"/>
            <a:ext cx="730440" cy="504360"/>
          </a:xfrm>
          <a:prstGeom prst="rect">
            <a:avLst/>
          </a:prstGeom>
          <a:noFill/>
          <a:ln w="0">
            <a:noFill/>
          </a:ln>
        </p:spPr>
      </p:pic>
      <p:sp>
        <p:nvSpPr>
          <p:cNvPr id="4"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lvl1pPr indent="0" algn="l">
              <a:buNone/>
              <a:defRPr lang="en-US" sz="3600" b="0" u="none" strike="noStrike">
                <a:solidFill>
                  <a:srgbClr val="000000"/>
                </a:solidFill>
                <a:effectLst/>
                <a:uFillTx/>
                <a:latin typeface="Arial"/>
              </a:defRPr>
            </a:lvl1pPr>
          </a:lstStyle>
          <a:p>
            <a:pPr indent="0" algn="l">
              <a:buNone/>
            </a:pPr>
            <a:r>
              <a:rPr lang="en-US" sz="3600" b="0" u="none" strike="noStrike">
                <a:solidFill>
                  <a:srgbClr val="000000"/>
                </a:solidFill>
                <a:effectLst/>
                <a:uFillTx/>
                <a:latin typeface="Arial"/>
              </a:rPr>
              <a:t>Click to edit the title text format</a:t>
            </a:r>
          </a:p>
        </p:txBody>
      </p:sp>
      <p:sp>
        <p:nvSpPr>
          <p:cNvPr id="5" name="PlaceHolder 2"/>
          <p:cNvSpPr>
            <a:spLocks noGrp="1"/>
          </p:cNvSpPr>
          <p:nvPr>
            <p:ph type="sldNum" idx="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6096D06-2BDD-4995-AFD5-492F4BF72AE5}"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
        <p:nvSpPr>
          <p:cNvPr id="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cxnSp>
        <p:nvCxnSpPr>
          <p:cNvPr id="7" name="Google Shape;9;p1"/>
          <p:cNvCxnSpPr/>
          <p:nvPr/>
        </p:nvCxnSpPr>
        <p:spPr>
          <a:xfrm>
            <a:off x="180720" y="4572360"/>
            <a:ext cx="8742240" cy="6120"/>
          </a:xfrm>
          <a:prstGeom prst="straightConnector1">
            <a:avLst/>
          </a:prstGeom>
          <a:ln w="12700">
            <a:solidFill>
              <a:srgbClr val="ED1C24"/>
            </a:solidFill>
            <a:miter/>
          </a:ln>
        </p:spPr>
      </p:cxnSp>
      <p:pic>
        <p:nvPicPr>
          <p:cNvPr id="8" name="Google Shape;10;p1"/>
          <p:cNvPicPr/>
          <p:nvPr/>
        </p:nvPicPr>
        <p:blipFill>
          <a:blip r:embed="rId2"/>
          <a:stretch/>
        </p:blipFill>
        <p:spPr>
          <a:xfrm>
            <a:off x="146520" y="4572720"/>
            <a:ext cx="730440" cy="504360"/>
          </a:xfrm>
          <a:prstGeom prst="rect">
            <a:avLst/>
          </a:prstGeom>
          <a:noFill/>
          <a:ln w="0">
            <a:noFill/>
          </a:ln>
        </p:spPr>
      </p:pic>
      <p:sp>
        <p:nvSpPr>
          <p:cNvPr id="9" name="Google Shape;15;p3"/>
          <p:cNvSpPr/>
          <p:nvPr/>
        </p:nvSpPr>
        <p:spPr>
          <a:xfrm>
            <a:off x="146520" y="110880"/>
            <a:ext cx="8426160" cy="571320"/>
          </a:xfrm>
          <a:prstGeom prst="roundRect">
            <a:avLst>
              <a:gd name="adj" fmla="val 16667"/>
            </a:avLst>
          </a:prstGeom>
          <a:solidFill>
            <a:srgbClr val="ED1C24"/>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lt1"/>
              </a:solidFill>
              <a:effectLst/>
              <a:uFillTx/>
              <a:latin typeface="Calibri"/>
            </a:endParaRPr>
          </a:p>
        </p:txBody>
      </p:sp>
      <p:sp>
        <p:nvSpPr>
          <p:cNvPr id="1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lvl1pPr indent="0" algn="l">
              <a:buNone/>
              <a:defRPr lang="en-US" sz="2500" b="0" u="none" strike="noStrike">
                <a:solidFill>
                  <a:srgbClr val="000000"/>
                </a:solidFill>
                <a:effectLst/>
                <a:uFillTx/>
                <a:latin typeface="Arial"/>
              </a:defRPr>
            </a:lvl1pPr>
          </a:lstStyle>
          <a:p>
            <a:pPr indent="0" algn="l">
              <a:buNone/>
            </a:pPr>
            <a:r>
              <a:rPr lang="en-US" sz="2500" b="0" u="none" strike="noStrike">
                <a:solidFill>
                  <a:srgbClr val="000000"/>
                </a:solidFill>
                <a:effectLst/>
                <a:uFillTx/>
                <a:latin typeface="Arial"/>
              </a:rPr>
              <a:t>Click to edit the title text format</a:t>
            </a:r>
          </a:p>
        </p:txBody>
      </p:sp>
      <p:sp>
        <p:nvSpPr>
          <p:cNvPr id="11" name="PlaceHolder 2"/>
          <p:cNvSpPr>
            <a:spLocks noGrp="1"/>
          </p:cNvSpPr>
          <p:nvPr>
            <p:ph type="body"/>
          </p:nvPr>
        </p:nvSpPr>
        <p:spPr>
          <a:xfrm>
            <a:off x="311760" y="853920"/>
            <a:ext cx="8520120" cy="364608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914400" lvl="1" indent="-31752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371600" lvl="2" indent="-31752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828800" lvl="3" indent="-31752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286000" lvl="4" indent="-31752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743200" lvl="5" indent="-31752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200400" lvl="6" indent="-31752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cxnSp>
        <p:nvCxnSpPr>
          <p:cNvPr id="12" name="Google Shape;18;p3"/>
          <p:cNvCxnSpPr/>
          <p:nvPr/>
        </p:nvCxnSpPr>
        <p:spPr>
          <a:xfrm>
            <a:off x="180720" y="4572360"/>
            <a:ext cx="8742240" cy="6120"/>
          </a:xfrm>
          <a:prstGeom prst="straightConnector1">
            <a:avLst/>
          </a:prstGeom>
          <a:ln w="12700">
            <a:solidFill>
              <a:srgbClr val="ED1C24"/>
            </a:solidFill>
            <a:miter/>
          </a:ln>
        </p:spPr>
      </p:cxnSp>
      <p:pic>
        <p:nvPicPr>
          <p:cNvPr id="13" name="Google Shape;19;p3"/>
          <p:cNvPicPr/>
          <p:nvPr/>
        </p:nvPicPr>
        <p:blipFill>
          <a:blip r:embed="rId2"/>
          <a:stretch/>
        </p:blipFill>
        <p:spPr>
          <a:xfrm>
            <a:off x="146520" y="4572720"/>
            <a:ext cx="730440" cy="504360"/>
          </a:xfrm>
          <a:prstGeom prst="rect">
            <a:avLst/>
          </a:prstGeom>
          <a:noFill/>
          <a:ln w="0">
            <a:noFill/>
          </a:ln>
        </p:spPr>
      </p:pic>
      <p:sp>
        <p:nvSpPr>
          <p:cNvPr id="14" name="PlaceHolder 3"/>
          <p:cNvSpPr>
            <a:spLocks noGrp="1"/>
          </p:cNvSpPr>
          <p:nvPr>
            <p:ph type="sldNum" idx="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A9D7C84-C602-4034-9B06-F41190F50C08}"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cxnSp>
        <p:nvCxnSpPr>
          <p:cNvPr id="15" name="Google Shape;9;p1"/>
          <p:cNvCxnSpPr/>
          <p:nvPr/>
        </p:nvCxnSpPr>
        <p:spPr>
          <a:xfrm>
            <a:off x="180720" y="4572360"/>
            <a:ext cx="8742240" cy="6120"/>
          </a:xfrm>
          <a:prstGeom prst="straightConnector1">
            <a:avLst/>
          </a:prstGeom>
          <a:ln w="12700">
            <a:solidFill>
              <a:srgbClr val="ED1C24"/>
            </a:solidFill>
            <a:miter/>
          </a:ln>
        </p:spPr>
      </p:cxnSp>
      <p:pic>
        <p:nvPicPr>
          <p:cNvPr id="16" name="Google Shape;10;p1"/>
          <p:cNvPicPr/>
          <p:nvPr/>
        </p:nvPicPr>
        <p:blipFill>
          <a:blip r:embed="rId2"/>
          <a:stretch/>
        </p:blipFill>
        <p:spPr>
          <a:xfrm>
            <a:off x="146520" y="4572720"/>
            <a:ext cx="730440" cy="504360"/>
          </a:xfrm>
          <a:prstGeom prst="rect">
            <a:avLst/>
          </a:prstGeom>
          <a:noFill/>
          <a:ln w="0">
            <a:noFill/>
          </a:ln>
        </p:spPr>
      </p:pic>
      <p:sp>
        <p:nvSpPr>
          <p:cNvPr id="17" name="PlaceHolder 1"/>
          <p:cNvSpPr>
            <a:spLocks noGrp="1"/>
          </p:cNvSpPr>
          <p:nvPr>
            <p:ph type="title"/>
          </p:nvPr>
        </p:nvSpPr>
        <p:spPr>
          <a:xfrm>
            <a:off x="311760" y="744480"/>
            <a:ext cx="8520120" cy="2052360"/>
          </a:xfrm>
          <a:prstGeom prst="rect">
            <a:avLst/>
          </a:prstGeom>
          <a:noFill/>
          <a:ln w="0">
            <a:noFill/>
          </a:ln>
        </p:spPr>
        <p:txBody>
          <a:bodyPr lIns="91440" tIns="91440" rIns="91440" bIns="91440" anchor="b">
            <a:normAutofit/>
          </a:bodyPr>
          <a:lstStyle>
            <a:lvl1pPr indent="0" algn="l">
              <a:buNone/>
              <a:defRPr lang="en-US" sz="5200" b="0" u="none" strike="noStrike">
                <a:solidFill>
                  <a:srgbClr val="000000"/>
                </a:solidFill>
                <a:effectLst/>
                <a:uFillTx/>
                <a:latin typeface="Arial"/>
              </a:defRPr>
            </a:lvl1pPr>
          </a:lstStyle>
          <a:p>
            <a:pPr indent="0" algn="l">
              <a:buNone/>
            </a:pPr>
            <a:r>
              <a:rPr lang="en-US" sz="5200" b="0" u="none" strike="noStrike">
                <a:solidFill>
                  <a:srgbClr val="000000"/>
                </a:solidFill>
                <a:effectLst/>
                <a:uFillTx/>
                <a:latin typeface="Arial"/>
              </a:rPr>
              <a:t>Click to edit the title text format</a:t>
            </a:r>
          </a:p>
        </p:txBody>
      </p:sp>
      <p:sp>
        <p:nvSpPr>
          <p:cNvPr id="18" name="PlaceHolder 2"/>
          <p:cNvSpPr>
            <a:spLocks noGrp="1"/>
          </p:cNvSpPr>
          <p:nvPr>
            <p:ph type="sldNum" idx="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316E33D-0CAB-48DB-9E6E-1E352AD73C37}"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cxnSp>
        <p:nvCxnSpPr>
          <p:cNvPr id="19" name="Google Shape;9;p1"/>
          <p:cNvCxnSpPr/>
          <p:nvPr/>
        </p:nvCxnSpPr>
        <p:spPr>
          <a:xfrm>
            <a:off x="180720" y="4572360"/>
            <a:ext cx="8742240" cy="6120"/>
          </a:xfrm>
          <a:prstGeom prst="straightConnector1">
            <a:avLst/>
          </a:prstGeom>
          <a:ln w="12700">
            <a:solidFill>
              <a:srgbClr val="ED1C24"/>
            </a:solidFill>
            <a:miter/>
          </a:ln>
        </p:spPr>
      </p:cxnSp>
      <p:pic>
        <p:nvPicPr>
          <p:cNvPr id="20" name="Google Shape;10;p1"/>
          <p:cNvPicPr/>
          <p:nvPr/>
        </p:nvPicPr>
        <p:blipFill>
          <a:blip r:embed="rId2"/>
          <a:stretch/>
        </p:blipFill>
        <p:spPr>
          <a:xfrm>
            <a:off x="146520" y="4572720"/>
            <a:ext cx="730440" cy="504360"/>
          </a:xfrm>
          <a:prstGeom prst="rect">
            <a:avLst/>
          </a:prstGeom>
          <a:noFill/>
          <a:ln w="0">
            <a:noFill/>
          </a:ln>
        </p:spPr>
      </p:pic>
      <p:sp>
        <p:nvSpPr>
          <p:cNvPr id="21"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p>
        </p:txBody>
      </p:sp>
      <p:sp>
        <p:nvSpPr>
          <p:cNvPr id="22" name="PlaceHolder 2"/>
          <p:cNvSpPr>
            <a:spLocks noGrp="1"/>
          </p:cNvSpPr>
          <p:nvPr>
            <p:ph type="body"/>
          </p:nvPr>
        </p:nvSpPr>
        <p:spPr>
          <a:xfrm>
            <a:off x="311760" y="1152360"/>
            <a:ext cx="3999600" cy="34160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400" b="0" u="none" strike="noStrike">
                <a:solidFill>
                  <a:srgbClr val="000000"/>
                </a:solidFill>
                <a:effectLst/>
                <a:uFillTx/>
                <a:latin typeface="Arial"/>
              </a:defRPr>
            </a:lvl7pPr>
          </a:lstStyle>
          <a:p>
            <a:pPr marL="457200" indent="-31752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914400" lvl="1" indent="-30492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371600" lvl="2" indent="-30492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828800" lvl="3" indent="-30492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286000" lvl="4"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p>
          <a:p>
            <a:pPr marL="2743200" lvl="5"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p>
          <a:p>
            <a:pPr marL="3200400" lvl="6"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p>
        </p:txBody>
      </p:sp>
      <p:sp>
        <p:nvSpPr>
          <p:cNvPr id="23" name="PlaceHolder 3"/>
          <p:cNvSpPr>
            <a:spLocks noGrp="1"/>
          </p:cNvSpPr>
          <p:nvPr>
            <p:ph type="body"/>
          </p:nvPr>
        </p:nvSpPr>
        <p:spPr>
          <a:xfrm>
            <a:off x="4832280" y="1152360"/>
            <a:ext cx="3999600" cy="34160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400" b="0" u="none" strike="noStrike">
                <a:solidFill>
                  <a:srgbClr val="000000"/>
                </a:solidFill>
                <a:effectLst/>
                <a:uFillTx/>
                <a:latin typeface="Arial"/>
              </a:defRPr>
            </a:lvl7pPr>
          </a:lstStyle>
          <a:p>
            <a:pPr marL="457200" indent="-31752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914400" lvl="1" indent="-30492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371600" lvl="2" indent="-30492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828800" lvl="3" indent="-30492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286000" lvl="4"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p>
          <a:p>
            <a:pPr marL="2743200" lvl="5"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p>
          <a:p>
            <a:pPr marL="3200400" lvl="6" indent="-30492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p>
        </p:txBody>
      </p:sp>
      <p:sp>
        <p:nvSpPr>
          <p:cNvPr id="24" name="PlaceHolder 4"/>
          <p:cNvSpPr>
            <a:spLocks noGrp="1"/>
          </p:cNvSpPr>
          <p:nvPr>
            <p:ph type="sldNum" idx="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377DD55-6D59-4EDB-A6EC-57A065BF4FAC}"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cxnSp>
        <p:nvCxnSpPr>
          <p:cNvPr id="25" name="Google Shape;9;p1"/>
          <p:cNvCxnSpPr/>
          <p:nvPr/>
        </p:nvCxnSpPr>
        <p:spPr>
          <a:xfrm>
            <a:off x="180720" y="4572360"/>
            <a:ext cx="8742240" cy="6120"/>
          </a:xfrm>
          <a:prstGeom prst="straightConnector1">
            <a:avLst/>
          </a:prstGeom>
          <a:ln w="12700">
            <a:solidFill>
              <a:srgbClr val="ED1C24"/>
            </a:solidFill>
            <a:miter/>
          </a:ln>
        </p:spPr>
      </p:cxnSp>
      <p:pic>
        <p:nvPicPr>
          <p:cNvPr id="26" name="Google Shape;10;p1"/>
          <p:cNvPicPr/>
          <p:nvPr/>
        </p:nvPicPr>
        <p:blipFill>
          <a:blip r:embed="rId2"/>
          <a:stretch/>
        </p:blipFill>
        <p:spPr>
          <a:xfrm>
            <a:off x="146520" y="4572720"/>
            <a:ext cx="730440" cy="504360"/>
          </a:xfrm>
          <a:prstGeom prst="rect">
            <a:avLst/>
          </a:prstGeom>
          <a:noFill/>
          <a:ln w="0">
            <a:noFill/>
          </a:ln>
        </p:spPr>
      </p:pic>
      <p:sp>
        <p:nvSpPr>
          <p:cNvPr id="27"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p>
        </p:txBody>
      </p:sp>
      <p:sp>
        <p:nvSpPr>
          <p:cNvPr id="28" name="PlaceHolder 2"/>
          <p:cNvSpPr>
            <a:spLocks noGrp="1"/>
          </p:cNvSpPr>
          <p:nvPr>
            <p:ph type="sldNum" idx="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36BC60D0-E0DB-4063-BCD1-369619F8E958}"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cxnSp>
        <p:nvCxnSpPr>
          <p:cNvPr id="29" name="Google Shape;9;p1"/>
          <p:cNvCxnSpPr/>
          <p:nvPr/>
        </p:nvCxnSpPr>
        <p:spPr>
          <a:xfrm>
            <a:off x="180720" y="4572360"/>
            <a:ext cx="8742240" cy="6120"/>
          </a:xfrm>
          <a:prstGeom prst="straightConnector1">
            <a:avLst/>
          </a:prstGeom>
          <a:ln w="12700">
            <a:solidFill>
              <a:srgbClr val="ED1C24"/>
            </a:solidFill>
            <a:miter/>
          </a:ln>
        </p:spPr>
      </p:cxnSp>
      <p:pic>
        <p:nvPicPr>
          <p:cNvPr id="30" name="Google Shape;10;p1"/>
          <p:cNvPicPr/>
          <p:nvPr/>
        </p:nvPicPr>
        <p:blipFill>
          <a:blip r:embed="rId2"/>
          <a:stretch/>
        </p:blipFill>
        <p:spPr>
          <a:xfrm>
            <a:off x="146520" y="4572720"/>
            <a:ext cx="730440" cy="504360"/>
          </a:xfrm>
          <a:prstGeom prst="rect">
            <a:avLst/>
          </a:prstGeom>
          <a:noFill/>
          <a:ln w="0">
            <a:noFill/>
          </a:ln>
        </p:spPr>
      </p:pic>
      <p:sp>
        <p:nvSpPr>
          <p:cNvPr id="31" name="PlaceHolder 1"/>
          <p:cNvSpPr>
            <a:spLocks noGrp="1"/>
          </p:cNvSpPr>
          <p:nvPr>
            <p:ph type="title"/>
          </p:nvPr>
        </p:nvSpPr>
        <p:spPr>
          <a:xfrm>
            <a:off x="490320" y="450000"/>
            <a:ext cx="6367320" cy="4090320"/>
          </a:xfrm>
          <a:prstGeom prst="rect">
            <a:avLst/>
          </a:prstGeom>
          <a:noFill/>
          <a:ln w="0">
            <a:noFill/>
          </a:ln>
        </p:spPr>
        <p:txBody>
          <a:bodyPr lIns="91440" tIns="91440" rIns="91440" bIns="91440" anchor="ctr">
            <a:normAutofit/>
          </a:bodyPr>
          <a:lstStyle>
            <a:lvl1pPr indent="0" algn="l">
              <a:buNone/>
              <a:defRPr lang="en-US" sz="4800" b="0" u="none" strike="noStrike">
                <a:solidFill>
                  <a:srgbClr val="000000"/>
                </a:solidFill>
                <a:effectLst/>
                <a:uFillTx/>
                <a:latin typeface="Arial"/>
              </a:defRPr>
            </a:lvl1pPr>
          </a:lstStyle>
          <a:p>
            <a:pPr indent="0" algn="l">
              <a:buNone/>
            </a:pPr>
            <a:r>
              <a:rPr lang="en-US" sz="4800" b="0" u="none" strike="noStrike">
                <a:solidFill>
                  <a:srgbClr val="000000"/>
                </a:solidFill>
                <a:effectLst/>
                <a:uFillTx/>
                <a:latin typeface="Arial"/>
              </a:rPr>
              <a:t>Click to edit the title text format</a:t>
            </a:r>
          </a:p>
        </p:txBody>
      </p:sp>
      <p:sp>
        <p:nvSpPr>
          <p:cNvPr id="32" name="PlaceHolder 2"/>
          <p:cNvSpPr>
            <a:spLocks noGrp="1"/>
          </p:cNvSpPr>
          <p:nvPr>
            <p:ph type="sldNum" idx="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7954167-21CF-40A4-A682-7A2FC6ED67AD}"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cxnSp>
        <p:nvCxnSpPr>
          <p:cNvPr id="33" name="Google Shape;9;p1"/>
          <p:cNvCxnSpPr/>
          <p:nvPr/>
        </p:nvCxnSpPr>
        <p:spPr>
          <a:xfrm>
            <a:off x="180720" y="4572360"/>
            <a:ext cx="8742240" cy="6120"/>
          </a:xfrm>
          <a:prstGeom prst="straightConnector1">
            <a:avLst/>
          </a:prstGeom>
          <a:ln w="12700">
            <a:solidFill>
              <a:srgbClr val="ED1C24"/>
            </a:solidFill>
            <a:miter/>
          </a:ln>
        </p:spPr>
      </p:cxnSp>
      <p:pic>
        <p:nvPicPr>
          <p:cNvPr id="34" name="Google Shape;10;p1"/>
          <p:cNvPicPr/>
          <p:nvPr/>
        </p:nvPicPr>
        <p:blipFill>
          <a:blip r:embed="rId2"/>
          <a:stretch/>
        </p:blipFill>
        <p:spPr>
          <a:xfrm>
            <a:off x="146520" y="4572720"/>
            <a:ext cx="730440" cy="504360"/>
          </a:xfrm>
          <a:prstGeom prst="rect">
            <a:avLst/>
          </a:prstGeom>
          <a:noFill/>
          <a:ln w="0">
            <a:noFill/>
          </a:ln>
        </p:spPr>
      </p:pic>
      <p:sp>
        <p:nvSpPr>
          <p:cNvPr id="35" name="PlaceHolder 1"/>
          <p:cNvSpPr>
            <a:spLocks noGrp="1"/>
          </p:cNvSpPr>
          <p:nvPr>
            <p:ph type="sldNum" idx="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7654FC7-6A2E-4D82-9ADF-B0D0289BCD50}"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LL Challenge Content">
    <p:bg>
      <p:bgPr>
        <a:solidFill>
          <a:schemeClr val="lt1"/>
        </a:solidFill>
        <a:effectLst/>
      </p:bgPr>
    </p:bg>
    <p:spTree>
      <p:nvGrpSpPr>
        <p:cNvPr id="1" name=""/>
        <p:cNvGrpSpPr/>
        <p:nvPr/>
      </p:nvGrpSpPr>
      <p:grpSpPr>
        <a:xfrm>
          <a:off x="0" y="0"/>
          <a:ext cx="0" cy="0"/>
          <a:chOff x="0" y="0"/>
          <a:chExt cx="0" cy="0"/>
        </a:xfrm>
      </p:grpSpPr>
      <p:cxnSp>
        <p:nvCxnSpPr>
          <p:cNvPr id="36" name="Google Shape;9;p1"/>
          <p:cNvCxnSpPr/>
          <p:nvPr/>
        </p:nvCxnSpPr>
        <p:spPr>
          <a:xfrm>
            <a:off x="180720" y="4572360"/>
            <a:ext cx="8742240" cy="6120"/>
          </a:xfrm>
          <a:prstGeom prst="straightConnector1">
            <a:avLst/>
          </a:prstGeom>
          <a:ln w="12700">
            <a:solidFill>
              <a:srgbClr val="ED1C24"/>
            </a:solidFill>
            <a:miter/>
          </a:ln>
        </p:spPr>
      </p:cxnSp>
      <p:pic>
        <p:nvPicPr>
          <p:cNvPr id="37" name="Google Shape;10;p1"/>
          <p:cNvPicPr/>
          <p:nvPr/>
        </p:nvPicPr>
        <p:blipFill>
          <a:blip r:embed="rId2"/>
          <a:stretch/>
        </p:blipFill>
        <p:spPr>
          <a:xfrm>
            <a:off x="146520" y="4572720"/>
            <a:ext cx="730440" cy="504360"/>
          </a:xfrm>
          <a:prstGeom prst="rect">
            <a:avLst/>
          </a:prstGeom>
          <a:noFill/>
          <a:ln w="0">
            <a:noFill/>
          </a:ln>
        </p:spPr>
      </p:pic>
      <p:sp>
        <p:nvSpPr>
          <p:cNvPr id="38" name="PlaceHolder 1"/>
          <p:cNvSpPr>
            <a:spLocks noGrp="1"/>
          </p:cNvSpPr>
          <p:nvPr>
            <p:ph type="body"/>
          </p:nvPr>
        </p:nvSpPr>
        <p:spPr>
          <a:xfrm>
            <a:off x="294840" y="929160"/>
            <a:ext cx="8809920" cy="35823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57200" indent="-38088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914400" lvl="1" indent="-35568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371600" lvl="2" indent="-33012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828800" lvl="3" indent="-31752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286000" lvl="4" indent="-30492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9" name="PlaceHolder 2"/>
          <p:cNvSpPr>
            <a:spLocks noGrp="1"/>
          </p:cNvSpPr>
          <p:nvPr>
            <p:ph type="title"/>
          </p:nvPr>
        </p:nvSpPr>
        <p:spPr>
          <a:xfrm>
            <a:off x="628560" y="273960"/>
            <a:ext cx="7886520" cy="571320"/>
          </a:xfrm>
          <a:prstGeom prst="rect">
            <a:avLst/>
          </a:prstGeom>
          <a:noFill/>
          <a:ln w="0">
            <a:noFill/>
          </a:ln>
        </p:spPr>
        <p:txBody>
          <a:bodyPr lIns="91440" tIns="45720" rIns="91440" bIns="45720" anchor="ctr">
            <a:normAutofit/>
          </a:bodyPr>
          <a:lstStyle>
            <a:lvl1pPr indent="0" algn="l">
              <a:buNone/>
              <a:defRPr lang="en-US" sz="2800" b="0" u="none" strike="noStrike">
                <a:solidFill>
                  <a:srgbClr val="000000"/>
                </a:solidFill>
                <a:effectLst/>
                <a:uFillTx/>
                <a:latin typeface="Arial"/>
              </a:defRPr>
            </a:lvl1pPr>
          </a:lstStyle>
          <a:p>
            <a:pPr indent="0" algn="l">
              <a:buNone/>
            </a:pPr>
            <a:r>
              <a:rPr lang="en-US" sz="2800" b="0" u="none" strike="noStrike">
                <a:solidFill>
                  <a:srgbClr val="000000"/>
                </a:solidFill>
                <a:effectLst/>
                <a:uFillTx/>
                <a:latin typeface="Arial"/>
              </a:rPr>
              <a:t>Click to edit the title text format</a:t>
            </a:r>
          </a:p>
        </p:txBody>
      </p:sp>
      <p:cxnSp>
        <p:nvCxnSpPr>
          <p:cNvPr id="40" name="Google Shape;41;p9"/>
          <p:cNvCxnSpPr/>
          <p:nvPr/>
        </p:nvCxnSpPr>
        <p:spPr>
          <a:xfrm>
            <a:off x="180720" y="4572360"/>
            <a:ext cx="8742240" cy="6120"/>
          </a:xfrm>
          <a:prstGeom prst="straightConnector1">
            <a:avLst/>
          </a:prstGeom>
          <a:ln w="12700">
            <a:solidFill>
              <a:srgbClr val="ED1C24"/>
            </a:solidFill>
            <a:miter/>
          </a:ln>
        </p:spPr>
      </p:cxnSp>
      <p:pic>
        <p:nvPicPr>
          <p:cNvPr id="41" name="Google Shape;42;p9"/>
          <p:cNvPicPr/>
          <p:nvPr/>
        </p:nvPicPr>
        <p:blipFill>
          <a:blip r:embed="rId2"/>
          <a:stretch/>
        </p:blipFill>
        <p:spPr>
          <a:xfrm>
            <a:off x="146520" y="4572720"/>
            <a:ext cx="730440" cy="504360"/>
          </a:xfrm>
          <a:prstGeom prst="rect">
            <a:avLst/>
          </a:prstGeom>
          <a:noFill/>
          <a:ln w="0">
            <a:noFill/>
          </a:ln>
        </p:spPr>
      </p:pic>
      <p:sp>
        <p:nvSpPr>
          <p:cNvPr id="42" name="PlaceHolder 3"/>
          <p:cNvSpPr>
            <a:spLocks noGrp="1"/>
          </p:cNvSpPr>
          <p:nvPr>
            <p:ph type="sldNum" idx="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4AA2D9F-3341-4476-A30F-2E8D9396B3BD}" type="slidenum">
              <a:rPr lang="en" sz="1000" b="0" u="none" strike="noStrike">
                <a:solidFill>
                  <a:schemeClr val="dk2"/>
                </a:solidFill>
                <a:effectLst/>
                <a:uFillTx/>
                <a:latin typeface="Arial"/>
                <a:ea typeface="Arial"/>
              </a:rPr>
              <a:t>‹#›</a:t>
            </a:fld>
            <a:endParaRPr lang="en-US" sz="10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marylandfll.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pybricks.com/project/pybricks-other-editor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pybricks.com/en/latest/" TargetMode="External"/><Relationship Id="rId2" Type="http://schemas.openxmlformats.org/officeDocument/2006/relationships/hyperlink" Target="https://code.pybricks.com" TargetMode="External"/><Relationship Id="rId1" Type="http://schemas.openxmlformats.org/officeDocument/2006/relationships/slideLayout" Target="../slideLayouts/slideLayout2.xml"/><Relationship Id="rId4" Type="http://schemas.openxmlformats.org/officeDocument/2006/relationships/hyperlink" Target="https://pybricks.com/learn"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code.pybricks.com/static/docs/v2.20.0/signaltypes.html#numbers" TargetMode="External"/><Relationship Id="rId2" Type="http://schemas.openxmlformats.org/officeDocument/2006/relationships/hyperlink" Target="https://code.pybricks.com/static/docs/v2.20.0/pupdevices/motor.html#pybricks.pupdevices.Motor"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code.pybricks.com/static/docs/v2.20.0/parameters/stop.html#Stop" TargetMode="External"/><Relationship Id="rId2" Type="http://schemas.openxmlformats.org/officeDocument/2006/relationships/hyperlink" Target="https://code.pybricks.com/static/docs/v2.20.0/signaltypes.html#numbers" TargetMode="External"/><Relationship Id="rId1" Type="http://schemas.openxmlformats.org/officeDocument/2006/relationships/slideLayout" Target="../slideLayouts/slideLayout2.xml"/><Relationship Id="rId4" Type="http://schemas.openxmlformats.org/officeDocument/2006/relationships/hyperlink" Target="https://code.pybricks.com/static/docs/v2.20.0/micropython/builtins.html#ubuiltins.boo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anaconda.org/conda-forge/youtube-dl" TargetMode="External"/><Relationship Id="rId2" Type="http://schemas.openxmlformats.org/officeDocument/2006/relationships/hyperlink" Target="https://formulae.brew.sh/formula/yt-dlp"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hyperlink" Target="http://www.python.org" TargetMode="External"/><Relationship Id="rId2" Type="http://schemas.openxmlformats.org/officeDocument/2006/relationships/hyperlink" Target="https://www.tutorialspoint.com/python" TargetMode="External"/><Relationship Id="rId1" Type="http://schemas.openxmlformats.org/officeDocument/2006/relationships/slideLayout" Target="../slideLayouts/slideLayout2.xml"/><Relationship Id="rId4" Type="http://schemas.openxmlformats.org/officeDocument/2006/relationships/hyperlink" Target="http://docs.pybricks.com"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sldNum" idx="1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09DBC49-D7C3-46E5-86ED-165CDAC74351}" type="slidenum">
              <a:rPr lang="en" sz="1000" b="0" u="none" strike="noStrike">
                <a:solidFill>
                  <a:schemeClr val="dk2"/>
                </a:solidFill>
                <a:effectLst/>
                <a:uFillTx/>
                <a:latin typeface="Arial"/>
                <a:ea typeface="Arial"/>
              </a:rPr>
              <a:t>1</a:t>
            </a:fld>
            <a:endParaRPr lang="en-US" sz="1000" b="0" u="none" strike="noStrike">
              <a:solidFill>
                <a:srgbClr val="000000"/>
              </a:solidFill>
              <a:effectLst/>
              <a:uFillTx/>
              <a:latin typeface="Times New Roman"/>
            </a:endParaRPr>
          </a:p>
        </p:txBody>
      </p:sp>
      <p:sp>
        <p:nvSpPr>
          <p:cNvPr id="50" name="PlaceHolder 2"/>
          <p:cNvSpPr>
            <a:spLocks noGrp="1"/>
          </p:cNvSpPr>
          <p:nvPr>
            <p:ph type="title"/>
          </p:nvPr>
        </p:nvSpPr>
        <p:spPr>
          <a:xfrm>
            <a:off x="366840" y="311760"/>
            <a:ext cx="8520120" cy="4053240"/>
          </a:xfrm>
          <a:prstGeom prst="rect">
            <a:avLst/>
          </a:prstGeom>
          <a:noFill/>
          <a:ln w="0">
            <a:noFill/>
          </a:ln>
        </p:spPr>
        <p:txBody>
          <a:bodyPr lIns="91440" tIns="91440" rIns="91440" bIns="91440" anchor="ctr">
            <a:normAutofit/>
          </a:bodyPr>
          <a:lstStyle/>
          <a:p>
            <a:pPr marL="457200" indent="0" algn="ctr">
              <a:lnSpc>
                <a:spcPct val="100000"/>
              </a:lnSpc>
              <a:buNone/>
              <a:tabLst>
                <a:tab pos="0" algn="l"/>
              </a:tabLst>
            </a:pPr>
            <a:r>
              <a:rPr lang="en" sz="3600" b="1" u="none" strike="noStrike">
                <a:solidFill>
                  <a:schemeClr val="dk1"/>
                </a:solidFill>
                <a:effectLst/>
                <a:uFillTx/>
                <a:latin typeface="Arial"/>
                <a:ea typeface="Arial"/>
              </a:rPr>
              <a:t>Introduction to</a:t>
            </a:r>
            <a:endParaRPr lang="en-US" sz="3600" b="0" u="none" strike="noStrike">
              <a:solidFill>
                <a:srgbClr val="000000"/>
              </a:solidFill>
              <a:effectLst/>
              <a:uFillTx/>
              <a:latin typeface="Arial"/>
            </a:endParaRPr>
          </a:p>
          <a:p>
            <a:pPr marL="457200" indent="0" algn="ctr">
              <a:lnSpc>
                <a:spcPct val="100000"/>
              </a:lnSpc>
              <a:buNone/>
              <a:tabLst>
                <a:tab pos="0" algn="l"/>
              </a:tabLst>
            </a:pPr>
            <a:r>
              <a:rPr lang="en" sz="3600" b="1" u="none" strike="noStrike">
                <a:solidFill>
                  <a:schemeClr val="dk1"/>
                </a:solidFill>
                <a:effectLst/>
                <a:uFillTx/>
                <a:latin typeface="Arial"/>
                <a:ea typeface="Arial"/>
              </a:rPr>
              <a:t>Pybricks for FLL Teams</a:t>
            </a:r>
            <a:endParaRPr lang="en-US" sz="3600" b="0" u="none" strike="noStrike">
              <a:solidFill>
                <a:srgbClr val="000000"/>
              </a:solidFill>
              <a:effectLst/>
              <a:uFillTx/>
              <a:latin typeface="Arial"/>
            </a:endParaRPr>
          </a:p>
          <a:p>
            <a:pPr indent="0" algn="l">
              <a:lnSpc>
                <a:spcPct val="100000"/>
              </a:lnSpc>
              <a:buNone/>
              <a:tabLst>
                <a:tab pos="0" algn="l"/>
              </a:tabLst>
            </a:pPr>
            <a:endParaRPr lang="en-US" sz="2600" b="0" u="none" strike="noStrike">
              <a:solidFill>
                <a:srgbClr val="000000"/>
              </a:solidFill>
              <a:effectLst/>
              <a:uFillTx/>
              <a:latin typeface="Arial"/>
            </a:endParaRPr>
          </a:p>
          <a:p>
            <a:pPr marL="457200" indent="0" algn="ctr">
              <a:lnSpc>
                <a:spcPct val="100000"/>
              </a:lnSpc>
              <a:buNone/>
              <a:tabLst>
                <a:tab pos="0" algn="l"/>
              </a:tabLst>
            </a:pPr>
            <a:r>
              <a:rPr lang="en" sz="2000" b="0" u="none" strike="noStrike">
                <a:solidFill>
                  <a:schemeClr val="dk1"/>
                </a:solidFill>
                <a:effectLst/>
                <a:uFillTx/>
                <a:latin typeface="Arial"/>
                <a:ea typeface="Arial"/>
              </a:rPr>
              <a:t>MD FLL Mentors Group</a:t>
            </a:r>
            <a:endParaRPr lang="en-US" sz="2000" b="0" u="none" strike="noStrike">
              <a:solidFill>
                <a:srgbClr val="000000"/>
              </a:solidFill>
              <a:effectLst/>
              <a:uFillTx/>
              <a:latin typeface="Arial"/>
            </a:endParaRPr>
          </a:p>
          <a:p>
            <a:pPr marL="457200" indent="0" algn="ctr">
              <a:lnSpc>
                <a:spcPct val="100000"/>
              </a:lnSpc>
              <a:buNone/>
              <a:tabLst>
                <a:tab pos="0" algn="l"/>
              </a:tabLst>
            </a:pPr>
            <a:r>
              <a:rPr lang="en" sz="2000" b="0" u="none" strike="noStrike">
                <a:solidFill>
                  <a:schemeClr val="dk1"/>
                </a:solidFill>
                <a:effectLst/>
                <a:uFillTx/>
                <a:latin typeface="Arial"/>
                <a:ea typeface="Arial"/>
              </a:rPr>
              <a:t>3 October 2026</a:t>
            </a:r>
            <a:endParaRPr lang="en-US" sz="2000" b="0" u="none" strike="noStrike">
              <a:solidFill>
                <a:srgbClr val="000000"/>
              </a:solidFill>
              <a:effectLst/>
              <a:uFillTx/>
              <a:latin typeface="Arial"/>
            </a:endParaRPr>
          </a:p>
          <a:p>
            <a:pPr marL="457200" indent="0" algn="ctr">
              <a:lnSpc>
                <a:spcPct val="100000"/>
              </a:lnSpc>
              <a:buNone/>
              <a:tabLst>
                <a:tab pos="0" algn="l"/>
              </a:tabLst>
            </a:pPr>
            <a:r>
              <a:rPr lang="en" sz="2000" b="0" u="none" strike="noStrike">
                <a:solidFill>
                  <a:schemeClr val="dk1"/>
                </a:solidFill>
                <a:effectLst/>
                <a:uFillTx/>
                <a:latin typeface="Arial"/>
                <a:ea typeface="Arial"/>
              </a:rPr>
              <a:t>Rev 20</a:t>
            </a:r>
            <a:endParaRPr lang="en-US" sz="2000" b="0" u="none" strike="noStrike">
              <a:solidFill>
                <a:srgbClr val="000000"/>
              </a:solidFill>
              <a:effectLst/>
              <a:uFillTx/>
              <a:latin typeface="Arial"/>
            </a:endParaRPr>
          </a:p>
          <a:p>
            <a:pPr marL="457200" indent="0" algn="ctr">
              <a:lnSpc>
                <a:spcPct val="100000"/>
              </a:lnSpc>
              <a:buNone/>
              <a:tabLst>
                <a:tab pos="0" algn="l"/>
              </a:tabLst>
            </a:pPr>
            <a:endParaRPr lang="en-US" sz="2000" b="0" u="none" strike="noStrike">
              <a:solidFill>
                <a:srgbClr val="000000"/>
              </a:solidFill>
              <a:effectLst/>
              <a:uFillTx/>
              <a:latin typeface="Arial"/>
            </a:endParaRPr>
          </a:p>
          <a:p>
            <a:pPr marL="457200" indent="0" algn="ctr">
              <a:lnSpc>
                <a:spcPct val="100000"/>
              </a:lnSpc>
              <a:buNone/>
              <a:tabLst>
                <a:tab pos="0" algn="l"/>
              </a:tabLst>
            </a:pPr>
            <a:r>
              <a:rPr lang="en" sz="2000" b="0" u="none" strike="noStrike">
                <a:solidFill>
                  <a:schemeClr val="dk1"/>
                </a:solidFill>
                <a:effectLst/>
                <a:uFillTx/>
                <a:latin typeface="Arial"/>
                <a:ea typeface="Arial"/>
              </a:rPr>
              <a:t>Boyd Fletcher</a:t>
            </a:r>
            <a:endParaRPr lang="en-US" sz="2000" b="0" u="none" strike="noStrike">
              <a:solidFill>
                <a:srgbClr val="000000"/>
              </a:solidFill>
              <a:effectLst/>
              <a:uFillTx/>
              <a:latin typeface="Arial"/>
            </a:endParaRPr>
          </a:p>
          <a:p>
            <a:pPr marL="457200" indent="0" algn="ctr">
              <a:lnSpc>
                <a:spcPct val="100000"/>
              </a:lnSpc>
              <a:buNone/>
              <a:tabLst>
                <a:tab pos="0" algn="l"/>
              </a:tabLst>
            </a:pPr>
            <a:r>
              <a:rPr lang="en" sz="2000" b="0" u="none" strike="noStrike">
                <a:solidFill>
                  <a:schemeClr val="dk1"/>
                </a:solidFill>
                <a:effectLst/>
                <a:uFillTx/>
                <a:latin typeface="Arial"/>
                <a:ea typeface="Arial"/>
              </a:rPr>
              <a:t>fllcoachboyd@gmail.com</a:t>
            </a:r>
            <a:endParaRPr lang="en-US" sz="2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lnSpcReduction="9999"/>
          </a:bodyPr>
          <a:lstStyle/>
          <a:p>
            <a:pPr indent="0" algn="l">
              <a:lnSpc>
                <a:spcPct val="100000"/>
              </a:lnSpc>
              <a:buNone/>
              <a:tabLst>
                <a:tab pos="0" algn="l"/>
              </a:tabLst>
            </a:pPr>
            <a:r>
              <a:rPr lang="en" sz="2800" b="0" u="none" strike="noStrike">
                <a:solidFill>
                  <a:schemeClr val="lt1"/>
                </a:solidFill>
                <a:effectLst/>
                <a:uFillTx/>
                <a:latin typeface="Arial"/>
                <a:ea typeface="Arial"/>
              </a:rPr>
              <a:t>Section Overview</a:t>
            </a:r>
            <a:endParaRPr lang="en-US" sz="2800" b="0" u="none" strike="noStrike">
              <a:solidFill>
                <a:srgbClr val="000000"/>
              </a:solidFill>
              <a:effectLst/>
              <a:uFillTx/>
              <a:latin typeface="Arial"/>
            </a:endParaRPr>
          </a:p>
        </p:txBody>
      </p:sp>
      <p:sp>
        <p:nvSpPr>
          <p:cNvPr id="52"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Section 1 – Introduction to Pybricks</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Section 2 – A comparison of Pybricks’ Block Coding and Python modes</a:t>
            </a:r>
            <a:endParaRPr lang="en-US" sz="18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Section 3 – How to use hub_menu()</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 sz="1800" b="0" u="none" strike="noStrike">
                <a:solidFill>
                  <a:schemeClr val="dk1"/>
                </a:solidFill>
                <a:effectLst/>
                <a:uFillTx/>
                <a:latin typeface="Arial"/>
                <a:ea typeface="Arial"/>
              </a:rPr>
              <a:t>Section 4 – Overview of Core Pybricks Python Functions</a:t>
            </a:r>
            <a:endParaRPr lang="en-US" sz="18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 sz="1800" b="0" u="none" strike="noStrike">
                <a:solidFill>
                  <a:schemeClr val="dk1"/>
                </a:solidFill>
                <a:effectLst/>
                <a:uFillTx/>
                <a:latin typeface="Arial"/>
                <a:ea typeface="Arial"/>
              </a:rPr>
              <a:t>Section 5 – Building &amp; Using a Pybricks Robot Library</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 sz="1800" b="0" u="none" strike="noStrike">
                <a:solidFill>
                  <a:schemeClr val="dk1"/>
                </a:solidFill>
                <a:effectLst/>
                <a:uFillTx/>
                <a:latin typeface="Arial"/>
                <a:ea typeface="Arial"/>
              </a:rPr>
              <a:t>Section 6 – Robot Game</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 sz="1800" b="0" u="none" strike="noStrike">
                <a:solidFill>
                  <a:schemeClr val="dk1"/>
                </a:solidFill>
                <a:effectLst/>
                <a:uFillTx/>
                <a:latin typeface="Arial"/>
                <a:ea typeface="Arial"/>
              </a:rPr>
              <a:t>Conclusion</a:t>
            </a:r>
            <a:endParaRPr lang="en-US" sz="1800" b="0" u="none" strike="noStrike">
              <a:solidFill>
                <a:srgbClr val="000000"/>
              </a:solidFill>
              <a:effectLst/>
              <a:uFillTx/>
              <a:latin typeface="Arial"/>
            </a:endParaRPr>
          </a:p>
          <a:p>
            <a:pPr marL="114480" indent="0" algn="l">
              <a:lnSpc>
                <a:spcPct val="115000"/>
              </a:lnSpc>
              <a:buNone/>
              <a:tabLst>
                <a:tab pos="0" algn="l"/>
              </a:tabLst>
            </a:pPr>
            <a:endParaRPr lang="en-US" sz="1900" b="0" u="none" strike="noStrike">
              <a:solidFill>
                <a:srgbClr val="000000"/>
              </a:solidFill>
              <a:effectLst/>
              <a:uFillTx/>
              <a:latin typeface="Arial"/>
            </a:endParaRPr>
          </a:p>
        </p:txBody>
      </p:sp>
      <p:sp>
        <p:nvSpPr>
          <p:cNvPr id="53" name="PlaceHolder 3"/>
          <p:cNvSpPr>
            <a:spLocks noGrp="1"/>
          </p:cNvSpPr>
          <p:nvPr>
            <p:ph type="sldNum" idx="1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34A851B-6DCA-40DA-A824-616659604A88}" type="slidenum">
              <a:rPr lang="en" sz="1000" b="0" u="none" strike="noStrike">
                <a:solidFill>
                  <a:schemeClr val="dk2"/>
                </a:solidFill>
                <a:effectLst/>
                <a:uFillTx/>
                <a:latin typeface="Arial"/>
                <a:ea typeface="Arial"/>
              </a:rPr>
              <a:t>2</a:t>
            </a:fld>
            <a:endParaRPr lang="en-US" sz="100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sldNum" idx="1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0326E0E-0D41-4FFD-ACC2-918B869BC6BE}" type="slidenum">
              <a:rPr lang="en" sz="1000" b="0" u="none" strike="noStrike">
                <a:solidFill>
                  <a:schemeClr val="dk2"/>
                </a:solidFill>
                <a:effectLst/>
                <a:uFillTx/>
                <a:latin typeface="Arial"/>
                <a:ea typeface="Arial"/>
              </a:rPr>
              <a:t>3</a:t>
            </a:fld>
            <a:endParaRPr lang="en-US" sz="1000" b="0" u="none" strike="noStrike">
              <a:solidFill>
                <a:srgbClr val="000000"/>
              </a:solidFill>
              <a:effectLst/>
              <a:uFillTx/>
              <a:latin typeface="Times New Roman"/>
            </a:endParaRPr>
          </a:p>
        </p:txBody>
      </p:sp>
      <p:sp>
        <p:nvSpPr>
          <p:cNvPr id="55" name="PlaceHolder 2"/>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1 – Introduction to Pybricks</a:t>
            </a:r>
            <a:endParaRPr lang="en-US" sz="36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Google Shape;56;p11"/>
          <p:cNvSpPr/>
          <p:nvPr/>
        </p:nvSpPr>
        <p:spPr>
          <a:xfrm>
            <a:off x="146160" y="115560"/>
            <a:ext cx="8426160" cy="571320"/>
          </a:xfrm>
          <a:prstGeom prst="roundRect">
            <a:avLst>
              <a:gd name="adj" fmla="val 16667"/>
            </a:avLst>
          </a:prstGeom>
          <a:solidFill>
            <a:srgbClr val="ED1C24"/>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lt1"/>
              </a:solidFill>
              <a:effectLst/>
              <a:uFillTx/>
              <a:latin typeface="Calibri"/>
            </a:endParaRPr>
          </a:p>
        </p:txBody>
      </p:sp>
      <p:sp>
        <p:nvSpPr>
          <p:cNvPr id="57" name="PlaceHolder 1"/>
          <p:cNvSpPr>
            <a:spLocks noGrp="1"/>
          </p:cNvSpPr>
          <p:nvPr>
            <p:ph type="title"/>
          </p:nvPr>
        </p:nvSpPr>
        <p:spPr>
          <a:xfrm>
            <a:off x="146520" y="110520"/>
            <a:ext cx="8520120" cy="572400"/>
          </a:xfrm>
          <a:prstGeom prst="rect">
            <a:avLst/>
          </a:prstGeom>
          <a:noFill/>
          <a:ln w="0">
            <a:noFill/>
          </a:ln>
        </p:spPr>
        <p:txBody>
          <a:bodyPr lIns="91440" tIns="45720" rIns="91440" bIns="45720" anchor="ctr">
            <a:normAutofit/>
          </a:bodyPr>
          <a:lstStyle/>
          <a:p>
            <a:pPr indent="0" algn="l">
              <a:lnSpc>
                <a:spcPct val="90000"/>
              </a:lnSpc>
              <a:buNone/>
              <a:tabLst>
                <a:tab pos="0" algn="l"/>
              </a:tabLst>
            </a:pPr>
            <a:r>
              <a:rPr lang="en" sz="2500" b="0" u="none" strike="noStrike">
                <a:solidFill>
                  <a:schemeClr val="lt1"/>
                </a:solidFill>
                <a:effectLst/>
                <a:uFillTx/>
                <a:latin typeface="Arial"/>
                <a:ea typeface="Arial"/>
              </a:rPr>
              <a:t>Introduction</a:t>
            </a:r>
            <a:endParaRPr lang="en-US" sz="2500" b="0" u="none" strike="noStrike">
              <a:solidFill>
                <a:srgbClr val="000000"/>
              </a:solidFill>
              <a:effectLst/>
              <a:uFillTx/>
              <a:latin typeface="Arial"/>
            </a:endParaRPr>
          </a:p>
        </p:txBody>
      </p:sp>
      <p:sp>
        <p:nvSpPr>
          <p:cNvPr id="58"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595959"/>
              </a:buClr>
              <a:buFont typeface="Arial"/>
              <a:buChar char="●"/>
            </a:pPr>
            <a:r>
              <a:rPr lang="en" sz="1800" b="0" u="none" strike="noStrike">
                <a:solidFill>
                  <a:schemeClr val="dk1"/>
                </a:solidFill>
                <a:effectLst/>
                <a:uFillTx/>
                <a:latin typeface="Arial"/>
                <a:ea typeface="Arial"/>
              </a:rPr>
              <a:t>This presentation is intended as an introduction to Pybricks for FLL Coaches and team members</a:t>
            </a:r>
            <a:endParaRPr lang="en-US" sz="18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 sz="1800" b="0" u="none" strike="noStrike">
                <a:solidFill>
                  <a:schemeClr val="dk1"/>
                </a:solidFill>
                <a:effectLst/>
                <a:uFillTx/>
                <a:latin typeface="Arial"/>
                <a:ea typeface="Arial"/>
              </a:rPr>
              <a:t>This presentation will provide quick comparison of Pybricks Block Coding and Python modes followed be a core essentials overview of Pybricks Python</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 sz="1400" b="0" u="none" strike="noStrike">
                <a:solidFill>
                  <a:schemeClr val="dk1"/>
                </a:solidFill>
                <a:effectLst/>
                <a:uFillTx/>
                <a:latin typeface="Arial"/>
                <a:ea typeface="Arial"/>
              </a:rPr>
              <a:t>Line-by-line details for block coding and python code are in the slide notes for each slide</a:t>
            </a:r>
            <a:endParaRPr lang="en-US" sz="14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595959"/>
              </a:buClr>
              <a:buFont typeface="Arial"/>
              <a:buChar char="●"/>
              <a:tabLst>
                <a:tab pos="0" algn="l"/>
              </a:tabLst>
            </a:pPr>
            <a:r>
              <a:rPr lang="en" sz="1800" b="0" u="none" strike="noStrike">
                <a:solidFill>
                  <a:schemeClr val="dk1"/>
                </a:solidFill>
                <a:effectLst/>
                <a:uFillTx/>
                <a:latin typeface="Arial"/>
                <a:ea typeface="Arial"/>
              </a:rPr>
              <a:t>This is part of a </a:t>
            </a:r>
            <a:r>
              <a:rPr lang="en" sz="1800" b="1" i="1" u="sng" strike="noStrike">
                <a:solidFill>
                  <a:schemeClr val="dk1"/>
                </a:solidFill>
                <a:effectLst/>
                <a:uFillTx/>
                <a:latin typeface="Arial"/>
                <a:ea typeface="Arial"/>
              </a:rPr>
              <a:t>new</a:t>
            </a:r>
            <a:r>
              <a:rPr lang="en" sz="1800" b="0" u="none" strike="noStrike">
                <a:solidFill>
                  <a:schemeClr val="dk1"/>
                </a:solidFill>
                <a:effectLst/>
                <a:uFillTx/>
                <a:latin typeface="Arial"/>
                <a:ea typeface="Arial"/>
              </a:rPr>
              <a:t> series of presentations and documentation that is being developed by the MD FLL Mentors Group to help coaches and their teams succeed at FLL</a:t>
            </a:r>
            <a:endParaRPr lang="en-US" sz="1800" b="0" u="none" strike="noStrike">
              <a:solidFill>
                <a:srgbClr val="000000"/>
              </a:solidFill>
              <a:effectLst/>
              <a:uFillTx/>
              <a:latin typeface="Arial"/>
            </a:endParaRPr>
          </a:p>
          <a:p>
            <a:pPr marL="914400" lvl="1" indent="-314280" algn="l">
              <a:lnSpc>
                <a:spcPct val="115000"/>
              </a:lnSpc>
              <a:buClr>
                <a:srgbClr val="595959"/>
              </a:buClr>
              <a:buFont typeface="Arial"/>
              <a:buChar char="○"/>
              <a:tabLst>
                <a:tab pos="0" algn="l"/>
              </a:tabLst>
            </a:pPr>
            <a:r>
              <a:rPr lang="en" sz="1350" b="0" u="none" strike="noStrike">
                <a:solidFill>
                  <a:schemeClr val="dk1"/>
                </a:solidFill>
                <a:effectLst/>
                <a:uFillTx/>
                <a:latin typeface="Arial"/>
                <a:ea typeface="Arial"/>
              </a:rPr>
              <a:t>The information will will be posted on the </a:t>
            </a:r>
            <a:r>
              <a:rPr lang="en" sz="1350" b="0" u="sng" strike="noStrike">
                <a:solidFill>
                  <a:schemeClr val="accent5"/>
                </a:solidFill>
                <a:effectLst/>
                <a:uFillTx/>
                <a:latin typeface="Arial"/>
                <a:ea typeface="Arial"/>
                <a:hlinkClick r:id="rId3"/>
              </a:rPr>
              <a:t>https://marylandfll.org</a:t>
            </a:r>
            <a:r>
              <a:rPr lang="en" sz="1350" b="0" u="none" strike="noStrike">
                <a:solidFill>
                  <a:schemeClr val="dk1"/>
                </a:solidFill>
                <a:effectLst/>
                <a:uFillTx/>
                <a:latin typeface="Arial"/>
                <a:ea typeface="Arial"/>
              </a:rPr>
              <a:t> website later this year</a:t>
            </a:r>
            <a:endParaRPr lang="en-US" sz="1350" b="0" u="none" strike="noStrike">
              <a:solidFill>
                <a:srgbClr val="000000"/>
              </a:solidFill>
              <a:effectLst/>
              <a:uFillTx/>
              <a:latin typeface="Arial"/>
            </a:endParaRPr>
          </a:p>
          <a:p>
            <a:pPr indent="0" algn="l">
              <a:lnSpc>
                <a:spcPct val="115000"/>
              </a:lnSpc>
              <a:buNone/>
              <a:tabLst>
                <a:tab pos="0" algn="l"/>
              </a:tabLst>
            </a:pPr>
            <a:endParaRPr lang="en-US" sz="2450" b="0" u="none" strike="noStrike">
              <a:solidFill>
                <a:srgbClr val="000000"/>
              </a:solidFill>
              <a:effectLst/>
              <a:uFillTx/>
              <a:latin typeface="Arial"/>
            </a:endParaRPr>
          </a:p>
          <a:p>
            <a:pPr marL="457200" indent="-314280" algn="l">
              <a:lnSpc>
                <a:spcPct val="115000"/>
              </a:lnSpc>
              <a:buClr>
                <a:srgbClr val="595959"/>
              </a:buClr>
              <a:buFont typeface="Arial"/>
              <a:buChar char="○"/>
              <a:tabLst>
                <a:tab pos="0" algn="l"/>
              </a:tabLst>
            </a:pPr>
            <a:r>
              <a:rPr lang="en" sz="1800" b="0" u="none" strike="noStrike">
                <a:solidFill>
                  <a:schemeClr val="dk1"/>
                </a:solidFill>
                <a:effectLst/>
                <a:uFillTx/>
                <a:latin typeface="Arial"/>
                <a:ea typeface="Arial"/>
              </a:rPr>
              <a:t>This presentation, examples, and my Python course are available here:</a:t>
            </a:r>
            <a:endParaRPr lang="en-US" sz="1800" b="0" u="none" strike="noStrike">
              <a:solidFill>
                <a:srgbClr val="000000"/>
              </a:solidFill>
              <a:effectLst/>
              <a:uFillTx/>
              <a:latin typeface="Arial"/>
            </a:endParaRPr>
          </a:p>
          <a:p>
            <a:pPr marL="914400" lvl="1" indent="-314280" algn="l">
              <a:lnSpc>
                <a:spcPct val="115000"/>
              </a:lnSpc>
              <a:buClr>
                <a:srgbClr val="595959"/>
              </a:buClr>
              <a:buFont typeface="Arial"/>
              <a:buChar char="○"/>
              <a:tabLst>
                <a:tab pos="0" algn="l"/>
              </a:tabLst>
            </a:pPr>
            <a:r>
              <a:rPr lang="en-US" sz="1400" b="1" u="none" strike="noStrike">
                <a:solidFill>
                  <a:schemeClr val="dk1"/>
                </a:solidFill>
                <a:effectLst/>
                <a:uFillTx/>
                <a:latin typeface="Arial"/>
                <a:ea typeface="Arial"/>
              </a:rPr>
              <a:t>https://github.com/bcfletcher/lego_projects/tree/main/FLL/2026_MD_FLL_Coaches_Conf</a:t>
            </a:r>
            <a:endParaRPr lang="en-US" sz="1400" b="0" u="none" strike="noStrike">
              <a:solidFill>
                <a:srgbClr val="000000"/>
              </a:solidFill>
              <a:effectLst/>
              <a:uFillTx/>
              <a:latin typeface="Arial"/>
            </a:endParaRPr>
          </a:p>
          <a:p>
            <a:pPr indent="0" algn="l">
              <a:lnSpc>
                <a:spcPct val="115000"/>
              </a:lnSpc>
              <a:spcAft>
                <a:spcPts val="1199"/>
              </a:spcAft>
              <a:buNone/>
              <a:tabLst>
                <a:tab pos="0" algn="l"/>
              </a:tabLst>
            </a:pPr>
            <a:endParaRPr lang="en-US" sz="1800" b="0" u="none" strike="noStrike">
              <a:solidFill>
                <a:srgbClr val="000000"/>
              </a:solidFill>
              <a:effectLst/>
              <a:uFillTx/>
              <a:latin typeface="Arial"/>
            </a:endParaRPr>
          </a:p>
        </p:txBody>
      </p:sp>
      <p:sp>
        <p:nvSpPr>
          <p:cNvPr id="59" name="PlaceHolder 3"/>
          <p:cNvSpPr>
            <a:spLocks noGrp="1"/>
          </p:cNvSpPr>
          <p:nvPr>
            <p:ph type="sldNum" idx="1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2D9D890-C5CD-4ED7-8141-EF56F6F88A2E}" type="slidenum">
              <a:rPr lang="en" sz="1000" b="0" u="none" strike="noStrike">
                <a:solidFill>
                  <a:schemeClr val="dk2"/>
                </a:solidFill>
                <a:effectLst/>
                <a:uFillTx/>
                <a:latin typeface="Arial"/>
                <a:ea typeface="Arial"/>
              </a:rPr>
              <a:t>4</a:t>
            </a:fld>
            <a:endParaRPr lang="en-US" sz="100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Caveats</a:t>
            </a:r>
            <a:endParaRPr lang="en-US" sz="2500" b="0" u="none" strike="noStrike">
              <a:solidFill>
                <a:srgbClr val="000000"/>
              </a:solidFill>
              <a:effectLst/>
              <a:uFillTx/>
              <a:latin typeface="Arial"/>
            </a:endParaRPr>
          </a:p>
        </p:txBody>
      </p:sp>
      <p:sp>
        <p:nvSpPr>
          <p:cNvPr id="6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Using Pybricks does not require you to know Python if you use the Block Coding mode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Knowing at least one modern programming language (C/C++/C#, Java, Perl, JavaScript) will help with using Python in Pybricks</a:t>
            </a:r>
            <a:endParaRPr lang="en-US" sz="1800" b="0" u="none" strike="noStrike">
              <a:solidFill>
                <a:srgbClr val="000000"/>
              </a:solidFill>
              <a:effectLst/>
              <a:uFillTx/>
              <a:latin typeface="Arial"/>
            </a:endParaRPr>
          </a:p>
          <a:p>
            <a:pPr marL="11448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Everyone needs to know the basic program structure rules for Python, This is covered in a separate presentation we have </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This course is NOT a complete overview of Pybricks – it is an introduction to get you and your team started using it.</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All the code in this course are released under the Apache License v2.0</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https://www.apache.org/licenses/LICENSE-2.0.txt</a:t>
            </a:r>
            <a:endParaRPr lang="en-US" sz="14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62" name="PlaceHolder 3"/>
          <p:cNvSpPr>
            <a:spLocks noGrp="1"/>
          </p:cNvSpPr>
          <p:nvPr>
            <p:ph type="sldNum" idx="1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53E98B5-1619-4773-9F0E-B3252A89A661}" type="slidenum">
              <a:rPr lang="en" sz="1000" b="0" u="none" strike="noStrike">
                <a:solidFill>
                  <a:schemeClr val="dk2"/>
                </a:solidFill>
                <a:effectLst/>
                <a:uFillTx/>
                <a:latin typeface="Arial"/>
                <a:ea typeface="Arial"/>
              </a:rPr>
              <a:t>5</a:t>
            </a:fld>
            <a:endParaRPr lang="en-US" sz="100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Block Coding vs. Python</a:t>
            </a:r>
            <a:endParaRPr lang="en-US" sz="2500" b="0" u="none" strike="noStrike">
              <a:solidFill>
                <a:srgbClr val="000000"/>
              </a:solidFill>
              <a:effectLst/>
              <a:uFillTx/>
              <a:latin typeface="Arial"/>
            </a:endParaRPr>
          </a:p>
        </p:txBody>
      </p:sp>
      <p:sp>
        <p:nvSpPr>
          <p:cNvPr id="64" name="PlaceHolder 2"/>
          <p:cNvSpPr>
            <a:spLocks noGrp="1"/>
          </p:cNvSpPr>
          <p:nvPr>
            <p:ph/>
          </p:nvPr>
        </p:nvSpPr>
        <p:spPr>
          <a:xfrm>
            <a:off x="31824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In MD, many elementary schools teach Scratch which is an approach to block coding developed by MIT</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While structurally different than the Lego and Pybricks Block coding, the concepts are similar</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For elementary school students with limited typing skills block coding is probably the best approach</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For middle schoolers, Python offers a lot of advantages</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Prepares them for high school level programming classes in Python and Java</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Python has much better capabilities to support finding bugs in your code (called debugging)</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It is much easier to support code reuse and robot libraries in Python than block coding</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Using Python lets you do nifty things like be able to run a bunch of steps (parts of the task that are working well) then “stopping” after a certain number of steps so the team can “go step-by-step” as they debug a new parts of the task</a:t>
            </a:r>
            <a:endParaRPr lang="en-US" sz="1400" b="0" u="none" strike="noStrike">
              <a:solidFill>
                <a:srgbClr val="000000"/>
              </a:solidFill>
              <a:effectLst/>
              <a:uFillTx/>
              <a:latin typeface="Arial"/>
            </a:endParaRPr>
          </a:p>
        </p:txBody>
      </p:sp>
      <p:sp>
        <p:nvSpPr>
          <p:cNvPr id="65" name="PlaceHolder 3"/>
          <p:cNvSpPr>
            <a:spLocks noGrp="1"/>
          </p:cNvSpPr>
          <p:nvPr>
            <p:ph type="sldNum" idx="1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8DD8B13-69FA-47B7-9793-1E9738D2EF57}" type="slidenum">
              <a:rPr lang="en" sz="1000" b="0" u="none" strike="noStrike">
                <a:solidFill>
                  <a:schemeClr val="dk2"/>
                </a:solidFill>
                <a:effectLst/>
                <a:uFillTx/>
                <a:latin typeface="Arial"/>
                <a:ea typeface="Arial"/>
              </a:rPr>
              <a:t>6</a:t>
            </a:fld>
            <a:endParaRPr lang="en-US" sz="10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p:nvPr>
        </p:nvSpPr>
        <p:spPr>
          <a:xfrm>
            <a:off x="146520" y="800640"/>
            <a:ext cx="8908920" cy="3542040"/>
          </a:xfrm>
          <a:prstGeom prst="rect">
            <a:avLst/>
          </a:prstGeom>
          <a:noFill/>
          <a:ln w="0">
            <a:noFill/>
          </a:ln>
        </p:spPr>
        <p:txBody>
          <a:bodyPr lIns="91440" tIns="91440" rIns="91440" bIns="91440" anchor="t">
            <a:noAutofit/>
          </a:bodyPr>
          <a:lstStyle/>
          <a:p>
            <a:pPr marL="457200" indent="-355320" algn="l">
              <a:lnSpc>
                <a:spcPct val="115000"/>
              </a:lnSpc>
              <a:buClr>
                <a:srgbClr val="000000"/>
              </a:buClr>
              <a:buFont typeface="Arial"/>
              <a:buChar char="●"/>
            </a:pPr>
            <a:r>
              <a:rPr lang="en" sz="2000" b="0" u="none" strike="noStrike">
                <a:solidFill>
                  <a:schemeClr val="dk1"/>
                </a:solidFill>
                <a:effectLst/>
                <a:uFillTx/>
                <a:latin typeface="Arial"/>
                <a:ea typeface="Arial"/>
              </a:rPr>
              <a:t>It is awesome!</a:t>
            </a:r>
            <a:endParaRPr lang="en-US" sz="2000" b="0" u="none" strike="noStrike">
              <a:solidFill>
                <a:srgbClr val="000000"/>
              </a:solidFill>
              <a:effectLst/>
              <a:uFillTx/>
              <a:latin typeface="Arial"/>
            </a:endParaRPr>
          </a:p>
          <a:p>
            <a:pPr marL="457200" indent="-355320" algn="l">
              <a:lnSpc>
                <a:spcPct val="115000"/>
              </a:lnSpc>
              <a:buClr>
                <a:srgbClr val="000000"/>
              </a:buClr>
              <a:buFont typeface="Arial"/>
              <a:buChar char="●"/>
            </a:pPr>
            <a:r>
              <a:rPr lang="en" sz="2000" b="0" u="none" strike="noStrike">
                <a:solidFill>
                  <a:schemeClr val="dk1"/>
                </a:solidFill>
                <a:effectLst/>
                <a:uFillTx/>
                <a:latin typeface="Arial"/>
                <a:ea typeface="Arial"/>
              </a:rPr>
              <a:t>Supports Lego Technic, Spike Prime/Robot Inventor, &amp; EV3 Robotics Kits</a:t>
            </a:r>
            <a:endParaRPr lang="en-US" sz="2000" b="0" u="none" strike="noStrike">
              <a:solidFill>
                <a:srgbClr val="000000"/>
              </a:solidFill>
              <a:effectLst/>
              <a:uFillTx/>
              <a:latin typeface="Arial"/>
            </a:endParaRPr>
          </a:p>
          <a:p>
            <a:pPr marL="457200" indent="-355320" algn="l">
              <a:lnSpc>
                <a:spcPct val="115000"/>
              </a:lnSpc>
              <a:buClr>
                <a:srgbClr val="000000"/>
              </a:buClr>
              <a:buFont typeface="Arial"/>
              <a:buChar char="●"/>
            </a:pPr>
            <a:r>
              <a:rPr lang="en" sz="2000" b="0" u="none" strike="noStrike">
                <a:solidFill>
                  <a:schemeClr val="dk1"/>
                </a:solidFill>
                <a:effectLst/>
                <a:uFillTx/>
                <a:latin typeface="Arial"/>
                <a:ea typeface="Arial"/>
              </a:rPr>
              <a:t>Supports both Block Coding (graphical) and Python coding</a:t>
            </a:r>
            <a:endParaRPr lang="en-US" sz="20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The backend of the Block Coding is actually Python so it provides a way to transition from Block Coding to Python</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Pybricks’ Python version is free and its block coding version is available for a small fee (to support its development)</a:t>
            </a:r>
            <a:endParaRPr lang="en-US" sz="1400" b="0" u="none" strike="noStrike">
              <a:solidFill>
                <a:srgbClr val="000000"/>
              </a:solidFill>
              <a:effectLst/>
              <a:uFillTx/>
              <a:latin typeface="Arial"/>
            </a:endParaRPr>
          </a:p>
          <a:p>
            <a:pPr marL="457200" indent="-352080" algn="l">
              <a:lnSpc>
                <a:spcPct val="115000"/>
              </a:lnSpc>
              <a:buClr>
                <a:srgbClr val="000000"/>
              </a:buClr>
              <a:buFont typeface="Arial"/>
              <a:buChar char="●"/>
            </a:pPr>
            <a:r>
              <a:rPr lang="en" sz="2000" b="0" u="none" strike="noStrike">
                <a:solidFill>
                  <a:schemeClr val="dk1"/>
                </a:solidFill>
                <a:effectLst/>
                <a:uFillTx/>
                <a:latin typeface="Arial"/>
                <a:ea typeface="Arial"/>
              </a:rPr>
              <a:t>Designed specifically for Lego Robotics!</a:t>
            </a:r>
            <a:endParaRPr lang="en-US" sz="2000" b="0" u="none" strike="noStrike">
              <a:solidFill>
                <a:srgbClr val="000000"/>
              </a:solidFill>
              <a:effectLst/>
              <a:uFillTx/>
              <a:latin typeface="Arial"/>
            </a:endParaRPr>
          </a:p>
          <a:p>
            <a:pPr marL="914400" lvl="1" indent="-355320" algn="l">
              <a:lnSpc>
                <a:spcPct val="115000"/>
              </a:lnSpc>
              <a:buClr>
                <a:srgbClr val="000000"/>
              </a:buClr>
              <a:buFont typeface="Arial"/>
              <a:buChar char="○"/>
            </a:pPr>
            <a:r>
              <a:rPr lang="en-US" sz="1600" b="0" u="none" strike="noStrike">
                <a:solidFill>
                  <a:schemeClr val="dk1"/>
                </a:solidFill>
                <a:effectLst/>
                <a:uFillTx/>
                <a:latin typeface="Arial"/>
                <a:ea typeface="Arial"/>
              </a:rPr>
              <a:t>Robust and easy to use support for Spike Prime’s Gyroscope</a:t>
            </a:r>
            <a:endParaRPr lang="en-US" sz="16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US" sz="1600" b="0" u="none" strike="noStrike">
                <a:solidFill>
                  <a:schemeClr val="dk1"/>
                </a:solidFill>
                <a:effectLst/>
                <a:uFillTx/>
                <a:latin typeface="Arial"/>
                <a:ea typeface="Arial"/>
              </a:rPr>
              <a:t>Simple but powerful commands to drive straight, turn in place, and drive &amp; turn (called a curve/arc)</a:t>
            </a:r>
            <a:endParaRPr lang="en-US" sz="16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US" sz="1600" b="0" u="none" strike="noStrike">
                <a:solidFill>
                  <a:schemeClr val="dk1"/>
                </a:solidFill>
                <a:effectLst/>
                <a:uFillTx/>
                <a:latin typeface="Arial"/>
                <a:ea typeface="Arial"/>
              </a:rPr>
              <a:t>Very precise but easy to use control over the Hub, Motors, and Sensors</a:t>
            </a:r>
            <a:endParaRPr lang="en-US" sz="1600" b="0" u="none" strike="noStrike">
              <a:solidFill>
                <a:srgbClr val="000000"/>
              </a:solidFill>
              <a:effectLst/>
              <a:uFillTx/>
              <a:latin typeface="Arial"/>
            </a:endParaRPr>
          </a:p>
          <a:p>
            <a:pPr indent="0" algn="l">
              <a:lnSpc>
                <a:spcPct val="115000"/>
              </a:lnSpc>
              <a:buNone/>
            </a:pPr>
            <a:endParaRPr lang="en-US" sz="200" b="0" u="none" strike="noStrike">
              <a:solidFill>
                <a:srgbClr val="000000"/>
              </a:solidFill>
              <a:effectLst/>
              <a:uFillTx/>
              <a:latin typeface="Arial"/>
            </a:endParaRPr>
          </a:p>
        </p:txBody>
      </p:sp>
      <p:sp>
        <p:nvSpPr>
          <p:cNvPr id="67" name="PlaceHolder 2"/>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Why use Pybricks (1/3)</a:t>
            </a:r>
            <a:endParaRPr lang="en-US" sz="2500" b="0" u="none" strike="noStrike">
              <a:solidFill>
                <a:srgbClr val="000000"/>
              </a:solidFill>
              <a:effectLst/>
              <a:uFillTx/>
              <a:latin typeface="Arial"/>
            </a:endParaRPr>
          </a:p>
        </p:txBody>
      </p:sp>
      <p:sp>
        <p:nvSpPr>
          <p:cNvPr id="68" name="PlaceHolder 3"/>
          <p:cNvSpPr>
            <a:spLocks noGrp="1"/>
          </p:cNvSpPr>
          <p:nvPr>
            <p:ph type="sldNum" idx="1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5C48497-CCD4-4FF6-8422-41C45484487D}" type="slidenum">
              <a:rPr lang="en" sz="1000" b="0" u="none" strike="noStrike">
                <a:solidFill>
                  <a:schemeClr val="dk2"/>
                </a:solidFill>
                <a:effectLst/>
                <a:uFillTx/>
                <a:latin typeface="Arial"/>
                <a:ea typeface="Arial"/>
              </a:rPr>
              <a:t>7</a:t>
            </a:fld>
            <a:endParaRPr lang="en-US" sz="100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p:nvPr>
        </p:nvSpPr>
        <p:spPr>
          <a:xfrm>
            <a:off x="217080" y="748440"/>
            <a:ext cx="8709120" cy="3823200"/>
          </a:xfrm>
          <a:prstGeom prst="rect">
            <a:avLst/>
          </a:prstGeom>
          <a:noFill/>
          <a:ln w="0">
            <a:noFill/>
          </a:ln>
        </p:spPr>
        <p:txBody>
          <a:bodyPr lIns="91440" tIns="91440" rIns="91440" bIns="91440" anchor="t">
            <a:noAutofit/>
          </a:bodyPr>
          <a:lstStyle/>
          <a:p>
            <a:pPr marL="457200" indent="-354240" algn="l">
              <a:lnSpc>
                <a:spcPct val="115000"/>
              </a:lnSpc>
              <a:buClr>
                <a:srgbClr val="000000"/>
              </a:buClr>
              <a:buFont typeface="Arial"/>
              <a:buChar char="●"/>
            </a:pPr>
            <a:r>
              <a:rPr lang="en" sz="1600" b="0" u="none" strike="noStrike">
                <a:solidFill>
                  <a:schemeClr val="dk1"/>
                </a:solidFill>
                <a:effectLst/>
                <a:uFillTx/>
                <a:latin typeface="Arial"/>
                <a:ea typeface="Arial"/>
              </a:rPr>
              <a:t>Enables code reuse and good coding best practices by storing all code in .py (Python) text files</a:t>
            </a:r>
            <a:endParaRPr lang="en-US" sz="1600" b="0" u="none" strike="noStrike">
              <a:solidFill>
                <a:srgbClr val="000000"/>
              </a:solidFill>
              <a:effectLst/>
              <a:uFillTx/>
              <a:latin typeface="Arial"/>
            </a:endParaRPr>
          </a:p>
          <a:p>
            <a:pPr marL="914400" lvl="1" indent="-354240" algn="l">
              <a:lnSpc>
                <a:spcPct val="115000"/>
              </a:lnSpc>
              <a:buClr>
                <a:srgbClr val="000000"/>
              </a:buClr>
              <a:buFont typeface="Arial"/>
              <a:buChar char="○"/>
            </a:pPr>
            <a:r>
              <a:rPr lang="en" sz="1400" b="0" u="none" strike="noStrike">
                <a:solidFill>
                  <a:schemeClr val="dk1"/>
                </a:solidFill>
                <a:effectLst/>
                <a:uFillTx/>
                <a:latin typeface="Arial"/>
                <a:ea typeface="Arial"/>
              </a:rPr>
              <a:t>Supports importing of code libraries to improve sharing and reuse of code </a:t>
            </a:r>
            <a:endParaRPr lang="en-US" sz="1400" b="0" u="none" strike="noStrike">
              <a:solidFill>
                <a:srgbClr val="000000"/>
              </a:solidFill>
              <a:effectLst/>
              <a:uFillTx/>
              <a:latin typeface="Arial"/>
            </a:endParaRPr>
          </a:p>
          <a:p>
            <a:pPr marL="914400" lvl="1" indent="-354240" algn="l">
              <a:lnSpc>
                <a:spcPct val="115000"/>
              </a:lnSpc>
              <a:buClr>
                <a:srgbClr val="000000"/>
              </a:buClr>
              <a:buFont typeface="Arial"/>
              <a:buChar char="○"/>
            </a:pPr>
            <a:r>
              <a:rPr lang="en" sz="1400" b="0" u="none" strike="noStrike">
                <a:solidFill>
                  <a:schemeClr val="dk1"/>
                </a:solidFill>
                <a:effectLst/>
                <a:uFillTx/>
                <a:latin typeface="Arial"/>
                <a:ea typeface="Arial"/>
              </a:rPr>
              <a:t>Lego Spike Prime stores its code in a proprietary binary format and does </a:t>
            </a:r>
            <a:r>
              <a:rPr lang="en" sz="1400" b="1" u="none" strike="noStrike">
                <a:solidFill>
                  <a:schemeClr val="dk1"/>
                </a:solidFill>
                <a:effectLst/>
                <a:uFillTx/>
                <a:latin typeface="Arial"/>
                <a:ea typeface="Arial"/>
              </a:rPr>
              <a:t>NOT</a:t>
            </a:r>
            <a:r>
              <a:rPr lang="en" sz="1400" b="0" u="none" strike="noStrike">
                <a:solidFill>
                  <a:schemeClr val="dk1"/>
                </a:solidFill>
                <a:effectLst/>
                <a:uFillTx/>
                <a:latin typeface="Arial"/>
                <a:ea typeface="Arial"/>
              </a:rPr>
              <a:t> support using code libraries</a:t>
            </a:r>
            <a:endParaRPr lang="en-US" sz="1400" b="0" u="none" strike="noStrike">
              <a:solidFill>
                <a:srgbClr val="000000"/>
              </a:solidFill>
              <a:effectLst/>
              <a:uFillTx/>
              <a:latin typeface="Arial"/>
            </a:endParaRPr>
          </a:p>
          <a:p>
            <a:pPr indent="0" algn="l">
              <a:lnSpc>
                <a:spcPct val="115000"/>
              </a:lnSpc>
              <a:buNone/>
            </a:pPr>
            <a:endParaRPr lang="en-US" sz="1600" b="0" u="none" strike="noStrike">
              <a:solidFill>
                <a:srgbClr val="000000"/>
              </a:solidFill>
              <a:effectLst/>
              <a:uFillTx/>
              <a:latin typeface="Arial"/>
            </a:endParaRPr>
          </a:p>
          <a:p>
            <a:pPr marL="457200" indent="-330120" algn="l">
              <a:lnSpc>
                <a:spcPct val="115000"/>
              </a:lnSpc>
              <a:buClr>
                <a:srgbClr val="000000"/>
              </a:buClr>
              <a:buFont typeface="Arial"/>
              <a:buChar char="●"/>
            </a:pPr>
            <a:r>
              <a:rPr lang="en-US" sz="1600" b="0" u="none" strike="noStrike">
                <a:solidFill>
                  <a:schemeClr val="dk1"/>
                </a:solidFill>
                <a:effectLst/>
                <a:uFillTx/>
                <a:latin typeface="Arial"/>
                <a:ea typeface="Arial"/>
              </a:rPr>
              <a:t>Pybricks uses an HTML/JavaScript (web) based interface (requires Chrome or Edge)</a:t>
            </a:r>
            <a:endParaRPr lang="en-US" sz="1600" b="0" u="none" strike="noStrike">
              <a:solidFill>
                <a:srgbClr val="000000"/>
              </a:solidFill>
              <a:effectLst/>
              <a:uFillTx/>
              <a:latin typeface="Arial"/>
            </a:endParaRPr>
          </a:p>
          <a:p>
            <a:pPr marL="914400" lvl="1" indent="-330120" algn="l">
              <a:lnSpc>
                <a:spcPct val="115000"/>
              </a:lnSpc>
              <a:buClr>
                <a:srgbClr val="000000"/>
              </a:buClr>
              <a:buFont typeface="Arial"/>
              <a:buChar char="○"/>
            </a:pPr>
            <a:r>
              <a:rPr lang="en-US" sz="1400" b="0" u="none" strike="noStrike">
                <a:solidFill>
                  <a:schemeClr val="dk1"/>
                </a:solidFill>
                <a:effectLst/>
                <a:uFillTx/>
                <a:latin typeface="Arial"/>
                <a:ea typeface="Arial"/>
              </a:rPr>
              <a:t>Can be “downloaded” to the computer so Internet access is not required</a:t>
            </a:r>
            <a:endParaRPr lang="en-US" sz="1400" b="0" u="none" strike="noStrike">
              <a:solidFill>
                <a:srgbClr val="000000"/>
              </a:solidFill>
              <a:effectLst/>
              <a:uFillTx/>
              <a:latin typeface="Arial"/>
            </a:endParaRPr>
          </a:p>
          <a:p>
            <a:pPr indent="0" algn="l">
              <a:lnSpc>
                <a:spcPct val="115000"/>
              </a:lnSpc>
              <a:buNone/>
            </a:pPr>
            <a:endParaRPr lang="en-US" sz="1600" b="0" u="none" strike="noStrike">
              <a:solidFill>
                <a:srgbClr val="000000"/>
              </a:solidFill>
              <a:effectLst/>
              <a:uFillTx/>
              <a:latin typeface="Arial"/>
            </a:endParaRPr>
          </a:p>
          <a:p>
            <a:pPr marL="457200" indent="-345960" algn="l">
              <a:lnSpc>
                <a:spcPct val="115000"/>
              </a:lnSpc>
              <a:buClr>
                <a:srgbClr val="000000"/>
              </a:buClr>
              <a:buFont typeface="Arial"/>
              <a:buChar char="●"/>
            </a:pPr>
            <a:r>
              <a:rPr lang="en-US" sz="1600" b="0" u="none" strike="noStrike">
                <a:solidFill>
                  <a:schemeClr val="dk1"/>
                </a:solidFill>
                <a:effectLst/>
                <a:uFillTx/>
                <a:latin typeface="Arial"/>
                <a:ea typeface="Arial"/>
              </a:rPr>
              <a:t>Works on Windows, Macs, Linux, and Chromebooks</a:t>
            </a:r>
            <a:endParaRPr lang="en-US" sz="1600" b="0" u="none" strike="noStrike">
              <a:solidFill>
                <a:srgbClr val="000000"/>
              </a:solidFill>
              <a:effectLst/>
              <a:uFillTx/>
              <a:latin typeface="Arial"/>
            </a:endParaRPr>
          </a:p>
          <a:p>
            <a:pPr indent="0" algn="l">
              <a:lnSpc>
                <a:spcPct val="115000"/>
              </a:lnSpc>
              <a:buNone/>
            </a:pPr>
            <a:endParaRPr lang="en-US" sz="1600" b="0" u="none" strike="noStrike">
              <a:solidFill>
                <a:srgbClr val="000000"/>
              </a:solidFill>
              <a:effectLst/>
              <a:uFillTx/>
              <a:latin typeface="Arial"/>
            </a:endParaRPr>
          </a:p>
          <a:p>
            <a:pPr marL="457200" indent="-345960" algn="l">
              <a:lnSpc>
                <a:spcPct val="115000"/>
              </a:lnSpc>
              <a:buClr>
                <a:srgbClr val="000000"/>
              </a:buClr>
              <a:buFont typeface="Arial"/>
              <a:buChar char="●"/>
            </a:pPr>
            <a:r>
              <a:rPr lang="en-US" sz="1600" b="0" u="none" strike="noStrike">
                <a:solidFill>
                  <a:schemeClr val="dk1"/>
                </a:solidFill>
                <a:effectLst/>
                <a:uFillTx/>
                <a:latin typeface="Arial"/>
                <a:ea typeface="Arial"/>
              </a:rPr>
              <a:t>Supports use of text-based code editors like Microsoft’s free Visual Studio Code</a:t>
            </a:r>
            <a:endParaRPr lang="en-US" sz="1600" b="0" u="none" strike="noStrike">
              <a:solidFill>
                <a:srgbClr val="000000"/>
              </a:solidFill>
              <a:effectLst/>
              <a:uFillTx/>
              <a:latin typeface="Arial"/>
            </a:endParaRPr>
          </a:p>
          <a:p>
            <a:pPr marL="914400" lvl="1" indent="-333360" algn="l">
              <a:lnSpc>
                <a:spcPct val="115000"/>
              </a:lnSpc>
              <a:buClr>
                <a:srgbClr val="000000"/>
              </a:buClr>
              <a:buFont typeface="Arial"/>
              <a:buChar char="○"/>
            </a:pPr>
            <a:r>
              <a:rPr lang="en-US" sz="1400" b="0" u="none" strike="noStrike">
                <a:solidFill>
                  <a:schemeClr val="dk1"/>
                </a:solidFill>
                <a:effectLst/>
                <a:uFillTx/>
                <a:latin typeface="Arial"/>
                <a:ea typeface="Arial"/>
              </a:rPr>
              <a:t>See https://code.visualstudio.com</a:t>
            </a:r>
            <a:endParaRPr lang="en-US" sz="1400" b="0" u="none" strike="noStrike">
              <a:solidFill>
                <a:srgbClr val="000000"/>
              </a:solidFill>
              <a:effectLst/>
              <a:uFillTx/>
              <a:latin typeface="Arial"/>
            </a:endParaRPr>
          </a:p>
          <a:p>
            <a:pPr marL="914400" lvl="1" indent="-333360" algn="l">
              <a:lnSpc>
                <a:spcPct val="115000"/>
              </a:lnSpc>
              <a:buClr>
                <a:srgbClr val="000000"/>
              </a:buClr>
              <a:buFont typeface="Arial"/>
              <a:buChar char="○"/>
            </a:pPr>
            <a:r>
              <a:rPr lang="en-US" sz="1400" b="0" u="none" strike="noStrike">
                <a:solidFill>
                  <a:schemeClr val="dk1"/>
                </a:solidFill>
                <a:effectLst/>
                <a:uFillTx/>
                <a:latin typeface="Arial"/>
                <a:ea typeface="Arial"/>
              </a:rPr>
              <a:t>See </a:t>
            </a:r>
            <a:r>
              <a:rPr lang="en-US" sz="1400" b="0" u="none" strike="noStrike">
                <a:solidFill>
                  <a:schemeClr val="dk1"/>
                </a:solidFill>
                <a:effectLst/>
                <a:uFillTx/>
                <a:latin typeface="Arial"/>
                <a:ea typeface="Arial"/>
                <a:hlinkClick r:id="rId2"/>
              </a:rPr>
              <a:t>https://pybricks.com/project/pybricks-other-editors</a:t>
            </a:r>
            <a:endParaRPr lang="en-US" sz="1400" b="0" u="none" strike="noStrike">
              <a:solidFill>
                <a:srgbClr val="000000"/>
              </a:solidFill>
              <a:effectLst/>
              <a:uFillTx/>
              <a:latin typeface="Arial"/>
            </a:endParaRPr>
          </a:p>
        </p:txBody>
      </p:sp>
      <p:sp>
        <p:nvSpPr>
          <p:cNvPr id="70" name="PlaceHolder 2"/>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Why use Pybricks (2/3)</a:t>
            </a:r>
            <a:endParaRPr lang="en-US" sz="2500" b="0" u="none" strike="noStrike">
              <a:solidFill>
                <a:srgbClr val="000000"/>
              </a:solidFill>
              <a:effectLst/>
              <a:uFillTx/>
              <a:latin typeface="Arial"/>
            </a:endParaRPr>
          </a:p>
        </p:txBody>
      </p:sp>
      <p:sp>
        <p:nvSpPr>
          <p:cNvPr id="71" name="PlaceHolder 3"/>
          <p:cNvSpPr>
            <a:spLocks noGrp="1"/>
          </p:cNvSpPr>
          <p:nvPr>
            <p:ph type="sldNum" idx="1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F9DBFB13-7752-4793-BDC5-2F87AA38C269}" type="slidenum">
              <a:rPr lang="en" sz="1000" b="0" u="none" strike="noStrike">
                <a:solidFill>
                  <a:schemeClr val="dk2"/>
                </a:solidFill>
                <a:effectLst/>
                <a:uFillTx/>
                <a:latin typeface="Arial"/>
                <a:ea typeface="Arial"/>
              </a:rPr>
              <a:t>8</a:t>
            </a:fld>
            <a:endParaRPr lang="en-US" sz="10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Why use Pybricks (3/3)</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73"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92500" lnSpcReduction="9999"/>
          </a:bodyPr>
          <a:lstStyle/>
          <a:p>
            <a:pPr marL="457200" indent="-368280" algn="l">
              <a:lnSpc>
                <a:spcPct val="100000"/>
              </a:lnSpc>
              <a:buClr>
                <a:srgbClr val="000000"/>
              </a:buClr>
              <a:buFont typeface="Arial"/>
              <a:buChar char="●"/>
            </a:pPr>
            <a:r>
              <a:rPr lang="en" sz="2200" b="0" u="none" strike="noStrike">
                <a:solidFill>
                  <a:schemeClr val="dk1"/>
                </a:solidFill>
                <a:effectLst/>
                <a:uFillTx/>
                <a:latin typeface="Arial"/>
                <a:ea typeface="Arial"/>
              </a:rPr>
              <a:t>Easy Multitasking</a:t>
            </a:r>
            <a:endParaRPr lang="en-US" sz="2200" b="0" u="none" strike="noStrike">
              <a:solidFill>
                <a:srgbClr val="000000"/>
              </a:solidFill>
              <a:effectLst/>
              <a:uFillTx/>
              <a:latin typeface="Arial"/>
            </a:endParaRPr>
          </a:p>
          <a:p>
            <a:pPr marL="914400" lvl="1" indent="-330120" algn="l">
              <a:lnSpc>
                <a:spcPct val="100000"/>
              </a:lnSpc>
              <a:buClr>
                <a:srgbClr val="000000"/>
              </a:buClr>
              <a:buFont typeface="Arial"/>
              <a:buChar char="○"/>
            </a:pPr>
            <a:r>
              <a:rPr lang="en" sz="1600" b="0" u="none" strike="noStrike">
                <a:solidFill>
                  <a:schemeClr val="dk1"/>
                </a:solidFill>
                <a:effectLst/>
                <a:uFillTx/>
                <a:latin typeface="Arial"/>
                <a:ea typeface="Arial"/>
              </a:rPr>
              <a:t>Allows the robot to do multiple things at the same time</a:t>
            </a:r>
            <a:endParaRPr lang="en-US" sz="1600" b="0" u="none" strike="noStrike">
              <a:solidFill>
                <a:srgbClr val="000000"/>
              </a:solidFill>
              <a:effectLst/>
              <a:uFillTx/>
              <a:latin typeface="Arial"/>
            </a:endParaRPr>
          </a:p>
          <a:p>
            <a:pPr marL="1371600" lvl="2" indent="-317520" algn="l">
              <a:lnSpc>
                <a:spcPct val="100000"/>
              </a:lnSpc>
              <a:buClr>
                <a:srgbClr val="000000"/>
              </a:buClr>
              <a:buFont typeface="Arial"/>
              <a:buChar char="■"/>
            </a:pPr>
            <a:r>
              <a:rPr lang="en" sz="1400" b="0" u="none" strike="noStrike">
                <a:solidFill>
                  <a:schemeClr val="dk1"/>
                </a:solidFill>
                <a:effectLst/>
                <a:uFillTx/>
                <a:latin typeface="Arial"/>
                <a:ea typeface="Arial"/>
              </a:rPr>
              <a:t>Like driving backward while turning and lifting an attachment while moving away from a mission model</a:t>
            </a:r>
            <a:endParaRPr lang="en-US" sz="1400" b="0" u="none" strike="noStrike">
              <a:solidFill>
                <a:srgbClr val="000000"/>
              </a:solidFill>
              <a:effectLst/>
              <a:uFillTx/>
              <a:latin typeface="Arial"/>
            </a:endParaRPr>
          </a:p>
          <a:p>
            <a:pPr marL="914400" lvl="1" indent="-330120" algn="l">
              <a:lnSpc>
                <a:spcPct val="100000"/>
              </a:lnSpc>
              <a:buClr>
                <a:srgbClr val="000000"/>
              </a:buClr>
              <a:buFont typeface="Arial"/>
              <a:buChar char="○"/>
            </a:pPr>
            <a:r>
              <a:rPr lang="en" sz="1600" b="0" u="none" strike="noStrike">
                <a:solidFill>
                  <a:schemeClr val="dk1"/>
                </a:solidFill>
                <a:effectLst/>
                <a:uFillTx/>
                <a:latin typeface="Arial"/>
                <a:ea typeface="Arial"/>
              </a:rPr>
              <a:t>Frequently used to drive or turn while also moving the attachment into the right position</a:t>
            </a:r>
            <a:endParaRPr lang="en-US" sz="1600" b="0" u="none" strike="noStrike">
              <a:solidFill>
                <a:srgbClr val="000000"/>
              </a:solidFill>
              <a:effectLst/>
              <a:uFillTx/>
              <a:latin typeface="Arial"/>
            </a:endParaRPr>
          </a:p>
          <a:p>
            <a:pPr marL="1371600" lvl="2" indent="-318600" algn="l">
              <a:lnSpc>
                <a:spcPct val="100000"/>
              </a:lnSpc>
              <a:buClr>
                <a:srgbClr val="000000"/>
              </a:buClr>
              <a:buFont typeface="Arial"/>
              <a:buChar char="■"/>
            </a:pPr>
            <a:r>
              <a:rPr lang="en" sz="1410" b="0" u="none" strike="noStrike">
                <a:solidFill>
                  <a:schemeClr val="dk1"/>
                </a:solidFill>
                <a:effectLst/>
                <a:uFillTx/>
                <a:latin typeface="Arial"/>
                <a:ea typeface="Arial"/>
              </a:rPr>
              <a:t>This can save valuable seconds during the robot game</a:t>
            </a:r>
            <a:endParaRPr lang="en-US" sz="1410" b="0" u="none" strike="noStrike">
              <a:solidFill>
                <a:srgbClr val="000000"/>
              </a:solidFill>
              <a:effectLst/>
              <a:uFillTx/>
              <a:latin typeface="Arial"/>
            </a:endParaRPr>
          </a:p>
          <a:p>
            <a:pPr marL="914400" lvl="1" indent="-330120" algn="l">
              <a:lnSpc>
                <a:spcPct val="95000"/>
              </a:lnSpc>
              <a:buClr>
                <a:srgbClr val="000000"/>
              </a:buClr>
              <a:buFont typeface="Arial"/>
              <a:buChar char="○"/>
            </a:pPr>
            <a:r>
              <a:rPr lang="en" sz="1600" b="0" u="none" strike="noStrike">
                <a:solidFill>
                  <a:schemeClr val="dk1"/>
                </a:solidFill>
                <a:effectLst/>
                <a:uFillTx/>
                <a:latin typeface="Arial"/>
                <a:ea typeface="Arial"/>
              </a:rPr>
              <a:t>Used for stall detection for attachments to prevent the robot from “locking in place” while trying to move an attachment that is somehow gotten stuck on a mission</a:t>
            </a:r>
            <a:endParaRPr lang="en-US" sz="1600" b="0" u="none" strike="noStrike">
              <a:solidFill>
                <a:srgbClr val="000000"/>
              </a:solidFill>
              <a:effectLst/>
              <a:uFillTx/>
              <a:latin typeface="Arial"/>
            </a:endParaRPr>
          </a:p>
          <a:p>
            <a:pPr marL="1371600" indent="0" algn="l">
              <a:lnSpc>
                <a:spcPct val="100000"/>
              </a:lnSpc>
              <a:buNone/>
              <a:tabLst>
                <a:tab pos="0" algn="l"/>
              </a:tabLst>
            </a:pPr>
            <a:endParaRPr lang="en-US" sz="1410" b="0" u="none" strike="noStrike">
              <a:solidFill>
                <a:srgbClr val="000000"/>
              </a:solidFill>
              <a:effectLst/>
              <a:uFillTx/>
              <a:latin typeface="Arial"/>
            </a:endParaRPr>
          </a:p>
          <a:p>
            <a:pPr marL="457200" indent="-369360" algn="l">
              <a:lnSpc>
                <a:spcPct val="100000"/>
              </a:lnSpc>
              <a:buClr>
                <a:srgbClr val="000000"/>
              </a:buClr>
              <a:buFont typeface="Courier New"/>
              <a:buChar char="●"/>
              <a:tabLst>
                <a:tab pos="0" algn="l"/>
              </a:tabLst>
            </a:pPr>
            <a:r>
              <a:rPr lang="en" sz="2210" b="1" u="none" strike="noStrike">
                <a:solidFill>
                  <a:schemeClr val="dk1"/>
                </a:solidFill>
                <a:effectLst/>
                <a:uFillTx/>
                <a:latin typeface="Courier New"/>
                <a:ea typeface="Courier New"/>
              </a:rPr>
              <a:t>hub_menu()</a:t>
            </a:r>
            <a:endParaRPr lang="en-US" sz="2210" b="0" u="none" strike="noStrike">
              <a:solidFill>
                <a:srgbClr val="000000"/>
              </a:solidFill>
              <a:effectLst/>
              <a:uFillTx/>
              <a:latin typeface="Arial"/>
            </a:endParaRPr>
          </a:p>
          <a:p>
            <a:pPr marL="914400" lvl="1" indent="-330120" algn="l">
              <a:lnSpc>
                <a:spcPct val="100000"/>
              </a:lnSpc>
              <a:buClr>
                <a:srgbClr val="000000"/>
              </a:buClr>
              <a:buFont typeface="Arial"/>
              <a:buChar char="○"/>
              <a:tabLst>
                <a:tab pos="0" algn="l"/>
              </a:tabLst>
            </a:pPr>
            <a:r>
              <a:rPr lang="en" sz="1600" b="0" u="none" strike="noStrike">
                <a:solidFill>
                  <a:schemeClr val="dk1"/>
                </a:solidFill>
                <a:effectLst/>
                <a:uFillTx/>
                <a:latin typeface="Arial"/>
                <a:ea typeface="Arial"/>
              </a:rPr>
              <a:t>Provides a way to run multiple tasks on the robot</a:t>
            </a:r>
            <a:endParaRPr lang="en-US" sz="1600" b="0" u="none" strike="noStrike">
              <a:solidFill>
                <a:srgbClr val="000000"/>
              </a:solidFill>
              <a:effectLst/>
              <a:uFillTx/>
              <a:latin typeface="Arial"/>
            </a:endParaRPr>
          </a:p>
          <a:p>
            <a:pPr marL="1371600" lvl="2" indent="-317520" algn="l">
              <a:lnSpc>
                <a:spcPct val="100000"/>
              </a:lnSpc>
              <a:buClr>
                <a:srgbClr val="000000"/>
              </a:buClr>
              <a:buFont typeface="Arial"/>
              <a:buChar char="■"/>
              <a:tabLst>
                <a:tab pos="0" algn="l"/>
              </a:tabLst>
            </a:pPr>
            <a:r>
              <a:rPr lang="en" sz="1400" b="0" u="none" strike="noStrike">
                <a:solidFill>
                  <a:schemeClr val="dk1"/>
                </a:solidFill>
                <a:effectLst/>
                <a:uFillTx/>
                <a:latin typeface="Arial"/>
                <a:ea typeface="Arial"/>
              </a:rPr>
              <a:t>Each task selected by use the &lt;- -&gt; keys on the hub and pressing the big button to run</a:t>
            </a:r>
            <a:endParaRPr lang="en-US" sz="1400" b="0" u="none" strike="noStrike">
              <a:solidFill>
                <a:srgbClr val="000000"/>
              </a:solidFill>
              <a:effectLst/>
              <a:uFillTx/>
              <a:latin typeface="Arial"/>
            </a:endParaRPr>
          </a:p>
          <a:p>
            <a:pPr marL="914400" lvl="1" indent="-330120" algn="l">
              <a:lnSpc>
                <a:spcPct val="100000"/>
              </a:lnSpc>
              <a:buClr>
                <a:srgbClr val="000000"/>
              </a:buClr>
              <a:buFont typeface="Arial"/>
              <a:buChar char="○"/>
              <a:tabLst>
                <a:tab pos="0" algn="l"/>
              </a:tabLst>
            </a:pPr>
            <a:r>
              <a:rPr lang="en" sz="1600" b="0" u="none" strike="noStrike">
                <a:solidFill>
                  <a:schemeClr val="dk1"/>
                </a:solidFill>
                <a:effectLst/>
                <a:uFillTx/>
                <a:latin typeface="Arial"/>
                <a:ea typeface="Arial"/>
              </a:rPr>
              <a:t>Loads all the tasks at one time onto the robot</a:t>
            </a:r>
            <a:endParaRPr lang="en-US" sz="1600" b="0" u="none" strike="noStrike">
              <a:solidFill>
                <a:srgbClr val="000000"/>
              </a:solidFill>
              <a:effectLst/>
              <a:uFillTx/>
              <a:latin typeface="Arial"/>
            </a:endParaRPr>
          </a:p>
          <a:p>
            <a:pPr marL="914400" lvl="1" indent="-330120" algn="l">
              <a:lnSpc>
                <a:spcPct val="100000"/>
              </a:lnSpc>
              <a:buClr>
                <a:srgbClr val="000000"/>
              </a:buClr>
              <a:buFont typeface="Arial"/>
              <a:buChar char="○"/>
              <a:tabLst>
                <a:tab pos="0" algn="l"/>
              </a:tabLst>
            </a:pPr>
            <a:r>
              <a:rPr lang="en" sz="1600" b="0" u="none" strike="noStrike">
                <a:solidFill>
                  <a:schemeClr val="dk1"/>
                </a:solidFill>
                <a:effectLst/>
                <a:uFillTx/>
                <a:latin typeface="Arial"/>
                <a:ea typeface="Arial"/>
              </a:rPr>
              <a:t>Replaces the task download capability in Lego Spike Prime application</a:t>
            </a:r>
            <a:endParaRPr lang="en-US" sz="1600" b="0" u="none" strike="noStrike">
              <a:solidFill>
                <a:srgbClr val="000000"/>
              </a:solidFill>
              <a:effectLst/>
              <a:uFillTx/>
              <a:latin typeface="Arial"/>
            </a:endParaRPr>
          </a:p>
          <a:p>
            <a:pPr marL="914400" lvl="1" indent="-330120" algn="l">
              <a:lnSpc>
                <a:spcPct val="100000"/>
              </a:lnSpc>
              <a:buClr>
                <a:srgbClr val="000000"/>
              </a:buClr>
              <a:buFont typeface="Arial"/>
              <a:buChar char="○"/>
              <a:tabLst>
                <a:tab pos="0" algn="l"/>
              </a:tabLst>
            </a:pPr>
            <a:r>
              <a:rPr lang="en" sz="1600" b="0" u="none" strike="noStrike">
                <a:solidFill>
                  <a:schemeClr val="dk1"/>
                </a:solidFill>
                <a:effectLst/>
                <a:uFillTx/>
                <a:latin typeface="Arial"/>
                <a:ea typeface="Arial"/>
              </a:rPr>
              <a:t>After each execution of a menu option, the menu starts from the beginning</a:t>
            </a:r>
            <a:endParaRPr lang="en-US" sz="1600" b="0" u="none" strike="noStrike">
              <a:solidFill>
                <a:srgbClr val="000000"/>
              </a:solidFill>
              <a:effectLst/>
              <a:uFillTx/>
              <a:latin typeface="Arial"/>
            </a:endParaRPr>
          </a:p>
        </p:txBody>
      </p:sp>
      <p:sp>
        <p:nvSpPr>
          <p:cNvPr id="74" name="PlaceHolder 3"/>
          <p:cNvSpPr>
            <a:spLocks noGrp="1"/>
          </p:cNvSpPr>
          <p:nvPr>
            <p:ph type="sldNum" idx="2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9EFDAF1-689C-41DD-BC6C-D340E09DBD5F}" type="slidenum">
              <a:rPr lang="en" sz="1000" b="0" u="none" strike="noStrike">
                <a:solidFill>
                  <a:schemeClr val="dk2"/>
                </a:solidFill>
                <a:effectLst/>
                <a:uFillTx/>
                <a:latin typeface="Arial"/>
                <a:ea typeface="Arial"/>
              </a:rPr>
              <a:t>9</a:t>
            </a:fld>
            <a:endParaRPr lang="en-US" sz="10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Where do I get Pybricks?</a:t>
            </a:r>
            <a:endParaRPr lang="en-US" sz="2500" b="0" u="none" strike="noStrike">
              <a:solidFill>
                <a:srgbClr val="000000"/>
              </a:solidFill>
              <a:effectLst/>
              <a:uFillTx/>
              <a:latin typeface="Arial"/>
            </a:endParaRPr>
          </a:p>
        </p:txBody>
      </p:sp>
      <p:sp>
        <p:nvSpPr>
          <p:cNvPr id="76"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70000" lnSpcReduction="19999"/>
          </a:bodyPr>
          <a:lstStyle/>
          <a:p>
            <a:pPr marL="457200" indent="-341640" algn="l">
              <a:lnSpc>
                <a:spcPct val="115000"/>
              </a:lnSpc>
              <a:buClr>
                <a:srgbClr val="000000"/>
              </a:buClr>
              <a:buFont typeface="Arial"/>
              <a:buChar char="●"/>
            </a:pPr>
            <a:r>
              <a:rPr lang="en" sz="2300" b="0" u="none" strike="noStrike">
                <a:solidFill>
                  <a:schemeClr val="dk1"/>
                </a:solidFill>
                <a:effectLst/>
                <a:uFillTx/>
                <a:latin typeface="Arial"/>
                <a:ea typeface="Arial"/>
              </a:rPr>
              <a:t>It is a open source project so the source code is available </a:t>
            </a:r>
            <a:endParaRPr lang="en-US" sz="2300" b="0" u="none" strike="noStrike">
              <a:solidFill>
                <a:srgbClr val="000000"/>
              </a:solidFill>
              <a:effectLst/>
              <a:uFillTx/>
              <a:latin typeface="Arial"/>
            </a:endParaRPr>
          </a:p>
          <a:p>
            <a:pPr marL="457200" indent="0" algn="l">
              <a:lnSpc>
                <a:spcPct val="115000"/>
              </a:lnSpc>
              <a:buNone/>
              <a:tabLst>
                <a:tab pos="0" algn="l"/>
              </a:tabLst>
            </a:pPr>
            <a:endParaRPr lang="en-US" sz="2300" b="0" u="none" strike="noStrike">
              <a:solidFill>
                <a:srgbClr val="000000"/>
              </a:solidFill>
              <a:effectLst/>
              <a:uFillTx/>
              <a:latin typeface="Arial"/>
            </a:endParaRPr>
          </a:p>
          <a:p>
            <a:pPr marL="457200" indent="-341640" algn="l">
              <a:lnSpc>
                <a:spcPct val="115000"/>
              </a:lnSpc>
              <a:buClr>
                <a:srgbClr val="000000"/>
              </a:buClr>
              <a:buSzPct val="97000"/>
              <a:buFont typeface="Arial"/>
              <a:buChar char="●"/>
              <a:tabLst>
                <a:tab pos="0" algn="l"/>
              </a:tabLst>
            </a:pPr>
            <a:r>
              <a:rPr lang="en" sz="2370" b="0" u="none" strike="noStrike">
                <a:solidFill>
                  <a:schemeClr val="dk1"/>
                </a:solidFill>
                <a:effectLst/>
                <a:uFillTx/>
                <a:latin typeface="Arial"/>
                <a:ea typeface="Arial"/>
              </a:rPr>
              <a:t>The software:</a:t>
            </a:r>
            <a:endParaRPr lang="en-US" sz="2370" b="0" u="none" strike="noStrike">
              <a:solidFill>
                <a:srgbClr val="000000"/>
              </a:solidFill>
              <a:effectLst/>
              <a:uFillTx/>
              <a:latin typeface="Arial"/>
            </a:endParaRPr>
          </a:p>
          <a:p>
            <a:pPr marL="914400" lvl="1" indent="-325800" algn="l">
              <a:lnSpc>
                <a:spcPct val="115000"/>
              </a:lnSpc>
              <a:buClr>
                <a:srgbClr val="000000"/>
              </a:buClr>
              <a:buFont typeface="Arial"/>
              <a:buChar char="○"/>
              <a:tabLst>
                <a:tab pos="0" algn="l"/>
              </a:tabLst>
            </a:pPr>
            <a:r>
              <a:rPr lang="en" sz="1970" b="0" u="none" strike="noStrike">
                <a:solidFill>
                  <a:schemeClr val="dk1"/>
                </a:solidFill>
                <a:effectLst/>
                <a:uFillTx/>
                <a:latin typeface="Arial"/>
                <a:ea typeface="Arial"/>
              </a:rPr>
              <a:t>Using the Chrome web browser go to: </a:t>
            </a:r>
            <a:r>
              <a:rPr lang="en" sz="1970" b="0" u="none" strike="noStrike">
                <a:solidFill>
                  <a:schemeClr val="dk1"/>
                </a:solidFill>
                <a:effectLst/>
                <a:uFillTx/>
                <a:latin typeface="Arial"/>
                <a:ea typeface="Arial"/>
                <a:hlinkClick r:id="rId2"/>
              </a:rPr>
              <a:t>https://code.pybricks.com</a:t>
            </a:r>
            <a:endParaRPr lang="en-US" sz="1970" b="0" u="none" strike="noStrike">
              <a:solidFill>
                <a:srgbClr val="000000"/>
              </a:solidFill>
              <a:effectLst/>
              <a:uFillTx/>
              <a:latin typeface="Arial"/>
            </a:endParaRPr>
          </a:p>
          <a:p>
            <a:pPr marL="457200" indent="0" algn="l">
              <a:lnSpc>
                <a:spcPct val="115000"/>
              </a:lnSpc>
              <a:buNone/>
              <a:tabLst>
                <a:tab pos="0" algn="l"/>
              </a:tabLst>
            </a:pPr>
            <a:endParaRPr lang="en-US" sz="2370" b="0" u="none" strike="noStrike">
              <a:solidFill>
                <a:srgbClr val="000000"/>
              </a:solidFill>
              <a:effectLst/>
              <a:uFillTx/>
              <a:latin typeface="Arial"/>
            </a:endParaRPr>
          </a:p>
          <a:p>
            <a:pPr marL="457200" indent="-345240" algn="l">
              <a:lnSpc>
                <a:spcPct val="115000"/>
              </a:lnSpc>
              <a:buClr>
                <a:srgbClr val="000000"/>
              </a:buClr>
              <a:buFont typeface="Arial"/>
              <a:buChar char="●"/>
              <a:tabLst>
                <a:tab pos="0" algn="l"/>
              </a:tabLst>
            </a:pPr>
            <a:r>
              <a:rPr lang="en" sz="2370" b="0" u="none" strike="noStrike">
                <a:solidFill>
                  <a:schemeClr val="dk1"/>
                </a:solidFill>
                <a:effectLst/>
                <a:uFillTx/>
                <a:latin typeface="Arial"/>
                <a:ea typeface="Arial"/>
              </a:rPr>
              <a:t>The documentation:</a:t>
            </a:r>
            <a:endParaRPr lang="en-US" sz="2370" b="0" u="none" strike="noStrike">
              <a:solidFill>
                <a:srgbClr val="000000"/>
              </a:solidFill>
              <a:effectLst/>
              <a:uFillTx/>
              <a:latin typeface="Arial"/>
            </a:endParaRPr>
          </a:p>
          <a:p>
            <a:pPr marL="914400" lvl="1" indent="-325800" algn="l">
              <a:lnSpc>
                <a:spcPct val="115000"/>
              </a:lnSpc>
              <a:buClr>
                <a:srgbClr val="000000"/>
              </a:buClr>
              <a:buFont typeface="Arial"/>
              <a:buChar char="○"/>
              <a:tabLst>
                <a:tab pos="0" algn="l"/>
              </a:tabLst>
            </a:pPr>
            <a:r>
              <a:rPr lang="en" sz="1970" b="0" u="none" strike="noStrike">
                <a:solidFill>
                  <a:schemeClr val="dk1"/>
                </a:solidFill>
                <a:effectLst/>
                <a:uFillTx/>
                <a:latin typeface="Arial"/>
                <a:ea typeface="Arial"/>
                <a:hlinkClick r:id="rId3"/>
              </a:rPr>
              <a:t>https://docs.pybricks.com/en/latest</a:t>
            </a:r>
            <a:endParaRPr lang="en-US" sz="1970" b="0" u="none" strike="noStrike">
              <a:solidFill>
                <a:srgbClr val="000000"/>
              </a:solidFill>
              <a:effectLst/>
              <a:uFillTx/>
              <a:latin typeface="Arial"/>
            </a:endParaRPr>
          </a:p>
          <a:p>
            <a:pPr marL="457200" indent="0" algn="l">
              <a:lnSpc>
                <a:spcPct val="115000"/>
              </a:lnSpc>
              <a:buNone/>
              <a:tabLst>
                <a:tab pos="0" algn="l"/>
              </a:tabLst>
            </a:pPr>
            <a:endParaRPr lang="en-US" sz="2370" b="0" u="none" strike="noStrike">
              <a:solidFill>
                <a:srgbClr val="000000"/>
              </a:solidFill>
              <a:effectLst/>
              <a:uFillTx/>
              <a:latin typeface="Arial"/>
            </a:endParaRPr>
          </a:p>
          <a:p>
            <a:pPr marL="457200" indent="-345240" algn="l">
              <a:lnSpc>
                <a:spcPct val="115000"/>
              </a:lnSpc>
              <a:buClr>
                <a:srgbClr val="000000"/>
              </a:buClr>
              <a:buFont typeface="Arial"/>
              <a:buChar char="●"/>
              <a:tabLst>
                <a:tab pos="0" algn="l"/>
              </a:tabLst>
            </a:pPr>
            <a:r>
              <a:rPr lang="en" sz="2370" b="0" u="none" strike="noStrike">
                <a:solidFill>
                  <a:schemeClr val="dk1"/>
                </a:solidFill>
                <a:effectLst/>
                <a:uFillTx/>
                <a:latin typeface="Arial"/>
                <a:ea typeface="Arial"/>
              </a:rPr>
              <a:t>The Getting Started Guide:</a:t>
            </a:r>
            <a:endParaRPr lang="en-US" sz="2370" b="0" u="none" strike="noStrike">
              <a:solidFill>
                <a:srgbClr val="000000"/>
              </a:solidFill>
              <a:effectLst/>
              <a:uFillTx/>
              <a:latin typeface="Arial"/>
            </a:endParaRPr>
          </a:p>
          <a:p>
            <a:pPr marL="914400" lvl="1" indent="-325800" algn="l">
              <a:lnSpc>
                <a:spcPct val="115000"/>
              </a:lnSpc>
              <a:buClr>
                <a:srgbClr val="000000"/>
              </a:buClr>
              <a:buFont typeface="Arial"/>
              <a:buChar char="○"/>
              <a:tabLst>
                <a:tab pos="0" algn="l"/>
              </a:tabLst>
            </a:pPr>
            <a:r>
              <a:rPr lang="en" sz="1970" b="0" u="none" strike="noStrike">
                <a:solidFill>
                  <a:schemeClr val="dk1"/>
                </a:solidFill>
                <a:effectLst/>
                <a:uFillTx/>
                <a:latin typeface="Arial"/>
                <a:ea typeface="Arial"/>
                <a:hlinkClick r:id="rId4"/>
              </a:rPr>
              <a:t>https://pybricks.com/learn</a:t>
            </a:r>
            <a:endParaRPr lang="en-US" sz="1970" b="0" u="none" strike="noStrike">
              <a:solidFill>
                <a:srgbClr val="000000"/>
              </a:solidFill>
              <a:effectLst/>
              <a:uFillTx/>
              <a:latin typeface="Arial"/>
            </a:endParaRPr>
          </a:p>
          <a:p>
            <a:pPr marL="457200" indent="0" algn="l">
              <a:lnSpc>
                <a:spcPct val="115000"/>
              </a:lnSpc>
              <a:buNone/>
              <a:tabLst>
                <a:tab pos="0" algn="l"/>
              </a:tabLst>
            </a:pPr>
            <a:endParaRPr lang="en-US" sz="2370" b="0" u="none" strike="noStrike">
              <a:solidFill>
                <a:srgbClr val="000000"/>
              </a:solidFill>
              <a:effectLst/>
              <a:uFillTx/>
              <a:latin typeface="Arial"/>
            </a:endParaRPr>
          </a:p>
          <a:p>
            <a:pPr marL="457200" indent="-345240" algn="l">
              <a:lnSpc>
                <a:spcPct val="115000"/>
              </a:lnSpc>
              <a:buClr>
                <a:srgbClr val="000000"/>
              </a:buClr>
              <a:buFont typeface="Arial"/>
              <a:buChar char="●"/>
              <a:tabLst>
                <a:tab pos="0" algn="l"/>
              </a:tabLst>
            </a:pPr>
            <a:r>
              <a:rPr lang="en" sz="2370" b="0" u="none" strike="noStrike">
                <a:solidFill>
                  <a:schemeClr val="dk1"/>
                </a:solidFill>
                <a:effectLst/>
                <a:uFillTx/>
                <a:latin typeface="Arial"/>
                <a:ea typeface="Arial"/>
              </a:rPr>
              <a:t>Support Site:</a:t>
            </a:r>
            <a:endParaRPr lang="en-US" sz="2370" b="0" u="none" strike="noStrike">
              <a:solidFill>
                <a:srgbClr val="000000"/>
              </a:solidFill>
              <a:effectLst/>
              <a:uFillTx/>
              <a:latin typeface="Arial"/>
            </a:endParaRPr>
          </a:p>
          <a:p>
            <a:pPr marL="914400" lvl="1" indent="-325800" algn="l">
              <a:lnSpc>
                <a:spcPct val="115000"/>
              </a:lnSpc>
              <a:buClr>
                <a:srgbClr val="000000"/>
              </a:buClr>
              <a:buFont typeface="Arial"/>
              <a:buChar char="○"/>
              <a:tabLst>
                <a:tab pos="0" algn="l"/>
              </a:tabLst>
            </a:pPr>
            <a:r>
              <a:rPr lang="en" sz="1970" b="0" u="none" strike="noStrike">
                <a:solidFill>
                  <a:schemeClr val="dk1"/>
                </a:solidFill>
                <a:effectLst/>
                <a:uFillTx/>
                <a:latin typeface="Arial"/>
                <a:ea typeface="Arial"/>
              </a:rPr>
              <a:t>https://github.com/pybricks/support</a:t>
            </a:r>
            <a:endParaRPr lang="en-US" sz="1970" b="0" u="none" strike="noStrike">
              <a:solidFill>
                <a:srgbClr val="000000"/>
              </a:solidFill>
              <a:effectLst/>
              <a:uFillTx/>
              <a:latin typeface="Arial"/>
            </a:endParaRPr>
          </a:p>
        </p:txBody>
      </p:sp>
      <p:sp>
        <p:nvSpPr>
          <p:cNvPr id="77" name="PlaceHolder 3"/>
          <p:cNvSpPr>
            <a:spLocks noGrp="1"/>
          </p:cNvSpPr>
          <p:nvPr>
            <p:ph type="sldNum" idx="2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40FF73A5-E7DB-41BC-971B-6E1457201C3A}" type="slidenum">
              <a:rPr lang="en" sz="1000" b="0" u="none" strike="noStrike">
                <a:solidFill>
                  <a:schemeClr val="dk2"/>
                </a:solidFill>
                <a:effectLst/>
                <a:uFillTx/>
                <a:latin typeface="Arial"/>
                <a:ea typeface="Arial"/>
              </a:rPr>
              <a:t>10</a:t>
            </a:fld>
            <a:endParaRPr lang="en-US" sz="100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Installing Pybricks for Offline Use</a:t>
            </a:r>
            <a:endParaRPr lang="en-US" sz="2500" b="0" u="none" strike="noStrike">
              <a:solidFill>
                <a:srgbClr val="000000"/>
              </a:solidFill>
              <a:effectLst/>
              <a:uFillTx/>
              <a:latin typeface="Arial"/>
            </a:endParaRPr>
          </a:p>
        </p:txBody>
      </p:sp>
      <p:sp>
        <p:nvSpPr>
          <p:cNvPr id="79"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Go to </a:t>
            </a:r>
            <a:r>
              <a:rPr lang="en" sz="1800" b="1" u="none" strike="noStrike">
                <a:solidFill>
                  <a:schemeClr val="dk1"/>
                </a:solidFill>
                <a:effectLst/>
                <a:uFillTx/>
                <a:latin typeface="Courier New"/>
                <a:ea typeface="Courier New"/>
              </a:rPr>
              <a:t>code.pybricks.com</a:t>
            </a:r>
            <a:r>
              <a:rPr lang="en" sz="1800" b="0" u="none" strike="noStrike">
                <a:solidFill>
                  <a:schemeClr val="dk1"/>
                </a:solidFill>
                <a:effectLst/>
                <a:uFillTx/>
                <a:latin typeface="Arial"/>
                <a:ea typeface="Arial"/>
              </a:rPr>
              <a:t> using </a:t>
            </a:r>
            <a:r>
              <a:rPr lang="en" sz="1800" b="1" u="sng" strike="noStrike">
                <a:solidFill>
                  <a:schemeClr val="dk1"/>
                </a:solidFill>
                <a:effectLst/>
                <a:uFillTx/>
                <a:latin typeface="Arial"/>
                <a:ea typeface="Arial"/>
              </a:rPr>
              <a:t>Chrome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Press the Tools Gear icon, then press “</a:t>
            </a:r>
            <a:r>
              <a:rPr lang="en" sz="1800" b="1" u="none" strike="noStrike">
                <a:solidFill>
                  <a:schemeClr val="dk1"/>
                </a:solidFill>
                <a:effectLst/>
                <a:uFillTx/>
                <a:latin typeface="Arial"/>
                <a:ea typeface="Arial"/>
              </a:rPr>
              <a:t>Install as App</a:t>
            </a:r>
            <a:r>
              <a:rPr lang="en" sz="1800" b="0" u="none" strike="noStrike">
                <a:solidFill>
                  <a:schemeClr val="dk1"/>
                </a:solidFill>
                <a:effectLst/>
                <a:uFillTx/>
                <a:latin typeface="Arial"/>
                <a:ea typeface="Arial"/>
              </a:rPr>
              <a:t>”</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You will then only need Internet access to install new firmware on the robot and to update the app, which is only a few times a year</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800" b="0" u="none" strike="noStrike">
                <a:solidFill>
                  <a:schemeClr val="dk1"/>
                </a:solidFill>
                <a:effectLst/>
                <a:uFillTx/>
                <a:latin typeface="Arial"/>
                <a:ea typeface="Arial"/>
              </a:rPr>
              <a:t>You may need admin access on the computer to install the applicatrion</a:t>
            </a:r>
            <a:endParaRPr lang="en-US" sz="1800" b="0" u="none" strike="noStrike">
              <a:solidFill>
                <a:srgbClr val="000000"/>
              </a:solidFill>
              <a:effectLst/>
              <a:uFillTx/>
              <a:latin typeface="Arial"/>
            </a:endParaRPr>
          </a:p>
        </p:txBody>
      </p:sp>
      <p:sp>
        <p:nvSpPr>
          <p:cNvPr id="80" name="PlaceHolder 3"/>
          <p:cNvSpPr>
            <a:spLocks noGrp="1"/>
          </p:cNvSpPr>
          <p:nvPr>
            <p:ph type="sldNum" idx="2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C1722B9-81E0-415D-B125-6A5FAD3194FA}" type="slidenum">
              <a:rPr lang="en" sz="1000" b="0" u="none" strike="noStrike">
                <a:solidFill>
                  <a:schemeClr val="dk2"/>
                </a:solidFill>
                <a:effectLst/>
                <a:uFillTx/>
                <a:latin typeface="Arial"/>
                <a:ea typeface="Arial"/>
              </a:rPr>
              <a:t>11</a:t>
            </a:fld>
            <a:endParaRPr lang="en-US" sz="1000" b="0" u="none" strike="noStrike">
              <a:solidFill>
                <a:srgbClr val="000000"/>
              </a:solidFill>
              <a:effectLst/>
              <a:uFillTx/>
              <a:latin typeface="Times New Roman"/>
            </a:endParaRPr>
          </a:p>
        </p:txBody>
      </p:sp>
      <p:pic>
        <p:nvPicPr>
          <p:cNvPr id="81" name="Google Shape;95;p16"/>
          <p:cNvPicPr/>
          <p:nvPr/>
        </p:nvPicPr>
        <p:blipFill>
          <a:blip r:embed="rId2"/>
          <a:stretch/>
        </p:blipFill>
        <p:spPr>
          <a:xfrm>
            <a:off x="1420920" y="2619000"/>
            <a:ext cx="5971680" cy="2524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 Factoids (1/2)</a:t>
            </a:r>
            <a:endParaRPr lang="en-US" sz="2500" b="0" u="none" strike="noStrike">
              <a:solidFill>
                <a:srgbClr val="000000"/>
              </a:solidFill>
              <a:effectLst/>
              <a:uFillTx/>
              <a:latin typeface="Arial"/>
            </a:endParaRPr>
          </a:p>
        </p:txBody>
      </p:sp>
      <p:sp>
        <p:nvSpPr>
          <p:cNvPr id="83" name="PlaceHolder 2"/>
          <p:cNvSpPr>
            <a:spLocks noGrp="1"/>
          </p:cNvSpPr>
          <p:nvPr>
            <p:ph/>
          </p:nvPr>
        </p:nvSpPr>
        <p:spPr>
          <a:xfrm>
            <a:off x="311760" y="682920"/>
            <a:ext cx="8520120" cy="3979800"/>
          </a:xfrm>
          <a:prstGeom prst="rect">
            <a:avLst/>
          </a:prstGeom>
          <a:noFill/>
          <a:ln w="0">
            <a:noFill/>
          </a:ln>
        </p:spPr>
        <p:txBody>
          <a:bodyPr lIns="91440" tIns="91440" rIns="91440" bIns="91440" anchor="t">
            <a:noAutofit/>
          </a:bodyPr>
          <a:lstStyle/>
          <a:p>
            <a:pPr marL="457200" indent="-378360" algn="l">
              <a:lnSpc>
                <a:spcPct val="115000"/>
              </a:lnSpc>
              <a:buClr>
                <a:srgbClr val="000000"/>
              </a:buClr>
              <a:buFont typeface="Arial"/>
              <a:buChar char="●"/>
            </a:pPr>
            <a:r>
              <a:rPr lang="en" sz="2360" b="0" u="none" strike="noStrike">
                <a:solidFill>
                  <a:schemeClr val="dk1"/>
                </a:solidFill>
                <a:effectLst/>
                <a:uFillTx/>
                <a:latin typeface="Arial"/>
                <a:ea typeface="Arial"/>
              </a:rPr>
              <a:t>All distance measurements are in millimeters (mm) </a:t>
            </a:r>
            <a:endParaRPr lang="en-US" sz="2360" b="0" u="none" strike="noStrike">
              <a:solidFill>
                <a:srgbClr val="000000"/>
              </a:solidFill>
              <a:effectLst/>
              <a:uFillTx/>
              <a:latin typeface="Arial"/>
            </a:endParaRPr>
          </a:p>
          <a:p>
            <a:pPr marL="457200" indent="-378360" algn="l">
              <a:lnSpc>
                <a:spcPct val="115000"/>
              </a:lnSpc>
              <a:buClr>
                <a:srgbClr val="000000"/>
              </a:buClr>
              <a:buFont typeface="Arial"/>
              <a:buChar char="●"/>
            </a:pPr>
            <a:r>
              <a:rPr lang="en" sz="2360" b="0" u="none" strike="noStrike">
                <a:solidFill>
                  <a:schemeClr val="dk1"/>
                </a:solidFill>
                <a:effectLst/>
                <a:uFillTx/>
                <a:latin typeface="Arial"/>
                <a:ea typeface="Arial"/>
              </a:rPr>
              <a:t>To move in the opposite direction you usually use a minus (-) sign before the distance or angle</a:t>
            </a:r>
            <a:endParaRPr lang="en-US" sz="2360" b="0" u="none" strike="noStrike">
              <a:solidFill>
                <a:srgbClr val="000000"/>
              </a:solidFill>
              <a:effectLst/>
              <a:uFillTx/>
              <a:latin typeface="Arial"/>
            </a:endParaRPr>
          </a:p>
          <a:p>
            <a:pPr marL="457200" indent="-378360" algn="l">
              <a:lnSpc>
                <a:spcPct val="115000"/>
              </a:lnSpc>
              <a:buClr>
                <a:srgbClr val="000000"/>
              </a:buClr>
              <a:buFont typeface="Arial"/>
              <a:buChar char="●"/>
            </a:pPr>
            <a:r>
              <a:rPr lang="en" sz="2360" b="0" u="none" strike="noStrike">
                <a:solidFill>
                  <a:schemeClr val="dk1"/>
                </a:solidFill>
                <a:effectLst/>
                <a:uFillTx/>
                <a:latin typeface="Arial"/>
                <a:ea typeface="Arial"/>
              </a:rPr>
              <a:t>Both Block Coding and Python can use comments to document your code</a:t>
            </a:r>
            <a:endParaRPr lang="en-US" sz="2360" b="0" u="none" strike="noStrike">
              <a:solidFill>
                <a:srgbClr val="000000"/>
              </a:solidFill>
              <a:effectLst/>
              <a:uFillTx/>
              <a:latin typeface="Arial"/>
            </a:endParaRPr>
          </a:p>
          <a:p>
            <a:pPr marL="457200" indent="-378360" algn="l">
              <a:lnSpc>
                <a:spcPct val="115000"/>
              </a:lnSpc>
              <a:buClr>
                <a:srgbClr val="000000"/>
              </a:buClr>
              <a:buFont typeface="Arial"/>
              <a:buChar char="●"/>
            </a:pPr>
            <a:r>
              <a:rPr lang="en" sz="2360" b="0" u="none" strike="noStrike">
                <a:solidFill>
                  <a:schemeClr val="dk1"/>
                </a:solidFill>
                <a:effectLst/>
                <a:uFillTx/>
                <a:latin typeface="Arial"/>
                <a:ea typeface="Arial"/>
              </a:rPr>
              <a:t>Use the </a:t>
            </a:r>
            <a:r>
              <a:rPr lang="en" sz="2360" b="1" u="none" strike="noStrike">
                <a:solidFill>
                  <a:schemeClr val="dk1"/>
                </a:solidFill>
                <a:effectLst/>
                <a:uFillTx/>
                <a:latin typeface="Courier New"/>
                <a:ea typeface="Courier New"/>
              </a:rPr>
              <a:t>print()</a:t>
            </a:r>
            <a:r>
              <a:rPr lang="en" sz="2360" b="0" u="none" strike="noStrike">
                <a:solidFill>
                  <a:schemeClr val="dk1"/>
                </a:solidFill>
                <a:effectLst/>
                <a:uFillTx/>
                <a:latin typeface="Arial"/>
                <a:ea typeface="Arial"/>
              </a:rPr>
              <a:t> function to help with debugging your code</a:t>
            </a:r>
            <a:endParaRPr lang="en-US" sz="2360" b="0" u="none" strike="noStrike">
              <a:solidFill>
                <a:srgbClr val="000000"/>
              </a:solidFill>
              <a:effectLst/>
              <a:uFillTx/>
              <a:latin typeface="Arial"/>
            </a:endParaRPr>
          </a:p>
          <a:p>
            <a:pPr marL="914400" lvl="1" indent="-330120" algn="l">
              <a:lnSpc>
                <a:spcPct val="115000"/>
              </a:lnSpc>
              <a:buClr>
                <a:srgbClr val="000000"/>
              </a:buClr>
              <a:buFont typeface="Arial"/>
              <a:buChar char="○"/>
            </a:pPr>
            <a:r>
              <a:rPr lang="en" sz="1600" b="0" u="none" strike="noStrike">
                <a:solidFill>
                  <a:schemeClr val="dk1"/>
                </a:solidFill>
                <a:effectLst/>
                <a:uFillTx/>
                <a:latin typeface="Arial"/>
                <a:ea typeface="Arial"/>
              </a:rPr>
              <a:t>The output of the print function is sent from the robot to the Pybricks Editor to be displayed in the output window. </a:t>
            </a:r>
            <a:endParaRPr lang="en-US" sz="1600" b="0" u="none" strike="noStrike">
              <a:solidFill>
                <a:srgbClr val="000000"/>
              </a:solidFill>
              <a:effectLst/>
              <a:uFillTx/>
              <a:latin typeface="Arial"/>
            </a:endParaRPr>
          </a:p>
          <a:p>
            <a:pPr marL="914400" lvl="1" indent="-330120" algn="l">
              <a:lnSpc>
                <a:spcPct val="115000"/>
              </a:lnSpc>
              <a:buClr>
                <a:srgbClr val="000000"/>
              </a:buClr>
              <a:buFont typeface="Arial"/>
              <a:buChar char="○"/>
            </a:pPr>
            <a:r>
              <a:rPr lang="en" sz="1600" b="0" u="none" strike="noStrike">
                <a:solidFill>
                  <a:schemeClr val="dk1"/>
                </a:solidFill>
                <a:effectLst/>
                <a:uFillTx/>
                <a:latin typeface="Arial"/>
                <a:ea typeface="Arial"/>
              </a:rPr>
              <a:t>It also works with Pybricks when using Visual Studio Code as the user interface.</a:t>
            </a:r>
            <a:endParaRPr lang="en-US" sz="1600" b="0" u="none" strike="noStrike">
              <a:solidFill>
                <a:srgbClr val="000000"/>
              </a:solidFill>
              <a:effectLst/>
              <a:uFillTx/>
              <a:latin typeface="Arial"/>
            </a:endParaRPr>
          </a:p>
        </p:txBody>
      </p:sp>
      <p:sp>
        <p:nvSpPr>
          <p:cNvPr id="84" name="PlaceHolder 3"/>
          <p:cNvSpPr>
            <a:spLocks noGrp="1"/>
          </p:cNvSpPr>
          <p:nvPr>
            <p:ph type="sldNum" idx="2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6BC38E5-890A-41E7-B319-5307CB1784C5}" type="slidenum">
              <a:rPr lang="en" sz="1000" b="0" u="none" strike="noStrike">
                <a:solidFill>
                  <a:schemeClr val="dk2"/>
                </a:solidFill>
                <a:effectLst/>
                <a:uFillTx/>
                <a:latin typeface="Arial"/>
                <a:ea typeface="Arial"/>
              </a:rPr>
              <a:t>12</a:t>
            </a:fld>
            <a:endParaRPr lang="en-US" sz="10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 Factoids (2/2)</a:t>
            </a:r>
            <a:endParaRPr lang="en-US" sz="2500" b="0" u="none" strike="noStrike">
              <a:solidFill>
                <a:srgbClr val="000000"/>
              </a:solidFill>
              <a:effectLst/>
              <a:uFillTx/>
              <a:latin typeface="Arial"/>
            </a:endParaRPr>
          </a:p>
        </p:txBody>
      </p:sp>
      <p:sp>
        <p:nvSpPr>
          <p:cNvPr id="86" name="PlaceHolder 2"/>
          <p:cNvSpPr>
            <a:spLocks noGrp="1"/>
          </p:cNvSpPr>
          <p:nvPr>
            <p:ph/>
          </p:nvPr>
        </p:nvSpPr>
        <p:spPr>
          <a:xfrm>
            <a:off x="311760" y="853920"/>
            <a:ext cx="8520120" cy="3646080"/>
          </a:xfrm>
          <a:prstGeom prst="rect">
            <a:avLst/>
          </a:prstGeom>
          <a:noFill/>
          <a:ln w="0">
            <a:noFill/>
          </a:ln>
        </p:spPr>
        <p:txBody>
          <a:bodyPr lIns="91440" tIns="91440" rIns="91440" bIns="91440" anchor="t">
            <a:noAutofit/>
          </a:bodyPr>
          <a:lstStyle/>
          <a:p>
            <a:pPr marL="450720" indent="-343080" algn="l">
              <a:lnSpc>
                <a:spcPct val="90000"/>
              </a:lnSpc>
              <a:buClr>
                <a:srgbClr val="000000"/>
              </a:buClr>
              <a:buFont typeface="Arial"/>
              <a:buChar char="●"/>
            </a:pPr>
            <a:r>
              <a:rPr lang="en" sz="1900" b="0" u="none" strike="noStrike">
                <a:solidFill>
                  <a:schemeClr val="dk1"/>
                </a:solidFill>
                <a:effectLst/>
                <a:uFillTx/>
                <a:latin typeface="Arial"/>
                <a:ea typeface="Arial"/>
              </a:rPr>
              <a:t>To use Pybricks, the firmware (e.g., operating system) on your Lego Spike hub will need to be changed</a:t>
            </a:r>
            <a:endParaRPr lang="en-US" sz="1900" b="0" u="none" strike="noStrike">
              <a:solidFill>
                <a:srgbClr val="000000"/>
              </a:solidFill>
              <a:effectLst/>
              <a:uFillTx/>
              <a:latin typeface="Arial"/>
            </a:endParaRPr>
          </a:p>
          <a:p>
            <a:pPr marL="831960" lvl="1" indent="-285840" algn="l">
              <a:lnSpc>
                <a:spcPct val="115000"/>
              </a:lnSpc>
              <a:buClr>
                <a:srgbClr val="000000"/>
              </a:buClr>
              <a:buFont typeface="Arial"/>
              <a:buChar char="○"/>
            </a:pPr>
            <a:r>
              <a:rPr lang="en" sz="1600" b="0" u="none" strike="noStrike">
                <a:solidFill>
                  <a:schemeClr val="dk1"/>
                </a:solidFill>
                <a:effectLst/>
                <a:uFillTx/>
                <a:latin typeface="Arial"/>
                <a:ea typeface="Arial"/>
              </a:rPr>
              <a:t>You can revert back to Lego’s firmware if you decide you don’t like Pybricks</a:t>
            </a:r>
            <a:endParaRPr lang="en-US" sz="1600" b="0" u="none" strike="noStrike">
              <a:solidFill>
                <a:srgbClr val="000000"/>
              </a:solidFill>
              <a:effectLst/>
              <a:uFillTx/>
              <a:latin typeface="Arial"/>
            </a:endParaRPr>
          </a:p>
          <a:p>
            <a:pPr marL="450720" indent="-343080" algn="l">
              <a:lnSpc>
                <a:spcPct val="115000"/>
              </a:lnSpc>
              <a:buClr>
                <a:srgbClr val="000000"/>
              </a:buClr>
              <a:buFont typeface="Arial"/>
              <a:buChar char="●"/>
            </a:pPr>
            <a:r>
              <a:rPr lang="en" sz="1900" b="0" u="none" strike="noStrike">
                <a:solidFill>
                  <a:schemeClr val="dk1"/>
                </a:solidFill>
                <a:effectLst/>
                <a:uFillTx/>
                <a:latin typeface="Arial"/>
                <a:ea typeface="Arial"/>
              </a:rPr>
              <a:t>Once the hub is updated to Pybricks and you have installed the Pybricks app in Chrome; an Internet connection is no longer needed</a:t>
            </a:r>
            <a:endParaRPr lang="en-US" sz="1900" b="0" u="none" strike="noStrike">
              <a:solidFill>
                <a:srgbClr val="000000"/>
              </a:solidFill>
              <a:effectLst/>
              <a:uFillTx/>
              <a:latin typeface="Arial"/>
            </a:endParaRPr>
          </a:p>
          <a:p>
            <a:pPr marL="450720" indent="-343080" algn="l">
              <a:lnSpc>
                <a:spcPct val="115000"/>
              </a:lnSpc>
              <a:buClr>
                <a:srgbClr val="000000"/>
              </a:buClr>
              <a:buFont typeface="Arial"/>
              <a:buChar char="●"/>
            </a:pPr>
            <a:r>
              <a:rPr lang="en" sz="1900" b="0" u="none" strike="noStrike">
                <a:solidFill>
                  <a:schemeClr val="dk1"/>
                </a:solidFill>
                <a:effectLst/>
                <a:uFillTx/>
                <a:latin typeface="Arial"/>
                <a:ea typeface="Arial"/>
              </a:rPr>
              <a:t>Gyroscope makes driving long distances reliable</a:t>
            </a:r>
            <a:endParaRPr lang="en-US" sz="1900" b="0" u="none" strike="noStrike">
              <a:solidFill>
                <a:srgbClr val="000000"/>
              </a:solidFill>
              <a:effectLst/>
              <a:uFillTx/>
              <a:latin typeface="Arial"/>
            </a:endParaRPr>
          </a:p>
          <a:p>
            <a:pPr marL="870120" lvl="1" indent="-285840" algn="l">
              <a:lnSpc>
                <a:spcPct val="115000"/>
              </a:lnSpc>
              <a:buClr>
                <a:srgbClr val="000000"/>
              </a:buClr>
              <a:buFont typeface="Arial"/>
              <a:buChar char="○"/>
            </a:pPr>
            <a:r>
              <a:rPr lang="en" sz="1600" b="0" u="none" strike="noStrike">
                <a:solidFill>
                  <a:schemeClr val="dk1"/>
                </a:solidFill>
                <a:effectLst/>
                <a:uFillTx/>
                <a:latin typeface="Arial"/>
                <a:ea typeface="Arial"/>
              </a:rPr>
              <a:t>Better resilience against flaws in the game table	</a:t>
            </a:r>
            <a:endParaRPr lang="en-US" sz="1600" b="0" u="none" strike="noStrike">
              <a:solidFill>
                <a:srgbClr val="000000"/>
              </a:solidFill>
              <a:effectLst/>
              <a:uFillTx/>
              <a:latin typeface="Arial"/>
            </a:endParaRPr>
          </a:p>
          <a:p>
            <a:pPr marL="870120" lvl="1" indent="-285840" algn="l">
              <a:lnSpc>
                <a:spcPct val="115000"/>
              </a:lnSpc>
              <a:buClr>
                <a:srgbClr val="000000"/>
              </a:buClr>
              <a:buFont typeface="Arial"/>
              <a:buChar char="○"/>
            </a:pPr>
            <a:r>
              <a:rPr lang="en" sz="1600" b="0" u="none" strike="noStrike">
                <a:solidFill>
                  <a:schemeClr val="dk1"/>
                </a:solidFill>
                <a:effectLst/>
                <a:uFillTx/>
                <a:latin typeface="Arial"/>
                <a:ea typeface="Arial"/>
              </a:rPr>
              <a:t>A “bump” at an mission doesn’t necessarily ruin a run</a:t>
            </a:r>
            <a:endParaRPr lang="en-US" sz="1600" b="0" u="none" strike="noStrike">
              <a:solidFill>
                <a:srgbClr val="000000"/>
              </a:solidFill>
              <a:effectLst/>
              <a:uFillTx/>
              <a:latin typeface="Arial"/>
            </a:endParaRPr>
          </a:p>
          <a:p>
            <a:pPr marL="870120" lvl="1" indent="-285840" algn="l">
              <a:lnSpc>
                <a:spcPct val="115000"/>
              </a:lnSpc>
              <a:buClr>
                <a:srgbClr val="000000"/>
              </a:buClr>
              <a:buFont typeface="Arial"/>
              <a:buChar char="○"/>
            </a:pPr>
            <a:r>
              <a:rPr lang="en" sz="1600" b="1" u="none" strike="noStrike">
                <a:solidFill>
                  <a:schemeClr val="dk1"/>
                </a:solidFill>
                <a:effectLst/>
                <a:uFillTx/>
                <a:latin typeface="Arial"/>
                <a:ea typeface="Arial"/>
              </a:rPr>
              <a:t>Always disable the gyro at the end of a task</a:t>
            </a:r>
            <a:endParaRPr lang="en-US" sz="1600" b="0" u="none" strike="noStrike">
              <a:solidFill>
                <a:srgbClr val="000000"/>
              </a:solidFill>
              <a:effectLst/>
              <a:uFillTx/>
              <a:latin typeface="Arial"/>
            </a:endParaRPr>
          </a:p>
          <a:p>
            <a:pPr marL="1327320" lvl="2" indent="-285840" algn="l">
              <a:lnSpc>
                <a:spcPct val="115000"/>
              </a:lnSpc>
              <a:buClr>
                <a:srgbClr val="000000"/>
              </a:buClr>
              <a:buFont typeface="Arial"/>
              <a:buChar char="■"/>
            </a:pPr>
            <a:r>
              <a:rPr lang="en-US" sz="1600" b="0" u="none" strike="noStrike">
                <a:solidFill>
                  <a:schemeClr val="dk1"/>
                </a:solidFill>
                <a:effectLst/>
                <a:uFillTx/>
                <a:latin typeface="Arial"/>
                <a:ea typeface="Arial"/>
              </a:rPr>
              <a:t>So if you pick the robot up it doesn’t go crazy!</a:t>
            </a:r>
            <a:endParaRPr lang="en-US" sz="1600" b="0" u="none" strike="noStrike">
              <a:solidFill>
                <a:srgbClr val="000000"/>
              </a:solidFill>
              <a:effectLst/>
              <a:uFillTx/>
              <a:latin typeface="Arial"/>
            </a:endParaRPr>
          </a:p>
          <a:p>
            <a:pPr marL="450720" indent="-343080" algn="l">
              <a:lnSpc>
                <a:spcPct val="90000"/>
              </a:lnSpc>
              <a:buClr>
                <a:srgbClr val="000000"/>
              </a:buClr>
              <a:buFont typeface="Arial"/>
              <a:buChar char="●"/>
            </a:pPr>
            <a:r>
              <a:rPr lang="en" sz="1900" b="0" u="none" strike="noStrike">
                <a:solidFill>
                  <a:schemeClr val="dk1"/>
                </a:solidFill>
                <a:effectLst/>
                <a:uFillTx/>
                <a:latin typeface="Arial"/>
                <a:ea typeface="Arial"/>
              </a:rPr>
              <a:t>Pybricks runs  the open source MicroPython interpreter on the robot</a:t>
            </a:r>
            <a:endParaRPr lang="en-US" sz="1900" b="0" u="none" strike="noStrike">
              <a:solidFill>
                <a:srgbClr val="000000"/>
              </a:solidFill>
              <a:effectLst/>
              <a:uFillTx/>
              <a:latin typeface="Arial"/>
            </a:endParaRPr>
          </a:p>
        </p:txBody>
      </p:sp>
      <p:sp>
        <p:nvSpPr>
          <p:cNvPr id="87" name="PlaceHolder 3"/>
          <p:cNvSpPr>
            <a:spLocks noGrp="1"/>
          </p:cNvSpPr>
          <p:nvPr>
            <p:ph type="sldNum" idx="2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CB66897-4B0A-4BB7-8C2D-974E8A3E31FA}" type="slidenum">
              <a:rPr lang="en" sz="1000" b="0" u="none" strike="noStrike">
                <a:solidFill>
                  <a:schemeClr val="dk2"/>
                </a:solidFill>
                <a:effectLst/>
                <a:uFillTx/>
                <a:latin typeface="Arial"/>
                <a:ea typeface="Arial"/>
              </a:rPr>
              <a:t>13</a:t>
            </a:fld>
            <a:endParaRPr lang="en-US" sz="10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Google Shape;134;p22"/>
          <p:cNvPicPr/>
          <p:nvPr/>
        </p:nvPicPr>
        <p:blipFill>
          <a:blip r:embed="rId2"/>
          <a:stretch/>
        </p:blipFill>
        <p:spPr>
          <a:xfrm>
            <a:off x="1728720" y="564840"/>
            <a:ext cx="5932080" cy="4241160"/>
          </a:xfrm>
          <a:prstGeom prst="rect">
            <a:avLst/>
          </a:prstGeom>
          <a:noFill/>
          <a:ln w="0">
            <a:noFill/>
          </a:ln>
        </p:spPr>
      </p:pic>
      <p:sp>
        <p:nvSpPr>
          <p:cNvPr id="89" name="Google Shape;135;p22"/>
          <p:cNvSpPr/>
          <p:nvPr/>
        </p:nvSpPr>
        <p:spPr>
          <a:xfrm>
            <a:off x="85320" y="846720"/>
            <a:ext cx="1514880" cy="118440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The list of programs currently loaded into the Pybricks User Interface</a:t>
            </a:r>
            <a:endParaRPr lang="en-US" sz="1300" b="0" u="none" strike="noStrike">
              <a:solidFill>
                <a:srgbClr val="000000"/>
              </a:solidFill>
              <a:effectLst/>
              <a:uFillTx/>
              <a:latin typeface="Arial"/>
            </a:endParaRPr>
          </a:p>
        </p:txBody>
      </p:sp>
      <p:sp>
        <p:nvSpPr>
          <p:cNvPr id="9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400" b="0" u="none" strike="noStrike">
                <a:solidFill>
                  <a:schemeClr val="lt1"/>
                </a:solidFill>
                <a:effectLst/>
                <a:uFillTx/>
                <a:latin typeface="Arial"/>
                <a:ea typeface="Arial"/>
              </a:rPr>
              <a:t>Pybricks User Interface (UI)</a:t>
            </a:r>
            <a:endParaRPr lang="en-US" sz="2400" b="0" u="none" strike="noStrike">
              <a:solidFill>
                <a:srgbClr val="000000"/>
              </a:solidFill>
              <a:effectLst/>
              <a:uFillTx/>
              <a:latin typeface="Arial"/>
            </a:endParaRPr>
          </a:p>
        </p:txBody>
      </p:sp>
      <p:sp>
        <p:nvSpPr>
          <p:cNvPr id="91" name="PlaceHolder 2"/>
          <p:cNvSpPr>
            <a:spLocks noGrp="1"/>
          </p:cNvSpPr>
          <p:nvPr>
            <p:ph type="sldNum" idx="2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802C803-24B6-4B4A-884C-2007E7C294D2}" type="slidenum">
              <a:rPr lang="en" sz="1000" b="0" u="none" strike="noStrike">
                <a:solidFill>
                  <a:schemeClr val="dk2"/>
                </a:solidFill>
                <a:effectLst/>
                <a:uFillTx/>
                <a:latin typeface="Arial"/>
                <a:ea typeface="Arial"/>
              </a:rPr>
              <a:t>14</a:t>
            </a:fld>
            <a:endParaRPr lang="en-US" sz="1000" b="0" u="none" strike="noStrike">
              <a:solidFill>
                <a:srgbClr val="000000"/>
              </a:solidFill>
              <a:effectLst/>
              <a:uFillTx/>
              <a:latin typeface="Times New Roman"/>
            </a:endParaRPr>
          </a:p>
        </p:txBody>
      </p:sp>
      <p:cxnSp>
        <p:nvCxnSpPr>
          <p:cNvPr id="92" name="Google Shape;138;p22"/>
          <p:cNvCxnSpPr>
            <a:stCxn id="93" idx="0"/>
          </p:cNvCxnSpPr>
          <p:nvPr/>
        </p:nvCxnSpPr>
        <p:spPr>
          <a:xfrm flipV="1">
            <a:off x="950760" y="2171520"/>
            <a:ext cx="1842480" cy="387000"/>
          </a:xfrm>
          <a:prstGeom prst="straightConnector1">
            <a:avLst/>
          </a:prstGeom>
          <a:ln w="38100">
            <a:solidFill>
              <a:srgbClr val="000000"/>
            </a:solidFill>
            <a:round/>
            <a:tailEnd type="triangle" w="med" len="med"/>
          </a:ln>
        </p:spPr>
      </p:cxnSp>
      <p:cxnSp>
        <p:nvCxnSpPr>
          <p:cNvPr id="94" name="Google Shape;139;p22"/>
          <p:cNvCxnSpPr>
            <a:stCxn id="95" idx="0"/>
          </p:cNvCxnSpPr>
          <p:nvPr/>
        </p:nvCxnSpPr>
        <p:spPr>
          <a:xfrm flipH="1" flipV="1">
            <a:off x="6774840" y="2891880"/>
            <a:ext cx="1540800" cy="345240"/>
          </a:xfrm>
          <a:prstGeom prst="straightConnector1">
            <a:avLst/>
          </a:prstGeom>
          <a:ln w="38100">
            <a:solidFill>
              <a:srgbClr val="000000"/>
            </a:solidFill>
            <a:round/>
            <a:tailEnd type="triangle" w="med" len="med"/>
          </a:ln>
        </p:spPr>
      </p:cxnSp>
      <p:cxnSp>
        <p:nvCxnSpPr>
          <p:cNvPr id="96" name="Google Shape;140;p22"/>
          <p:cNvCxnSpPr>
            <a:stCxn id="97" idx="0"/>
          </p:cNvCxnSpPr>
          <p:nvPr/>
        </p:nvCxnSpPr>
        <p:spPr>
          <a:xfrm flipV="1">
            <a:off x="842760" y="3233160"/>
            <a:ext cx="2700360" cy="459360"/>
          </a:xfrm>
          <a:prstGeom prst="straightConnector1">
            <a:avLst/>
          </a:prstGeom>
          <a:ln w="38100">
            <a:solidFill>
              <a:srgbClr val="000000"/>
            </a:solidFill>
            <a:round/>
            <a:tailEnd type="triangle" w="med" len="med"/>
          </a:ln>
        </p:spPr>
      </p:cxnSp>
      <p:cxnSp>
        <p:nvCxnSpPr>
          <p:cNvPr id="98" name="Google Shape;141;p22"/>
          <p:cNvCxnSpPr>
            <a:stCxn id="89" idx="3"/>
          </p:cNvCxnSpPr>
          <p:nvPr/>
        </p:nvCxnSpPr>
        <p:spPr>
          <a:xfrm>
            <a:off x="1600200" y="1438920"/>
            <a:ext cx="426600" cy="119160"/>
          </a:xfrm>
          <a:prstGeom prst="straightConnector1">
            <a:avLst/>
          </a:prstGeom>
          <a:ln w="38100">
            <a:solidFill>
              <a:srgbClr val="000000"/>
            </a:solidFill>
            <a:round/>
            <a:tailEnd type="triangle" w="med" len="med"/>
          </a:ln>
        </p:spPr>
      </p:cxnSp>
      <p:sp>
        <p:nvSpPr>
          <p:cNvPr id="93" name="Google Shape;142;p22"/>
          <p:cNvSpPr/>
          <p:nvPr/>
        </p:nvSpPr>
        <p:spPr>
          <a:xfrm>
            <a:off x="129240" y="2558160"/>
            <a:ext cx="1643040" cy="78480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The Palette of available of block coding commands</a:t>
            </a:r>
            <a:endParaRPr lang="en-US" sz="1300" b="0" u="none" strike="noStrike">
              <a:solidFill>
                <a:srgbClr val="000000"/>
              </a:solidFill>
              <a:effectLst/>
              <a:uFillTx/>
              <a:latin typeface="Arial"/>
            </a:endParaRPr>
          </a:p>
        </p:txBody>
      </p:sp>
      <p:sp>
        <p:nvSpPr>
          <p:cNvPr id="97" name="Google Shape;143;p22"/>
          <p:cNvSpPr/>
          <p:nvPr/>
        </p:nvSpPr>
        <p:spPr>
          <a:xfrm>
            <a:off x="85320" y="3692160"/>
            <a:ext cx="1514880" cy="58464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Your program in block code</a:t>
            </a:r>
            <a:endParaRPr lang="en-US" sz="1300" b="0" u="none" strike="noStrike">
              <a:solidFill>
                <a:srgbClr val="000000"/>
              </a:solidFill>
              <a:effectLst/>
              <a:uFillTx/>
              <a:latin typeface="Arial"/>
            </a:endParaRPr>
          </a:p>
        </p:txBody>
      </p:sp>
      <p:sp>
        <p:nvSpPr>
          <p:cNvPr id="95" name="Google Shape;144;p22"/>
          <p:cNvSpPr/>
          <p:nvPr/>
        </p:nvSpPr>
        <p:spPr>
          <a:xfrm>
            <a:off x="7557840" y="3236760"/>
            <a:ext cx="1514880" cy="118512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Your program in Python - updated automatically as you change the block code</a:t>
            </a:r>
            <a:endParaRPr lang="en-US" sz="1300" b="0" u="none" strike="noStrike">
              <a:solidFill>
                <a:srgbClr val="000000"/>
              </a:solidFill>
              <a:effectLst/>
              <a:uFillTx/>
              <a:latin typeface="Arial"/>
            </a:endParaRPr>
          </a:p>
        </p:txBody>
      </p:sp>
      <p:cxnSp>
        <p:nvCxnSpPr>
          <p:cNvPr id="99" name="Google Shape;145;p22"/>
          <p:cNvCxnSpPr>
            <a:stCxn id="100" idx="1"/>
          </p:cNvCxnSpPr>
          <p:nvPr/>
        </p:nvCxnSpPr>
        <p:spPr>
          <a:xfrm flipH="1" flipV="1">
            <a:off x="3200040" y="4277160"/>
            <a:ext cx="592200" cy="479160"/>
          </a:xfrm>
          <a:prstGeom prst="straightConnector1">
            <a:avLst/>
          </a:prstGeom>
          <a:ln w="38100">
            <a:solidFill>
              <a:srgbClr val="000000"/>
            </a:solidFill>
            <a:round/>
            <a:tailEnd type="triangle" w="med" len="med"/>
          </a:ln>
        </p:spPr>
      </p:cxnSp>
      <p:sp>
        <p:nvSpPr>
          <p:cNvPr id="100" name="Google Shape;146;p22"/>
          <p:cNvSpPr/>
          <p:nvPr/>
        </p:nvSpPr>
        <p:spPr>
          <a:xfrm>
            <a:off x="3791880" y="4463640"/>
            <a:ext cx="4438080" cy="584280"/>
          </a:xfrm>
          <a:prstGeom prst="rect">
            <a:avLst/>
          </a:prstGeom>
          <a:solidFill>
            <a:schemeClr val="accent4">
              <a:lumMod val="60000"/>
              <a:lumOff val="40000"/>
            </a:schemeClr>
          </a:solidFill>
          <a:ln w="0">
            <a:solidFill>
              <a:srgbClr val="000000"/>
            </a:solid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Output window that shows the output of your </a:t>
            </a:r>
            <a:r>
              <a:rPr lang="en" sz="1300" b="1" u="none" strike="noStrike">
                <a:solidFill>
                  <a:schemeClr val="dk2"/>
                </a:solidFill>
                <a:effectLst/>
                <a:uFillTx/>
                <a:latin typeface="Courier New"/>
                <a:ea typeface="Arial"/>
              </a:rPr>
              <a:t>print</a:t>
            </a:r>
            <a:r>
              <a:rPr lang="en" sz="1300" b="0" u="none" strike="noStrike">
                <a:solidFill>
                  <a:schemeClr val="dk2"/>
                </a:solidFill>
                <a:effectLst/>
                <a:uFillTx/>
                <a:latin typeface="Arial"/>
                <a:ea typeface="Arial"/>
              </a:rPr>
              <a:t> statements, code syntax errors, and errors from t</a:t>
            </a:r>
            <a:r>
              <a:rPr lang="en-US" sz="1300" b="0" u="none" strike="noStrike">
                <a:solidFill>
                  <a:schemeClr val="dk2"/>
                </a:solidFill>
                <a:effectLst/>
                <a:uFillTx/>
                <a:latin typeface="Arial"/>
                <a:ea typeface="Arial"/>
              </a:rPr>
              <a:t>he</a:t>
            </a:r>
            <a:r>
              <a:rPr lang="en" sz="1300" b="0" u="none" strike="noStrike">
                <a:solidFill>
                  <a:schemeClr val="dk2"/>
                </a:solidFill>
                <a:effectLst/>
                <a:uFillTx/>
                <a:latin typeface="Arial"/>
                <a:ea typeface="Arial"/>
              </a:rPr>
              <a:t> robot</a:t>
            </a:r>
            <a:endParaRPr lang="en-US" sz="1300" b="0" u="none" strike="noStrike">
              <a:solidFill>
                <a:srgbClr val="000000"/>
              </a:solidFill>
              <a:effectLst/>
              <a:uFillTx/>
              <a:latin typeface="Arial"/>
            </a:endParaRPr>
          </a:p>
        </p:txBody>
      </p:sp>
      <p:cxnSp>
        <p:nvCxnSpPr>
          <p:cNvPr id="101" name="Google Shape;141;p22"/>
          <p:cNvCxnSpPr>
            <a:stCxn id="102" idx="1"/>
          </p:cNvCxnSpPr>
          <p:nvPr/>
        </p:nvCxnSpPr>
        <p:spPr>
          <a:xfrm flipH="1">
            <a:off x="3083400" y="223560"/>
            <a:ext cx="1778400" cy="647280"/>
          </a:xfrm>
          <a:prstGeom prst="straightConnector1">
            <a:avLst/>
          </a:prstGeom>
          <a:ln w="38100">
            <a:solidFill>
              <a:srgbClr val="EEEEEE">
                <a:lumMod val="50000"/>
              </a:srgbClr>
            </a:solidFill>
            <a:round/>
            <a:tailEnd type="triangle" w="med" len="med"/>
          </a:ln>
        </p:spPr>
      </p:cxnSp>
      <p:cxnSp>
        <p:nvCxnSpPr>
          <p:cNvPr id="103" name="Google Shape;141;p22"/>
          <p:cNvCxnSpPr>
            <a:stCxn id="104" idx="1"/>
          </p:cNvCxnSpPr>
          <p:nvPr/>
        </p:nvCxnSpPr>
        <p:spPr>
          <a:xfrm flipH="1">
            <a:off x="3299760" y="610920"/>
            <a:ext cx="1600200" cy="260640"/>
          </a:xfrm>
          <a:prstGeom prst="straightConnector1">
            <a:avLst/>
          </a:prstGeom>
          <a:ln w="38100">
            <a:solidFill>
              <a:srgbClr val="EEEEEE">
                <a:lumMod val="50000"/>
              </a:srgbClr>
            </a:solidFill>
            <a:round/>
            <a:tailEnd type="triangle" w="med" len="med"/>
          </a:ln>
        </p:spPr>
      </p:cxnSp>
      <p:sp>
        <p:nvSpPr>
          <p:cNvPr id="102" name="TextBox 10"/>
          <p:cNvSpPr/>
          <p:nvPr/>
        </p:nvSpPr>
        <p:spPr>
          <a:xfrm>
            <a:off x="4861440" y="69840"/>
            <a:ext cx="3914640" cy="30744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Press to run your code, called the </a:t>
            </a:r>
            <a:r>
              <a:rPr lang="en-US" sz="1400" b="1" u="none" strike="noStrike">
                <a:solidFill>
                  <a:srgbClr val="000000"/>
                </a:solidFill>
                <a:effectLst/>
                <a:uFillTx/>
                <a:latin typeface="Arial"/>
                <a:ea typeface="Arial"/>
              </a:rPr>
              <a:t>Play</a:t>
            </a:r>
            <a:r>
              <a:rPr lang="en-US" sz="1400" b="0" u="none" strike="noStrike">
                <a:solidFill>
                  <a:srgbClr val="000000"/>
                </a:solidFill>
                <a:effectLst/>
                <a:uFillTx/>
                <a:latin typeface="Arial"/>
                <a:ea typeface="Arial"/>
              </a:rPr>
              <a:t> button</a:t>
            </a:r>
            <a:endParaRPr lang="en-US" sz="1400" b="0" u="none" strike="noStrike">
              <a:solidFill>
                <a:srgbClr val="000000"/>
              </a:solidFill>
              <a:effectLst/>
              <a:uFillTx/>
              <a:latin typeface="Arial"/>
            </a:endParaRPr>
          </a:p>
        </p:txBody>
      </p:sp>
      <p:sp>
        <p:nvSpPr>
          <p:cNvPr id="104" name="TextBox 11"/>
          <p:cNvSpPr/>
          <p:nvPr/>
        </p:nvSpPr>
        <p:spPr>
          <a:xfrm>
            <a:off x="4899600" y="457200"/>
            <a:ext cx="4014000" cy="30744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Press to stop your code, called the </a:t>
            </a:r>
            <a:r>
              <a:rPr lang="en-US" sz="1400" b="1" u="none" strike="noStrike">
                <a:solidFill>
                  <a:srgbClr val="000000"/>
                </a:solidFill>
                <a:effectLst/>
                <a:uFillTx/>
                <a:latin typeface="Arial"/>
                <a:ea typeface="Arial"/>
              </a:rPr>
              <a:t>Stop</a:t>
            </a:r>
            <a:r>
              <a:rPr lang="en-US" sz="1400" b="0" u="none" strike="noStrike">
                <a:solidFill>
                  <a:srgbClr val="000000"/>
                </a:solidFill>
                <a:effectLst/>
                <a:uFillTx/>
                <a:latin typeface="Arial"/>
                <a:ea typeface="Arial"/>
              </a:rPr>
              <a:t> button</a:t>
            </a:r>
            <a:endParaRPr lang="en-US" sz="1400" b="0" u="none" strike="noStrike">
              <a:solidFill>
                <a:srgbClr val="000000"/>
              </a:solidFill>
              <a:effectLst/>
              <a:uFillTx/>
              <a:latin typeface="Arial"/>
            </a:endParaRPr>
          </a:p>
        </p:txBody>
      </p:sp>
      <p:sp>
        <p:nvSpPr>
          <p:cNvPr id="105" name="TextBox 12"/>
          <p:cNvSpPr/>
          <p:nvPr/>
        </p:nvSpPr>
        <p:spPr>
          <a:xfrm>
            <a:off x="4899600" y="790920"/>
            <a:ext cx="4115880" cy="52272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Used to manually run Python commands on robot using the output window (not commonly used)</a:t>
            </a:r>
            <a:endParaRPr lang="en-US" sz="1400" b="0" u="none" strike="noStrike">
              <a:solidFill>
                <a:srgbClr val="000000"/>
              </a:solidFill>
              <a:effectLst/>
              <a:uFillTx/>
              <a:latin typeface="Arial"/>
            </a:endParaRPr>
          </a:p>
        </p:txBody>
      </p:sp>
      <p:cxnSp>
        <p:nvCxnSpPr>
          <p:cNvPr id="106" name="Google Shape;141;p22"/>
          <p:cNvCxnSpPr>
            <a:stCxn id="105" idx="1"/>
          </p:cNvCxnSpPr>
          <p:nvPr/>
        </p:nvCxnSpPr>
        <p:spPr>
          <a:xfrm flipH="1" flipV="1">
            <a:off x="3542760" y="1024200"/>
            <a:ext cx="1357200" cy="28440"/>
          </a:xfrm>
          <a:prstGeom prst="straightConnector1">
            <a:avLst/>
          </a:prstGeom>
          <a:ln w="38100">
            <a:solidFill>
              <a:srgbClr val="EEEEEE">
                <a:lumMod val="50000"/>
              </a:srgbClr>
            </a:solidFill>
            <a:roun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lnSpcReduction="9999"/>
          </a:bodyPr>
          <a:lstStyle/>
          <a:p>
            <a:pPr indent="0" algn="l">
              <a:lnSpc>
                <a:spcPct val="100000"/>
              </a:lnSpc>
              <a:buNone/>
            </a:pPr>
            <a:r>
              <a:rPr lang="en" sz="2800" b="0" u="none" strike="noStrike">
                <a:solidFill>
                  <a:schemeClr val="lt1"/>
                </a:solidFill>
                <a:effectLst/>
                <a:uFillTx/>
                <a:latin typeface="Arial"/>
                <a:ea typeface="Arial"/>
              </a:rPr>
              <a:t>Pybricks User Interface (UI)</a:t>
            </a:r>
            <a:endParaRPr lang="en-US" sz="2800" b="0" u="none" strike="noStrike">
              <a:solidFill>
                <a:srgbClr val="000000"/>
              </a:solidFill>
              <a:effectLst/>
              <a:uFillTx/>
              <a:latin typeface="Arial"/>
            </a:endParaRPr>
          </a:p>
        </p:txBody>
      </p:sp>
      <p:sp>
        <p:nvSpPr>
          <p:cNvPr id="108" name="PlaceHolder 2"/>
          <p:cNvSpPr>
            <a:spLocks noGrp="1"/>
          </p:cNvSpPr>
          <p:nvPr>
            <p:ph type="sldNum" idx="2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8206ADE-8372-47B4-AD40-6B8A990F50CC}" type="slidenum">
              <a:rPr lang="en" sz="1000" b="0" u="none" strike="noStrike">
                <a:solidFill>
                  <a:schemeClr val="dk2"/>
                </a:solidFill>
                <a:effectLst/>
                <a:uFillTx/>
                <a:latin typeface="Arial"/>
                <a:ea typeface="Arial"/>
              </a:rPr>
              <a:t>15</a:t>
            </a:fld>
            <a:endParaRPr lang="en-US" sz="1000" b="0" u="none" strike="noStrike">
              <a:solidFill>
                <a:srgbClr val="000000"/>
              </a:solidFill>
              <a:effectLst/>
              <a:uFillTx/>
              <a:latin typeface="Times New Roman"/>
            </a:endParaRPr>
          </a:p>
        </p:txBody>
      </p:sp>
      <p:pic>
        <p:nvPicPr>
          <p:cNvPr id="109" name="Picture 5" descr="A screenshot of a computer&#10;&#10;AI-generated content may be incorrect."/>
          <p:cNvPicPr/>
          <p:nvPr/>
        </p:nvPicPr>
        <p:blipFill>
          <a:blip r:embed="rId2"/>
          <a:stretch/>
        </p:blipFill>
        <p:spPr>
          <a:xfrm>
            <a:off x="1310400" y="690480"/>
            <a:ext cx="6036480" cy="3566880"/>
          </a:xfrm>
          <a:prstGeom prst="rect">
            <a:avLst/>
          </a:prstGeom>
          <a:noFill/>
          <a:ln w="0">
            <a:noFill/>
          </a:ln>
        </p:spPr>
      </p:pic>
      <p:cxnSp>
        <p:nvCxnSpPr>
          <p:cNvPr id="110" name="Google Shape;140;p22"/>
          <p:cNvCxnSpPr>
            <a:stCxn id="111" idx="0"/>
          </p:cNvCxnSpPr>
          <p:nvPr/>
        </p:nvCxnSpPr>
        <p:spPr>
          <a:xfrm flipV="1">
            <a:off x="842760" y="2750040"/>
            <a:ext cx="1992240" cy="942480"/>
          </a:xfrm>
          <a:prstGeom prst="straightConnector1">
            <a:avLst/>
          </a:prstGeom>
          <a:ln w="38100">
            <a:solidFill>
              <a:srgbClr val="000000"/>
            </a:solidFill>
            <a:round/>
            <a:tailEnd type="triangle" w="med" len="med"/>
          </a:ln>
        </p:spPr>
      </p:cxnSp>
      <p:sp>
        <p:nvSpPr>
          <p:cNvPr id="111" name="Google Shape;143;p22"/>
          <p:cNvSpPr/>
          <p:nvPr/>
        </p:nvSpPr>
        <p:spPr>
          <a:xfrm>
            <a:off x="85320" y="3692160"/>
            <a:ext cx="15148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Rename a file (in app not on disk)</a:t>
            </a:r>
            <a:endParaRPr lang="en-US" sz="1300" b="0" u="none" strike="noStrike">
              <a:solidFill>
                <a:srgbClr val="000000"/>
              </a:solidFill>
              <a:effectLst/>
              <a:uFillTx/>
              <a:latin typeface="Arial"/>
            </a:endParaRPr>
          </a:p>
        </p:txBody>
      </p:sp>
      <p:cxnSp>
        <p:nvCxnSpPr>
          <p:cNvPr id="112" name="Google Shape;140;p22"/>
          <p:cNvCxnSpPr>
            <a:stCxn id="113" idx="0"/>
          </p:cNvCxnSpPr>
          <p:nvPr/>
        </p:nvCxnSpPr>
        <p:spPr>
          <a:xfrm flipV="1">
            <a:off x="2637360" y="2806200"/>
            <a:ext cx="447120" cy="960120"/>
          </a:xfrm>
          <a:prstGeom prst="straightConnector1">
            <a:avLst/>
          </a:prstGeom>
          <a:ln w="38100">
            <a:solidFill>
              <a:srgbClr val="000000"/>
            </a:solidFill>
            <a:round/>
            <a:tailEnd type="triangle" w="med" len="med"/>
          </a:ln>
        </p:spPr>
      </p:cxnSp>
      <p:sp>
        <p:nvSpPr>
          <p:cNvPr id="113" name="Google Shape;143;p22"/>
          <p:cNvSpPr/>
          <p:nvPr/>
        </p:nvSpPr>
        <p:spPr>
          <a:xfrm>
            <a:off x="1879920" y="3765960"/>
            <a:ext cx="15148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Duplicate a file within the app</a:t>
            </a:r>
            <a:endParaRPr lang="en-US" sz="1300" b="0" u="none" strike="noStrike">
              <a:solidFill>
                <a:srgbClr val="000000"/>
              </a:solidFill>
              <a:effectLst/>
              <a:uFillTx/>
              <a:latin typeface="Arial"/>
            </a:endParaRPr>
          </a:p>
        </p:txBody>
      </p:sp>
      <p:sp>
        <p:nvSpPr>
          <p:cNvPr id="114" name="Google Shape;143;p22"/>
          <p:cNvSpPr/>
          <p:nvPr/>
        </p:nvSpPr>
        <p:spPr>
          <a:xfrm>
            <a:off x="3561840" y="3755880"/>
            <a:ext cx="16354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Export (download) a file to save to disk</a:t>
            </a:r>
            <a:endParaRPr lang="en-US" sz="1300" b="0" u="none" strike="noStrike">
              <a:solidFill>
                <a:srgbClr val="000000"/>
              </a:solidFill>
              <a:effectLst/>
              <a:uFillTx/>
              <a:latin typeface="Arial"/>
            </a:endParaRPr>
          </a:p>
        </p:txBody>
      </p:sp>
      <p:cxnSp>
        <p:nvCxnSpPr>
          <p:cNvPr id="115" name="Google Shape;140;p22"/>
          <p:cNvCxnSpPr/>
          <p:nvPr/>
        </p:nvCxnSpPr>
        <p:spPr>
          <a:xfrm flipH="1" flipV="1">
            <a:off x="3395160" y="2806200"/>
            <a:ext cx="873720" cy="942480"/>
          </a:xfrm>
          <a:prstGeom prst="straightConnector1">
            <a:avLst/>
          </a:prstGeom>
          <a:ln w="38100">
            <a:solidFill>
              <a:srgbClr val="000000"/>
            </a:solidFill>
            <a:round/>
            <a:tailEnd type="triangle" w="med" len="med"/>
          </a:ln>
        </p:spPr>
      </p:cxnSp>
      <p:sp>
        <p:nvSpPr>
          <p:cNvPr id="116" name="Google Shape;143;p22"/>
          <p:cNvSpPr/>
          <p:nvPr/>
        </p:nvSpPr>
        <p:spPr>
          <a:xfrm>
            <a:off x="6608880" y="2274480"/>
            <a:ext cx="16354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Delete a file from inside the app</a:t>
            </a:r>
            <a:endParaRPr lang="en-US" sz="1300" b="0" u="none" strike="noStrike">
              <a:solidFill>
                <a:srgbClr val="000000"/>
              </a:solidFill>
              <a:effectLst/>
              <a:uFillTx/>
              <a:latin typeface="Arial"/>
            </a:endParaRPr>
          </a:p>
        </p:txBody>
      </p:sp>
      <p:cxnSp>
        <p:nvCxnSpPr>
          <p:cNvPr id="117" name="Google Shape;140;p22"/>
          <p:cNvCxnSpPr>
            <a:stCxn id="116" idx="1"/>
          </p:cNvCxnSpPr>
          <p:nvPr/>
        </p:nvCxnSpPr>
        <p:spPr>
          <a:xfrm flipH="1">
            <a:off x="3727800" y="2566800"/>
            <a:ext cx="2881440" cy="134280"/>
          </a:xfrm>
          <a:prstGeom prst="straightConnector1">
            <a:avLst/>
          </a:prstGeom>
          <a:ln w="38100">
            <a:solidFill>
              <a:srgbClr val="000000"/>
            </a:solidFill>
            <a:round/>
            <a:tailEnd type="triangle" w="med" len="med"/>
          </a:ln>
        </p:spPr>
      </p:cxnSp>
      <p:sp>
        <p:nvSpPr>
          <p:cNvPr id="118" name="Google Shape;143;p22"/>
          <p:cNvSpPr/>
          <p:nvPr/>
        </p:nvSpPr>
        <p:spPr>
          <a:xfrm>
            <a:off x="169920" y="759960"/>
            <a:ext cx="1188360" cy="218484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Back up all the files in the app to disk. Places them a zip file with date stamp.</a:t>
            </a:r>
            <a:endParaRPr lang="en-US" sz="1300" b="0" u="none" strike="noStrike">
              <a:solidFill>
                <a:srgbClr val="000000"/>
              </a:solidFill>
              <a:effectLst/>
              <a:uFillTx/>
              <a:latin typeface="Arial"/>
            </a:endParaRPr>
          </a:p>
          <a:p>
            <a:pPr>
              <a:lnSpc>
                <a:spcPct val="100000"/>
              </a:lnSpc>
              <a:tabLst>
                <a:tab pos="0" algn="l"/>
              </a:tabLst>
            </a:pPr>
            <a:endParaRPr lang="en-US" sz="1300" b="0" u="none" strike="noStrike">
              <a:solidFill>
                <a:srgbClr val="000000"/>
              </a:solidFill>
              <a:effectLst/>
              <a:uFillTx/>
              <a:latin typeface="Arial"/>
            </a:endParaRPr>
          </a:p>
          <a:p>
            <a:pPr>
              <a:lnSpc>
                <a:spcPct val="100000"/>
              </a:lnSpc>
              <a:tabLst>
                <a:tab pos="0" algn="l"/>
              </a:tabLst>
            </a:pPr>
            <a:r>
              <a:rPr lang="en" sz="1300" b="1" u="sng" strike="noStrike">
                <a:solidFill>
                  <a:schemeClr val="dk2"/>
                </a:solidFill>
                <a:effectLst/>
                <a:uFillTx/>
                <a:latin typeface="Arial"/>
                <a:ea typeface="Arial"/>
              </a:rPr>
              <a:t>VERY USEFUL!!</a:t>
            </a:r>
            <a:endParaRPr lang="en-US" sz="1300" b="0" u="none" strike="noStrike">
              <a:solidFill>
                <a:srgbClr val="000000"/>
              </a:solidFill>
              <a:effectLst/>
              <a:uFillTx/>
              <a:latin typeface="Arial"/>
            </a:endParaRPr>
          </a:p>
        </p:txBody>
      </p:sp>
      <p:cxnSp>
        <p:nvCxnSpPr>
          <p:cNvPr id="119" name="Google Shape;140;p22"/>
          <p:cNvCxnSpPr>
            <a:stCxn id="118" idx="3"/>
          </p:cNvCxnSpPr>
          <p:nvPr/>
        </p:nvCxnSpPr>
        <p:spPr>
          <a:xfrm flipV="1">
            <a:off x="1358280" y="1379520"/>
            <a:ext cx="1694520" cy="473400"/>
          </a:xfrm>
          <a:prstGeom prst="straightConnector1">
            <a:avLst/>
          </a:prstGeom>
          <a:ln w="38100">
            <a:solidFill>
              <a:srgbClr val="000000"/>
            </a:solidFill>
            <a:round/>
            <a:tailEnd type="triangle" w="med" len="med"/>
          </a:ln>
        </p:spPr>
      </p:cxnSp>
      <p:sp>
        <p:nvSpPr>
          <p:cNvPr id="120" name="Google Shape;143;p22"/>
          <p:cNvSpPr/>
          <p:nvPr/>
        </p:nvSpPr>
        <p:spPr>
          <a:xfrm>
            <a:off x="4572000" y="175320"/>
            <a:ext cx="16354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Import (upload) a file into the app</a:t>
            </a:r>
            <a:endParaRPr lang="en-US" sz="1300" b="0" u="none" strike="noStrike">
              <a:solidFill>
                <a:srgbClr val="000000"/>
              </a:solidFill>
              <a:effectLst/>
              <a:uFillTx/>
              <a:latin typeface="Arial"/>
            </a:endParaRPr>
          </a:p>
        </p:txBody>
      </p:sp>
      <p:cxnSp>
        <p:nvCxnSpPr>
          <p:cNvPr id="121" name="Google Shape;140;p22"/>
          <p:cNvCxnSpPr>
            <a:stCxn id="120" idx="1"/>
          </p:cNvCxnSpPr>
          <p:nvPr/>
        </p:nvCxnSpPr>
        <p:spPr>
          <a:xfrm flipH="1">
            <a:off x="3502800" y="467640"/>
            <a:ext cx="1069560" cy="885240"/>
          </a:xfrm>
          <a:prstGeom prst="straightConnector1">
            <a:avLst/>
          </a:prstGeom>
          <a:ln w="38100">
            <a:solidFill>
              <a:srgbClr val="FFFFFF">
                <a:lumMod val="50000"/>
              </a:srgbClr>
            </a:solidFill>
            <a:round/>
            <a:tailEnd type="triangle" w="med" len="med"/>
          </a:ln>
        </p:spPr>
      </p:cxnSp>
      <p:sp>
        <p:nvSpPr>
          <p:cNvPr id="122" name="Google Shape;143;p22"/>
          <p:cNvSpPr/>
          <p:nvPr/>
        </p:nvSpPr>
        <p:spPr>
          <a:xfrm>
            <a:off x="6608880" y="1245960"/>
            <a:ext cx="1635480" cy="584280"/>
          </a:xfrm>
          <a:prstGeom prst="rect">
            <a:avLst/>
          </a:prstGeom>
          <a:solidFill>
            <a:schemeClr val="accent4">
              <a:lumMod val="60000"/>
              <a:lumOff val="40000"/>
            </a:schemeClr>
          </a:solidFill>
          <a:ln w="6350">
            <a:solidFill>
              <a:srgbClr val="000000"/>
            </a:solidFill>
            <a:round/>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tabLst>
                <a:tab pos="0" algn="l"/>
              </a:tabLst>
            </a:pPr>
            <a:r>
              <a:rPr lang="en" sz="1300" b="0" u="none" strike="noStrike">
                <a:solidFill>
                  <a:schemeClr val="dk2"/>
                </a:solidFill>
                <a:effectLst/>
                <a:uFillTx/>
                <a:latin typeface="Arial"/>
                <a:ea typeface="Arial"/>
              </a:rPr>
              <a:t>Create a new file in the app</a:t>
            </a:r>
            <a:endParaRPr lang="en-US" sz="1300" b="0" u="none" strike="noStrike">
              <a:solidFill>
                <a:srgbClr val="000000"/>
              </a:solidFill>
              <a:effectLst/>
              <a:uFillTx/>
              <a:latin typeface="Arial"/>
            </a:endParaRPr>
          </a:p>
        </p:txBody>
      </p:sp>
      <p:cxnSp>
        <p:nvCxnSpPr>
          <p:cNvPr id="123" name="Google Shape;140;p22"/>
          <p:cNvCxnSpPr>
            <a:stCxn id="122" idx="1"/>
          </p:cNvCxnSpPr>
          <p:nvPr/>
        </p:nvCxnSpPr>
        <p:spPr>
          <a:xfrm flipH="1" flipV="1">
            <a:off x="3727800" y="1460160"/>
            <a:ext cx="2881440" cy="78480"/>
          </a:xfrm>
          <a:prstGeom prst="straightConnector1">
            <a:avLst/>
          </a:prstGeom>
          <a:ln w="38100">
            <a:solidFill>
              <a:srgbClr val="000000"/>
            </a:solidFill>
            <a:roun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sldNum" idx="2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86B6ABA-D54C-4DBE-A836-4F112D3D5291}" type="slidenum">
              <a:rPr lang="en" sz="1000" b="0" u="none" strike="noStrike">
                <a:solidFill>
                  <a:schemeClr val="dk2"/>
                </a:solidFill>
                <a:effectLst/>
                <a:uFillTx/>
                <a:latin typeface="Arial"/>
                <a:ea typeface="Arial"/>
              </a:rPr>
              <a:t>16</a:t>
            </a:fld>
            <a:endParaRPr lang="en-US" sz="1000" b="0" u="none" strike="noStrike">
              <a:solidFill>
                <a:srgbClr val="000000"/>
              </a:solidFill>
              <a:effectLst/>
              <a:uFillTx/>
              <a:latin typeface="Times New Roman"/>
            </a:endParaRPr>
          </a:p>
        </p:txBody>
      </p:sp>
      <p:sp>
        <p:nvSpPr>
          <p:cNvPr id="125" name="PlaceHolder 2"/>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fontScale="70000" lnSpcReduction="19999"/>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2 - Pybricks Python vs. Block Coding Comparison</a:t>
            </a:r>
            <a:endParaRPr lang="en-US" sz="36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400" b="0" u="none" strike="noStrike">
                <a:solidFill>
                  <a:schemeClr val="lt1"/>
                </a:solidFill>
                <a:effectLst/>
                <a:uFillTx/>
                <a:latin typeface="Arial"/>
                <a:ea typeface="Arial"/>
              </a:rPr>
              <a:t>My First Program: Block Code - Initializing the Robot</a:t>
            </a:r>
            <a:endParaRPr lang="en-US" sz="2400" b="0" u="none" strike="noStrike">
              <a:solidFill>
                <a:srgbClr val="000000"/>
              </a:solidFill>
              <a:effectLst/>
              <a:uFillTx/>
              <a:latin typeface="Arial"/>
            </a:endParaRPr>
          </a:p>
        </p:txBody>
      </p:sp>
      <p:sp>
        <p:nvSpPr>
          <p:cNvPr id="127" name="PlaceHolder 2"/>
          <p:cNvSpPr>
            <a:spLocks noGrp="1"/>
          </p:cNvSpPr>
          <p:nvPr>
            <p:ph type="sldNum" idx="2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556B64D-FA8E-46A3-A266-CD22C20AF0CB}" type="slidenum">
              <a:rPr lang="en" sz="1000" b="0" u="none" strike="noStrike">
                <a:solidFill>
                  <a:schemeClr val="dk2"/>
                </a:solidFill>
                <a:effectLst/>
                <a:uFillTx/>
                <a:latin typeface="Arial"/>
                <a:ea typeface="Arial"/>
              </a:rPr>
              <a:t>17</a:t>
            </a:fld>
            <a:endParaRPr lang="en-US" sz="1000" b="0" u="none" strike="noStrike">
              <a:solidFill>
                <a:srgbClr val="000000"/>
              </a:solidFill>
              <a:effectLst/>
              <a:uFillTx/>
              <a:latin typeface="Times New Roman"/>
            </a:endParaRPr>
          </a:p>
        </p:txBody>
      </p:sp>
      <p:sp>
        <p:nvSpPr>
          <p:cNvPr id="128" name="Google Shape;153;p23"/>
          <p:cNvSpPr/>
          <p:nvPr/>
        </p:nvSpPr>
        <p:spPr>
          <a:xfrm>
            <a:off x="7090560" y="836280"/>
            <a:ext cx="1799640" cy="10155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800" b="0" u="none" strike="noStrike">
                <a:solidFill>
                  <a:schemeClr val="dk2"/>
                </a:solidFill>
                <a:effectLst/>
                <a:uFillTx/>
                <a:latin typeface="Arial"/>
                <a:ea typeface="Arial"/>
              </a:rPr>
              <a:t>See slide notes for detailed explanation</a:t>
            </a:r>
            <a:endParaRPr lang="en-US" sz="1800" b="0" u="none" strike="noStrike">
              <a:solidFill>
                <a:srgbClr val="000000"/>
              </a:solidFill>
              <a:effectLst/>
              <a:uFillTx/>
              <a:latin typeface="Arial"/>
            </a:endParaRPr>
          </a:p>
        </p:txBody>
      </p:sp>
      <p:pic>
        <p:nvPicPr>
          <p:cNvPr id="129" name="Google Shape;154;p23"/>
          <p:cNvPicPr/>
          <p:nvPr/>
        </p:nvPicPr>
        <p:blipFill>
          <a:blip r:embed="rId3"/>
          <a:stretch/>
        </p:blipFill>
        <p:spPr>
          <a:xfrm>
            <a:off x="467280" y="765720"/>
            <a:ext cx="8208720" cy="381456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400" b="0" u="none" strike="noStrike">
                <a:solidFill>
                  <a:schemeClr val="lt1"/>
                </a:solidFill>
                <a:effectLst/>
                <a:uFillTx/>
                <a:latin typeface="Arial"/>
                <a:ea typeface="Arial"/>
              </a:rPr>
              <a:t>My First Program: Python - Initializing the Robot</a:t>
            </a:r>
            <a:endParaRPr lang="en-US" sz="24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131" name="PlaceHolder 2"/>
          <p:cNvSpPr>
            <a:spLocks noGrp="1"/>
          </p:cNvSpPr>
          <p:nvPr>
            <p:ph/>
          </p:nvPr>
        </p:nvSpPr>
        <p:spPr>
          <a:xfrm>
            <a:off x="472680" y="750240"/>
            <a:ext cx="8194320" cy="3749400"/>
          </a:xfrm>
          <a:prstGeom prst="rect">
            <a:avLst/>
          </a:prstGeom>
          <a:solidFill>
            <a:schemeClr val="lt1"/>
          </a:solidFill>
          <a:ln w="9360">
            <a:solidFill>
              <a:srgbClr val="000000"/>
            </a:solidFill>
            <a:round/>
          </a:ln>
        </p:spPr>
        <p:txBody>
          <a:bodyPr lIns="91440" tIns="91440" rIns="91440" bIns="91440" anchor="t">
            <a:noAutofit/>
          </a:bodyPr>
          <a:lstStyle/>
          <a:p>
            <a:pPr indent="0" algn="l">
              <a:lnSpc>
                <a:spcPct val="150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pybricks.hubs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PrimeHub</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pybricks.parameters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Direction, Port, Stop</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pybricks.pupdevices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Motor</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pybricks.robotics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DriveBase</a:t>
            </a:r>
            <a:endParaRPr lang="en-US" sz="1450" b="0" u="none" strike="noStrike">
              <a:solidFill>
                <a:srgbClr val="000000"/>
              </a:solidFill>
              <a:effectLst/>
              <a:uFillTx/>
              <a:latin typeface="Arial"/>
            </a:endParaRPr>
          </a:p>
          <a:p>
            <a:pPr indent="0" algn="l">
              <a:lnSpc>
                <a:spcPct val="150000"/>
              </a:lnSpc>
              <a:buNone/>
              <a:tabLst>
                <a:tab pos="0" algn="l"/>
              </a:tabLst>
            </a:pP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rgbClr val="008E00"/>
                </a:solidFill>
                <a:effectLst/>
                <a:highlight>
                  <a:srgbClr val="FFFFFF"/>
                </a:highlight>
                <a:uFillTx/>
                <a:latin typeface="Courier New"/>
                <a:ea typeface="Courier New"/>
              </a:rPr>
              <a:t># Set up all devices.</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chemeClr val="dk1"/>
                </a:solidFill>
                <a:effectLst/>
                <a:highlight>
                  <a:srgbClr val="FFFFFF"/>
                </a:highlight>
                <a:uFillTx/>
                <a:latin typeface="Courier New"/>
                <a:ea typeface="Courier New"/>
              </a:rPr>
              <a:t>prime_hub = PrimeHub()</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chemeClr val="dk1"/>
                </a:solidFill>
                <a:effectLst/>
                <a:highlight>
                  <a:srgbClr val="FFFFFF"/>
                </a:highlight>
                <a:uFillTx/>
                <a:latin typeface="Courier New"/>
                <a:ea typeface="Courier New"/>
              </a:rPr>
              <a:t>right_motor = Motor(Port.</a:t>
            </a:r>
            <a:r>
              <a:rPr lang="en" sz="1450" b="1" u="none" strike="noStrike">
                <a:solidFill>
                  <a:srgbClr val="450084"/>
                </a:solidFill>
                <a:effectLst/>
                <a:highlight>
                  <a:srgbClr val="FFFFFF"/>
                </a:highlight>
                <a:uFillTx/>
                <a:latin typeface="Courier New"/>
                <a:ea typeface="Courier New"/>
              </a:rPr>
              <a:t>A</a:t>
            </a:r>
            <a:r>
              <a:rPr lang="en" sz="1450" b="1" u="none" strike="noStrike">
                <a:solidFill>
                  <a:schemeClr val="dk1"/>
                </a:solidFill>
                <a:effectLst/>
                <a:highlight>
                  <a:srgbClr val="FFFFFF"/>
                </a:highlight>
                <a:uFillTx/>
                <a:latin typeface="Courier New"/>
                <a:ea typeface="Courier New"/>
              </a:rPr>
              <a:t>, Direction.</a:t>
            </a:r>
            <a:r>
              <a:rPr lang="en" sz="1450" b="1" u="none" strike="noStrike">
                <a:solidFill>
                  <a:srgbClr val="450084"/>
                </a:solidFill>
                <a:effectLst/>
                <a:highlight>
                  <a:srgbClr val="FFFFFF"/>
                </a:highlight>
                <a:uFillTx/>
                <a:latin typeface="Courier New"/>
                <a:ea typeface="Courier New"/>
              </a:rPr>
              <a:t>CLOCKWISE</a:t>
            </a:r>
            <a:r>
              <a:rPr lang="en" sz="1450" b="1" u="none" strike="noStrike">
                <a:solidFill>
                  <a:schemeClr val="dk1"/>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chemeClr val="dk1"/>
                </a:solidFill>
                <a:effectLst/>
                <a:highlight>
                  <a:srgbClr val="FFFFFF"/>
                </a:highlight>
                <a:uFillTx/>
                <a:latin typeface="Courier New"/>
                <a:ea typeface="Courier New"/>
              </a:rPr>
              <a:t>left_motor = Motor(Port.</a:t>
            </a:r>
            <a:r>
              <a:rPr lang="en" sz="1450" b="1" u="none" strike="noStrike">
                <a:solidFill>
                  <a:srgbClr val="450084"/>
                </a:solidFill>
                <a:effectLst/>
                <a:highlight>
                  <a:srgbClr val="FFFFFF"/>
                </a:highlight>
                <a:uFillTx/>
                <a:latin typeface="Courier New"/>
                <a:ea typeface="Courier New"/>
              </a:rPr>
              <a:t>B</a:t>
            </a:r>
            <a:r>
              <a:rPr lang="en" sz="1450" b="1" u="none" strike="noStrike">
                <a:solidFill>
                  <a:schemeClr val="dk1"/>
                </a:solidFill>
                <a:effectLst/>
                <a:highlight>
                  <a:srgbClr val="FFFFFF"/>
                </a:highlight>
                <a:uFillTx/>
                <a:latin typeface="Courier New"/>
                <a:ea typeface="Courier New"/>
              </a:rPr>
              <a:t>, Direction.</a:t>
            </a:r>
            <a:r>
              <a:rPr lang="en" sz="1450" b="1" u="none" strike="noStrike">
                <a:solidFill>
                  <a:srgbClr val="450084"/>
                </a:solidFill>
                <a:effectLst/>
                <a:highlight>
                  <a:srgbClr val="FFFFFF"/>
                </a:highlight>
                <a:uFillTx/>
                <a:latin typeface="Courier New"/>
                <a:ea typeface="Courier New"/>
              </a:rPr>
              <a:t>COUNTERCLOCKWISE</a:t>
            </a:r>
            <a:r>
              <a:rPr lang="en" sz="1450" b="1" u="none" strike="noStrike">
                <a:solidFill>
                  <a:schemeClr val="dk1"/>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chemeClr val="dk1"/>
                </a:solidFill>
                <a:effectLst/>
                <a:highlight>
                  <a:srgbClr val="FFFFFF"/>
                </a:highlight>
                <a:uFillTx/>
                <a:latin typeface="Courier New"/>
                <a:ea typeface="Courier New"/>
              </a:rPr>
              <a:t>attachment_motor = Motor(Port.</a:t>
            </a:r>
            <a:r>
              <a:rPr lang="en" sz="1450" b="1" u="none" strike="noStrike">
                <a:solidFill>
                  <a:srgbClr val="450084"/>
                </a:solidFill>
                <a:effectLst/>
                <a:highlight>
                  <a:srgbClr val="FFFFFF"/>
                </a:highlight>
                <a:uFillTx/>
                <a:latin typeface="Courier New"/>
                <a:ea typeface="Courier New"/>
              </a:rPr>
              <a:t>C</a:t>
            </a:r>
            <a:r>
              <a:rPr lang="en" sz="1450" b="1" u="none" strike="noStrike">
                <a:solidFill>
                  <a:schemeClr val="dk1"/>
                </a:solidFill>
                <a:effectLst/>
                <a:highlight>
                  <a:srgbClr val="FFFFFF"/>
                </a:highlight>
                <a:uFillTx/>
                <a:latin typeface="Courier New"/>
                <a:ea typeface="Courier New"/>
              </a:rPr>
              <a:t>, Direction.</a:t>
            </a:r>
            <a:r>
              <a:rPr lang="en" sz="1450" b="1" u="none" strike="noStrike">
                <a:solidFill>
                  <a:srgbClr val="450084"/>
                </a:solidFill>
                <a:effectLst/>
                <a:highlight>
                  <a:srgbClr val="FFFFFF"/>
                </a:highlight>
                <a:uFillTx/>
                <a:latin typeface="Courier New"/>
                <a:ea typeface="Courier New"/>
              </a:rPr>
              <a:t>CLOCKWISE</a:t>
            </a:r>
            <a:r>
              <a:rPr lang="en" sz="1450" b="1" u="none" strike="noStrike">
                <a:solidFill>
                  <a:schemeClr val="dk1"/>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50000"/>
              </a:lnSpc>
              <a:buNone/>
              <a:tabLst>
                <a:tab pos="0" algn="l"/>
              </a:tabLst>
            </a:pPr>
            <a:r>
              <a:rPr lang="en" sz="1450" b="1" u="none" strike="noStrike">
                <a:solidFill>
                  <a:schemeClr val="dk1"/>
                </a:solidFill>
                <a:effectLst/>
                <a:highlight>
                  <a:srgbClr val="FFFFFF"/>
                </a:highlight>
                <a:uFillTx/>
                <a:latin typeface="Courier New"/>
                <a:ea typeface="Courier New"/>
              </a:rPr>
              <a:t>drive_base = DriveBase(left_motor, right_motor, </a:t>
            </a:r>
            <a:r>
              <a:rPr lang="en" sz="1450" b="1" u="none" strike="noStrike">
                <a:solidFill>
                  <a:srgbClr val="3A00DC"/>
                </a:solidFill>
                <a:effectLst/>
                <a:highlight>
                  <a:srgbClr val="FFFFFF"/>
                </a:highlight>
                <a:uFillTx/>
                <a:latin typeface="Courier New"/>
                <a:ea typeface="Courier New"/>
              </a:rPr>
              <a:t>62.4</a:t>
            </a:r>
            <a:r>
              <a:rPr lang="en" sz="1450" b="1" u="none" strike="noStrike">
                <a:solidFill>
                  <a:schemeClr val="dk1"/>
                </a:solidFill>
                <a:effectLst/>
                <a:highlight>
                  <a:srgbClr val="FFFFFF"/>
                </a:highlight>
                <a:uFillTx/>
                <a:latin typeface="Courier New"/>
                <a:ea typeface="Courier New"/>
              </a:rPr>
              <a:t>, </a:t>
            </a:r>
            <a:r>
              <a:rPr lang="en" sz="1450" b="1" u="none" strike="noStrike">
                <a:solidFill>
                  <a:srgbClr val="3A00DC"/>
                </a:solidFill>
                <a:effectLst/>
                <a:highlight>
                  <a:srgbClr val="FFFFFF"/>
                </a:highlight>
                <a:uFillTx/>
                <a:latin typeface="Courier New"/>
                <a:ea typeface="Courier New"/>
              </a:rPr>
              <a:t>204</a:t>
            </a:r>
            <a:r>
              <a:rPr lang="en" sz="1450" b="1" u="none" strike="noStrike">
                <a:solidFill>
                  <a:schemeClr val="dk1"/>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30000"/>
              </a:lnSpc>
              <a:buNone/>
              <a:tabLst>
                <a:tab pos="0" algn="l"/>
              </a:tabLst>
            </a:pPr>
            <a:endParaRPr lang="en-US" sz="1300" b="0" u="none" strike="noStrike">
              <a:solidFill>
                <a:srgbClr val="000000"/>
              </a:solidFill>
              <a:effectLst/>
              <a:uFillTx/>
              <a:latin typeface="Arial"/>
            </a:endParaRPr>
          </a:p>
          <a:p>
            <a:pPr indent="0" algn="l">
              <a:lnSpc>
                <a:spcPct val="95000"/>
              </a:lnSpc>
              <a:buNone/>
              <a:tabLst>
                <a:tab pos="0" algn="l"/>
              </a:tabLst>
            </a:pPr>
            <a:endParaRPr lang="en-US" sz="1300" b="0" u="none" strike="noStrike">
              <a:solidFill>
                <a:srgbClr val="000000"/>
              </a:solidFill>
              <a:effectLst/>
              <a:uFillTx/>
              <a:latin typeface="Arial"/>
            </a:endParaRPr>
          </a:p>
        </p:txBody>
      </p:sp>
      <p:sp>
        <p:nvSpPr>
          <p:cNvPr id="132" name="PlaceHolder 3"/>
          <p:cNvSpPr>
            <a:spLocks noGrp="1"/>
          </p:cNvSpPr>
          <p:nvPr>
            <p:ph type="sldNum" idx="2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17A5799-4575-4F62-89D7-012C8906C28D}" type="slidenum">
              <a:rPr lang="en" sz="1000" b="0" u="none" strike="noStrike">
                <a:solidFill>
                  <a:schemeClr val="dk2"/>
                </a:solidFill>
                <a:effectLst/>
                <a:uFillTx/>
                <a:latin typeface="Arial"/>
                <a:ea typeface="Arial"/>
              </a:rPr>
              <a:t>18</a:t>
            </a:fld>
            <a:endParaRPr lang="en-US" sz="1000" b="0" u="none" strike="noStrike">
              <a:solidFill>
                <a:srgbClr val="000000"/>
              </a:solidFill>
              <a:effectLst/>
              <a:uFillTx/>
              <a:latin typeface="Times New Roman"/>
            </a:endParaRPr>
          </a:p>
        </p:txBody>
      </p:sp>
      <p:sp>
        <p:nvSpPr>
          <p:cNvPr id="133" name="Google Shape;162;p24"/>
          <p:cNvSpPr/>
          <p:nvPr/>
        </p:nvSpPr>
        <p:spPr>
          <a:xfrm>
            <a:off x="6801480" y="1859400"/>
            <a:ext cx="1799640" cy="10155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800" b="0" u="none" strike="noStrike">
                <a:solidFill>
                  <a:schemeClr val="dk2"/>
                </a:solidFill>
                <a:effectLst/>
                <a:uFillTx/>
                <a:latin typeface="Arial"/>
                <a:ea typeface="Arial"/>
              </a:rPr>
              <a:t>See slide notes for detailed explanation</a:t>
            </a:r>
            <a:endParaRPr lang="en-US"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400" b="0" u="none" strike="noStrike">
                <a:solidFill>
                  <a:schemeClr val="lt1"/>
                </a:solidFill>
                <a:effectLst/>
                <a:uFillTx/>
                <a:latin typeface="Arial"/>
                <a:ea typeface="Arial"/>
              </a:rPr>
              <a:t>My First Program: Block Code - Do something useful Part 1</a:t>
            </a:r>
            <a:endParaRPr lang="en-US" sz="2400" b="0" u="none" strike="noStrike">
              <a:solidFill>
                <a:srgbClr val="000000"/>
              </a:solidFill>
              <a:effectLst/>
              <a:uFillTx/>
              <a:latin typeface="Arial"/>
            </a:endParaRPr>
          </a:p>
        </p:txBody>
      </p:sp>
      <p:sp>
        <p:nvSpPr>
          <p:cNvPr id="135" name="PlaceHolder 2"/>
          <p:cNvSpPr>
            <a:spLocks noGrp="1"/>
          </p:cNvSpPr>
          <p:nvPr>
            <p:ph type="sldNum" idx="3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7D94769-022B-4AED-9430-1266CF438265}" type="slidenum">
              <a:rPr lang="en" sz="1000" b="0" u="none" strike="noStrike">
                <a:solidFill>
                  <a:schemeClr val="dk2"/>
                </a:solidFill>
                <a:effectLst/>
                <a:uFillTx/>
                <a:latin typeface="Arial"/>
                <a:ea typeface="Arial"/>
              </a:rPr>
              <a:t>19</a:t>
            </a:fld>
            <a:endParaRPr lang="en-US" sz="1000" b="0" u="none" strike="noStrike">
              <a:solidFill>
                <a:srgbClr val="000000"/>
              </a:solidFill>
              <a:effectLst/>
              <a:uFillTx/>
              <a:latin typeface="Times New Roman"/>
            </a:endParaRPr>
          </a:p>
        </p:txBody>
      </p:sp>
      <p:sp>
        <p:nvSpPr>
          <p:cNvPr id="136" name="Google Shape;169;p25"/>
          <p:cNvSpPr/>
          <p:nvPr/>
        </p:nvSpPr>
        <p:spPr>
          <a:xfrm>
            <a:off x="7157880" y="937440"/>
            <a:ext cx="1799640" cy="10155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800" b="0" u="none" strike="noStrike">
                <a:solidFill>
                  <a:schemeClr val="dk2"/>
                </a:solidFill>
                <a:effectLst/>
                <a:uFillTx/>
                <a:latin typeface="Arial"/>
                <a:ea typeface="Arial"/>
              </a:rPr>
              <a:t>See slide notes for detailed explanation</a:t>
            </a:r>
            <a:endParaRPr lang="en-US" sz="1800" b="0" u="none" strike="noStrike">
              <a:solidFill>
                <a:srgbClr val="000000"/>
              </a:solidFill>
              <a:effectLst/>
              <a:uFillTx/>
              <a:latin typeface="Arial"/>
            </a:endParaRPr>
          </a:p>
        </p:txBody>
      </p:sp>
      <p:pic>
        <p:nvPicPr>
          <p:cNvPr id="137" name="Google Shape;170;p25"/>
          <p:cNvPicPr/>
          <p:nvPr/>
        </p:nvPicPr>
        <p:blipFill>
          <a:blip r:embed="rId3"/>
          <a:stretch/>
        </p:blipFill>
        <p:spPr>
          <a:xfrm>
            <a:off x="1144800" y="774360"/>
            <a:ext cx="5972400" cy="415512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400" b="0" u="none" strike="noStrike">
                <a:solidFill>
                  <a:schemeClr val="lt1"/>
                </a:solidFill>
                <a:effectLst/>
                <a:uFillTx/>
                <a:latin typeface="Arial"/>
                <a:ea typeface="Arial"/>
              </a:rPr>
              <a:t>My First Program: Block Code - Do something useful Part 2</a:t>
            </a:r>
            <a:endParaRPr lang="en-US" sz="2400" b="0" u="none" strike="noStrike">
              <a:solidFill>
                <a:srgbClr val="000000"/>
              </a:solidFill>
              <a:effectLst/>
              <a:uFillTx/>
              <a:latin typeface="Arial"/>
            </a:endParaRPr>
          </a:p>
        </p:txBody>
      </p:sp>
      <p:sp>
        <p:nvSpPr>
          <p:cNvPr id="139" name="PlaceHolder 2"/>
          <p:cNvSpPr>
            <a:spLocks noGrp="1"/>
          </p:cNvSpPr>
          <p:nvPr>
            <p:ph type="sldNum" idx="3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4DE0BA3-2EF0-47F4-835B-7E696C171CD8}" type="slidenum">
              <a:rPr lang="en" sz="1000" b="0" u="none" strike="noStrike">
                <a:solidFill>
                  <a:schemeClr val="dk2"/>
                </a:solidFill>
                <a:effectLst/>
                <a:uFillTx/>
                <a:latin typeface="Arial"/>
                <a:ea typeface="Arial"/>
              </a:rPr>
              <a:t>20</a:t>
            </a:fld>
            <a:endParaRPr lang="en-US" sz="1000" b="0" u="none" strike="noStrike">
              <a:solidFill>
                <a:srgbClr val="000000"/>
              </a:solidFill>
              <a:effectLst/>
              <a:uFillTx/>
              <a:latin typeface="Times New Roman"/>
            </a:endParaRPr>
          </a:p>
        </p:txBody>
      </p:sp>
      <p:pic>
        <p:nvPicPr>
          <p:cNvPr id="140" name="Google Shape;177;p26"/>
          <p:cNvPicPr/>
          <p:nvPr/>
        </p:nvPicPr>
        <p:blipFill>
          <a:blip r:embed="rId3"/>
          <a:stretch/>
        </p:blipFill>
        <p:spPr>
          <a:xfrm>
            <a:off x="1060560" y="835560"/>
            <a:ext cx="6915960" cy="3677760"/>
          </a:xfrm>
          <a:prstGeom prst="rect">
            <a:avLst/>
          </a:prstGeom>
          <a:noFill/>
          <a:ln w="0">
            <a:noFill/>
          </a:ln>
        </p:spPr>
      </p:pic>
      <p:sp>
        <p:nvSpPr>
          <p:cNvPr id="141" name="Google Shape;178;p26"/>
          <p:cNvSpPr/>
          <p:nvPr/>
        </p:nvSpPr>
        <p:spPr>
          <a:xfrm>
            <a:off x="7190640" y="3392640"/>
            <a:ext cx="1799640" cy="10155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800" b="0" u="none" strike="noStrike">
                <a:solidFill>
                  <a:schemeClr val="dk2"/>
                </a:solidFill>
                <a:effectLst/>
                <a:uFillTx/>
                <a:latin typeface="Arial"/>
                <a:ea typeface="Arial"/>
              </a:rPr>
              <a:t>See slide notes for detailed explanation</a:t>
            </a:r>
            <a:endParaRPr lang="en-US" sz="18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p:nvPr>
        </p:nvSpPr>
        <p:spPr>
          <a:xfrm>
            <a:off x="295560" y="741960"/>
            <a:ext cx="8715960" cy="3834720"/>
          </a:xfrm>
          <a:prstGeom prst="rect">
            <a:avLst/>
          </a:prstGeom>
          <a:solidFill>
            <a:schemeClr val="lt1"/>
          </a:solidFill>
          <a:ln w="9360">
            <a:solidFill>
              <a:srgbClr val="000000"/>
            </a:solidFill>
            <a:round/>
          </a:ln>
        </p:spPr>
        <p:txBody>
          <a:bodyPr lIns="91440" tIns="91440" rIns="91440" bIns="91440" anchor="t">
            <a:noAutofit/>
          </a:bodyPr>
          <a:lstStyle/>
          <a:p>
            <a:pPr indent="0" algn="l">
              <a:lnSpc>
                <a:spcPct val="100000"/>
              </a:lnSpc>
              <a:buNone/>
              <a:tabLst>
                <a:tab pos="0" algn="l"/>
              </a:tabLst>
            </a:pPr>
            <a:r>
              <a:rPr lang="en" sz="1150" b="1" u="none" strike="noStrike">
                <a:solidFill>
                  <a:srgbClr val="C800A4"/>
                </a:solidFill>
                <a:effectLst/>
                <a:highlight>
                  <a:srgbClr val="FFFFFF"/>
                </a:highlight>
                <a:uFillTx/>
                <a:latin typeface="Courier New"/>
                <a:ea typeface="Courier New"/>
              </a:rPr>
              <a:t>def</a:t>
            </a:r>
            <a:r>
              <a:rPr lang="en" sz="1150" b="1" u="none" strike="noStrike">
                <a:solidFill>
                  <a:schemeClr val="dk1"/>
                </a:solidFill>
                <a:effectLst/>
                <a:highlight>
                  <a:srgbClr val="FFFFFF"/>
                </a:highlight>
                <a:uFillTx/>
                <a:latin typeface="Courier New"/>
                <a:ea typeface="Courier New"/>
              </a:rPr>
              <a:t> pybricks_class_bc_task1():</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008E00"/>
                </a:solidFill>
                <a:effectLst/>
                <a:highlight>
                  <a:srgbClr val="FFFFFF"/>
                </a:highlight>
                <a:uFillTx/>
                <a:latin typeface="Courier New"/>
                <a:ea typeface="Courier New"/>
              </a:rPr>
              <a:t># Pybricks Class Block Coding Task1</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450084"/>
                </a:solidFill>
                <a:effectLst/>
                <a:highlight>
                  <a:srgbClr val="FFFFFF"/>
                </a:highlight>
                <a:uFillTx/>
                <a:latin typeface="Courier New"/>
                <a:ea typeface="Courier New"/>
              </a:rPr>
              <a:t>print</a:t>
            </a:r>
            <a:r>
              <a:rPr lang="en" sz="1150" b="1" u="none" strike="noStrike">
                <a:solidFill>
                  <a:schemeClr val="dk1"/>
                </a:solidFill>
                <a:effectLst/>
                <a:highlight>
                  <a:srgbClr val="FFFFFF"/>
                </a:highlight>
                <a:uFillTx/>
                <a:latin typeface="Courier New"/>
                <a:ea typeface="Courier New"/>
              </a:rPr>
              <a:t>(</a:t>
            </a:r>
            <a:r>
              <a:rPr lang="en" sz="1150" b="1" u="none" strike="noStrike">
                <a:solidFill>
                  <a:srgbClr val="DF0002"/>
                </a:solidFill>
                <a:effectLst/>
                <a:highlight>
                  <a:srgbClr val="FFFFFF"/>
                </a:highlight>
                <a:uFillTx/>
                <a:latin typeface="Courier New"/>
                <a:ea typeface="Courier New"/>
              </a:rPr>
              <a:t>'Configure Robot'</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drive_base.use_gyro(</a:t>
            </a:r>
            <a:r>
              <a:rPr lang="en" sz="1150" b="1" u="none" strike="noStrike">
                <a:solidFill>
                  <a:srgbClr val="C800A4"/>
                </a:solidFill>
                <a:effectLst/>
                <a:highlight>
                  <a:srgbClr val="FFFFFF"/>
                </a:highlight>
                <a:uFillTx/>
                <a:latin typeface="Courier New"/>
                <a:ea typeface="Courier New"/>
              </a:rPr>
              <a:t>True</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drive_base.settings(straight_speed=</a:t>
            </a:r>
            <a:r>
              <a:rPr lang="en" sz="1150" b="1" u="none" strike="noStrike">
                <a:solidFill>
                  <a:srgbClr val="3A00DC"/>
                </a:solidFill>
                <a:effectLst/>
                <a:highlight>
                  <a:srgbClr val="FFFFFF"/>
                </a:highlight>
                <a:uFillTx/>
                <a:latin typeface="Courier New"/>
                <a:ea typeface="Courier New"/>
              </a:rPr>
              <a:t>200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drive_base.settings(straight_acceleration=</a:t>
            </a:r>
            <a:r>
              <a:rPr lang="en" sz="1150" b="1" u="none" strike="noStrike">
                <a:solidFill>
                  <a:srgbClr val="3A00DC"/>
                </a:solidFill>
                <a:effectLst/>
                <a:highlight>
                  <a:srgbClr val="FFFFFF"/>
                </a:highlight>
                <a:uFillTx/>
                <a:latin typeface="Courier New"/>
                <a:ea typeface="Courier New"/>
              </a:rPr>
              <a:t>900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drive_base.settings(turn_rate=</a:t>
            </a:r>
            <a:r>
              <a:rPr lang="en" sz="1150" b="1" u="none" strike="noStrike">
                <a:solidFill>
                  <a:srgbClr val="3A00DC"/>
                </a:solidFill>
                <a:effectLst/>
                <a:highlight>
                  <a:srgbClr val="FFFFFF"/>
                </a:highlight>
                <a:uFillTx/>
                <a:latin typeface="Courier New"/>
                <a:ea typeface="Courier New"/>
              </a:rPr>
              <a:t>600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450084"/>
                </a:solidFill>
                <a:effectLst/>
                <a:highlight>
                  <a:srgbClr val="FFFFFF"/>
                </a:highlight>
                <a:uFillTx/>
                <a:latin typeface="Courier New"/>
                <a:ea typeface="Courier New"/>
              </a:rPr>
              <a:t>print</a:t>
            </a:r>
            <a:r>
              <a:rPr lang="en" sz="1150" b="1" u="none" strike="noStrike">
                <a:solidFill>
                  <a:schemeClr val="dk1"/>
                </a:solidFill>
                <a:effectLst/>
                <a:highlight>
                  <a:srgbClr val="FFFFFF"/>
                </a:highlight>
                <a:uFillTx/>
                <a:latin typeface="Courier New"/>
                <a:ea typeface="Courier New"/>
              </a:rPr>
              <a:t>(</a:t>
            </a:r>
            <a:r>
              <a:rPr lang="en" sz="1150" b="1" u="none" strike="noStrike">
                <a:solidFill>
                  <a:srgbClr val="DF0002"/>
                </a:solidFill>
                <a:effectLst/>
                <a:highlight>
                  <a:srgbClr val="FFFFFF"/>
                </a:highlight>
                <a:uFillTx/>
                <a:latin typeface="Courier New"/>
                <a:ea typeface="Courier New"/>
              </a:rPr>
              <a:t>'Move the robot forward, move attachment, move back, and turn'</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drive_base.straight(</a:t>
            </a:r>
            <a:r>
              <a:rPr lang="en" sz="1150" b="1" u="none" strike="noStrike">
                <a:solidFill>
                  <a:srgbClr val="3A00DC"/>
                </a:solidFill>
                <a:effectLst/>
                <a:highlight>
                  <a:srgbClr val="FFFFFF"/>
                </a:highlight>
                <a:uFillTx/>
                <a:latin typeface="Courier New"/>
                <a:ea typeface="Courier New"/>
              </a:rPr>
              <a:t>300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attachment_motor.run_angle(</a:t>
            </a:r>
            <a:r>
              <a:rPr lang="en" sz="1150" b="1" u="none" strike="noStrike">
                <a:solidFill>
                  <a:srgbClr val="3A00DC"/>
                </a:solidFill>
                <a:effectLst/>
                <a:highlight>
                  <a:srgbClr val="FFFFFF"/>
                </a:highlight>
                <a:uFillTx/>
                <a:latin typeface="Courier New"/>
                <a:ea typeface="Courier New"/>
              </a:rPr>
              <a:t>900</a:t>
            </a: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C800A4"/>
                </a:solidFill>
                <a:effectLst/>
                <a:highlight>
                  <a:srgbClr val="FFFFFF"/>
                </a:highlight>
                <a:uFillTx/>
                <a:latin typeface="Courier New"/>
                <a:ea typeface="Courier New"/>
              </a:rPr>
              <a:t>-</a:t>
            </a:r>
            <a:r>
              <a:rPr lang="en" sz="1150" b="1" u="none" strike="noStrike">
                <a:solidFill>
                  <a:srgbClr val="3A00DC"/>
                </a:solidFill>
                <a:effectLst/>
                <a:highlight>
                  <a:srgbClr val="FFFFFF"/>
                </a:highlight>
                <a:uFillTx/>
                <a:latin typeface="Courier New"/>
                <a:ea typeface="Courier New"/>
              </a:rPr>
              <a:t>190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wait(</a:t>
            </a:r>
            <a:r>
              <a:rPr lang="en" sz="1150" b="1" u="none" strike="noStrike">
                <a:solidFill>
                  <a:srgbClr val="3A00DC"/>
                </a:solidFill>
                <a:effectLst/>
                <a:highlight>
                  <a:srgbClr val="FFFFFF"/>
                </a:highlight>
                <a:uFillTx/>
                <a:latin typeface="Courier New"/>
                <a:ea typeface="Courier New"/>
              </a:rPr>
              <a:t>1500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attachment_motor.run_angle(</a:t>
            </a:r>
            <a:r>
              <a:rPr lang="en" sz="1150" b="1" u="none" strike="noStrike">
                <a:solidFill>
                  <a:srgbClr val="3A00DC"/>
                </a:solidFill>
                <a:effectLst/>
                <a:highlight>
                  <a:srgbClr val="FFFFFF"/>
                </a:highlight>
                <a:uFillTx/>
                <a:latin typeface="Courier New"/>
                <a:ea typeface="Courier New"/>
              </a:rPr>
              <a:t>900</a:t>
            </a: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3A00DC"/>
                </a:solidFill>
                <a:effectLst/>
                <a:highlight>
                  <a:srgbClr val="FFFFFF"/>
                </a:highlight>
                <a:uFillTx/>
                <a:latin typeface="Courier New"/>
                <a:ea typeface="Courier New"/>
              </a:rPr>
              <a:t>190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drive_base.straight(</a:t>
            </a:r>
            <a:r>
              <a:rPr lang="en" sz="1150" b="1" u="none" strike="noStrike">
                <a:solidFill>
                  <a:srgbClr val="C800A4"/>
                </a:solidFill>
                <a:effectLst/>
                <a:highlight>
                  <a:srgbClr val="FFFFFF"/>
                </a:highlight>
                <a:uFillTx/>
                <a:latin typeface="Courier New"/>
                <a:ea typeface="Courier New"/>
              </a:rPr>
              <a:t>-</a:t>
            </a:r>
            <a:r>
              <a:rPr lang="en" sz="1150" b="1" u="none" strike="noStrike">
                <a:solidFill>
                  <a:srgbClr val="3A00DC"/>
                </a:solidFill>
                <a:effectLst/>
                <a:highlight>
                  <a:srgbClr val="FFFFFF"/>
                </a:highlight>
                <a:uFillTx/>
                <a:latin typeface="Courier New"/>
                <a:ea typeface="Courier New"/>
              </a:rPr>
              <a:t>150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drive_base.turn(</a:t>
            </a:r>
            <a:r>
              <a:rPr lang="en" sz="1150" b="1" u="none" strike="noStrike">
                <a:solidFill>
                  <a:srgbClr val="3A00DC"/>
                </a:solidFill>
                <a:effectLst/>
                <a:highlight>
                  <a:srgbClr val="FFFFFF"/>
                </a:highlight>
                <a:uFillTx/>
                <a:latin typeface="Courier New"/>
                <a:ea typeface="Courier New"/>
              </a:rPr>
              <a:t>90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drive_base.straight(</a:t>
            </a:r>
            <a:r>
              <a:rPr lang="en" sz="1150" b="1" u="none" strike="noStrike">
                <a:solidFill>
                  <a:srgbClr val="3A00DC"/>
                </a:solidFill>
                <a:effectLst/>
                <a:highlight>
                  <a:srgbClr val="FFFFFF"/>
                </a:highlight>
                <a:uFillTx/>
                <a:latin typeface="Courier New"/>
                <a:ea typeface="Courier New"/>
              </a:rPr>
              <a:t>200</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a:t>
            </a:r>
            <a:r>
              <a:rPr lang="en" sz="1150" b="1" u="none" strike="noStrike">
                <a:solidFill>
                  <a:srgbClr val="450084"/>
                </a:solidFill>
                <a:effectLst/>
                <a:highlight>
                  <a:srgbClr val="FFFFFF"/>
                </a:highlight>
                <a:uFillTx/>
                <a:latin typeface="Courier New"/>
                <a:ea typeface="Courier New"/>
              </a:rPr>
              <a:t>print</a:t>
            </a:r>
            <a:r>
              <a:rPr lang="en" sz="1150" b="1" u="none" strike="noStrike">
                <a:solidFill>
                  <a:schemeClr val="dk1"/>
                </a:solidFill>
                <a:effectLst/>
                <a:highlight>
                  <a:srgbClr val="FFFFFF"/>
                </a:highlight>
                <a:uFillTx/>
                <a:latin typeface="Courier New"/>
                <a:ea typeface="Courier New"/>
              </a:rPr>
              <a:t>(</a:t>
            </a:r>
            <a:r>
              <a:rPr lang="en" sz="1150" b="1" u="none" strike="noStrike">
                <a:solidFill>
                  <a:srgbClr val="DF0002"/>
                </a:solidFill>
                <a:effectLst/>
                <a:highlight>
                  <a:srgbClr val="FFFFFF"/>
                </a:highlight>
                <a:uFillTx/>
                <a:latin typeface="Courier New"/>
                <a:ea typeface="Courier New"/>
              </a:rPr>
              <a:t>'Stop moving robot'</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   drive_base.use_gyro(</a:t>
            </a:r>
            <a:r>
              <a:rPr lang="en" sz="1150" b="1" u="none" strike="noStrike">
                <a:solidFill>
                  <a:srgbClr val="C800A4"/>
                </a:solidFill>
                <a:effectLst/>
                <a:highlight>
                  <a:srgbClr val="FFFFFF"/>
                </a:highlight>
                <a:uFillTx/>
                <a:latin typeface="Courier New"/>
                <a:ea typeface="Courier New"/>
              </a:rPr>
              <a:t>False</a:t>
            </a:r>
            <a:r>
              <a:rPr lang="en" sz="1150" b="1" u="none" strike="noStrike">
                <a:solidFill>
                  <a:schemeClr val="dk1"/>
                </a:solidFill>
                <a:effectLst/>
                <a:highlight>
                  <a:srgbClr val="FFFFFF"/>
                </a:highlight>
                <a:uFillTx/>
                <a:latin typeface="Courier New"/>
                <a:ea typeface="Courier New"/>
              </a:rPr>
              <a:t>)</a:t>
            </a:r>
            <a:endParaRPr lang="en-US" sz="1150" b="0" u="none" strike="noStrike">
              <a:solidFill>
                <a:srgbClr val="000000"/>
              </a:solidFill>
              <a:effectLst/>
              <a:uFillTx/>
              <a:latin typeface="Arial"/>
            </a:endParaRPr>
          </a:p>
          <a:p>
            <a:pPr indent="0" algn="l">
              <a:lnSpc>
                <a:spcPct val="100000"/>
              </a:lnSpc>
              <a:buNone/>
              <a:tabLst>
                <a:tab pos="0" algn="l"/>
              </a:tabLst>
            </a:pPr>
            <a:endParaRPr lang="en-US" sz="1150" b="0" u="none" strike="noStrike">
              <a:solidFill>
                <a:srgbClr val="000000"/>
              </a:solidFill>
              <a:effectLst/>
              <a:uFillTx/>
              <a:latin typeface="Arial"/>
            </a:endParaRPr>
          </a:p>
          <a:p>
            <a:pPr indent="0" algn="l">
              <a:lnSpc>
                <a:spcPct val="100000"/>
              </a:lnSpc>
              <a:buNone/>
              <a:tabLst>
                <a:tab pos="0" algn="l"/>
              </a:tabLst>
            </a:pP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rgbClr val="008E00"/>
                </a:solidFill>
                <a:effectLst/>
                <a:highlight>
                  <a:srgbClr val="FFFFFF"/>
                </a:highlight>
                <a:uFillTx/>
                <a:latin typeface="Courier New"/>
                <a:ea typeface="Courier New"/>
              </a:rPr>
              <a:t># The main program starts here.</a:t>
            </a:r>
            <a:endParaRPr lang="en-US" sz="1150" b="0" u="none" strike="noStrike">
              <a:solidFill>
                <a:srgbClr val="000000"/>
              </a:solidFill>
              <a:effectLst/>
              <a:uFillTx/>
              <a:latin typeface="Arial"/>
            </a:endParaRPr>
          </a:p>
          <a:p>
            <a:pPr indent="0" algn="l">
              <a:lnSpc>
                <a:spcPct val="100000"/>
              </a:lnSpc>
              <a:buNone/>
              <a:tabLst>
                <a:tab pos="0" algn="l"/>
              </a:tabLst>
            </a:pPr>
            <a:r>
              <a:rPr lang="en" sz="1150" b="1" u="none" strike="noStrike">
                <a:solidFill>
                  <a:schemeClr val="dk1"/>
                </a:solidFill>
                <a:effectLst/>
                <a:highlight>
                  <a:srgbClr val="FFFFFF"/>
                </a:highlight>
                <a:uFillTx/>
                <a:latin typeface="Courier New"/>
                <a:ea typeface="Courier New"/>
              </a:rPr>
              <a:t>pybricks_class_bc_task1()</a:t>
            </a:r>
            <a:endParaRPr lang="en-US" sz="1150" b="0" u="none" strike="noStrike">
              <a:solidFill>
                <a:srgbClr val="000000"/>
              </a:solidFill>
              <a:effectLst/>
              <a:uFillTx/>
              <a:latin typeface="Arial"/>
            </a:endParaRPr>
          </a:p>
          <a:p>
            <a:pPr indent="0" algn="l">
              <a:lnSpc>
                <a:spcPct val="100000"/>
              </a:lnSpc>
              <a:buNone/>
              <a:tabLst>
                <a:tab pos="0" algn="l"/>
              </a:tabLst>
            </a:pPr>
            <a:endParaRPr lang="en-US" sz="1150" b="0" u="none" strike="noStrike">
              <a:solidFill>
                <a:srgbClr val="000000"/>
              </a:solidFill>
              <a:effectLst/>
              <a:uFillTx/>
              <a:latin typeface="Arial"/>
            </a:endParaRPr>
          </a:p>
        </p:txBody>
      </p:sp>
      <p:sp>
        <p:nvSpPr>
          <p:cNvPr id="143" name="PlaceHolder 2"/>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400" b="0" u="none" strike="noStrike">
                <a:solidFill>
                  <a:schemeClr val="lt1"/>
                </a:solidFill>
                <a:effectLst/>
                <a:uFillTx/>
                <a:latin typeface="Arial"/>
                <a:ea typeface="Arial"/>
              </a:rPr>
              <a:t>My First Program: Python</a:t>
            </a:r>
            <a:endParaRPr lang="en-US" sz="2400" b="0" u="none" strike="noStrike">
              <a:solidFill>
                <a:srgbClr val="000000"/>
              </a:solidFill>
              <a:effectLst/>
              <a:uFillTx/>
              <a:latin typeface="Arial"/>
            </a:endParaRPr>
          </a:p>
          <a:p>
            <a:pPr indent="0" algn="l">
              <a:lnSpc>
                <a:spcPct val="100000"/>
              </a:lnSpc>
              <a:buNone/>
              <a:tabLst>
                <a:tab pos="0" algn="l"/>
              </a:tabLst>
            </a:pPr>
            <a:endParaRPr lang="en-US" sz="2500" b="0" u="none" strike="noStrike">
              <a:solidFill>
                <a:srgbClr val="000000"/>
              </a:solidFill>
              <a:effectLst/>
              <a:uFillTx/>
              <a:latin typeface="Arial"/>
            </a:endParaRPr>
          </a:p>
        </p:txBody>
      </p:sp>
      <p:sp>
        <p:nvSpPr>
          <p:cNvPr id="144" name="PlaceHolder 3"/>
          <p:cNvSpPr>
            <a:spLocks noGrp="1"/>
          </p:cNvSpPr>
          <p:nvPr>
            <p:ph type="sldNum" idx="3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3E267E0-21B3-4C50-9B4A-B833DA28CEE2}" type="slidenum">
              <a:rPr lang="en" sz="1000" b="0" u="none" strike="noStrike">
                <a:solidFill>
                  <a:schemeClr val="dk2"/>
                </a:solidFill>
                <a:effectLst/>
                <a:uFillTx/>
                <a:latin typeface="Arial"/>
                <a:ea typeface="Arial"/>
              </a:rPr>
              <a:t>21</a:t>
            </a:fld>
            <a:endParaRPr lang="en-US" sz="1000" b="0" u="none" strike="noStrike">
              <a:solidFill>
                <a:srgbClr val="000000"/>
              </a:solidFill>
              <a:effectLst/>
              <a:uFillTx/>
              <a:latin typeface="Times New Roman"/>
            </a:endParaRPr>
          </a:p>
        </p:txBody>
      </p:sp>
      <p:sp>
        <p:nvSpPr>
          <p:cNvPr id="145" name="Google Shape;186;p27"/>
          <p:cNvSpPr/>
          <p:nvPr/>
        </p:nvSpPr>
        <p:spPr>
          <a:xfrm>
            <a:off x="7055280" y="3094200"/>
            <a:ext cx="1799640" cy="10155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800" b="0" u="none" strike="noStrike">
                <a:solidFill>
                  <a:schemeClr val="dk2"/>
                </a:solidFill>
                <a:effectLst/>
                <a:uFillTx/>
                <a:latin typeface="Arial"/>
                <a:ea typeface="Arial"/>
              </a:rPr>
              <a:t>See slide notes for detailed explanation</a:t>
            </a:r>
            <a:endParaRPr lang="en-US" sz="1800" b="0" u="none" strike="noStrike">
              <a:solidFill>
                <a:srgbClr val="000000"/>
              </a:solidFill>
              <a:effectLst/>
              <a:uFillTx/>
              <a:latin typeface="Arial"/>
            </a:endParaRPr>
          </a:p>
        </p:txBody>
      </p:sp>
      <p:sp>
        <p:nvSpPr>
          <p:cNvPr id="146" name="TextBox 1"/>
          <p:cNvSpPr/>
          <p:nvPr/>
        </p:nvSpPr>
        <p:spPr>
          <a:xfrm>
            <a:off x="11768400" y="2148840"/>
            <a:ext cx="184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4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Example Running</a:t>
            </a:r>
            <a:endParaRPr lang="en-US" sz="2500" b="0" u="none" strike="noStrike">
              <a:solidFill>
                <a:srgbClr val="000000"/>
              </a:solidFill>
              <a:effectLst/>
              <a:uFillTx/>
              <a:latin typeface="Arial"/>
            </a:endParaRPr>
          </a:p>
        </p:txBody>
      </p:sp>
      <p:sp>
        <p:nvSpPr>
          <p:cNvPr id="148" name="PlaceHolder 2"/>
          <p:cNvSpPr>
            <a:spLocks noGrp="1"/>
          </p:cNvSpPr>
          <p:nvPr>
            <p:ph type="sldNum" idx="3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6686B2C-6118-4EF6-B860-9A23E2A03154}" type="slidenum">
              <a:rPr lang="en" sz="1000" b="0" u="none" strike="noStrike">
                <a:solidFill>
                  <a:schemeClr val="dk2"/>
                </a:solidFill>
                <a:effectLst/>
                <a:uFillTx/>
                <a:latin typeface="Arial"/>
                <a:ea typeface="Arial"/>
              </a:rPr>
              <a:t>22</a:t>
            </a:fld>
            <a:endParaRPr lang="en-US" sz="1000" b="0" u="none" strike="noStrike">
              <a:solidFill>
                <a:srgbClr val="000000"/>
              </a:solidFill>
              <a:effectLst/>
              <a:uFillTx/>
              <a:latin typeface="Times New Roman"/>
            </a:endParaRPr>
          </a:p>
        </p:txBody>
      </p:sp>
      <p:pic>
        <p:nvPicPr>
          <p:cNvPr id="149" name="Picture 148">
            <a:hlinkClick r:id="" action="ppaction://media"/>
          </p:cNvPr>
          <p:cNvPicPr/>
          <p:nvPr>
            <a:videoFile r:link="rId2"/>
            <p:extLst>
              <p:ext uri="{DAA4B4D4-6D71-4841-9C94-3DE7FCFB9230}">
                <p14:media xmlns:p14="http://schemas.microsoft.com/office/powerpoint/2010/main" r:embed="rId1"/>
              </p:ext>
            </p:extLst>
          </p:nvPr>
        </p:nvPicPr>
        <p:blipFill>
          <a:blip r:embed="rId4"/>
          <a:stretch>
            <a:fillRect/>
          </a:stretch>
        </p:blipFill>
        <p:spPr>
          <a:xfrm>
            <a:off x="1109160" y="767520"/>
            <a:ext cx="6925320" cy="389520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9275" fill="hold"/>
                                        <p:tgtEl>
                                          <p:spTgt spid="149"/>
                                        </p:tgtEl>
                                      </p:cBhvr>
                                    </p:cmd>
                                  </p:childTnLst>
                                </p:cTn>
                              </p:par>
                            </p:childTnLst>
                          </p:cTn>
                        </p:par>
                      </p:childTnLst>
                    </p:cTn>
                  </p:par>
                </p:childTnLst>
              </p:cTn>
              <p:prevCondLst>
                <p:cond evt="onPrev" delay="0">
                  <p:tgtEl>
                    <p:sldTgt/>
                  </p:tgtEl>
                </p:cond>
              </p:prevCondLst>
              <p:nextCondLst>
                <p:cond evt="onNext" delay="0">
                  <p:tgtEl>
                    <p:sldTgt/>
                  </p:tgtEl>
                </p:cond>
              </p:nextCondLst>
            </p:seq>
            <p:seq>
              <p:cTn id="7" restart="whenNotActive" fill="hold" nodeType="interactiveSeq">
                <p:stCondLst>
                  <p:cond evt="onClick" delay="0">
                    <p:tgtEl>
                      <p:spTgt spid="149"/>
                    </p:tgtEl>
                  </p:cond>
                </p:stCondLst>
                <p:childTnLst>
                  <p:par>
                    <p:cTn id="8" fill="hold">
                      <p:stCondLst>
                        <p:cond evt="onClick" delay="0">
                          <p:tgtEl>
                            <p:spTgt spid="149"/>
                          </p:tgtEl>
                        </p:cond>
                      </p:stCondLst>
                      <p:childTnLst>
                        <p:par>
                          <p:cTn id="9" fill="hold">
                            <p:stCondLst>
                              <p:cond delay="0"/>
                            </p:stCondLst>
                            <p:childTnLst>
                              <p:par>
                                <p:cTn id="10" presetClass="mediacall" fill="hold" nodeType="clickEffect">
                                  <p:stCondLst>
                                    <p:cond delay="0"/>
                                  </p:stCondLst>
                                  <p:childTnLst>
                                    <p:cmd type="call" cmd="togglePause">
                                      <p:cBhvr>
                                        <p:cTn id="11" dur="1" fill="hold"/>
                                        <p:tgtEl>
                                          <p:spTgt spid="14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Blocking Coding vs. Python (1/2)</a:t>
            </a:r>
            <a:endParaRPr lang="en-US" sz="2500" b="0" u="none" strike="noStrike">
              <a:solidFill>
                <a:srgbClr val="000000"/>
              </a:solidFill>
              <a:effectLst/>
              <a:uFillTx/>
              <a:latin typeface="Arial"/>
            </a:endParaRPr>
          </a:p>
        </p:txBody>
      </p:sp>
      <p:sp>
        <p:nvSpPr>
          <p:cNvPr id="15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55680" algn="l">
              <a:lnSpc>
                <a:spcPct val="115000"/>
              </a:lnSpc>
              <a:buClr>
                <a:srgbClr val="000000"/>
              </a:buClr>
              <a:buFont typeface="Arial"/>
              <a:buChar char="●"/>
            </a:pPr>
            <a:r>
              <a:rPr lang="en" sz="2000" b="0" u="none" strike="noStrike">
                <a:solidFill>
                  <a:schemeClr val="dk1"/>
                </a:solidFill>
                <a:effectLst/>
                <a:uFillTx/>
                <a:latin typeface="Arial"/>
                <a:ea typeface="Arial"/>
              </a:rPr>
              <a:t>Most of the core functionality of Pybricks Python is available in Block Code</a:t>
            </a:r>
            <a:endParaRPr lang="en-US" sz="2000" b="0" u="none" strike="noStrike">
              <a:solidFill>
                <a:srgbClr val="000000"/>
              </a:solidFill>
              <a:effectLst/>
              <a:uFillTx/>
              <a:latin typeface="Arial"/>
            </a:endParaRPr>
          </a:p>
          <a:p>
            <a:pPr marL="457200" indent="0" algn="l">
              <a:lnSpc>
                <a:spcPct val="115000"/>
              </a:lnSpc>
              <a:buNone/>
              <a:tabLst>
                <a:tab pos="0" algn="l"/>
              </a:tabLst>
            </a:pPr>
            <a:endParaRPr lang="en-US" sz="2000" b="0" u="none" strike="noStrike">
              <a:solidFill>
                <a:srgbClr val="000000"/>
              </a:solidFill>
              <a:effectLst/>
              <a:uFillTx/>
              <a:latin typeface="Arial"/>
            </a:endParaRPr>
          </a:p>
          <a:p>
            <a:pPr marL="457200" indent="-355680" algn="l">
              <a:lnSpc>
                <a:spcPct val="115000"/>
              </a:lnSpc>
              <a:buClr>
                <a:srgbClr val="000000"/>
              </a:buClr>
              <a:buFont typeface="Arial"/>
              <a:buChar char="●"/>
              <a:tabLst>
                <a:tab pos="0" algn="l"/>
              </a:tabLst>
            </a:pPr>
            <a:r>
              <a:rPr lang="en" sz="2000" b="0" u="none" strike="noStrike">
                <a:solidFill>
                  <a:schemeClr val="dk1"/>
                </a:solidFill>
                <a:effectLst/>
                <a:uFillTx/>
                <a:latin typeface="Arial"/>
                <a:ea typeface="Arial"/>
              </a:rPr>
              <a:t>Block Code will generate Python “on-the-fly” as blocks are placed, moved, and removed</a:t>
            </a:r>
            <a:endParaRPr lang="en-US" sz="2000" b="0" u="none" strike="noStrike">
              <a:solidFill>
                <a:srgbClr val="000000"/>
              </a:solidFill>
              <a:effectLst/>
              <a:uFillTx/>
              <a:latin typeface="Arial"/>
            </a:endParaRPr>
          </a:p>
          <a:p>
            <a:pPr marL="457200" indent="0" algn="l">
              <a:lnSpc>
                <a:spcPct val="115000"/>
              </a:lnSpc>
              <a:buNone/>
              <a:tabLst>
                <a:tab pos="0" algn="l"/>
              </a:tabLst>
            </a:pPr>
            <a:endParaRPr lang="en-US" sz="2000" b="0" u="none" strike="noStrike">
              <a:solidFill>
                <a:srgbClr val="000000"/>
              </a:solidFill>
              <a:effectLst/>
              <a:uFillTx/>
              <a:latin typeface="Arial"/>
            </a:endParaRPr>
          </a:p>
          <a:p>
            <a:pPr marL="457200" indent="-355680" algn="l">
              <a:lnSpc>
                <a:spcPct val="115000"/>
              </a:lnSpc>
              <a:buClr>
                <a:srgbClr val="000000"/>
              </a:buClr>
              <a:buFont typeface="Arial"/>
              <a:buChar char="●"/>
              <a:tabLst>
                <a:tab pos="0" algn="l"/>
              </a:tabLst>
            </a:pPr>
            <a:r>
              <a:rPr lang="en" sz="2000" b="0" u="none" strike="noStrike">
                <a:solidFill>
                  <a:schemeClr val="dk1"/>
                </a:solidFill>
                <a:effectLst/>
                <a:uFillTx/>
                <a:latin typeface="Arial"/>
                <a:ea typeface="Arial"/>
              </a:rPr>
              <a:t>When saving block code to disk, there is a comment line (#) at the beginning of the file.</a:t>
            </a:r>
            <a:endParaRPr lang="en-US" sz="2000" b="0" u="none" strike="noStrike">
              <a:solidFill>
                <a:srgbClr val="000000"/>
              </a:solidFill>
              <a:effectLst/>
              <a:uFillTx/>
              <a:latin typeface="Arial"/>
            </a:endParaRPr>
          </a:p>
          <a:p>
            <a:pPr marL="914400" lvl="1" indent="-355680" algn="l">
              <a:lnSpc>
                <a:spcPct val="115000"/>
              </a:lnSpc>
              <a:buClr>
                <a:srgbClr val="000000"/>
              </a:buClr>
              <a:buFont typeface="Arial"/>
              <a:buChar char="○"/>
              <a:tabLst>
                <a:tab pos="0" algn="l"/>
              </a:tabLst>
            </a:pPr>
            <a:r>
              <a:rPr lang="en" sz="1600" b="1" u="sng" strike="noStrike">
                <a:solidFill>
                  <a:schemeClr val="dk1"/>
                </a:solidFill>
                <a:effectLst/>
                <a:uFillTx/>
                <a:latin typeface="Arial"/>
                <a:ea typeface="Arial"/>
              </a:rPr>
              <a:t>DO NOT</a:t>
            </a:r>
            <a:r>
              <a:rPr lang="en" sz="1600" b="0" u="none" strike="noStrike">
                <a:solidFill>
                  <a:schemeClr val="dk1"/>
                </a:solidFill>
                <a:effectLst/>
                <a:uFillTx/>
                <a:latin typeface="Arial"/>
                <a:ea typeface="Arial"/>
              </a:rPr>
              <a:t> edit it or Pybricks will not be able to read the block code file</a:t>
            </a:r>
            <a:endParaRPr lang="en-US" sz="16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p:txBody>
      </p:sp>
      <p:sp>
        <p:nvSpPr>
          <p:cNvPr id="152" name="PlaceHolder 3"/>
          <p:cNvSpPr>
            <a:spLocks noGrp="1"/>
          </p:cNvSpPr>
          <p:nvPr>
            <p:ph type="sldNum" idx="3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01E4E62-E6A1-422A-A3F0-085FFF17E158}" type="slidenum">
              <a:rPr lang="en" sz="1000" b="0" u="none" strike="noStrike">
                <a:solidFill>
                  <a:schemeClr val="dk2"/>
                </a:solidFill>
                <a:effectLst/>
                <a:uFillTx/>
                <a:latin typeface="Arial"/>
                <a:ea typeface="Arial"/>
              </a:rPr>
              <a:t>23</a:t>
            </a:fld>
            <a:endParaRPr lang="en-US" sz="1000" b="0" u="none" strike="noStrike">
              <a:solidFill>
                <a:srgbClr val="000000"/>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Blocking Coding vs. Python (2/2)</a:t>
            </a:r>
            <a:endParaRPr lang="en-US" sz="2500" b="0" u="none" strike="noStrike">
              <a:solidFill>
                <a:srgbClr val="000000"/>
              </a:solidFill>
              <a:effectLst/>
              <a:uFillTx/>
              <a:latin typeface="Arial"/>
            </a:endParaRPr>
          </a:p>
        </p:txBody>
      </p:sp>
      <p:sp>
        <p:nvSpPr>
          <p:cNvPr id="154"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9200" algn="l">
              <a:lnSpc>
                <a:spcPct val="115000"/>
              </a:lnSpc>
              <a:buClr>
                <a:srgbClr val="000000"/>
              </a:buClr>
              <a:buFont typeface="Arial"/>
              <a:buChar char="●"/>
            </a:pPr>
            <a:r>
              <a:rPr lang="en" sz="1900" b="0" u="none" strike="noStrike">
                <a:solidFill>
                  <a:schemeClr val="dk1"/>
                </a:solidFill>
                <a:effectLst/>
                <a:uFillTx/>
                <a:latin typeface="Arial"/>
                <a:ea typeface="Arial"/>
              </a:rPr>
              <a:t>Due to how block coding mode structures the file it does not work easily with </a:t>
            </a:r>
            <a:r>
              <a:rPr lang="en" sz="1900" b="1" u="none" strike="noStrike">
                <a:solidFill>
                  <a:schemeClr val="dk1"/>
                </a:solidFill>
                <a:effectLst/>
                <a:uFillTx/>
                <a:latin typeface="Courier New"/>
                <a:ea typeface="Arial"/>
              </a:rPr>
              <a:t>hub_menu()</a:t>
            </a:r>
            <a:r>
              <a:rPr lang="en" sz="1900" b="0" u="none" strike="noStrike">
                <a:solidFill>
                  <a:schemeClr val="dk1"/>
                </a:solidFill>
                <a:effectLst/>
                <a:uFillTx/>
                <a:latin typeface="Arial"/>
                <a:ea typeface="Arial"/>
              </a:rPr>
              <a:t> but does work with Slots</a:t>
            </a:r>
            <a:endParaRPr lang="en-US" sz="1900" b="0" u="none" strike="noStrike">
              <a:solidFill>
                <a:srgbClr val="000000"/>
              </a:solidFill>
              <a:effectLst/>
              <a:uFillTx/>
              <a:latin typeface="Arial"/>
            </a:endParaRPr>
          </a:p>
          <a:p>
            <a:pPr marL="914400" lvl="1" indent="-324000" algn="l">
              <a:lnSpc>
                <a:spcPct val="115000"/>
              </a:lnSpc>
              <a:buClr>
                <a:srgbClr val="000000"/>
              </a:buClr>
              <a:buFont typeface="Arial"/>
              <a:buChar char="○"/>
            </a:pPr>
            <a:r>
              <a:rPr lang="en" sz="1500" b="0" u="none" strike="noStrike">
                <a:solidFill>
                  <a:schemeClr val="dk1"/>
                </a:solidFill>
                <a:effectLst/>
                <a:uFillTx/>
                <a:latin typeface="Arial"/>
                <a:ea typeface="Arial"/>
              </a:rPr>
              <a:t>Basically you can only run the task once - which will cause problems in FLL competition if the robot glitches and you need to rerun the task</a:t>
            </a:r>
            <a:endParaRPr lang="en-US" sz="1500" b="0" u="none" strike="noStrike">
              <a:solidFill>
                <a:srgbClr val="000000"/>
              </a:solidFill>
              <a:effectLst/>
              <a:uFillTx/>
              <a:latin typeface="Arial"/>
            </a:endParaRPr>
          </a:p>
          <a:p>
            <a:pPr marL="914400" indent="0" algn="l">
              <a:lnSpc>
                <a:spcPct val="115000"/>
              </a:lnSpc>
              <a:buNone/>
              <a:tabLst>
                <a:tab pos="0" algn="l"/>
              </a:tabLst>
            </a:pPr>
            <a:endParaRPr lang="en-US" sz="1500" b="0" u="none" strike="noStrike">
              <a:solidFill>
                <a:srgbClr val="000000"/>
              </a:solidFill>
              <a:effectLst/>
              <a:uFillTx/>
              <a:latin typeface="Arial"/>
            </a:endParaRPr>
          </a:p>
          <a:p>
            <a:pPr marL="457200" indent="-349200" algn="l">
              <a:lnSpc>
                <a:spcPct val="115000"/>
              </a:lnSpc>
              <a:buClr>
                <a:srgbClr val="000000"/>
              </a:buClr>
              <a:buFont typeface="Arial"/>
              <a:buChar char="●"/>
              <a:tabLst>
                <a:tab pos="0" algn="l"/>
              </a:tabLst>
            </a:pPr>
            <a:r>
              <a:rPr lang="en" sz="1900" b="0" u="none" strike="noStrike">
                <a:solidFill>
                  <a:schemeClr val="dk1"/>
                </a:solidFill>
                <a:effectLst/>
                <a:uFillTx/>
                <a:latin typeface="Arial"/>
                <a:ea typeface="Arial"/>
              </a:rPr>
              <a:t>Block Coding is best used as a transition from Scratch like coding to Python</a:t>
            </a:r>
            <a:endParaRPr lang="en-US" sz="1900" b="0" u="none" strike="noStrike">
              <a:solidFill>
                <a:srgbClr val="000000"/>
              </a:solidFill>
              <a:effectLst/>
              <a:uFillTx/>
              <a:latin typeface="Arial"/>
            </a:endParaRPr>
          </a:p>
          <a:p>
            <a:pPr marL="457200" indent="0" algn="l">
              <a:lnSpc>
                <a:spcPct val="115000"/>
              </a:lnSpc>
              <a:buNone/>
              <a:tabLst>
                <a:tab pos="0" algn="l"/>
              </a:tabLst>
            </a:pPr>
            <a:endParaRPr lang="en-US" sz="1900" b="0" u="none" strike="noStrike">
              <a:solidFill>
                <a:srgbClr val="000000"/>
              </a:solidFill>
              <a:effectLst/>
              <a:uFillTx/>
              <a:latin typeface="Arial"/>
            </a:endParaRPr>
          </a:p>
          <a:p>
            <a:pPr marL="457200" indent="-349200" algn="l">
              <a:lnSpc>
                <a:spcPct val="115000"/>
              </a:lnSpc>
              <a:buClr>
                <a:srgbClr val="000000"/>
              </a:buClr>
              <a:buFont typeface="Arial"/>
              <a:buChar char="●"/>
              <a:tabLst>
                <a:tab pos="0" algn="l"/>
              </a:tabLst>
            </a:pPr>
            <a:r>
              <a:rPr lang="en" sz="1900" b="0" u="none" strike="noStrike">
                <a:solidFill>
                  <a:schemeClr val="dk1"/>
                </a:solidFill>
                <a:effectLst/>
                <a:uFillTx/>
                <a:latin typeface="Arial"/>
                <a:ea typeface="Arial"/>
              </a:rPr>
              <a:t>It can also be used to rapidly test out ideas for missions and tasks then save the file, remove the comment line, and then switch over to straight Python files for competition </a:t>
            </a:r>
            <a:endParaRPr lang="en-US" sz="1900" b="0" u="none" strike="noStrike">
              <a:solidFill>
                <a:srgbClr val="000000"/>
              </a:solidFill>
              <a:effectLst/>
              <a:uFillTx/>
              <a:latin typeface="Arial"/>
            </a:endParaRPr>
          </a:p>
        </p:txBody>
      </p:sp>
      <p:sp>
        <p:nvSpPr>
          <p:cNvPr id="155" name="PlaceHolder 3"/>
          <p:cNvSpPr>
            <a:spLocks noGrp="1"/>
          </p:cNvSpPr>
          <p:nvPr>
            <p:ph type="sldNum" idx="3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A6C6373-1E19-4966-829F-FF1E3BB16FF8}" type="slidenum">
              <a:rPr lang="en" sz="1000" b="0" u="none" strike="noStrike">
                <a:solidFill>
                  <a:schemeClr val="dk2"/>
                </a:solidFill>
                <a:effectLst/>
                <a:uFillTx/>
                <a:latin typeface="Arial"/>
                <a:ea typeface="Arial"/>
              </a:rPr>
              <a:t>24</a:t>
            </a:fld>
            <a:endParaRPr lang="en-US" sz="1000" b="0" u="none" strike="noStrike">
              <a:solidFill>
                <a:srgbClr val="000000"/>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More Examples</a:t>
            </a:r>
            <a:endParaRPr lang="en-US" sz="2500" b="0" u="none" strike="noStrike">
              <a:solidFill>
                <a:srgbClr val="000000"/>
              </a:solidFill>
              <a:effectLst/>
              <a:uFillTx/>
              <a:latin typeface="Arial"/>
            </a:endParaRPr>
          </a:p>
        </p:txBody>
      </p:sp>
      <p:sp>
        <p:nvSpPr>
          <p:cNvPr id="157" name="PlaceHolder 2"/>
          <p:cNvSpPr>
            <a:spLocks noGrp="1"/>
          </p:cNvSpPr>
          <p:nvPr>
            <p:ph/>
          </p:nvPr>
        </p:nvSpPr>
        <p:spPr>
          <a:xfrm>
            <a:off x="311760" y="853920"/>
            <a:ext cx="8520120" cy="3646080"/>
          </a:xfrm>
          <a:prstGeom prst="rect">
            <a:avLst/>
          </a:prstGeom>
          <a:noFill/>
          <a:ln w="0">
            <a:noFill/>
          </a:ln>
        </p:spPr>
        <p:txBody>
          <a:bodyPr lIns="91440" tIns="91440" rIns="91440" bIns="91440" anchor="t">
            <a:noAutofit/>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The next two examples demonstrate how use multitasking and variables in block coding and Python</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The two Python examples have been modified to use a simple robot library so they can be used to demonstrate how to use hub_menu(). The core logic is the same as the block code.</a:t>
            </a:r>
            <a:endParaRPr lang="en-US" sz="1800" b="0" u="none" strike="noStrike">
              <a:solidFill>
                <a:srgbClr val="000000"/>
              </a:solidFill>
              <a:effectLst/>
              <a:uFillTx/>
              <a:latin typeface="Arial"/>
            </a:endParaRPr>
          </a:p>
        </p:txBody>
      </p:sp>
      <p:sp>
        <p:nvSpPr>
          <p:cNvPr id="158" name="PlaceHolder 3"/>
          <p:cNvSpPr>
            <a:spLocks noGrp="1"/>
          </p:cNvSpPr>
          <p:nvPr>
            <p:ph type="sldNum" idx="3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818A069-E7C1-465E-8E3E-0F3806233DC0}" type="slidenum">
              <a:rPr lang="en" sz="1000" b="0" u="none" strike="noStrike">
                <a:solidFill>
                  <a:schemeClr val="dk2"/>
                </a:solidFill>
                <a:effectLst/>
                <a:uFillTx/>
                <a:latin typeface="Arial"/>
                <a:ea typeface="Arial"/>
              </a:rPr>
              <a:t>25</a:t>
            </a:fld>
            <a:endParaRPr lang="en-US" sz="1000" b="0" u="none" strike="noStrike">
              <a:solidFill>
                <a:srgbClr val="000000"/>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pybricks_class_bc_task2(): Part 1</a:t>
            </a:r>
            <a:endParaRPr lang="en-US" sz="2500" b="0" u="none" strike="noStrike">
              <a:solidFill>
                <a:srgbClr val="000000"/>
              </a:solidFill>
              <a:effectLst/>
              <a:uFillTx/>
              <a:latin typeface="Arial"/>
            </a:endParaRPr>
          </a:p>
        </p:txBody>
      </p:sp>
      <p:sp>
        <p:nvSpPr>
          <p:cNvPr id="160" name="PlaceHolder 2"/>
          <p:cNvSpPr>
            <a:spLocks noGrp="1"/>
          </p:cNvSpPr>
          <p:nvPr>
            <p:ph type="sldNum" idx="3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428068A9-BBB9-47A0-A248-C8D771097174}" type="slidenum">
              <a:rPr lang="en" sz="1000" b="0" u="none" strike="noStrike">
                <a:solidFill>
                  <a:schemeClr val="dk2"/>
                </a:solidFill>
                <a:effectLst/>
                <a:uFillTx/>
                <a:latin typeface="Arial"/>
                <a:ea typeface="Arial"/>
              </a:rPr>
              <a:t>26</a:t>
            </a:fld>
            <a:endParaRPr lang="en-US" sz="1000" b="0" u="none" strike="noStrike">
              <a:solidFill>
                <a:srgbClr val="000000"/>
              </a:solidFill>
              <a:effectLst/>
              <a:uFillTx/>
              <a:latin typeface="Times New Roman"/>
            </a:endParaRPr>
          </a:p>
        </p:txBody>
      </p:sp>
      <p:pic>
        <p:nvPicPr>
          <p:cNvPr id="161" name="Google Shape;318;p46"/>
          <p:cNvPicPr/>
          <p:nvPr/>
        </p:nvPicPr>
        <p:blipFill>
          <a:blip r:embed="rId2"/>
          <a:stretch/>
        </p:blipFill>
        <p:spPr>
          <a:xfrm>
            <a:off x="648000" y="866520"/>
            <a:ext cx="7847280" cy="367488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pybricks_class_bc_task2(): Part 2</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163" name="PlaceHolder 2"/>
          <p:cNvSpPr>
            <a:spLocks noGrp="1"/>
          </p:cNvSpPr>
          <p:nvPr>
            <p:ph type="sldNum" idx="3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B53AB04-A7F8-46AA-8AB2-C796108D645A}" type="slidenum">
              <a:rPr lang="en" sz="1000" b="0" u="none" strike="noStrike">
                <a:solidFill>
                  <a:schemeClr val="dk2"/>
                </a:solidFill>
                <a:effectLst/>
                <a:uFillTx/>
                <a:latin typeface="Arial"/>
                <a:ea typeface="Arial"/>
              </a:rPr>
              <a:t>27</a:t>
            </a:fld>
            <a:endParaRPr lang="en-US" sz="1000" b="0" u="none" strike="noStrike">
              <a:solidFill>
                <a:srgbClr val="000000"/>
              </a:solidFill>
              <a:effectLst/>
              <a:uFillTx/>
              <a:latin typeface="Times New Roman"/>
            </a:endParaRPr>
          </a:p>
        </p:txBody>
      </p:sp>
      <p:pic>
        <p:nvPicPr>
          <p:cNvPr id="164" name="Google Shape;325;p47"/>
          <p:cNvPicPr/>
          <p:nvPr/>
        </p:nvPicPr>
        <p:blipFill>
          <a:blip r:embed="rId2"/>
          <a:stretch/>
        </p:blipFill>
        <p:spPr>
          <a:xfrm>
            <a:off x="976320" y="752760"/>
            <a:ext cx="8167320" cy="4115520"/>
          </a:xfrm>
          <a:prstGeom prst="rect">
            <a:avLst/>
          </a:prstGeom>
          <a:noFill/>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pybricks_class_bc_task2(): Part 3</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166" name="PlaceHolder 2"/>
          <p:cNvSpPr>
            <a:spLocks noGrp="1"/>
          </p:cNvSpPr>
          <p:nvPr>
            <p:ph type="sldNum" idx="3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F4D047B0-EE24-4ECA-8EDF-8DB5E2A8D744}" type="slidenum">
              <a:rPr lang="en" sz="1000" b="0" u="none" strike="noStrike">
                <a:solidFill>
                  <a:schemeClr val="dk2"/>
                </a:solidFill>
                <a:effectLst/>
                <a:uFillTx/>
                <a:latin typeface="Arial"/>
                <a:ea typeface="Arial"/>
              </a:rPr>
              <a:t>28</a:t>
            </a:fld>
            <a:endParaRPr lang="en-US" sz="1000" b="0" u="none" strike="noStrike">
              <a:solidFill>
                <a:srgbClr val="000000"/>
              </a:solidFill>
              <a:effectLst/>
              <a:uFillTx/>
              <a:latin typeface="Times New Roman"/>
            </a:endParaRPr>
          </a:p>
        </p:txBody>
      </p:sp>
      <p:pic>
        <p:nvPicPr>
          <p:cNvPr id="167" name="Google Shape;332;p48"/>
          <p:cNvPicPr/>
          <p:nvPr/>
        </p:nvPicPr>
        <p:blipFill>
          <a:blip r:embed="rId2"/>
          <a:stretch/>
        </p:blipFill>
        <p:spPr>
          <a:xfrm>
            <a:off x="486000" y="835560"/>
            <a:ext cx="8019360" cy="3674880"/>
          </a:xfrm>
          <a:prstGeom prst="rect">
            <a:avLst/>
          </a:prstGeom>
          <a:noFill/>
          <a:ln w="0">
            <a:noFill/>
          </a:ln>
        </p:spPr>
      </p:pic>
      <p:sp>
        <p:nvSpPr>
          <p:cNvPr id="168" name="TextBox 1"/>
          <p:cNvSpPr/>
          <p:nvPr/>
        </p:nvSpPr>
        <p:spPr>
          <a:xfrm>
            <a:off x="6727320" y="1337400"/>
            <a:ext cx="2081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Multitask code section</a:t>
            </a:r>
            <a:endParaRPr lang="en-US" sz="1400" b="0" u="none" strike="noStrike">
              <a:solidFill>
                <a:srgbClr val="000000"/>
              </a:solidFill>
              <a:effectLst/>
              <a:uFillTx/>
              <a:latin typeface="Arial"/>
            </a:endParaRPr>
          </a:p>
        </p:txBody>
      </p:sp>
      <p:cxnSp>
        <p:nvCxnSpPr>
          <p:cNvPr id="169" name="Straight Arrow Connector 2"/>
          <p:cNvCxnSpPr>
            <a:stCxn id="168" idx="1"/>
          </p:cNvCxnSpPr>
          <p:nvPr/>
        </p:nvCxnSpPr>
        <p:spPr>
          <a:xfrm flipH="1">
            <a:off x="4713120" y="1491120"/>
            <a:ext cx="2014560" cy="360"/>
          </a:xfrm>
          <a:prstGeom prst="straightConnector1">
            <a:avLst/>
          </a:prstGeom>
          <a:ln w="73025">
            <a:solidFill>
              <a:srgbClr val="000000"/>
            </a:solidFill>
            <a:roun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 sz="2500" b="0" u="none" strike="noStrike">
                <a:solidFill>
                  <a:schemeClr val="lt1"/>
                </a:solidFill>
                <a:effectLst/>
                <a:uFillTx/>
                <a:latin typeface="Arial"/>
                <a:ea typeface="Arial"/>
              </a:rPr>
              <a:t>pybricks_class_basic_task2()</a:t>
            </a:r>
            <a:endParaRPr lang="en-US" sz="2500" b="0" u="none" strike="noStrike">
              <a:solidFill>
                <a:srgbClr val="000000"/>
              </a:solidFill>
              <a:effectLst/>
              <a:uFillTx/>
              <a:latin typeface="Arial"/>
            </a:endParaRPr>
          </a:p>
        </p:txBody>
      </p:sp>
      <p:sp>
        <p:nvSpPr>
          <p:cNvPr id="171" name="PlaceHolder 2"/>
          <p:cNvSpPr>
            <a:spLocks noGrp="1"/>
          </p:cNvSpPr>
          <p:nvPr>
            <p:ph type="sldNum" idx="4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87B66CF-4575-4390-A161-E5FCC2EE2324}" type="slidenum">
              <a:rPr lang="en" sz="1000" b="0" u="none" strike="noStrike">
                <a:solidFill>
                  <a:schemeClr val="dk2"/>
                </a:solidFill>
                <a:effectLst/>
                <a:uFillTx/>
                <a:latin typeface="Arial"/>
                <a:ea typeface="Arial"/>
              </a:rPr>
              <a:t>29</a:t>
            </a:fld>
            <a:endParaRPr lang="en-US" sz="1000" b="0" u="none" strike="noStrike">
              <a:solidFill>
                <a:srgbClr val="000000"/>
              </a:solidFill>
              <a:effectLst/>
              <a:uFillTx/>
              <a:latin typeface="Times New Roman"/>
            </a:endParaRPr>
          </a:p>
        </p:txBody>
      </p:sp>
      <p:sp>
        <p:nvSpPr>
          <p:cNvPr id="172" name="TextBox 5"/>
          <p:cNvSpPr/>
          <p:nvPr/>
        </p:nvSpPr>
        <p:spPr>
          <a:xfrm>
            <a:off x="146520" y="720720"/>
            <a:ext cx="6858360" cy="362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201"/>
              </a:spcAft>
            </a:pPr>
            <a:r>
              <a:rPr lang="en-US" sz="1050" b="1" u="none" strike="noStrike">
                <a:solidFill>
                  <a:srgbClr val="008E00"/>
                </a:solidFill>
                <a:effectLst/>
                <a:uFillTx/>
                <a:latin typeface="Menlo"/>
                <a:ea typeface="Times New Roman"/>
              </a:rPr>
              <a:t># Pybricks Class Task 2</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C800A4"/>
                </a:solidFill>
                <a:effectLst/>
                <a:uFillTx/>
                <a:latin typeface="Menlo"/>
                <a:ea typeface="Times New Roman"/>
              </a:rPr>
              <a:t>from</a:t>
            </a:r>
            <a:r>
              <a:rPr lang="en-US" sz="1050" b="1" u="none" strike="noStrike">
                <a:solidFill>
                  <a:srgbClr val="000000"/>
                </a:solidFill>
                <a:effectLst/>
                <a:uFillTx/>
                <a:latin typeface="Menlo"/>
                <a:ea typeface="Times New Roman"/>
              </a:rPr>
              <a:t> pybricks_class_small_lib_rev3 </a:t>
            </a:r>
            <a:r>
              <a:rPr lang="en-US" sz="1050" b="1" u="none" strike="noStrike">
                <a:solidFill>
                  <a:srgbClr val="C800A4"/>
                </a:solidFill>
                <a:effectLst/>
                <a:uFillTx/>
                <a:latin typeface="Menlo"/>
                <a:ea typeface="Times New Roman"/>
              </a:rPr>
              <a:t>import</a:t>
            </a: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C800A4"/>
                </a:solidFill>
                <a:effectLst/>
                <a:uFillTx/>
                <a:latin typeface="Menlo"/>
                <a:ea typeface="Times New Roman"/>
              </a:rPr>
              <a:t>async</a:t>
            </a: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def</a:t>
            </a:r>
            <a:r>
              <a:rPr lang="en-US" sz="1050" b="1" u="none" strike="noStrike">
                <a:solidFill>
                  <a:srgbClr val="000000"/>
                </a:solidFill>
                <a:effectLst/>
                <a:uFillTx/>
                <a:latin typeface="Menlo"/>
                <a:ea typeface="Times New Roman"/>
              </a:rPr>
              <a:t> pybricks_class_task2():</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008E00"/>
                </a:solidFill>
                <a:effectLst/>
                <a:uFillTx/>
                <a:latin typeface="Menlo"/>
                <a:ea typeface="Times New Roman"/>
              </a:rPr>
              <a:t># Pybricks Class Block Coding Task2</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450084"/>
                </a:solidFill>
                <a:effectLst/>
                <a:uFillTx/>
                <a:latin typeface="Menlo"/>
                <a:ea typeface="Times New Roman"/>
              </a:rPr>
              <a:t>print</a:t>
            </a:r>
            <a:r>
              <a:rPr lang="en-US" sz="1050" b="1" u="none" strike="noStrike">
                <a:solidFill>
                  <a:srgbClr val="000000"/>
                </a:solidFill>
                <a:effectLst/>
                <a:uFillTx/>
                <a:latin typeface="Menlo"/>
                <a:ea typeface="Times New Roman"/>
              </a:rPr>
              <a:t>(</a:t>
            </a:r>
            <a:r>
              <a:rPr lang="en-US" sz="1050" b="1" u="none" strike="noStrike">
                <a:solidFill>
                  <a:srgbClr val="DF0002"/>
                </a:solidFill>
                <a:effectLst/>
                <a:uFillTx/>
                <a:latin typeface="Menlo"/>
                <a:ea typeface="Times New Roman"/>
              </a:rPr>
              <a:t>"Running Pybricks Class Task 2"</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drive_base.use_gyro(</a:t>
            </a:r>
            <a:r>
              <a:rPr lang="en-US" sz="1050" b="1" u="none" strike="noStrike">
                <a:solidFill>
                  <a:srgbClr val="C800A4"/>
                </a:solidFill>
                <a:effectLst/>
                <a:uFillTx/>
                <a:latin typeface="Menlo"/>
                <a:ea typeface="Times New Roman"/>
              </a:rPr>
              <a:t>True</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drive_base.settings(straight_speed=</a:t>
            </a:r>
            <a:r>
              <a:rPr lang="en-US" sz="1050" b="1" u="none" strike="noStrike">
                <a:solidFill>
                  <a:srgbClr val="3A00DC"/>
                </a:solidFill>
                <a:effectLst/>
                <a:uFillTx/>
                <a:latin typeface="Menlo"/>
                <a:ea typeface="Times New Roman"/>
              </a:rPr>
              <a:t>400</a:t>
            </a:r>
            <a:r>
              <a:rPr lang="en-US" sz="1050" b="1" u="none" strike="noStrike">
                <a:solidFill>
                  <a:srgbClr val="000000"/>
                </a:solidFill>
                <a:effectLst/>
                <a:uFillTx/>
                <a:latin typeface="Menlo"/>
                <a:ea typeface="Times New Roman"/>
              </a:rPr>
              <a:t>,straight_acceleration=</a:t>
            </a:r>
            <a:r>
              <a:rPr lang="en-US" sz="1050" b="1" u="none" strike="noStrike">
                <a:solidFill>
                  <a:srgbClr val="3A00DC"/>
                </a:solidFill>
                <a:effectLst/>
                <a:uFillTx/>
                <a:latin typeface="Menlo"/>
                <a:ea typeface="Times New Roman"/>
              </a:rPr>
              <a:t>950</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450084"/>
                </a:solidFill>
                <a:effectLst/>
                <a:uFillTx/>
                <a:latin typeface="Menlo"/>
                <a:ea typeface="Times New Roman"/>
              </a:rPr>
              <a:t>print</a:t>
            </a:r>
            <a:r>
              <a:rPr lang="en-US" sz="1050" b="1" u="none" strike="noStrike">
                <a:solidFill>
                  <a:srgbClr val="000000"/>
                </a:solidFill>
                <a:effectLst/>
                <a:uFillTx/>
                <a:latin typeface="Menlo"/>
                <a:ea typeface="Times New Roman"/>
              </a:rPr>
              <a:t>(</a:t>
            </a:r>
            <a:r>
              <a:rPr lang="en-US" sz="1050" b="1" u="none" strike="noStrike">
                <a:solidFill>
                  <a:srgbClr val="DF0002"/>
                </a:solidFill>
                <a:effectLst/>
                <a:uFillTx/>
                <a:latin typeface="Menlo"/>
                <a:ea typeface="Times New Roman"/>
              </a:rPr>
              <a:t>'Move forward then move attachment down'</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await</a:t>
            </a:r>
            <a:r>
              <a:rPr lang="en-US" sz="1050" b="1" u="none" strike="noStrike">
                <a:solidFill>
                  <a:srgbClr val="000000"/>
                </a:solidFill>
                <a:effectLst/>
                <a:uFillTx/>
                <a:latin typeface="Menlo"/>
                <a:ea typeface="Times New Roman"/>
              </a:rPr>
              <a:t> drive_base.straight(</a:t>
            </a:r>
            <a:r>
              <a:rPr lang="en-US" sz="1050" b="1" u="none" strike="noStrike">
                <a:solidFill>
                  <a:srgbClr val="3A00DC"/>
                </a:solidFill>
                <a:effectLst/>
                <a:uFillTx/>
                <a:latin typeface="Menlo"/>
                <a:ea typeface="Times New Roman"/>
              </a:rPr>
              <a:t>250</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await</a:t>
            </a:r>
            <a:r>
              <a:rPr lang="en-US" sz="1050" b="1" u="none" strike="noStrike">
                <a:solidFill>
                  <a:srgbClr val="000000"/>
                </a:solidFill>
                <a:effectLst/>
                <a:uFillTx/>
                <a:latin typeface="Menlo"/>
                <a:ea typeface="Times New Roman"/>
              </a:rPr>
              <a:t> attachment_motor.run_angle(</a:t>
            </a:r>
            <a:r>
              <a:rPr lang="en-US" sz="1050" b="1" u="none" strike="noStrike">
                <a:solidFill>
                  <a:srgbClr val="3A00DC"/>
                </a:solidFill>
                <a:effectLst/>
                <a:uFillTx/>
                <a:latin typeface="Menlo"/>
                <a:ea typeface="Times New Roman"/>
              </a:rPr>
              <a:t>2000</a:t>
            </a: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t>
            </a:r>
            <a:r>
              <a:rPr lang="en-US" sz="1050" b="1" u="none" strike="noStrike">
                <a:solidFill>
                  <a:srgbClr val="3A00DC"/>
                </a:solidFill>
                <a:effectLst/>
                <a:uFillTx/>
                <a:latin typeface="Menlo"/>
                <a:ea typeface="Times New Roman"/>
              </a:rPr>
              <a:t>210</a:t>
            </a:r>
            <a:r>
              <a:rPr lang="en-US" sz="1050" b="1" u="none" strike="noStrike">
                <a:solidFill>
                  <a:srgbClr val="000000"/>
                </a:solidFill>
                <a:effectLst/>
                <a:uFillTx/>
                <a:latin typeface="Menlo"/>
                <a:ea typeface="Times New Roman"/>
              </a:rPr>
              <a:t>, Stop.</a:t>
            </a:r>
            <a:r>
              <a:rPr lang="en-US" sz="1050" b="1" u="none" strike="noStrike">
                <a:solidFill>
                  <a:srgbClr val="450084"/>
                </a:solidFill>
                <a:effectLst/>
                <a:uFillTx/>
                <a:latin typeface="Menlo"/>
                <a:ea typeface="Times New Roman"/>
              </a:rPr>
              <a:t>COAST</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await</a:t>
            </a:r>
            <a:r>
              <a:rPr lang="en-US" sz="1050" b="1" u="none" strike="noStrike">
                <a:solidFill>
                  <a:srgbClr val="000000"/>
                </a:solidFill>
                <a:effectLst/>
                <a:uFillTx/>
                <a:latin typeface="Menlo"/>
                <a:ea typeface="Times New Roman"/>
              </a:rPr>
              <a:t> wait(</a:t>
            </a:r>
            <a:r>
              <a:rPr lang="en-US" sz="1050" b="1" u="none" strike="noStrike">
                <a:solidFill>
                  <a:srgbClr val="3A00DC"/>
                </a:solidFill>
                <a:effectLst/>
                <a:uFillTx/>
                <a:latin typeface="Menlo"/>
                <a:ea typeface="Times New Roman"/>
              </a:rPr>
              <a:t>1000</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450084"/>
                </a:solidFill>
                <a:effectLst/>
                <a:uFillTx/>
                <a:latin typeface="Menlo"/>
                <a:ea typeface="Times New Roman"/>
              </a:rPr>
              <a:t>print</a:t>
            </a:r>
            <a:r>
              <a:rPr lang="en-US" sz="1050" b="1" u="none" strike="noStrike">
                <a:solidFill>
                  <a:srgbClr val="000000"/>
                </a:solidFill>
                <a:effectLst/>
                <a:uFillTx/>
                <a:latin typeface="Menlo"/>
                <a:ea typeface="Times New Roman"/>
              </a:rPr>
              <a:t>(</a:t>
            </a:r>
            <a:r>
              <a:rPr lang="en-US" sz="1050" b="1" u="none" strike="noStrike">
                <a:solidFill>
                  <a:srgbClr val="DF0002"/>
                </a:solidFill>
                <a:effectLst/>
                <a:uFillTx/>
                <a:latin typeface="Menlo"/>
                <a:ea typeface="Times New Roman"/>
              </a:rPr>
              <a:t>'Move backward while moving the attachment up'</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C800A4"/>
                </a:solidFill>
                <a:effectLst/>
                <a:uFillTx/>
                <a:latin typeface="Menlo"/>
                <a:ea typeface="Times New Roman"/>
              </a:rPr>
              <a:t>await</a:t>
            </a:r>
            <a:r>
              <a:rPr lang="en-US" sz="1050" b="1" u="none" strike="noStrike">
                <a:solidFill>
                  <a:srgbClr val="000000"/>
                </a:solidFill>
                <a:effectLst/>
                <a:uFillTx/>
                <a:latin typeface="Menlo"/>
                <a:ea typeface="Times New Roman"/>
              </a:rPr>
              <a:t> multitask(</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drive_base.straight(</a:t>
            </a:r>
            <a:r>
              <a:rPr lang="en-US" sz="1050" b="1" u="none" strike="noStrike">
                <a:solidFill>
                  <a:srgbClr val="C800A4"/>
                </a:solidFill>
                <a:effectLst/>
                <a:uFillTx/>
                <a:latin typeface="Menlo"/>
                <a:ea typeface="Times New Roman"/>
              </a:rPr>
              <a:t>-</a:t>
            </a:r>
            <a:r>
              <a:rPr lang="en-US" sz="1050" b="1" u="none" strike="noStrike">
                <a:solidFill>
                  <a:srgbClr val="3A00DC"/>
                </a:solidFill>
                <a:effectLst/>
                <a:uFillTx/>
                <a:latin typeface="Menlo"/>
                <a:ea typeface="Times New Roman"/>
              </a:rPr>
              <a:t>250</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attachment_motor.run_angle(</a:t>
            </a:r>
            <a:r>
              <a:rPr lang="en-US" sz="1050" b="1" u="none" strike="noStrike">
                <a:solidFill>
                  <a:srgbClr val="3A00DC"/>
                </a:solidFill>
                <a:effectLst/>
                <a:uFillTx/>
                <a:latin typeface="Menlo"/>
                <a:ea typeface="Times New Roman"/>
              </a:rPr>
              <a:t>150</a:t>
            </a:r>
            <a:r>
              <a:rPr lang="en-US" sz="1050" b="1" u="none" strike="noStrike">
                <a:solidFill>
                  <a:srgbClr val="000000"/>
                </a:solidFill>
                <a:effectLst/>
                <a:uFillTx/>
                <a:latin typeface="Menlo"/>
                <a:ea typeface="Times New Roman"/>
              </a:rPr>
              <a:t>, </a:t>
            </a:r>
            <a:r>
              <a:rPr lang="en-US" sz="1050" b="1" u="none" strike="noStrike">
                <a:solidFill>
                  <a:srgbClr val="3A00DC"/>
                </a:solidFill>
                <a:effectLst/>
                <a:uFillTx/>
                <a:latin typeface="Menlo"/>
                <a:ea typeface="Times New Roman"/>
              </a:rPr>
              <a:t>210</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a:t>
            </a:r>
            <a:r>
              <a:rPr lang="en-US" sz="1050" b="1" u="none" strike="noStrike">
                <a:solidFill>
                  <a:srgbClr val="450084"/>
                </a:solidFill>
                <a:effectLst/>
                <a:uFillTx/>
                <a:latin typeface="Menlo"/>
                <a:ea typeface="Times New Roman"/>
              </a:rPr>
              <a:t>print</a:t>
            </a:r>
            <a:r>
              <a:rPr lang="en-US" sz="1050" b="1" u="none" strike="noStrike">
                <a:solidFill>
                  <a:srgbClr val="000000"/>
                </a:solidFill>
                <a:effectLst/>
                <a:uFillTx/>
                <a:latin typeface="Menlo"/>
                <a:ea typeface="Times New Roman"/>
              </a:rPr>
              <a:t>(</a:t>
            </a:r>
            <a:r>
              <a:rPr lang="en-US" sz="1050" b="1" u="none" strike="noStrike">
                <a:solidFill>
                  <a:srgbClr val="DF0002"/>
                </a:solidFill>
                <a:effectLst/>
                <a:uFillTx/>
                <a:latin typeface="Menlo"/>
                <a:ea typeface="Times New Roman"/>
              </a:rPr>
              <a:t>'Stop moving robot'</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0000"/>
                </a:solidFill>
                <a:effectLst/>
                <a:uFillTx/>
                <a:latin typeface="Menlo"/>
                <a:ea typeface="Times New Roman"/>
              </a:rPr>
              <a:t>    drive_base.use_gyro(</a:t>
            </a:r>
            <a:r>
              <a:rPr lang="en-US" sz="1050" b="1" u="none" strike="noStrike">
                <a:solidFill>
                  <a:srgbClr val="C800A4"/>
                </a:solidFill>
                <a:effectLst/>
                <a:uFillTx/>
                <a:latin typeface="Menlo"/>
                <a:ea typeface="Times New Roman"/>
              </a:rPr>
              <a:t>False</a:t>
            </a:r>
            <a:r>
              <a:rPr lang="en-US" sz="1050" b="1" u="none" strike="noStrike">
                <a:solidFill>
                  <a:srgbClr val="000000"/>
                </a:solidFill>
                <a:effectLst/>
                <a:uFillTx/>
                <a:latin typeface="Menlo"/>
                <a:ea typeface="Times New Roman"/>
              </a:rPr>
              <a:t>)</a:t>
            </a:r>
            <a:endParaRPr lang="en-US" sz="1050" b="0" u="none" strike="noStrike">
              <a:solidFill>
                <a:srgbClr val="000000"/>
              </a:solidFill>
              <a:effectLst/>
              <a:uFillTx/>
              <a:latin typeface="Arial"/>
            </a:endParaRPr>
          </a:p>
          <a:p>
            <a:pPr>
              <a:lnSpc>
                <a:spcPct val="100000"/>
              </a:lnSpc>
              <a:spcAft>
                <a:spcPts val="201"/>
              </a:spcAft>
            </a:pPr>
            <a:r>
              <a:rPr lang="en-US" sz="1050" b="1" u="none" strike="noStrike">
                <a:solidFill>
                  <a:srgbClr val="008E00"/>
                </a:solidFill>
                <a:effectLst/>
                <a:uFillTx/>
                <a:latin typeface="Menlo"/>
                <a:ea typeface="Times New Roman"/>
              </a:rPr>
              <a:t>#run_task(pybricks_class_task2())</a:t>
            </a:r>
            <a:endParaRPr lang="en-US" sz="1050" b="0" u="none" strike="noStrike">
              <a:solidFill>
                <a:srgbClr val="000000"/>
              </a:solidFill>
              <a:effectLst/>
              <a:uFillTx/>
              <a:latin typeface="Arial"/>
            </a:endParaRPr>
          </a:p>
        </p:txBody>
      </p:sp>
      <p:sp>
        <p:nvSpPr>
          <p:cNvPr id="173" name="TextBox 6"/>
          <p:cNvSpPr/>
          <p:nvPr/>
        </p:nvSpPr>
        <p:spPr>
          <a:xfrm>
            <a:off x="5864760" y="3255480"/>
            <a:ext cx="2081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Multitask code</a:t>
            </a:r>
            <a:endParaRPr lang="en-US" sz="1400" b="0" u="none" strike="noStrike">
              <a:solidFill>
                <a:srgbClr val="000000"/>
              </a:solidFill>
              <a:effectLst/>
              <a:uFillTx/>
              <a:latin typeface="Arial"/>
            </a:endParaRPr>
          </a:p>
        </p:txBody>
      </p:sp>
      <p:cxnSp>
        <p:nvCxnSpPr>
          <p:cNvPr id="174" name="Straight Arrow Connector 7"/>
          <p:cNvCxnSpPr>
            <a:stCxn id="173" idx="1"/>
          </p:cNvCxnSpPr>
          <p:nvPr/>
        </p:nvCxnSpPr>
        <p:spPr>
          <a:xfrm flipH="1">
            <a:off x="3850560" y="3409200"/>
            <a:ext cx="2014560" cy="360"/>
          </a:xfrm>
          <a:prstGeom prst="straightConnector1">
            <a:avLst/>
          </a:prstGeom>
          <a:ln w="73025">
            <a:solidFill>
              <a:srgbClr val="000000"/>
            </a:solidFill>
            <a:roun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pybricks_class_bc_task3(): Part 1</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176" name="PlaceHolder 2"/>
          <p:cNvSpPr>
            <a:spLocks noGrp="1"/>
          </p:cNvSpPr>
          <p:nvPr>
            <p:ph type="sldNum" idx="4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A626155-A2FF-479D-8593-B81A34425C23}" type="slidenum">
              <a:rPr lang="en" sz="1000" b="0" u="none" strike="noStrike">
                <a:solidFill>
                  <a:schemeClr val="dk2"/>
                </a:solidFill>
                <a:effectLst/>
                <a:uFillTx/>
                <a:latin typeface="Arial"/>
                <a:ea typeface="Arial"/>
              </a:rPr>
              <a:t>30</a:t>
            </a:fld>
            <a:endParaRPr lang="en-US" sz="1000" b="0" u="none" strike="noStrike">
              <a:solidFill>
                <a:srgbClr val="000000"/>
              </a:solidFill>
              <a:effectLst/>
              <a:uFillTx/>
              <a:latin typeface="Times New Roman"/>
            </a:endParaRPr>
          </a:p>
        </p:txBody>
      </p:sp>
      <p:pic>
        <p:nvPicPr>
          <p:cNvPr id="177" name="Google Shape;346;p50"/>
          <p:cNvPicPr/>
          <p:nvPr/>
        </p:nvPicPr>
        <p:blipFill>
          <a:blip r:embed="rId2"/>
          <a:stretch/>
        </p:blipFill>
        <p:spPr>
          <a:xfrm>
            <a:off x="964800" y="845280"/>
            <a:ext cx="7788240" cy="4036320"/>
          </a:xfrm>
          <a:prstGeom prst="rect">
            <a:avLst/>
          </a:prstGeom>
          <a:noFill/>
          <a:ln w="0">
            <a:noFill/>
          </a:ln>
        </p:spPr>
      </p:pic>
      <p:sp>
        <p:nvSpPr>
          <p:cNvPr id="178" name="TextBox 1"/>
          <p:cNvSpPr/>
          <p:nvPr/>
        </p:nvSpPr>
        <p:spPr>
          <a:xfrm>
            <a:off x="5836680" y="3705480"/>
            <a:ext cx="208152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 a variable for how far to move</a:t>
            </a:r>
            <a:endParaRPr lang="en-US" sz="1400" b="0" u="none" strike="noStrike">
              <a:solidFill>
                <a:srgbClr val="000000"/>
              </a:solidFill>
              <a:effectLst/>
              <a:uFillTx/>
              <a:latin typeface="Arial"/>
            </a:endParaRPr>
          </a:p>
        </p:txBody>
      </p:sp>
      <p:cxnSp>
        <p:nvCxnSpPr>
          <p:cNvPr id="179" name="Straight Arrow Connector 3"/>
          <p:cNvCxnSpPr>
            <a:stCxn id="178" idx="1"/>
          </p:cNvCxnSpPr>
          <p:nvPr/>
        </p:nvCxnSpPr>
        <p:spPr>
          <a:xfrm flipH="1" flipV="1">
            <a:off x="4104720" y="3553200"/>
            <a:ext cx="1732320" cy="414000"/>
          </a:xfrm>
          <a:prstGeom prst="straightConnector1">
            <a:avLst/>
          </a:prstGeom>
          <a:ln w="73025">
            <a:solidFill>
              <a:srgbClr val="000000"/>
            </a:solidFill>
            <a:roun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pybricks_class_bc_task3(): Part 2</a:t>
            </a:r>
            <a:endParaRPr lang="en-US" sz="2500" b="0" u="none" strike="noStrike">
              <a:solidFill>
                <a:srgbClr val="000000"/>
              </a:solidFill>
              <a:effectLst/>
              <a:uFillTx/>
              <a:latin typeface="Arial"/>
            </a:endParaRPr>
          </a:p>
          <a:p>
            <a:pPr indent="0" algn="l">
              <a:lnSpc>
                <a:spcPct val="100000"/>
              </a:lnSpc>
              <a:buNone/>
              <a:tabLst>
                <a:tab pos="0" algn="l"/>
              </a:tabLst>
            </a:pPr>
            <a:endParaRPr lang="en-US" sz="2500" b="0" u="none" strike="noStrike">
              <a:solidFill>
                <a:srgbClr val="000000"/>
              </a:solidFill>
              <a:effectLst/>
              <a:uFillTx/>
              <a:latin typeface="Arial"/>
            </a:endParaRPr>
          </a:p>
        </p:txBody>
      </p:sp>
      <p:sp>
        <p:nvSpPr>
          <p:cNvPr id="181" name="PlaceHolder 2"/>
          <p:cNvSpPr>
            <a:spLocks noGrp="1"/>
          </p:cNvSpPr>
          <p:nvPr>
            <p:ph type="sldNum" idx="4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284B4DC-BFE1-4364-ACC1-D805DEAC1599}" type="slidenum">
              <a:rPr lang="en" sz="1000" b="0" u="none" strike="noStrike">
                <a:solidFill>
                  <a:schemeClr val="dk2"/>
                </a:solidFill>
                <a:effectLst/>
                <a:uFillTx/>
                <a:latin typeface="Arial"/>
                <a:ea typeface="Arial"/>
              </a:rPr>
              <a:t>31</a:t>
            </a:fld>
            <a:endParaRPr lang="en-US" sz="1000" b="0" u="none" strike="noStrike">
              <a:solidFill>
                <a:srgbClr val="000000"/>
              </a:solidFill>
              <a:effectLst/>
              <a:uFillTx/>
              <a:latin typeface="Times New Roman"/>
            </a:endParaRPr>
          </a:p>
        </p:txBody>
      </p:sp>
      <p:pic>
        <p:nvPicPr>
          <p:cNvPr id="182" name="Google Shape;353;p51"/>
          <p:cNvPicPr/>
          <p:nvPr/>
        </p:nvPicPr>
        <p:blipFill>
          <a:blip r:embed="rId2"/>
          <a:stretch/>
        </p:blipFill>
        <p:spPr>
          <a:xfrm>
            <a:off x="218880" y="682920"/>
            <a:ext cx="7950240" cy="3916440"/>
          </a:xfrm>
          <a:prstGeom prst="rect">
            <a:avLst/>
          </a:prstGeom>
          <a:noFill/>
          <a:ln w="0">
            <a:noFill/>
          </a:ln>
        </p:spPr>
      </p:pic>
      <p:sp>
        <p:nvSpPr>
          <p:cNvPr id="183" name="TextBox 1"/>
          <p:cNvSpPr/>
          <p:nvPr/>
        </p:nvSpPr>
        <p:spPr>
          <a:xfrm>
            <a:off x="6843240" y="1333440"/>
            <a:ext cx="170712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Use the variable in  </a:t>
            </a:r>
            <a:r>
              <a:rPr lang="en-US" sz="1400" b="1" u="none" strike="noStrike">
                <a:solidFill>
                  <a:srgbClr val="C00000"/>
                </a:solidFill>
                <a:effectLst/>
                <a:uFillTx/>
                <a:latin typeface="Arial"/>
                <a:ea typeface="Arial"/>
              </a:rPr>
              <a:t>RED</a:t>
            </a:r>
            <a:r>
              <a:rPr lang="en-US" sz="1400" b="0" u="none" strike="noStrike">
                <a:solidFill>
                  <a:srgbClr val="000000"/>
                </a:solidFill>
                <a:effectLst/>
                <a:uFillTx/>
                <a:latin typeface="Arial"/>
                <a:ea typeface="Arial"/>
              </a:rPr>
              <a:t> ovals</a:t>
            </a:r>
            <a:endParaRPr lang="en-US" sz="1400" b="0" u="none" strike="noStrike">
              <a:solidFill>
                <a:srgbClr val="000000"/>
              </a:solidFill>
              <a:effectLst/>
              <a:uFillTx/>
              <a:latin typeface="Arial"/>
            </a:endParaRPr>
          </a:p>
        </p:txBody>
      </p:sp>
      <p:cxnSp>
        <p:nvCxnSpPr>
          <p:cNvPr id="184" name="Straight Arrow Connector 2"/>
          <p:cNvCxnSpPr>
            <a:stCxn id="183" idx="2"/>
          </p:cNvCxnSpPr>
          <p:nvPr/>
        </p:nvCxnSpPr>
        <p:spPr>
          <a:xfrm flipH="1">
            <a:off x="5671080" y="1856160"/>
            <a:ext cx="2026080" cy="573480"/>
          </a:xfrm>
          <a:prstGeom prst="straightConnector1">
            <a:avLst/>
          </a:prstGeom>
          <a:ln w="73025">
            <a:solidFill>
              <a:srgbClr val="000000"/>
            </a:solidFill>
            <a:round/>
            <a:tailEnd type="triangle" w="med" len="med"/>
          </a:ln>
        </p:spPr>
      </p:cxnSp>
      <p:sp>
        <p:nvSpPr>
          <p:cNvPr id="185" name="TextBox 5"/>
          <p:cNvSpPr/>
          <p:nvPr/>
        </p:nvSpPr>
        <p:spPr>
          <a:xfrm>
            <a:off x="6566040" y="3360600"/>
            <a:ext cx="23583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Changed value of variable</a:t>
            </a:r>
            <a:endParaRPr lang="en-US" sz="1400" b="0" u="none" strike="noStrike">
              <a:solidFill>
                <a:srgbClr val="000000"/>
              </a:solidFill>
              <a:effectLst/>
              <a:uFillTx/>
              <a:latin typeface="Arial"/>
            </a:endParaRPr>
          </a:p>
        </p:txBody>
      </p:sp>
      <p:cxnSp>
        <p:nvCxnSpPr>
          <p:cNvPr id="186" name="Straight Arrow Connector 6"/>
          <p:cNvCxnSpPr>
            <a:stCxn id="185" idx="1"/>
          </p:cNvCxnSpPr>
          <p:nvPr/>
        </p:nvCxnSpPr>
        <p:spPr>
          <a:xfrm flipH="1">
            <a:off x="3929760" y="3514320"/>
            <a:ext cx="2636640" cy="360"/>
          </a:xfrm>
          <a:prstGeom prst="straightConnector1">
            <a:avLst/>
          </a:prstGeom>
          <a:ln w="73025">
            <a:solidFill>
              <a:srgbClr val="000000"/>
            </a:solidFill>
            <a:round/>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pybricks_class_bc_task3(): Part 3</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188" name="PlaceHolder 2"/>
          <p:cNvSpPr>
            <a:spLocks noGrp="1"/>
          </p:cNvSpPr>
          <p:nvPr>
            <p:ph type="sldNum" idx="4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411DF7B7-7BF4-45F6-93C6-1EB887191F30}" type="slidenum">
              <a:rPr lang="en" sz="1000" b="0" u="none" strike="noStrike">
                <a:solidFill>
                  <a:schemeClr val="dk2"/>
                </a:solidFill>
                <a:effectLst/>
                <a:uFillTx/>
                <a:latin typeface="Arial"/>
                <a:ea typeface="Arial"/>
              </a:rPr>
              <a:t>32</a:t>
            </a:fld>
            <a:endParaRPr lang="en-US" sz="1000" b="0" u="none" strike="noStrike">
              <a:solidFill>
                <a:srgbClr val="000000"/>
              </a:solidFill>
              <a:effectLst/>
              <a:uFillTx/>
              <a:latin typeface="Times New Roman"/>
            </a:endParaRPr>
          </a:p>
        </p:txBody>
      </p:sp>
      <p:pic>
        <p:nvPicPr>
          <p:cNvPr id="189" name="Google Shape;360;p52"/>
          <p:cNvPicPr/>
          <p:nvPr/>
        </p:nvPicPr>
        <p:blipFill>
          <a:blip r:embed="rId2"/>
          <a:stretch/>
        </p:blipFill>
        <p:spPr>
          <a:xfrm>
            <a:off x="792720" y="763920"/>
            <a:ext cx="7727760" cy="3898800"/>
          </a:xfrm>
          <a:prstGeom prst="rect">
            <a:avLst/>
          </a:prstGeom>
          <a:noFill/>
          <a:ln w="0">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 sz="2500" b="0" u="none" strike="noStrike">
                <a:solidFill>
                  <a:schemeClr val="lt1"/>
                </a:solidFill>
                <a:effectLst/>
                <a:uFillTx/>
                <a:latin typeface="Arial"/>
                <a:ea typeface="Arial"/>
              </a:rPr>
              <a:t>pybricks_class_basic_task3()</a:t>
            </a:r>
            <a:endParaRPr lang="en-US" sz="2500" b="0" u="none" strike="noStrike">
              <a:solidFill>
                <a:srgbClr val="000000"/>
              </a:solidFill>
              <a:effectLst/>
              <a:uFillTx/>
              <a:latin typeface="Arial"/>
            </a:endParaRPr>
          </a:p>
        </p:txBody>
      </p:sp>
      <p:sp>
        <p:nvSpPr>
          <p:cNvPr id="191" name="PlaceHolder 2"/>
          <p:cNvSpPr>
            <a:spLocks noGrp="1"/>
          </p:cNvSpPr>
          <p:nvPr>
            <p:ph type="sldNum" idx="4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B1AC2F4-66E0-4FD6-985E-0FCC370BB827}" type="slidenum">
              <a:rPr lang="en" sz="1000" b="0" u="none" strike="noStrike">
                <a:solidFill>
                  <a:schemeClr val="dk2"/>
                </a:solidFill>
                <a:effectLst/>
                <a:uFillTx/>
                <a:latin typeface="Arial"/>
                <a:ea typeface="Arial"/>
              </a:rPr>
              <a:t>33</a:t>
            </a:fld>
            <a:endParaRPr lang="en-US" sz="1000" b="0" u="none" strike="noStrike">
              <a:solidFill>
                <a:srgbClr val="000000"/>
              </a:solidFill>
              <a:effectLst/>
              <a:uFillTx/>
              <a:latin typeface="Times New Roman"/>
            </a:endParaRPr>
          </a:p>
        </p:txBody>
      </p:sp>
      <p:sp>
        <p:nvSpPr>
          <p:cNvPr id="192" name="TextBox 5"/>
          <p:cNvSpPr/>
          <p:nvPr/>
        </p:nvSpPr>
        <p:spPr>
          <a:xfrm>
            <a:off x="146520" y="768600"/>
            <a:ext cx="6662520" cy="364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201"/>
              </a:spcAft>
            </a:pPr>
            <a:r>
              <a:rPr lang="en-US" sz="1200" b="1" u="none" strike="noStrike">
                <a:solidFill>
                  <a:srgbClr val="008E00"/>
                </a:solidFill>
                <a:effectLst/>
                <a:uFillTx/>
                <a:latin typeface="Menlo"/>
                <a:ea typeface="Times New Roman"/>
              </a:rPr>
              <a:t># Pybricks Class Task 3</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C800A4"/>
                </a:solidFill>
                <a:effectLst/>
                <a:uFillTx/>
                <a:latin typeface="Menlo"/>
                <a:ea typeface="Times New Roman"/>
              </a:rPr>
              <a:t>from</a:t>
            </a:r>
            <a:r>
              <a:rPr lang="en-US" sz="1200" b="1" u="none" strike="noStrike">
                <a:solidFill>
                  <a:srgbClr val="000000"/>
                </a:solidFill>
                <a:effectLst/>
                <a:uFillTx/>
                <a:latin typeface="Menlo"/>
                <a:ea typeface="Times New Roman"/>
              </a:rPr>
              <a:t> pybricks_class_small_lib_rev3 </a:t>
            </a:r>
            <a:r>
              <a:rPr lang="en-US" sz="1200" b="1" u="none" strike="noStrike">
                <a:solidFill>
                  <a:srgbClr val="C800A4"/>
                </a:solidFill>
                <a:effectLst/>
                <a:uFillTx/>
                <a:latin typeface="Menlo"/>
                <a:ea typeface="Times New Roman"/>
              </a:rPr>
              <a:t>import</a:t>
            </a:r>
            <a:r>
              <a:rPr lang="en-US" sz="1200" b="1" u="none" strike="noStrike">
                <a:solidFill>
                  <a:srgbClr val="000000"/>
                </a:solidFill>
                <a:effectLst/>
                <a:uFillTx/>
                <a:latin typeface="Menlo"/>
                <a:ea typeface="Times New Roman"/>
              </a:rPr>
              <a:t> </a:t>
            </a:r>
            <a:r>
              <a:rPr lang="en-US" sz="1200" b="1" u="none" strike="noStrike">
                <a:solidFill>
                  <a:srgbClr val="C800A4"/>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C800A4"/>
                </a:solidFill>
                <a:effectLst/>
                <a:uFillTx/>
                <a:latin typeface="Menlo"/>
                <a:ea typeface="Times New Roman"/>
              </a:rPr>
              <a:t>async</a:t>
            </a:r>
            <a:r>
              <a:rPr lang="en-US" sz="1200" b="1" u="none" strike="noStrike">
                <a:solidFill>
                  <a:srgbClr val="000000"/>
                </a:solidFill>
                <a:effectLst/>
                <a:uFillTx/>
                <a:latin typeface="Menlo"/>
                <a:ea typeface="Times New Roman"/>
              </a:rPr>
              <a:t> </a:t>
            </a:r>
            <a:r>
              <a:rPr lang="en-US" sz="1200" b="1" u="none" strike="noStrike">
                <a:solidFill>
                  <a:srgbClr val="C800A4"/>
                </a:solidFill>
                <a:effectLst/>
                <a:uFillTx/>
                <a:latin typeface="Menlo"/>
                <a:ea typeface="Times New Roman"/>
              </a:rPr>
              <a:t>def</a:t>
            </a:r>
            <a:r>
              <a:rPr lang="en-US" sz="1200" b="1" u="none" strike="noStrike">
                <a:solidFill>
                  <a:srgbClr val="000000"/>
                </a:solidFill>
                <a:effectLst/>
                <a:uFillTx/>
                <a:latin typeface="Menlo"/>
                <a:ea typeface="Times New Roman"/>
              </a:rPr>
              <a:t> pybricks_class_task3():</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008E00"/>
                </a:solidFill>
                <a:effectLst/>
                <a:uFillTx/>
                <a:latin typeface="Menlo"/>
                <a:ea typeface="Times New Roman"/>
              </a:rPr>
              <a:t># Pybricks Class Block Coding Task3</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450084"/>
                </a:solidFill>
                <a:effectLst/>
                <a:uFillTx/>
                <a:latin typeface="Menlo"/>
                <a:ea typeface="Times New Roman"/>
              </a:rPr>
              <a:t>print</a:t>
            </a:r>
            <a:r>
              <a:rPr lang="en-US" sz="1200" b="1" u="none" strike="noStrike">
                <a:solidFill>
                  <a:srgbClr val="000000"/>
                </a:solidFill>
                <a:effectLst/>
                <a:uFillTx/>
                <a:latin typeface="Menlo"/>
                <a:ea typeface="Times New Roman"/>
              </a:rPr>
              <a:t>(</a:t>
            </a:r>
            <a:r>
              <a:rPr lang="en-US" sz="1200" b="1" u="none" strike="noStrike">
                <a:solidFill>
                  <a:srgbClr val="DF0002"/>
                </a:solidFill>
                <a:effectLst/>
                <a:uFillTx/>
                <a:latin typeface="Menlo"/>
                <a:ea typeface="Times New Roman"/>
              </a:rPr>
              <a:t>"Running Pybricks Class Task 3"</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distance_to_move = </a:t>
            </a:r>
            <a:r>
              <a:rPr lang="en-US" sz="1200" b="1" u="none" strike="noStrike">
                <a:solidFill>
                  <a:srgbClr val="3A00DC"/>
                </a:solidFill>
                <a:effectLst/>
                <a:uFillTx/>
                <a:latin typeface="Menlo"/>
                <a:ea typeface="Times New Roman"/>
              </a:rPr>
              <a:t>400</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drive_base.settings(straight_speed=</a:t>
            </a:r>
            <a:r>
              <a:rPr lang="en-US" sz="1200" b="1" u="none" strike="noStrike">
                <a:solidFill>
                  <a:srgbClr val="3A00DC"/>
                </a:solidFill>
                <a:effectLst/>
                <a:uFillTx/>
                <a:latin typeface="Menlo"/>
                <a:ea typeface="Times New Roman"/>
              </a:rPr>
              <a:t>200</a:t>
            </a:r>
            <a:r>
              <a:rPr lang="en-US" sz="1200" b="1" u="none" strike="noStrike">
                <a:solidFill>
                  <a:srgbClr val="000000"/>
                </a:solidFill>
                <a:effectLst/>
                <a:uFillTx/>
                <a:latin typeface="Menlo"/>
                <a:ea typeface="Times New Roman"/>
              </a:rPr>
              <a:t>, straight_acceleration=</a:t>
            </a:r>
            <a:r>
              <a:rPr lang="en-US" sz="1200" b="1" u="none" strike="noStrike">
                <a:solidFill>
                  <a:srgbClr val="3A00DC"/>
                </a:solidFill>
                <a:effectLst/>
                <a:uFillTx/>
                <a:latin typeface="Menlo"/>
                <a:ea typeface="Times New Roman"/>
              </a:rPr>
              <a:t>600</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450084"/>
                </a:solidFill>
                <a:effectLst/>
                <a:uFillTx/>
                <a:latin typeface="Menlo"/>
                <a:ea typeface="Times New Roman"/>
              </a:rPr>
              <a:t>print</a:t>
            </a:r>
            <a:r>
              <a:rPr lang="en-US" sz="1200" b="1" u="none" strike="noStrike">
                <a:solidFill>
                  <a:srgbClr val="000000"/>
                </a:solidFill>
                <a:effectLst/>
                <a:uFillTx/>
                <a:latin typeface="Menlo"/>
                <a:ea typeface="Times New Roman"/>
              </a:rPr>
              <a:t>(</a:t>
            </a:r>
            <a:r>
              <a:rPr lang="en-US" sz="1200" b="1" u="none" strike="noStrike">
                <a:solidFill>
                  <a:srgbClr val="DF0002"/>
                </a:solidFill>
                <a:effectLst/>
                <a:uFillTx/>
                <a:latin typeface="Menlo"/>
                <a:ea typeface="Times New Roman"/>
              </a:rPr>
              <a:t>'Drive Forward by'</a:t>
            </a:r>
            <a:r>
              <a:rPr lang="en-US" sz="1200" b="1" u="none" strike="noStrike">
                <a:solidFill>
                  <a:srgbClr val="000000"/>
                </a:solidFill>
                <a:effectLst/>
                <a:uFillTx/>
                <a:latin typeface="Menlo"/>
                <a:ea typeface="Times New Roman"/>
              </a:rPr>
              <a:t>, distance_to_move, </a:t>
            </a:r>
            <a:r>
              <a:rPr lang="en-US" sz="1200" b="1" u="none" strike="noStrike">
                <a:solidFill>
                  <a:srgbClr val="DF0002"/>
                </a:solidFill>
                <a:effectLst/>
                <a:uFillTx/>
                <a:latin typeface="Menlo"/>
                <a:ea typeface="Times New Roman"/>
              </a:rPr>
              <a:t>'mm'</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C800A4"/>
                </a:solidFill>
                <a:effectLst/>
                <a:uFillTx/>
                <a:latin typeface="Menlo"/>
                <a:ea typeface="Times New Roman"/>
              </a:rPr>
              <a:t>await</a:t>
            </a:r>
            <a:r>
              <a:rPr lang="en-US" sz="1200" b="1" u="none" strike="noStrike">
                <a:solidFill>
                  <a:srgbClr val="000000"/>
                </a:solidFill>
                <a:effectLst/>
                <a:uFillTx/>
                <a:latin typeface="Menlo"/>
                <a:ea typeface="Times New Roman"/>
              </a:rPr>
              <a:t> drive_base.straight(distance_to_move, then=Stop.</a:t>
            </a:r>
            <a:r>
              <a:rPr lang="en-US" sz="1200" b="1" u="none" strike="noStrike">
                <a:solidFill>
                  <a:srgbClr val="450084"/>
                </a:solidFill>
                <a:effectLst/>
                <a:uFillTx/>
                <a:latin typeface="Menlo"/>
                <a:ea typeface="Times New Roman"/>
              </a:rPr>
              <a:t>BRAKE</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distance_to_move = </a:t>
            </a:r>
            <a:r>
              <a:rPr lang="en-US" sz="1200" b="1" u="none" strike="noStrike">
                <a:solidFill>
                  <a:srgbClr val="C800A4"/>
                </a:solidFill>
                <a:effectLst/>
                <a:uFillTx/>
                <a:latin typeface="Menlo"/>
                <a:ea typeface="Times New Roman"/>
              </a:rPr>
              <a:t>-</a:t>
            </a:r>
            <a:r>
              <a:rPr lang="en-US" sz="1200" b="1" u="none" strike="noStrike">
                <a:solidFill>
                  <a:srgbClr val="3A00DC"/>
                </a:solidFill>
                <a:effectLst/>
                <a:uFillTx/>
                <a:latin typeface="Menlo"/>
                <a:ea typeface="Times New Roman"/>
              </a:rPr>
              <a:t>350</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450084"/>
                </a:solidFill>
                <a:effectLst/>
                <a:uFillTx/>
                <a:latin typeface="Menlo"/>
                <a:ea typeface="Times New Roman"/>
              </a:rPr>
              <a:t>print</a:t>
            </a:r>
            <a:r>
              <a:rPr lang="en-US" sz="1200" b="1" u="none" strike="noStrike">
                <a:solidFill>
                  <a:srgbClr val="000000"/>
                </a:solidFill>
                <a:effectLst/>
                <a:uFillTx/>
                <a:latin typeface="Menlo"/>
                <a:ea typeface="Times New Roman"/>
              </a:rPr>
              <a:t>(</a:t>
            </a:r>
            <a:r>
              <a:rPr lang="en-US" sz="1200" b="1" u="none" strike="noStrike">
                <a:solidFill>
                  <a:srgbClr val="DF0002"/>
                </a:solidFill>
                <a:effectLst/>
                <a:uFillTx/>
                <a:latin typeface="Menlo"/>
                <a:ea typeface="Times New Roman"/>
              </a:rPr>
              <a:t>'Drive Backward by'</a:t>
            </a:r>
            <a:r>
              <a:rPr lang="en-US" sz="1200" b="1" u="none" strike="noStrike">
                <a:solidFill>
                  <a:srgbClr val="000000"/>
                </a:solidFill>
                <a:effectLst/>
                <a:uFillTx/>
                <a:latin typeface="Menlo"/>
                <a:ea typeface="Times New Roman"/>
              </a:rPr>
              <a:t>, distance_to_move, </a:t>
            </a:r>
            <a:r>
              <a:rPr lang="en-US" sz="1200" b="1" u="none" strike="noStrike">
                <a:solidFill>
                  <a:srgbClr val="DF0002"/>
                </a:solidFill>
                <a:effectLst/>
                <a:uFillTx/>
                <a:latin typeface="Menlo"/>
                <a:ea typeface="Times New Roman"/>
              </a:rPr>
              <a:t>'mm'</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C800A4"/>
                </a:solidFill>
                <a:effectLst/>
                <a:uFillTx/>
                <a:latin typeface="Menlo"/>
                <a:ea typeface="Times New Roman"/>
              </a:rPr>
              <a:t>await</a:t>
            </a:r>
            <a:r>
              <a:rPr lang="en-US" sz="1200" b="1" u="none" strike="noStrike">
                <a:solidFill>
                  <a:srgbClr val="000000"/>
                </a:solidFill>
                <a:effectLst/>
                <a:uFillTx/>
                <a:latin typeface="Menlo"/>
                <a:ea typeface="Times New Roman"/>
              </a:rPr>
              <a:t> drive_base.straight(distance_to_move, then=Stop.</a:t>
            </a:r>
            <a:r>
              <a:rPr lang="en-US" sz="1200" b="1" u="none" strike="noStrike">
                <a:solidFill>
                  <a:srgbClr val="450084"/>
                </a:solidFill>
                <a:effectLst/>
                <a:uFillTx/>
                <a:latin typeface="Menlo"/>
                <a:ea typeface="Times New Roman"/>
              </a:rPr>
              <a:t>BRAKE</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450084"/>
                </a:solidFill>
                <a:effectLst/>
                <a:uFillTx/>
                <a:latin typeface="Menlo"/>
                <a:ea typeface="Times New Roman"/>
              </a:rPr>
              <a:t>print</a:t>
            </a:r>
            <a:r>
              <a:rPr lang="en-US" sz="1200" b="1" u="none" strike="noStrike">
                <a:solidFill>
                  <a:srgbClr val="000000"/>
                </a:solidFill>
                <a:effectLst/>
                <a:uFillTx/>
                <a:latin typeface="Menlo"/>
                <a:ea typeface="Times New Roman"/>
              </a:rPr>
              <a:t>(</a:t>
            </a:r>
            <a:r>
              <a:rPr lang="en-US" sz="1200" b="1" u="none" strike="noStrike">
                <a:solidFill>
                  <a:srgbClr val="DF0002"/>
                </a:solidFill>
                <a:effectLst/>
                <a:uFillTx/>
                <a:latin typeface="Menlo"/>
                <a:ea typeface="Times New Roman"/>
              </a:rPr>
              <a:t>'Stop and move attachment'</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attachment_motor.control.limits(speed=</a:t>
            </a:r>
            <a:r>
              <a:rPr lang="en-US" sz="1200" b="1" u="none" strike="noStrike">
                <a:solidFill>
                  <a:srgbClr val="3A00DC"/>
                </a:solidFill>
                <a:effectLst/>
                <a:uFillTx/>
                <a:latin typeface="Menlo"/>
                <a:ea typeface="Times New Roman"/>
              </a:rPr>
              <a:t>950</a:t>
            </a:r>
            <a:r>
              <a:rPr lang="en-US" sz="1200" b="1" u="none" strike="noStrike">
                <a:solidFill>
                  <a:srgbClr val="000000"/>
                </a:solidFill>
                <a:effectLst/>
                <a:uFillTx/>
                <a:latin typeface="Menlo"/>
                <a:ea typeface="Times New Roman"/>
              </a:rPr>
              <a:t>,acceleration=</a:t>
            </a:r>
            <a:r>
              <a:rPr lang="en-US" sz="1200" b="1" u="none" strike="noStrike">
                <a:solidFill>
                  <a:srgbClr val="3A00DC"/>
                </a:solidFill>
                <a:effectLst/>
                <a:uFillTx/>
                <a:latin typeface="Menlo"/>
                <a:ea typeface="Times New Roman"/>
              </a:rPr>
              <a:t>950</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a:t>
            </a:r>
            <a:r>
              <a:rPr lang="en-US" sz="1200" b="1" u="none" strike="noStrike">
                <a:solidFill>
                  <a:srgbClr val="450084"/>
                </a:solidFill>
                <a:effectLst/>
                <a:uFillTx/>
                <a:latin typeface="Menlo"/>
                <a:ea typeface="Times New Roman"/>
              </a:rPr>
              <a:t>print</a:t>
            </a:r>
            <a:r>
              <a:rPr lang="en-US" sz="1200" b="1" u="none" strike="noStrike">
                <a:solidFill>
                  <a:srgbClr val="000000"/>
                </a:solidFill>
                <a:effectLst/>
                <a:uFillTx/>
                <a:latin typeface="Menlo"/>
                <a:ea typeface="Times New Roman"/>
              </a:rPr>
              <a:t>(</a:t>
            </a:r>
            <a:r>
              <a:rPr lang="en-US" sz="1200" b="1" u="none" strike="noStrike">
                <a:solidFill>
                  <a:srgbClr val="DF0002"/>
                </a:solidFill>
                <a:effectLst/>
                <a:uFillTx/>
                <a:latin typeface="Menlo"/>
                <a:ea typeface="Times New Roman"/>
              </a:rPr>
              <a:t>'Stop Robot'</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0000"/>
                </a:solidFill>
                <a:effectLst/>
                <a:uFillTx/>
                <a:latin typeface="Menlo"/>
                <a:ea typeface="Times New Roman"/>
              </a:rPr>
              <a:t>    drive_base.use_gyro(</a:t>
            </a:r>
            <a:r>
              <a:rPr lang="en-US" sz="1200" b="1" u="none" strike="noStrike">
                <a:solidFill>
                  <a:srgbClr val="C800A4"/>
                </a:solidFill>
                <a:effectLst/>
                <a:uFillTx/>
                <a:latin typeface="Menlo"/>
                <a:ea typeface="Times New Roman"/>
              </a:rPr>
              <a:t>False</a:t>
            </a:r>
            <a:r>
              <a:rPr lang="en-US" sz="1200" b="1" u="none" strike="noStrike">
                <a:solidFill>
                  <a:srgbClr val="000000"/>
                </a:solidFill>
                <a:effectLst/>
                <a:uFillTx/>
                <a:latin typeface="Menlo"/>
                <a:ea typeface="Times New Roman"/>
              </a:rPr>
              <a:t>)</a:t>
            </a:r>
            <a:endParaRPr lang="en-US" sz="1200" b="0" u="none" strike="noStrike">
              <a:solidFill>
                <a:srgbClr val="000000"/>
              </a:solidFill>
              <a:effectLst/>
              <a:uFillTx/>
              <a:latin typeface="Arial"/>
            </a:endParaRPr>
          </a:p>
          <a:p>
            <a:pPr>
              <a:lnSpc>
                <a:spcPct val="100000"/>
              </a:lnSpc>
              <a:spcAft>
                <a:spcPts val="201"/>
              </a:spcAft>
            </a:pPr>
            <a:r>
              <a:rPr lang="en-US" sz="1200" b="1" u="none" strike="noStrike">
                <a:solidFill>
                  <a:srgbClr val="008E00"/>
                </a:solidFill>
                <a:effectLst/>
                <a:uFillTx/>
                <a:latin typeface="Menlo"/>
                <a:ea typeface="Times New Roman"/>
              </a:rPr>
              <a:t>#run_task(pybricks_class_task3())</a:t>
            </a:r>
            <a:endParaRPr lang="en-US" sz="1200" b="0" u="none" strike="noStrike">
              <a:solidFill>
                <a:srgbClr val="000000"/>
              </a:solidFill>
              <a:effectLst/>
              <a:uFillTx/>
              <a:latin typeface="Arial"/>
            </a:endParaRPr>
          </a:p>
        </p:txBody>
      </p:sp>
      <p:sp>
        <p:nvSpPr>
          <p:cNvPr id="193" name="TextBox 2"/>
          <p:cNvSpPr/>
          <p:nvPr/>
        </p:nvSpPr>
        <p:spPr>
          <a:xfrm>
            <a:off x="4490280" y="1413000"/>
            <a:ext cx="17071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Setting the variable</a:t>
            </a:r>
            <a:endParaRPr lang="en-US" sz="1400" b="0" u="none" strike="noStrike">
              <a:solidFill>
                <a:srgbClr val="000000"/>
              </a:solidFill>
              <a:effectLst/>
              <a:uFillTx/>
              <a:latin typeface="Arial"/>
            </a:endParaRPr>
          </a:p>
        </p:txBody>
      </p:sp>
      <p:cxnSp>
        <p:nvCxnSpPr>
          <p:cNvPr id="194" name="Straight Arrow Connector 4"/>
          <p:cNvCxnSpPr>
            <a:stCxn id="193" idx="2"/>
          </p:cNvCxnSpPr>
          <p:nvPr/>
        </p:nvCxnSpPr>
        <p:spPr>
          <a:xfrm flipH="1">
            <a:off x="3389760" y="1720440"/>
            <a:ext cx="1954440" cy="272160"/>
          </a:xfrm>
          <a:prstGeom prst="straightConnector1">
            <a:avLst/>
          </a:prstGeom>
          <a:ln w="73025">
            <a:solidFill>
              <a:srgbClr val="000000"/>
            </a:solidFill>
            <a:round/>
            <a:tailEnd type="triangle" w="med" len="med"/>
          </a:ln>
        </p:spPr>
      </p:cxnSp>
      <p:sp>
        <p:nvSpPr>
          <p:cNvPr id="195" name="TextBox 6"/>
          <p:cNvSpPr/>
          <p:nvPr/>
        </p:nvSpPr>
        <p:spPr>
          <a:xfrm>
            <a:off x="6638760" y="2639520"/>
            <a:ext cx="23583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Changed value of variable</a:t>
            </a:r>
            <a:endParaRPr lang="en-US" sz="1400" b="0" u="none" strike="noStrike">
              <a:solidFill>
                <a:srgbClr val="000000"/>
              </a:solidFill>
              <a:effectLst/>
              <a:uFillTx/>
              <a:latin typeface="Arial"/>
            </a:endParaRPr>
          </a:p>
        </p:txBody>
      </p:sp>
      <p:cxnSp>
        <p:nvCxnSpPr>
          <p:cNvPr id="196" name="Straight Arrow Connector 7"/>
          <p:cNvCxnSpPr>
            <a:stCxn id="195" idx="1"/>
          </p:cNvCxnSpPr>
          <p:nvPr/>
        </p:nvCxnSpPr>
        <p:spPr>
          <a:xfrm flipH="1">
            <a:off x="5626800" y="2793240"/>
            <a:ext cx="1012320" cy="360"/>
          </a:xfrm>
          <a:prstGeom prst="straightConnector1">
            <a:avLst/>
          </a:prstGeom>
          <a:ln w="73025">
            <a:solidFill>
              <a:srgbClr val="000000"/>
            </a:solidFill>
            <a:round/>
            <a:tailEnd type="triangle" w="med" len="med"/>
          </a:ln>
        </p:spPr>
      </p:cxnSp>
      <p:sp>
        <p:nvSpPr>
          <p:cNvPr id="197" name="TextBox 10"/>
          <p:cNvSpPr/>
          <p:nvPr/>
        </p:nvSpPr>
        <p:spPr>
          <a:xfrm>
            <a:off x="6953760" y="1870200"/>
            <a:ext cx="179244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Examples of using it</a:t>
            </a:r>
            <a:endParaRPr lang="en-US" sz="1400" b="0" u="none" strike="noStrike">
              <a:solidFill>
                <a:srgbClr val="000000"/>
              </a:solidFill>
              <a:effectLst/>
              <a:uFillTx/>
              <a:latin typeface="Arial"/>
            </a:endParaRPr>
          </a:p>
        </p:txBody>
      </p:sp>
      <p:cxnSp>
        <p:nvCxnSpPr>
          <p:cNvPr id="198" name="Straight Arrow Connector 11"/>
          <p:cNvCxnSpPr/>
          <p:nvPr/>
        </p:nvCxnSpPr>
        <p:spPr>
          <a:xfrm flipH="1">
            <a:off x="5084640" y="2274840"/>
            <a:ext cx="2461320" cy="171000"/>
          </a:xfrm>
          <a:prstGeom prst="straightConnector1">
            <a:avLst/>
          </a:prstGeom>
          <a:ln w="73025">
            <a:solidFill>
              <a:srgbClr val="000000"/>
            </a:solidFill>
            <a:round/>
            <a:tailEnd type="triangle" w="med" len="med"/>
          </a:ln>
        </p:spPr>
      </p:cxnSp>
      <p:sp>
        <p:nvSpPr>
          <p:cNvPr id="199" name="TextBox 22"/>
          <p:cNvSpPr/>
          <p:nvPr/>
        </p:nvSpPr>
        <p:spPr>
          <a:xfrm>
            <a:off x="6113520" y="674280"/>
            <a:ext cx="23583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Importing our library</a:t>
            </a:r>
            <a:endParaRPr lang="en-US" sz="1400" b="0" u="none" strike="noStrike">
              <a:solidFill>
                <a:srgbClr val="000000"/>
              </a:solidFill>
              <a:effectLst/>
              <a:uFillTx/>
              <a:latin typeface="Arial"/>
            </a:endParaRPr>
          </a:p>
        </p:txBody>
      </p:sp>
      <p:cxnSp>
        <p:nvCxnSpPr>
          <p:cNvPr id="200" name="Straight Arrow Connector 23"/>
          <p:cNvCxnSpPr>
            <a:stCxn id="199" idx="1"/>
          </p:cNvCxnSpPr>
          <p:nvPr/>
        </p:nvCxnSpPr>
        <p:spPr>
          <a:xfrm flipH="1">
            <a:off x="4341240" y="828000"/>
            <a:ext cx="1772640" cy="290160"/>
          </a:xfrm>
          <a:prstGeom prst="straightConnector1">
            <a:avLst/>
          </a:prstGeom>
          <a:ln w="73025">
            <a:solidFill>
              <a:srgbClr val="000000"/>
            </a:solidFill>
            <a:round/>
            <a:tailEnd type="triangle" w="med" len="med"/>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3 – How to use </a:t>
            </a:r>
            <a:r>
              <a:rPr lang="en" sz="3600" b="1" u="none" strike="noStrike">
                <a:solidFill>
                  <a:schemeClr val="dk1"/>
                </a:solidFill>
                <a:effectLst/>
                <a:uFillTx/>
                <a:latin typeface="Courier New"/>
                <a:ea typeface="Courier New"/>
              </a:rPr>
              <a:t>hub_menu()</a:t>
            </a:r>
            <a:endParaRPr lang="en-US" sz="3600" b="0" u="none" strike="noStrike">
              <a:solidFill>
                <a:srgbClr val="000000"/>
              </a:solidFill>
              <a:effectLst/>
              <a:uFillTx/>
              <a:latin typeface="Arial"/>
            </a:endParaRPr>
          </a:p>
        </p:txBody>
      </p:sp>
      <p:sp>
        <p:nvSpPr>
          <p:cNvPr id="202" name="PlaceHolder 2"/>
          <p:cNvSpPr>
            <a:spLocks noGrp="1"/>
          </p:cNvSpPr>
          <p:nvPr>
            <p:ph type="sldNum" idx="4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8208B08-5FD1-462C-8CAD-5ADD856281EA}" type="slidenum">
              <a:rPr lang="en" sz="1000" b="0" u="none" strike="noStrike">
                <a:solidFill>
                  <a:schemeClr val="dk2"/>
                </a:solidFill>
                <a:effectLst/>
                <a:uFillTx/>
                <a:latin typeface="Arial"/>
                <a:ea typeface="Arial"/>
              </a:rPr>
              <a:t>34</a:t>
            </a:fld>
            <a:endParaRPr lang="en-US" sz="1000" b="0" u="none" strike="noStrike">
              <a:solidFill>
                <a:srgbClr val="000000"/>
              </a:solidFill>
              <a:effectLst/>
              <a:uFillTx/>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p:nvPr>
        </p:nvSpPr>
        <p:spPr>
          <a:xfrm>
            <a:off x="311760" y="853920"/>
            <a:ext cx="8520120" cy="3809160"/>
          </a:xfrm>
          <a:prstGeom prst="rect">
            <a:avLst/>
          </a:prstGeom>
          <a:noFill/>
          <a:ln w="0">
            <a:noFill/>
          </a:ln>
        </p:spPr>
        <p:txBody>
          <a:bodyPr lIns="91440" tIns="91440" rIns="91440" bIns="91440" anchor="t">
            <a:normAutofit fontScale="47500" lnSpcReduction="19999"/>
          </a:bodyPr>
          <a:lstStyle/>
          <a:p>
            <a:pPr marL="457200" indent="-353880" algn="l">
              <a:lnSpc>
                <a:spcPct val="115000"/>
              </a:lnSpc>
              <a:buClr>
                <a:srgbClr val="000000"/>
              </a:buClr>
              <a:buSzPct val="106000"/>
              <a:buFont typeface="Arial"/>
              <a:buChar char="●"/>
            </a:pPr>
            <a:r>
              <a:rPr lang="en" sz="4200" b="0" u="none" strike="noStrike">
                <a:solidFill>
                  <a:schemeClr val="dk1"/>
                </a:solidFill>
                <a:effectLst/>
                <a:uFillTx/>
                <a:latin typeface="Arial"/>
                <a:ea typeface="Arial"/>
              </a:rPr>
              <a:t>In the previous “My First Program” example (BC &amp; Python) and Tasks 2 and 3 (BC version), the program being loaded will be the only program on the robot</a:t>
            </a:r>
            <a:endParaRPr lang="en-US" sz="4200" b="0" u="none" strike="noStrike">
              <a:solidFill>
                <a:srgbClr val="000000"/>
              </a:solidFill>
              <a:effectLst/>
              <a:uFillTx/>
              <a:latin typeface="Arial"/>
            </a:endParaRPr>
          </a:p>
          <a:p>
            <a:pPr indent="0" algn="l">
              <a:lnSpc>
                <a:spcPct val="115000"/>
              </a:lnSpc>
              <a:buNone/>
            </a:pPr>
            <a:endParaRPr lang="en-US" sz="4200" b="0" u="none" strike="noStrike">
              <a:solidFill>
                <a:srgbClr val="000000"/>
              </a:solidFill>
              <a:effectLst/>
              <a:uFillTx/>
              <a:latin typeface="Arial"/>
            </a:endParaRPr>
          </a:p>
          <a:p>
            <a:pPr marL="457200" indent="-346680" algn="l">
              <a:lnSpc>
                <a:spcPct val="115000"/>
              </a:lnSpc>
              <a:buClr>
                <a:srgbClr val="000000"/>
              </a:buClr>
              <a:buFont typeface="Arial"/>
              <a:buChar char="●"/>
            </a:pPr>
            <a:r>
              <a:rPr lang="en" sz="4200" b="0" u="none" strike="noStrike">
                <a:solidFill>
                  <a:schemeClr val="dk1"/>
                </a:solidFill>
                <a:effectLst/>
                <a:uFillTx/>
                <a:latin typeface="Arial"/>
                <a:ea typeface="Arial"/>
              </a:rPr>
              <a:t>Lego Spike robots can store multiple programs</a:t>
            </a:r>
            <a:endParaRPr lang="en-US" sz="4200" b="0" u="none" strike="noStrike">
              <a:solidFill>
                <a:srgbClr val="000000"/>
              </a:solidFill>
              <a:effectLst/>
              <a:uFillTx/>
              <a:latin typeface="Arial"/>
            </a:endParaRPr>
          </a:p>
          <a:p>
            <a:pPr indent="0" algn="l">
              <a:lnSpc>
                <a:spcPct val="115000"/>
              </a:lnSpc>
              <a:buNone/>
            </a:pPr>
            <a:endParaRPr lang="en-US" sz="4200" b="0" u="none" strike="noStrike">
              <a:solidFill>
                <a:srgbClr val="000000"/>
              </a:solidFill>
              <a:effectLst/>
              <a:uFillTx/>
              <a:latin typeface="Arial"/>
            </a:endParaRPr>
          </a:p>
          <a:p>
            <a:pPr marL="457200" indent="-346680" algn="l">
              <a:lnSpc>
                <a:spcPct val="115000"/>
              </a:lnSpc>
              <a:buClr>
                <a:srgbClr val="000000"/>
              </a:buClr>
              <a:buFont typeface="Arial"/>
              <a:buChar char="●"/>
            </a:pPr>
            <a:r>
              <a:rPr lang="en" sz="4200" b="0" u="none" strike="noStrike">
                <a:solidFill>
                  <a:schemeClr val="dk1"/>
                </a:solidFill>
                <a:effectLst/>
                <a:uFillTx/>
                <a:latin typeface="Arial"/>
                <a:ea typeface="Arial"/>
              </a:rPr>
              <a:t>During competition the team will want to store their tasks as individual programs and be able to use the hub menu to select the task</a:t>
            </a:r>
            <a:endParaRPr lang="en-US" sz="4200" b="0" u="none" strike="noStrike">
              <a:solidFill>
                <a:srgbClr val="000000"/>
              </a:solidFill>
              <a:effectLst/>
              <a:uFillTx/>
              <a:latin typeface="Arial"/>
            </a:endParaRPr>
          </a:p>
          <a:p>
            <a:pPr indent="0" algn="l">
              <a:lnSpc>
                <a:spcPct val="115000"/>
              </a:lnSpc>
              <a:buNone/>
            </a:pPr>
            <a:endParaRPr lang="en-US" sz="4200" b="0" u="none" strike="noStrike">
              <a:solidFill>
                <a:srgbClr val="000000"/>
              </a:solidFill>
              <a:effectLst/>
              <a:uFillTx/>
              <a:latin typeface="Arial"/>
            </a:endParaRPr>
          </a:p>
          <a:p>
            <a:pPr marL="457200" indent="-346680" algn="l">
              <a:lnSpc>
                <a:spcPct val="115000"/>
              </a:lnSpc>
              <a:buClr>
                <a:srgbClr val="000000"/>
              </a:buClr>
              <a:buFont typeface="Arial"/>
              <a:buChar char="●"/>
            </a:pPr>
            <a:r>
              <a:rPr lang="en" sz="4200" b="0" u="none" strike="noStrike">
                <a:solidFill>
                  <a:schemeClr val="dk1"/>
                </a:solidFill>
                <a:effectLst/>
                <a:uFillTx/>
                <a:latin typeface="Arial"/>
                <a:ea typeface="Arial"/>
              </a:rPr>
              <a:t>The </a:t>
            </a:r>
            <a:r>
              <a:rPr lang="en" sz="4200" b="1" u="none" strike="noStrike">
                <a:solidFill>
                  <a:schemeClr val="dk1"/>
                </a:solidFill>
                <a:effectLst/>
                <a:uFillTx/>
                <a:latin typeface="Courier New"/>
                <a:ea typeface="Courier New"/>
              </a:rPr>
              <a:t>hub_menu()</a:t>
            </a:r>
            <a:r>
              <a:rPr lang="en" sz="4200" b="0" u="none" strike="noStrike">
                <a:solidFill>
                  <a:schemeClr val="dk1"/>
                </a:solidFill>
                <a:effectLst/>
                <a:uFillTx/>
                <a:latin typeface="Arial"/>
                <a:ea typeface="Arial"/>
              </a:rPr>
              <a:t> function is used to configure the robot for multiple tasks</a:t>
            </a:r>
            <a:endParaRPr lang="en-US" sz="4200" b="0" u="none" strike="noStrike">
              <a:solidFill>
                <a:srgbClr val="000000"/>
              </a:solidFill>
              <a:effectLst/>
              <a:uFillTx/>
              <a:latin typeface="Arial"/>
            </a:endParaRPr>
          </a:p>
          <a:p>
            <a:pPr marL="914400" lvl="1" indent="-346680" algn="l">
              <a:lnSpc>
                <a:spcPct val="115000"/>
              </a:lnSpc>
              <a:buClr>
                <a:srgbClr val="000000"/>
              </a:buClr>
              <a:buFont typeface="Arial"/>
              <a:buChar char="○"/>
            </a:pPr>
            <a:r>
              <a:rPr lang="en" sz="3500" b="0" u="none" strike="noStrike">
                <a:solidFill>
                  <a:schemeClr val="dk1"/>
                </a:solidFill>
                <a:effectLst/>
                <a:uFillTx/>
                <a:latin typeface="Arial"/>
                <a:ea typeface="Arial"/>
              </a:rPr>
              <a:t>Use with Pybricks Block Coding is not straightforward and has limitations</a:t>
            </a:r>
            <a:endParaRPr lang="en-US" sz="35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04" name="PlaceHolder 2"/>
          <p:cNvSpPr>
            <a:spLocks noGrp="1"/>
          </p:cNvSpPr>
          <p:nvPr>
            <p:ph type="title"/>
          </p:nvPr>
        </p:nvSpPr>
        <p:spPr>
          <a:xfrm>
            <a:off x="146520" y="110520"/>
            <a:ext cx="8520120" cy="572400"/>
          </a:xfrm>
          <a:prstGeom prst="rect">
            <a:avLst/>
          </a:prstGeom>
          <a:noFill/>
          <a:ln w="0">
            <a:noFill/>
          </a:ln>
        </p:spPr>
        <p:txBody>
          <a:bodyPr lIns="91440" tIns="91440" rIns="91440" bIns="91440" anchor="t">
            <a:normAutofit fontScale="85000" lnSpcReduction="9999"/>
          </a:bodyPr>
          <a:lstStyle/>
          <a:p>
            <a:pPr indent="0" algn="l">
              <a:lnSpc>
                <a:spcPct val="100000"/>
              </a:lnSpc>
              <a:buNone/>
              <a:tabLst>
                <a:tab pos="0" algn="l"/>
              </a:tabLst>
            </a:pPr>
            <a:r>
              <a:rPr lang="en" sz="2500" b="0" u="none" strike="noStrike">
                <a:solidFill>
                  <a:schemeClr val="lt1"/>
                </a:solidFill>
                <a:effectLst/>
                <a:uFillTx/>
                <a:latin typeface="Arial"/>
                <a:ea typeface="Arial"/>
              </a:rPr>
              <a:t>Hub Menu or “how do I store and run multiple tasks on my robot”</a:t>
            </a:r>
            <a:endParaRPr lang="en-US" sz="2500" b="0" u="none" strike="noStrike">
              <a:solidFill>
                <a:srgbClr val="000000"/>
              </a:solidFill>
              <a:effectLst/>
              <a:uFillTx/>
              <a:latin typeface="Arial"/>
            </a:endParaRPr>
          </a:p>
        </p:txBody>
      </p:sp>
      <p:sp>
        <p:nvSpPr>
          <p:cNvPr id="205" name="PlaceHolder 3"/>
          <p:cNvSpPr>
            <a:spLocks noGrp="1"/>
          </p:cNvSpPr>
          <p:nvPr>
            <p:ph type="sldNum" idx="4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D4F763A-C6EE-46ED-AFB2-775CCFC56FC3}" type="slidenum">
              <a:rPr lang="en" sz="1000" b="0" u="none" strike="noStrike">
                <a:solidFill>
                  <a:schemeClr val="dk2"/>
                </a:solidFill>
                <a:effectLst/>
                <a:uFillTx/>
                <a:latin typeface="Arial"/>
                <a:ea typeface="Arial"/>
              </a:rPr>
              <a:t>35</a:t>
            </a:fld>
            <a:endParaRPr lang="en-US" sz="1000" b="0" u="none" strike="noStrike">
              <a:solidFill>
                <a:srgbClr val="000000"/>
              </a:solidFill>
              <a:effectLst/>
              <a:uFillTx/>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 sz="2500" b="0" u="none" strike="noStrike">
                <a:solidFill>
                  <a:schemeClr val="lt1"/>
                </a:solidFill>
                <a:effectLst/>
                <a:uFillTx/>
                <a:latin typeface="Arial"/>
                <a:ea typeface="Arial"/>
              </a:rPr>
              <a:t>Using </a:t>
            </a:r>
            <a:r>
              <a:rPr lang="en" sz="2500" b="1" u="none" strike="noStrike">
                <a:solidFill>
                  <a:schemeClr val="lt1"/>
                </a:solidFill>
                <a:effectLst/>
                <a:uFillTx/>
                <a:latin typeface="Courier New"/>
                <a:ea typeface="Arial"/>
              </a:rPr>
              <a:t>hub_menu()</a:t>
            </a:r>
            <a:r>
              <a:rPr lang="en" sz="2500" b="1" u="none" strike="noStrike">
                <a:solidFill>
                  <a:schemeClr val="lt1"/>
                </a:solidFill>
                <a:effectLst/>
                <a:uFillTx/>
                <a:latin typeface="Arial"/>
                <a:ea typeface="Arial"/>
              </a:rPr>
              <a:t> (1/2)</a:t>
            </a:r>
            <a:endParaRPr lang="en-US" sz="2500" b="0" u="none" strike="noStrike">
              <a:solidFill>
                <a:srgbClr val="000000"/>
              </a:solidFill>
              <a:effectLst/>
              <a:uFillTx/>
              <a:latin typeface="Arial"/>
            </a:endParaRPr>
          </a:p>
        </p:txBody>
      </p:sp>
      <p:sp>
        <p:nvSpPr>
          <p:cNvPr id="207" name="PlaceHolder 2"/>
          <p:cNvSpPr>
            <a:spLocks noGrp="1"/>
          </p:cNvSpPr>
          <p:nvPr>
            <p:ph/>
          </p:nvPr>
        </p:nvSpPr>
        <p:spPr>
          <a:xfrm>
            <a:off x="311760" y="682920"/>
            <a:ext cx="8520120" cy="3816720"/>
          </a:xfrm>
          <a:prstGeom prst="rect">
            <a:avLst/>
          </a:prstGeom>
          <a:solidFill>
            <a:schemeClr val="lt1"/>
          </a:solidFill>
          <a:ln w="0">
            <a:noFill/>
          </a:ln>
        </p:spPr>
        <p:txBody>
          <a:bodyPr lIns="91440" tIns="91440" rIns="91440" bIns="91440" anchor="t">
            <a:noAutofit/>
          </a:bodyPr>
          <a:lstStyle/>
          <a:p>
            <a:pPr marL="444600" indent="-343080" algn="l">
              <a:lnSpc>
                <a:spcPct val="95000"/>
              </a:lnSpc>
              <a:buClr>
                <a:srgbClr val="000000"/>
              </a:buClr>
              <a:buFont typeface="Arial"/>
              <a:buChar char="●"/>
            </a:pPr>
            <a:r>
              <a:rPr lang="en" sz="2000" b="1" u="none" strike="noStrike">
                <a:solidFill>
                  <a:schemeClr val="dk1"/>
                </a:solidFill>
                <a:effectLst/>
                <a:highlight>
                  <a:srgbClr val="FFFFFF"/>
                </a:highlight>
                <a:uFillTx/>
                <a:latin typeface="Courier New"/>
                <a:ea typeface="Arial"/>
              </a:rPr>
              <a:t>hub_menu()</a:t>
            </a:r>
            <a:r>
              <a:rPr lang="en" sz="2000" b="1" u="none" strike="noStrike">
                <a:solidFill>
                  <a:schemeClr val="dk1"/>
                </a:solidFill>
                <a:effectLst/>
                <a:highlight>
                  <a:srgbClr val="FFFFFF"/>
                </a:highlight>
                <a:uFillTx/>
                <a:latin typeface="Arial"/>
                <a:ea typeface="Arial"/>
              </a:rPr>
              <a:t> </a:t>
            </a:r>
            <a:r>
              <a:rPr lang="en" sz="2000" b="0" u="none" strike="noStrike">
                <a:solidFill>
                  <a:schemeClr val="dk1"/>
                </a:solidFill>
                <a:effectLst/>
                <a:highlight>
                  <a:srgbClr val="FFFFFF"/>
                </a:highlight>
                <a:uFillTx/>
                <a:latin typeface="Arial"/>
                <a:ea typeface="Arial"/>
              </a:rPr>
              <a:t>should be its own dedicated task</a:t>
            </a:r>
            <a:endParaRPr lang="en-US" sz="2000" b="0" u="none" strike="noStrike">
              <a:solidFill>
                <a:srgbClr val="000000"/>
              </a:solidFill>
              <a:effectLst/>
              <a:uFillTx/>
              <a:latin typeface="Arial"/>
            </a:endParaRPr>
          </a:p>
          <a:p>
            <a:pPr marL="870120" lvl="1" indent="-285840" algn="l">
              <a:lnSpc>
                <a:spcPct val="95000"/>
              </a:lnSpc>
              <a:buClr>
                <a:srgbClr val="000000"/>
              </a:buClr>
              <a:buFont typeface="Arial"/>
              <a:buChar char="○"/>
            </a:pPr>
            <a:r>
              <a:rPr lang="en" sz="1600" b="0" u="none" strike="noStrike">
                <a:solidFill>
                  <a:schemeClr val="dk1"/>
                </a:solidFill>
                <a:effectLst/>
                <a:highlight>
                  <a:srgbClr val="FFFFFF"/>
                </a:highlight>
                <a:uFillTx/>
                <a:latin typeface="Arial"/>
                <a:ea typeface="Arial"/>
              </a:rPr>
              <a:t>It should be in its own file in the Pybricks user interface</a:t>
            </a:r>
            <a:endParaRPr lang="en-US" sz="1600" b="0" u="none" strike="noStrike">
              <a:solidFill>
                <a:srgbClr val="000000"/>
              </a:solidFill>
              <a:effectLst/>
              <a:uFillTx/>
              <a:latin typeface="Arial"/>
            </a:endParaRPr>
          </a:p>
          <a:p>
            <a:pPr indent="0" algn="l">
              <a:lnSpc>
                <a:spcPct val="95000"/>
              </a:lnSpc>
              <a:buNone/>
            </a:pPr>
            <a:endParaRPr lang="en-US" sz="2000" b="0" u="none" strike="noStrike">
              <a:solidFill>
                <a:srgbClr val="000000"/>
              </a:solidFill>
              <a:effectLst/>
              <a:uFillTx/>
              <a:latin typeface="Arial"/>
            </a:endParaRPr>
          </a:p>
          <a:p>
            <a:pPr marL="444600" indent="-343080" algn="l">
              <a:lnSpc>
                <a:spcPct val="95000"/>
              </a:lnSpc>
              <a:buClr>
                <a:srgbClr val="000000"/>
              </a:buClr>
              <a:buFont typeface="Arial"/>
              <a:buChar char="●"/>
            </a:pPr>
            <a:r>
              <a:rPr lang="en" sz="2000" b="0" u="none" strike="noStrike">
                <a:solidFill>
                  <a:schemeClr val="dk1"/>
                </a:solidFill>
                <a:effectLst/>
                <a:highlight>
                  <a:srgbClr val="FFFFFF"/>
                </a:highlight>
                <a:uFillTx/>
                <a:latin typeface="Arial"/>
                <a:ea typeface="Arial"/>
              </a:rPr>
              <a:t>The robot setup in “Initializing the Robot” slide above should be moved to a separate “library”</a:t>
            </a:r>
            <a:endParaRPr lang="en-US" sz="2000" b="0" u="none" strike="noStrike">
              <a:solidFill>
                <a:srgbClr val="000000"/>
              </a:solidFill>
              <a:effectLst/>
              <a:uFillTx/>
              <a:latin typeface="Arial"/>
            </a:endParaRPr>
          </a:p>
          <a:p>
            <a:pPr marL="876240" lvl="1" indent="-285840" algn="l">
              <a:lnSpc>
                <a:spcPct val="95000"/>
              </a:lnSpc>
              <a:buClr>
                <a:srgbClr val="000000"/>
              </a:buClr>
              <a:buFont typeface="Arial"/>
              <a:buChar char="○"/>
            </a:pPr>
            <a:r>
              <a:rPr lang="en" sz="1600" b="0" u="none" strike="noStrike">
                <a:solidFill>
                  <a:schemeClr val="dk1"/>
                </a:solidFill>
                <a:effectLst/>
                <a:highlight>
                  <a:srgbClr val="FFFFFF"/>
                </a:highlight>
                <a:uFillTx/>
                <a:latin typeface="Arial"/>
                <a:ea typeface="Arial"/>
              </a:rPr>
              <a:t>Ex: </a:t>
            </a:r>
            <a:r>
              <a:rPr lang="en" sz="1600" b="1" u="none" strike="noStrike">
                <a:solidFill>
                  <a:schemeClr val="dk1"/>
                </a:solidFill>
                <a:effectLst/>
                <a:highlight>
                  <a:srgbClr val="FFFFFF"/>
                </a:highlight>
                <a:uFillTx/>
                <a:latin typeface="Courier New"/>
                <a:ea typeface="Courier New"/>
              </a:rPr>
              <a:t>pybricks_class_library_rev1.py</a:t>
            </a:r>
            <a:r>
              <a:rPr lang="en" sz="1600" b="0" u="none" strike="noStrike">
                <a:solidFill>
                  <a:schemeClr val="dk1"/>
                </a:solidFill>
                <a:effectLst/>
                <a:highlight>
                  <a:srgbClr val="FFFFFF"/>
                </a:highlight>
                <a:uFillTx/>
                <a:latin typeface="Courier New"/>
                <a:ea typeface="Courier New"/>
              </a:rPr>
              <a:t> </a:t>
            </a:r>
            <a:endParaRPr lang="en-US" sz="1600" b="0" u="none" strike="noStrike">
              <a:solidFill>
                <a:srgbClr val="000000"/>
              </a:solidFill>
              <a:effectLst/>
              <a:uFillTx/>
              <a:latin typeface="Arial"/>
            </a:endParaRPr>
          </a:p>
          <a:p>
            <a:pPr marL="870120" lvl="1" indent="-285840" algn="l">
              <a:lnSpc>
                <a:spcPct val="95000"/>
              </a:lnSpc>
              <a:buClr>
                <a:srgbClr val="000000"/>
              </a:buClr>
              <a:buFont typeface="Arial"/>
              <a:buChar char="○"/>
            </a:pPr>
            <a:r>
              <a:rPr lang="en" sz="1600" b="0" u="none" strike="noStrike">
                <a:solidFill>
                  <a:schemeClr val="dk1"/>
                </a:solidFill>
                <a:effectLst/>
                <a:highlight>
                  <a:srgbClr val="FFFFFF"/>
                </a:highlight>
                <a:uFillTx/>
                <a:latin typeface="Arial"/>
                <a:ea typeface="Arial"/>
              </a:rPr>
              <a:t>This is necessary to prevent Python from trying to create more than one instance of the Prime Hub</a:t>
            </a:r>
            <a:endParaRPr lang="en-US" sz="1600" b="0" u="none" strike="noStrike">
              <a:solidFill>
                <a:srgbClr val="000000"/>
              </a:solidFill>
              <a:effectLst/>
              <a:uFillTx/>
              <a:latin typeface="Arial"/>
            </a:endParaRPr>
          </a:p>
          <a:p>
            <a:pPr indent="0" algn="l">
              <a:lnSpc>
                <a:spcPct val="95000"/>
              </a:lnSpc>
              <a:buNone/>
            </a:pPr>
            <a:endParaRPr lang="en-US" sz="2000" b="0" u="none" strike="noStrike">
              <a:solidFill>
                <a:srgbClr val="000000"/>
              </a:solidFill>
              <a:effectLst/>
              <a:uFillTx/>
              <a:latin typeface="Arial"/>
            </a:endParaRPr>
          </a:p>
          <a:p>
            <a:pPr marL="469800" indent="-343080" algn="l">
              <a:lnSpc>
                <a:spcPct val="95000"/>
              </a:lnSpc>
              <a:buClr>
                <a:srgbClr val="000000"/>
              </a:buClr>
              <a:buFont typeface="Arial"/>
              <a:buChar char="●"/>
            </a:pPr>
            <a:r>
              <a:rPr lang="en" sz="2000" b="0" u="none" strike="noStrike">
                <a:solidFill>
                  <a:schemeClr val="dk1"/>
                </a:solidFill>
                <a:effectLst/>
                <a:highlight>
                  <a:srgbClr val="FFFFFF"/>
                </a:highlight>
                <a:uFillTx/>
                <a:latin typeface="Arial"/>
                <a:ea typeface="Arial"/>
              </a:rPr>
              <a:t>In Pybricks, when you press the P</a:t>
            </a:r>
            <a:r>
              <a:rPr lang="en-US" sz="2000" b="0" u="none" strike="noStrike">
                <a:solidFill>
                  <a:schemeClr val="dk1"/>
                </a:solidFill>
                <a:effectLst/>
                <a:highlight>
                  <a:srgbClr val="FFFFFF"/>
                </a:highlight>
                <a:uFillTx/>
                <a:latin typeface="Arial"/>
                <a:ea typeface="Arial"/>
              </a:rPr>
              <a:t>l</a:t>
            </a:r>
            <a:r>
              <a:rPr lang="en" sz="2000" b="0" u="none" strike="noStrike">
                <a:solidFill>
                  <a:schemeClr val="dk1"/>
                </a:solidFill>
                <a:effectLst/>
                <a:highlight>
                  <a:srgbClr val="FFFFFF"/>
                </a:highlight>
                <a:uFillTx/>
                <a:latin typeface="Arial"/>
                <a:ea typeface="Arial"/>
              </a:rPr>
              <a:t>ay Button while in the </a:t>
            </a:r>
            <a:r>
              <a:rPr lang="en" sz="2000" b="1" u="none" strike="noStrike">
                <a:solidFill>
                  <a:schemeClr val="dk1"/>
                </a:solidFill>
                <a:effectLst/>
                <a:highlight>
                  <a:srgbClr val="FFFFFF"/>
                </a:highlight>
                <a:uFillTx/>
                <a:latin typeface="Courier New"/>
                <a:ea typeface="Arial"/>
              </a:rPr>
              <a:t>hub_menu()</a:t>
            </a:r>
            <a:r>
              <a:rPr lang="en" sz="2000" b="1" u="none" strike="noStrike">
                <a:solidFill>
                  <a:schemeClr val="dk1"/>
                </a:solidFill>
                <a:effectLst/>
                <a:highlight>
                  <a:srgbClr val="FFFFFF"/>
                </a:highlight>
                <a:uFillTx/>
                <a:latin typeface="Arial"/>
                <a:ea typeface="Arial"/>
              </a:rPr>
              <a:t> </a:t>
            </a:r>
            <a:r>
              <a:rPr lang="en" sz="2000" b="0" u="none" strike="noStrike">
                <a:solidFill>
                  <a:schemeClr val="dk1"/>
                </a:solidFill>
                <a:effectLst/>
                <a:highlight>
                  <a:srgbClr val="FFFFFF"/>
                </a:highlight>
                <a:uFillTx/>
                <a:latin typeface="Arial"/>
                <a:ea typeface="Arial"/>
              </a:rPr>
              <a:t>code and it will push code for the library and all the tasks used the </a:t>
            </a:r>
            <a:r>
              <a:rPr lang="en" sz="2000" b="1" u="none" strike="noStrike">
                <a:solidFill>
                  <a:schemeClr val="dk1"/>
                </a:solidFill>
                <a:effectLst/>
                <a:highlight>
                  <a:srgbClr val="FFFFFF"/>
                </a:highlight>
                <a:uFillTx/>
                <a:latin typeface="Courier New"/>
                <a:ea typeface="Arial"/>
              </a:rPr>
              <a:t>hub_menu()</a:t>
            </a:r>
            <a:r>
              <a:rPr lang="en" sz="2000" b="1" u="none" strike="noStrike">
                <a:solidFill>
                  <a:schemeClr val="dk1"/>
                </a:solidFill>
                <a:effectLst/>
                <a:highlight>
                  <a:srgbClr val="FFFFFF"/>
                </a:highlight>
                <a:uFillTx/>
                <a:latin typeface="Arial"/>
                <a:ea typeface="Arial"/>
              </a:rPr>
              <a:t> </a:t>
            </a:r>
            <a:r>
              <a:rPr lang="en" sz="2000" b="0" u="none" strike="noStrike">
                <a:solidFill>
                  <a:schemeClr val="dk1"/>
                </a:solidFill>
                <a:effectLst/>
                <a:highlight>
                  <a:srgbClr val="FFFFFF"/>
                </a:highlight>
                <a:uFillTx/>
                <a:latin typeface="Arial"/>
                <a:ea typeface="Arial"/>
              </a:rPr>
              <a:t>to the robot</a:t>
            </a:r>
            <a:endParaRPr lang="en-US" sz="2000" b="0" u="none" strike="noStrike">
              <a:solidFill>
                <a:srgbClr val="000000"/>
              </a:solidFill>
              <a:effectLst/>
              <a:uFillTx/>
              <a:latin typeface="Arial"/>
            </a:endParaRPr>
          </a:p>
          <a:p>
            <a:pPr marL="927000" lvl="1" indent="-317520" algn="l">
              <a:lnSpc>
                <a:spcPct val="95000"/>
              </a:lnSpc>
              <a:buClr>
                <a:srgbClr val="000000"/>
              </a:buClr>
              <a:buFont typeface="Arial"/>
              <a:buChar char="○"/>
            </a:pPr>
            <a:r>
              <a:rPr lang="en" sz="1600" b="0" u="none" strike="noStrike">
                <a:solidFill>
                  <a:schemeClr val="dk1"/>
                </a:solidFill>
                <a:effectLst/>
                <a:highlight>
                  <a:srgbClr val="FFFFFF"/>
                </a:highlight>
                <a:uFillTx/>
                <a:latin typeface="Arial"/>
                <a:ea typeface="Arial"/>
              </a:rPr>
              <a:t>The reason is due to</a:t>
            </a:r>
            <a:r>
              <a:rPr lang="en-US" sz="1600" b="0" u="none" strike="noStrike">
                <a:solidFill>
                  <a:schemeClr val="dk1"/>
                </a:solidFill>
                <a:effectLst/>
                <a:highlight>
                  <a:srgbClr val="FFFFFF"/>
                </a:highlight>
                <a:uFillTx/>
                <a:latin typeface="Arial"/>
                <a:ea typeface="Arial"/>
              </a:rPr>
              <a:t> t</a:t>
            </a:r>
            <a:r>
              <a:rPr lang="en" sz="1600" b="0" u="none" strike="noStrike">
                <a:solidFill>
                  <a:schemeClr val="dk1"/>
                </a:solidFill>
                <a:effectLst/>
                <a:highlight>
                  <a:srgbClr val="FFFFFF"/>
                </a:highlight>
                <a:uFillTx/>
                <a:latin typeface="Arial"/>
                <a:ea typeface="Arial"/>
              </a:rPr>
              <a:t>he </a:t>
            </a:r>
            <a:r>
              <a:rPr lang="en" sz="1600" b="1" u="none" strike="noStrike">
                <a:solidFill>
                  <a:schemeClr val="dk1"/>
                </a:solidFill>
                <a:effectLst/>
                <a:highlight>
                  <a:srgbClr val="FFFFFF"/>
                </a:highlight>
                <a:uFillTx/>
                <a:latin typeface="Courier New"/>
                <a:ea typeface="Arial"/>
              </a:rPr>
              <a:t>import</a:t>
            </a:r>
            <a:r>
              <a:rPr lang="en" sz="1600" b="0" u="none" strike="noStrike">
                <a:solidFill>
                  <a:schemeClr val="dk1"/>
                </a:solidFill>
                <a:effectLst/>
                <a:highlight>
                  <a:srgbClr val="FFFFFF"/>
                </a:highlight>
                <a:uFillTx/>
                <a:latin typeface="Arial"/>
                <a:ea typeface="Arial"/>
              </a:rPr>
              <a:t> statements at the beginning of of the </a:t>
            </a:r>
            <a:r>
              <a:rPr lang="en" sz="1600" b="1" u="none" strike="noStrike">
                <a:solidFill>
                  <a:schemeClr val="dk1"/>
                </a:solidFill>
                <a:effectLst/>
                <a:highlight>
                  <a:srgbClr val="FFFFFF"/>
                </a:highlight>
                <a:uFillTx/>
                <a:latin typeface="Courier New"/>
                <a:ea typeface="Arial"/>
              </a:rPr>
              <a:t>hub_menu()</a:t>
            </a:r>
            <a:r>
              <a:rPr lang="en" sz="1600" b="0" u="none" strike="noStrike">
                <a:solidFill>
                  <a:schemeClr val="dk1"/>
                </a:solidFill>
                <a:effectLst/>
                <a:highlight>
                  <a:srgbClr val="FFFFFF"/>
                </a:highlight>
                <a:uFillTx/>
                <a:latin typeface="Arial"/>
                <a:ea typeface="Arial"/>
              </a:rPr>
              <a:t> program</a:t>
            </a:r>
            <a:endParaRPr lang="en-US" sz="1600" b="0" u="none" strike="noStrike">
              <a:solidFill>
                <a:srgbClr val="000000"/>
              </a:solidFill>
              <a:effectLst/>
              <a:uFillTx/>
              <a:latin typeface="Arial"/>
            </a:endParaRPr>
          </a:p>
        </p:txBody>
      </p:sp>
      <p:sp>
        <p:nvSpPr>
          <p:cNvPr id="208" name="PlaceHolder 3"/>
          <p:cNvSpPr>
            <a:spLocks noGrp="1"/>
          </p:cNvSpPr>
          <p:nvPr>
            <p:ph type="sldNum" idx="4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E4D22F4-1299-4398-87C6-4CEDD901702B}" type="slidenum">
              <a:rPr lang="en" sz="1000" b="0" u="none" strike="noStrike">
                <a:solidFill>
                  <a:schemeClr val="dk2"/>
                </a:solidFill>
                <a:effectLst/>
                <a:uFillTx/>
                <a:latin typeface="Arial"/>
                <a:ea typeface="Arial"/>
              </a:rPr>
              <a:t>36</a:t>
            </a:fld>
            <a:endParaRPr lang="en-US" sz="1000" b="0" u="none" strike="noStrike">
              <a:solidFill>
                <a:srgbClr val="000000"/>
              </a:solidFill>
              <a:effectLst/>
              <a:uFillTx/>
              <a:latin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 sz="2500" b="0" u="none" strike="noStrike">
                <a:solidFill>
                  <a:schemeClr val="lt1"/>
                </a:solidFill>
                <a:effectLst/>
                <a:uFillTx/>
                <a:latin typeface="Arial"/>
                <a:ea typeface="Arial"/>
              </a:rPr>
              <a:t>Using </a:t>
            </a:r>
            <a:r>
              <a:rPr lang="en" sz="2500" b="1" u="none" strike="noStrike">
                <a:solidFill>
                  <a:schemeClr val="lt1"/>
                </a:solidFill>
                <a:effectLst/>
                <a:uFillTx/>
                <a:latin typeface="Courier New"/>
                <a:ea typeface="Arial"/>
              </a:rPr>
              <a:t>hub_menu()</a:t>
            </a:r>
            <a:r>
              <a:rPr lang="en" sz="2500" b="1" u="none" strike="noStrike">
                <a:solidFill>
                  <a:schemeClr val="lt1"/>
                </a:solidFill>
                <a:effectLst/>
                <a:uFillTx/>
                <a:latin typeface="Arial"/>
                <a:ea typeface="Arial"/>
              </a:rPr>
              <a:t> (2/2)</a:t>
            </a:r>
            <a:endParaRPr lang="en-US" sz="2500" b="0" u="none" strike="noStrike">
              <a:solidFill>
                <a:srgbClr val="000000"/>
              </a:solidFill>
              <a:effectLst/>
              <a:uFillTx/>
              <a:latin typeface="Arial"/>
            </a:endParaRPr>
          </a:p>
        </p:txBody>
      </p:sp>
      <p:sp>
        <p:nvSpPr>
          <p:cNvPr id="210" name="PlaceHolder 2"/>
          <p:cNvSpPr>
            <a:spLocks noGrp="1"/>
          </p:cNvSpPr>
          <p:nvPr>
            <p:ph/>
          </p:nvPr>
        </p:nvSpPr>
        <p:spPr>
          <a:xfrm>
            <a:off x="311760" y="682920"/>
            <a:ext cx="8520120" cy="3816720"/>
          </a:xfrm>
          <a:prstGeom prst="rect">
            <a:avLst/>
          </a:prstGeom>
          <a:solidFill>
            <a:schemeClr val="lt1"/>
          </a:solidFill>
          <a:ln w="0">
            <a:noFill/>
          </a:ln>
        </p:spPr>
        <p:txBody>
          <a:bodyPr lIns="91440" tIns="91440" rIns="91440" bIns="91440" anchor="t">
            <a:noAutofit/>
          </a:bodyPr>
          <a:lstStyle/>
          <a:p>
            <a:pPr marL="444600" indent="-343080" algn="l">
              <a:lnSpc>
                <a:spcPct val="95000"/>
              </a:lnSpc>
              <a:buClr>
                <a:srgbClr val="000000"/>
              </a:buClr>
              <a:buFont typeface="Arial"/>
              <a:buChar char="●"/>
            </a:pPr>
            <a:r>
              <a:rPr lang="en" sz="2400" b="0" u="none" strike="noStrike">
                <a:solidFill>
                  <a:schemeClr val="dk1"/>
                </a:solidFill>
                <a:effectLst/>
                <a:highlight>
                  <a:srgbClr val="FFFFFF"/>
                </a:highlight>
                <a:uFillTx/>
                <a:latin typeface="Arial"/>
                <a:ea typeface="Arial"/>
              </a:rPr>
              <a:t>Each task’s Python file must have:</a:t>
            </a:r>
            <a:endParaRPr lang="en-US" sz="2400" b="0" u="none" strike="noStrike">
              <a:solidFill>
                <a:srgbClr val="000000"/>
              </a:solidFill>
              <a:effectLst/>
              <a:uFillTx/>
              <a:latin typeface="Arial"/>
            </a:endParaRPr>
          </a:p>
          <a:p>
            <a:pPr marL="870120" lvl="1" indent="-285840" algn="l">
              <a:lnSpc>
                <a:spcPct val="95000"/>
              </a:lnSpc>
              <a:buClr>
                <a:srgbClr val="000000"/>
              </a:buClr>
              <a:buFont typeface="Arial"/>
              <a:buChar char="○"/>
            </a:pPr>
            <a:r>
              <a:rPr lang="en" sz="1800" b="0" u="none" strike="noStrike">
                <a:solidFill>
                  <a:schemeClr val="dk1"/>
                </a:solidFill>
                <a:effectLst/>
                <a:highlight>
                  <a:srgbClr val="FFFFFF"/>
                </a:highlight>
                <a:uFillTx/>
                <a:latin typeface="Arial"/>
                <a:ea typeface="Arial"/>
              </a:rPr>
              <a:t>A unique name for the task’s main function:</a:t>
            </a:r>
            <a:endParaRPr lang="en-US" sz="1800" b="0" u="none" strike="noStrike">
              <a:solidFill>
                <a:srgbClr val="000000"/>
              </a:solidFill>
              <a:effectLst/>
              <a:uFillTx/>
              <a:latin typeface="Arial"/>
            </a:endParaRPr>
          </a:p>
          <a:p>
            <a:pPr marL="1333440" lvl="2" indent="-285840" algn="l">
              <a:lnSpc>
                <a:spcPct val="95000"/>
              </a:lnSpc>
              <a:buClr>
                <a:srgbClr val="000000"/>
              </a:buClr>
              <a:buFont typeface="Arial"/>
              <a:buChar char="■"/>
            </a:pPr>
            <a:r>
              <a:rPr lang="en" sz="1800" b="0" u="none" strike="noStrike">
                <a:solidFill>
                  <a:schemeClr val="dk1"/>
                </a:solidFill>
                <a:effectLst/>
                <a:highlight>
                  <a:srgbClr val="FFFFFF"/>
                </a:highlight>
                <a:uFillTx/>
                <a:latin typeface="Arial"/>
                <a:ea typeface="Arial"/>
              </a:rPr>
              <a:t>Ex:  </a:t>
            </a:r>
            <a:r>
              <a:rPr lang="en" sz="1600" b="1" u="none" strike="noStrike">
                <a:solidFill>
                  <a:schemeClr val="dk1"/>
                </a:solidFill>
                <a:effectLst/>
                <a:highlight>
                  <a:srgbClr val="FFFFFF"/>
                </a:highlight>
                <a:uFillTx/>
                <a:latin typeface="Courier New"/>
                <a:ea typeface="Courier New"/>
              </a:rPr>
              <a:t>pybricks_class_basic_task1()</a:t>
            </a:r>
            <a:endParaRPr lang="en-US" sz="1600" b="0" u="none" strike="noStrike">
              <a:solidFill>
                <a:srgbClr val="000000"/>
              </a:solidFill>
              <a:effectLst/>
              <a:uFillTx/>
              <a:latin typeface="Arial"/>
            </a:endParaRPr>
          </a:p>
          <a:p>
            <a:pPr marL="1047600" indent="0" algn="l">
              <a:lnSpc>
                <a:spcPct val="95000"/>
              </a:lnSpc>
              <a:buNone/>
              <a:tabLst>
                <a:tab pos="0" algn="l"/>
              </a:tabLst>
            </a:pPr>
            <a:endParaRPr lang="en-US" sz="1800" b="0" u="none" strike="noStrike">
              <a:solidFill>
                <a:srgbClr val="000000"/>
              </a:solidFill>
              <a:effectLst/>
              <a:uFillTx/>
              <a:latin typeface="Arial"/>
            </a:endParaRPr>
          </a:p>
          <a:p>
            <a:pPr marL="876240" lvl="1" indent="-285840" algn="l">
              <a:lnSpc>
                <a:spcPct val="95000"/>
              </a:lnSpc>
              <a:buClr>
                <a:srgbClr val="000000"/>
              </a:buClr>
              <a:buFont typeface="Arial"/>
              <a:buChar char="○"/>
              <a:tabLst>
                <a:tab pos="0" algn="l"/>
              </a:tabLst>
            </a:pPr>
            <a:r>
              <a:rPr lang="en" sz="1800" b="0" u="none" strike="noStrike">
                <a:solidFill>
                  <a:schemeClr val="dk1"/>
                </a:solidFill>
                <a:effectLst/>
                <a:highlight>
                  <a:srgbClr val="FFFFFF"/>
                </a:highlight>
                <a:uFillTx/>
                <a:latin typeface="Arial"/>
                <a:ea typeface="Arial"/>
              </a:rPr>
              <a:t>The</a:t>
            </a:r>
            <a:r>
              <a:rPr lang="en" sz="1800" b="0" u="none" strike="noStrike">
                <a:solidFill>
                  <a:schemeClr val="dk1"/>
                </a:solidFill>
                <a:effectLst/>
                <a:highlight>
                  <a:srgbClr val="FFFFFF"/>
                </a:highlight>
                <a:uFillTx/>
                <a:latin typeface="Courier New"/>
                <a:ea typeface="Courier New"/>
              </a:rPr>
              <a:t> </a:t>
            </a:r>
            <a:r>
              <a:rPr lang="en" sz="1800" b="1" u="none" strike="noStrike">
                <a:solidFill>
                  <a:schemeClr val="dk1"/>
                </a:solidFill>
                <a:effectLst/>
                <a:highlight>
                  <a:srgbClr val="FFFFFF"/>
                </a:highlight>
                <a:uFillTx/>
                <a:latin typeface="Courier New"/>
                <a:ea typeface="Courier New"/>
              </a:rPr>
              <a:t>run_task(</a:t>
            </a:r>
            <a:r>
              <a:rPr lang="en-US" sz="1600" b="1" u="none" strike="noStrike">
                <a:solidFill>
                  <a:schemeClr val="dk1"/>
                </a:solidFill>
                <a:effectLst/>
                <a:highlight>
                  <a:srgbClr val="FFFFFF"/>
                </a:highlight>
                <a:uFillTx/>
                <a:latin typeface="Courier New"/>
                <a:ea typeface="Courier New"/>
              </a:rPr>
              <a:t>p</a:t>
            </a:r>
            <a:r>
              <a:rPr lang="en" sz="1600" b="1" u="none" strike="noStrike">
                <a:solidFill>
                  <a:schemeClr val="dk1"/>
                </a:solidFill>
                <a:effectLst/>
                <a:highlight>
                  <a:srgbClr val="FFFFFF"/>
                </a:highlight>
                <a:uFillTx/>
                <a:latin typeface="Courier New"/>
                <a:ea typeface="Courier New"/>
              </a:rPr>
              <a:t>ybricks_class_basic_task1</a:t>
            </a:r>
            <a:r>
              <a:rPr lang="en" sz="1800" b="1" u="none" strike="noStrike">
                <a:solidFill>
                  <a:schemeClr val="dk1"/>
                </a:solidFill>
                <a:effectLst/>
                <a:highlight>
                  <a:srgbClr val="FFFFFF"/>
                </a:highlight>
                <a:uFillTx/>
                <a:latin typeface="Courier New"/>
                <a:ea typeface="Courier New"/>
              </a:rPr>
              <a:t>)</a:t>
            </a:r>
            <a:r>
              <a:rPr lang="en" sz="1800" b="0" u="none" strike="noStrike">
                <a:solidFill>
                  <a:schemeClr val="dk1"/>
                </a:solidFill>
                <a:effectLst/>
                <a:highlight>
                  <a:srgbClr val="FFFFFF"/>
                </a:highlight>
                <a:uFillTx/>
                <a:latin typeface="Arial"/>
                <a:ea typeface="Arial"/>
              </a:rPr>
              <a:t>must be commented out if you want to run the task via </a:t>
            </a:r>
            <a:r>
              <a:rPr lang="en" sz="1800" b="1" u="none" strike="noStrike">
                <a:solidFill>
                  <a:schemeClr val="dk1"/>
                </a:solidFill>
                <a:effectLst/>
                <a:highlight>
                  <a:srgbClr val="FFFFFF"/>
                </a:highlight>
                <a:uFillTx/>
                <a:latin typeface="Courier New"/>
                <a:ea typeface="Arial"/>
              </a:rPr>
              <a:t>hub_menu()</a:t>
            </a:r>
            <a:endParaRPr lang="en-US" sz="1800" b="0" u="none" strike="noStrike">
              <a:solidFill>
                <a:srgbClr val="000000"/>
              </a:solidFill>
              <a:effectLst/>
              <a:uFillTx/>
              <a:latin typeface="Arial"/>
            </a:endParaRPr>
          </a:p>
          <a:p>
            <a:pPr marL="1333440" lvl="2" indent="-285840" algn="l">
              <a:lnSpc>
                <a:spcPct val="95000"/>
              </a:lnSpc>
              <a:buClr>
                <a:srgbClr val="000000"/>
              </a:buClr>
              <a:buFont typeface="Arial"/>
              <a:buChar char="■"/>
              <a:tabLst>
                <a:tab pos="0" algn="l"/>
              </a:tabLst>
            </a:pPr>
            <a:r>
              <a:rPr lang="en" sz="1800" b="0" u="none" strike="noStrike">
                <a:solidFill>
                  <a:schemeClr val="dk1"/>
                </a:solidFill>
                <a:effectLst/>
                <a:highlight>
                  <a:srgbClr val="FFFFFF"/>
                </a:highlight>
                <a:uFillTx/>
                <a:latin typeface="Arial"/>
                <a:ea typeface="Arial"/>
              </a:rPr>
              <a:t>Ex: </a:t>
            </a:r>
            <a:r>
              <a:rPr lang="en" sz="1800" b="1" u="none" strike="noStrike">
                <a:solidFill>
                  <a:schemeClr val="dk1"/>
                </a:solidFill>
                <a:effectLst/>
                <a:highlight>
                  <a:srgbClr val="FFFFFF"/>
                </a:highlight>
                <a:uFillTx/>
                <a:latin typeface="Courier New"/>
                <a:ea typeface="Courier New"/>
              </a:rPr>
              <a:t>#run_task(</a:t>
            </a:r>
            <a:r>
              <a:rPr lang="en" sz="1600" b="1" u="none" strike="noStrike">
                <a:solidFill>
                  <a:schemeClr val="dk1"/>
                </a:solidFill>
                <a:effectLst/>
                <a:highlight>
                  <a:srgbClr val="FFFFFF"/>
                </a:highlight>
                <a:uFillTx/>
                <a:latin typeface="Courier New"/>
                <a:ea typeface="Courier New"/>
              </a:rPr>
              <a:t>pybricks_class_basic_task1</a:t>
            </a:r>
            <a:r>
              <a:rPr lang="en" sz="1800" b="1" u="none" strike="noStrike">
                <a:solidFill>
                  <a:schemeClr val="dk1"/>
                </a:solidFill>
                <a:effectLst/>
                <a:highlight>
                  <a:srgbClr val="FFFFFF"/>
                </a:highlight>
                <a:uFillTx/>
                <a:latin typeface="Courier New"/>
                <a:ea typeface="Courier New"/>
              </a:rPr>
              <a:t>)</a:t>
            </a:r>
            <a:endParaRPr lang="en-US" sz="1800" b="0" u="none" strike="noStrike">
              <a:solidFill>
                <a:srgbClr val="000000"/>
              </a:solidFill>
              <a:effectLst/>
              <a:uFillTx/>
              <a:latin typeface="Arial"/>
            </a:endParaRPr>
          </a:p>
          <a:p>
            <a:pPr marL="1047600" indent="0" algn="l">
              <a:lnSpc>
                <a:spcPct val="95000"/>
              </a:lnSpc>
              <a:buNone/>
              <a:tabLst>
                <a:tab pos="0" algn="l"/>
              </a:tabLst>
            </a:pPr>
            <a:endParaRPr lang="en-US" sz="1800" b="0" u="none" strike="noStrike">
              <a:solidFill>
                <a:srgbClr val="000000"/>
              </a:solidFill>
              <a:effectLst/>
              <a:uFillTx/>
              <a:latin typeface="Arial"/>
            </a:endParaRPr>
          </a:p>
          <a:p>
            <a:pPr marL="870120" lvl="1" indent="-285840" algn="l">
              <a:lnSpc>
                <a:spcPct val="95000"/>
              </a:lnSpc>
              <a:buClr>
                <a:srgbClr val="000000"/>
              </a:buClr>
              <a:buFont typeface="Arial"/>
              <a:buChar char="○"/>
              <a:tabLst>
                <a:tab pos="0" algn="l"/>
              </a:tabLst>
            </a:pPr>
            <a:r>
              <a:rPr lang="en" sz="1800" b="0" u="none" strike="noStrike">
                <a:solidFill>
                  <a:schemeClr val="dk1"/>
                </a:solidFill>
                <a:effectLst/>
                <a:highlight>
                  <a:srgbClr val="FFFFFF"/>
                </a:highlight>
                <a:uFillTx/>
                <a:latin typeface="Arial"/>
                <a:ea typeface="Arial"/>
              </a:rPr>
              <a:t>Each task needs to import the library at the top of the file</a:t>
            </a:r>
            <a:endParaRPr lang="en-US" sz="1800" b="0" u="none" strike="noStrike">
              <a:solidFill>
                <a:srgbClr val="000000"/>
              </a:solidFill>
              <a:effectLst/>
              <a:uFillTx/>
              <a:latin typeface="Arial"/>
            </a:endParaRPr>
          </a:p>
          <a:p>
            <a:pPr marL="1333440" lvl="2" indent="-285840" algn="l">
              <a:lnSpc>
                <a:spcPct val="95000"/>
              </a:lnSpc>
              <a:buClr>
                <a:srgbClr val="000000"/>
              </a:buClr>
              <a:buFont typeface="Arial"/>
              <a:buChar char="■"/>
              <a:tabLst>
                <a:tab pos="0" algn="l"/>
              </a:tabLst>
            </a:pPr>
            <a:r>
              <a:rPr lang="en" sz="1800" b="0" u="none" strike="noStrike">
                <a:solidFill>
                  <a:schemeClr val="dk1"/>
                </a:solidFill>
                <a:effectLst/>
                <a:highlight>
                  <a:srgbClr val="FFFFFF"/>
                </a:highlight>
                <a:uFillTx/>
                <a:latin typeface="Arial"/>
                <a:ea typeface="Arial"/>
              </a:rPr>
              <a:t>Ex:</a:t>
            </a:r>
            <a:r>
              <a:rPr lang="en" sz="1800" b="0" u="none" strike="noStrike">
                <a:solidFill>
                  <a:schemeClr val="dk1"/>
                </a:solidFill>
                <a:effectLst/>
                <a:highlight>
                  <a:srgbClr val="FFFFFF"/>
                </a:highlight>
                <a:uFillTx/>
                <a:latin typeface="Courier New"/>
                <a:ea typeface="Courier New"/>
              </a:rPr>
              <a:t> </a:t>
            </a:r>
            <a:r>
              <a:rPr lang="en" sz="1600" b="1" u="none" strike="noStrike">
                <a:solidFill>
                  <a:schemeClr val="dk1"/>
                </a:solidFill>
                <a:effectLst/>
                <a:highlight>
                  <a:srgbClr val="FFFFFF"/>
                </a:highlight>
                <a:uFillTx/>
                <a:latin typeface="Courier New"/>
                <a:ea typeface="Courier New"/>
              </a:rPr>
              <a:t>from pybricks_class_basic_lib_rev1 import *</a:t>
            </a:r>
            <a:endParaRPr lang="en-US" sz="1600" b="0" u="none" strike="noStrike">
              <a:solidFill>
                <a:srgbClr val="000000"/>
              </a:solidFill>
              <a:effectLst/>
              <a:uFillTx/>
              <a:latin typeface="Arial"/>
            </a:endParaRPr>
          </a:p>
          <a:p>
            <a:pPr indent="0" algn="l">
              <a:lnSpc>
                <a:spcPct val="95000"/>
              </a:lnSpc>
              <a:buNone/>
              <a:tabLst>
                <a:tab pos="0" algn="l"/>
              </a:tabLst>
            </a:pPr>
            <a:endParaRPr lang="en-US" sz="1600" b="0" u="none" strike="noStrike">
              <a:solidFill>
                <a:srgbClr val="000000"/>
              </a:solidFill>
              <a:effectLst/>
              <a:uFillTx/>
              <a:latin typeface="Arial"/>
            </a:endParaRPr>
          </a:p>
          <a:p>
            <a:pPr marL="476280" indent="-343080" algn="l">
              <a:lnSpc>
                <a:spcPct val="95000"/>
              </a:lnSpc>
              <a:buClr>
                <a:srgbClr val="000000"/>
              </a:buClr>
              <a:buFont typeface="Arial"/>
              <a:buChar char="●"/>
              <a:tabLst>
                <a:tab pos="0" algn="l"/>
              </a:tabLst>
            </a:pPr>
            <a:r>
              <a:rPr lang="en" sz="2000" b="0" u="none" strike="noStrike">
                <a:solidFill>
                  <a:schemeClr val="dk1"/>
                </a:solidFill>
                <a:effectLst/>
                <a:highlight>
                  <a:srgbClr val="FFFFFF"/>
                </a:highlight>
                <a:uFillTx/>
                <a:latin typeface="Arial"/>
                <a:ea typeface="Courier New"/>
              </a:rPr>
              <a:t>The following </a:t>
            </a:r>
            <a:r>
              <a:rPr lang="en" sz="2000" b="1" u="none" strike="noStrike">
                <a:solidFill>
                  <a:schemeClr val="dk1"/>
                </a:solidFill>
                <a:effectLst/>
                <a:highlight>
                  <a:srgbClr val="FFFFFF"/>
                </a:highlight>
                <a:uFillTx/>
                <a:latin typeface="Courier New"/>
                <a:ea typeface="Courier New"/>
              </a:rPr>
              <a:t>hub_menu()</a:t>
            </a:r>
            <a:r>
              <a:rPr lang="en" sz="2000" b="0" u="none" strike="noStrike">
                <a:solidFill>
                  <a:schemeClr val="dk1"/>
                </a:solidFill>
                <a:effectLst/>
                <a:highlight>
                  <a:srgbClr val="FFFFFF"/>
                </a:highlight>
                <a:uFillTx/>
                <a:latin typeface="Arial"/>
                <a:ea typeface="Courier New"/>
              </a:rPr>
              <a:t> example is for the Python code not the Block Code</a:t>
            </a:r>
            <a:endParaRPr lang="en-US" sz="2000" b="0" u="none" strike="noStrike">
              <a:solidFill>
                <a:srgbClr val="000000"/>
              </a:solidFill>
              <a:effectLst/>
              <a:uFillTx/>
              <a:latin typeface="Arial"/>
            </a:endParaRPr>
          </a:p>
          <a:p>
            <a:pPr indent="0" algn="l">
              <a:lnSpc>
                <a:spcPct val="95000"/>
              </a:lnSpc>
              <a:buNone/>
              <a:tabLst>
                <a:tab pos="0" algn="l"/>
              </a:tabLst>
            </a:pPr>
            <a:endParaRPr lang="en-US" sz="1850" b="0" u="none" strike="noStrike">
              <a:solidFill>
                <a:srgbClr val="000000"/>
              </a:solidFill>
              <a:effectLst/>
              <a:uFillTx/>
              <a:latin typeface="Arial"/>
            </a:endParaRPr>
          </a:p>
        </p:txBody>
      </p:sp>
      <p:sp>
        <p:nvSpPr>
          <p:cNvPr id="211" name="PlaceHolder 3"/>
          <p:cNvSpPr>
            <a:spLocks noGrp="1"/>
          </p:cNvSpPr>
          <p:nvPr>
            <p:ph type="sldNum" idx="4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D7102E7-67C5-4A29-9931-07AB0A1149CF}" type="slidenum">
              <a:rPr lang="en" sz="1000" b="0" u="none" strike="noStrike">
                <a:solidFill>
                  <a:schemeClr val="dk2"/>
                </a:solidFill>
                <a:effectLst/>
                <a:uFillTx/>
                <a:latin typeface="Arial"/>
                <a:ea typeface="Arial"/>
              </a:rPr>
              <a:t>37</a:t>
            </a:fld>
            <a:endParaRPr lang="en-US" sz="1000" b="0" u="none" strike="noStrike">
              <a:solidFill>
                <a:srgbClr val="000000"/>
              </a:solidFill>
              <a:effectLst/>
              <a:uFillTx/>
              <a:latin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pybricks_class_basic_task1() – Revised for </a:t>
            </a:r>
            <a:r>
              <a:rPr lang="en" sz="2500" b="1" u="none" strike="noStrike">
                <a:solidFill>
                  <a:schemeClr val="lt1"/>
                </a:solidFill>
                <a:effectLst/>
                <a:uFillTx/>
                <a:latin typeface="Courier New"/>
                <a:ea typeface="Arial"/>
              </a:rPr>
              <a:t>hub_menu()</a:t>
            </a:r>
            <a:endParaRPr lang="en-US" sz="2500" b="0" u="none" strike="noStrike">
              <a:solidFill>
                <a:srgbClr val="000000"/>
              </a:solidFill>
              <a:effectLst/>
              <a:uFillTx/>
              <a:latin typeface="Arial"/>
            </a:endParaRPr>
          </a:p>
          <a:p>
            <a:pPr indent="0" algn="l">
              <a:lnSpc>
                <a:spcPct val="100000"/>
              </a:lnSpc>
              <a:buNone/>
              <a:tabLst>
                <a:tab pos="0" algn="l"/>
              </a:tabLst>
            </a:pPr>
            <a:endParaRPr lang="en-US" sz="2250" b="0" u="none" strike="noStrike">
              <a:solidFill>
                <a:srgbClr val="000000"/>
              </a:solidFill>
              <a:effectLst/>
              <a:uFillTx/>
              <a:latin typeface="Arial"/>
            </a:endParaRPr>
          </a:p>
        </p:txBody>
      </p:sp>
      <p:sp>
        <p:nvSpPr>
          <p:cNvPr id="213" name="PlaceHolder 2"/>
          <p:cNvSpPr>
            <a:spLocks noGrp="1"/>
          </p:cNvSpPr>
          <p:nvPr>
            <p:ph type="sldNum" idx="4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4FA9F286-5E71-4A25-8290-6D4B85833569}" type="slidenum">
              <a:rPr lang="en" sz="1000" b="0" u="none" strike="noStrike">
                <a:solidFill>
                  <a:schemeClr val="dk2"/>
                </a:solidFill>
                <a:effectLst/>
                <a:uFillTx/>
                <a:latin typeface="Arial"/>
                <a:ea typeface="Arial"/>
              </a:rPr>
              <a:t>38</a:t>
            </a:fld>
            <a:endParaRPr lang="en-US" sz="1000" b="0" u="none" strike="noStrike">
              <a:solidFill>
                <a:srgbClr val="000000"/>
              </a:solidFill>
              <a:effectLst/>
              <a:uFillTx/>
              <a:latin typeface="Times New Roman"/>
            </a:endParaRPr>
          </a:p>
        </p:txBody>
      </p:sp>
      <p:sp>
        <p:nvSpPr>
          <p:cNvPr id="214" name="TextBox 10"/>
          <p:cNvSpPr/>
          <p:nvPr/>
        </p:nvSpPr>
        <p:spPr>
          <a:xfrm>
            <a:off x="146520" y="709920"/>
            <a:ext cx="5735160" cy="383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201"/>
              </a:spcAft>
            </a:pPr>
            <a:r>
              <a:rPr lang="en-US" sz="1000" b="1" u="none" strike="noStrike">
                <a:solidFill>
                  <a:srgbClr val="008E00"/>
                </a:solidFill>
                <a:effectLst/>
                <a:uFillTx/>
                <a:latin typeface="Menlo"/>
                <a:ea typeface="Times New Roman"/>
              </a:rPr>
              <a:t># Pybricks Class Task 1</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C800A4"/>
                </a:solidFill>
                <a:effectLst/>
                <a:uFillTx/>
                <a:latin typeface="Menlo"/>
                <a:ea typeface="Times New Roman"/>
              </a:rPr>
              <a:t>from</a:t>
            </a:r>
            <a:r>
              <a:rPr lang="en-US" sz="1000" b="1" u="none" strike="noStrike">
                <a:solidFill>
                  <a:srgbClr val="000000"/>
                </a:solidFill>
                <a:effectLst/>
                <a:uFillTx/>
                <a:latin typeface="Menlo"/>
                <a:ea typeface="Times New Roman"/>
              </a:rPr>
              <a:t> pybricks_class_basic_lib_rev1 </a:t>
            </a:r>
            <a:r>
              <a:rPr lang="en-US" sz="1000" b="1" u="none" strike="noStrike">
                <a:solidFill>
                  <a:srgbClr val="C800A4"/>
                </a:solidFill>
                <a:effectLst/>
                <a:uFillTx/>
                <a:latin typeface="Menlo"/>
                <a:ea typeface="Times New Roman"/>
              </a:rPr>
              <a:t>import</a:t>
            </a:r>
            <a:r>
              <a:rPr lang="en-US" sz="1000" b="1" u="none" strike="noStrike">
                <a:solidFill>
                  <a:srgbClr val="000000"/>
                </a:solidFill>
                <a:effectLst/>
                <a:uFillTx/>
                <a:latin typeface="Menlo"/>
                <a:ea typeface="Times New Roman"/>
              </a:rPr>
              <a:t> </a:t>
            </a:r>
            <a:r>
              <a:rPr lang="en-US" sz="1000" b="1" u="none" strike="noStrike">
                <a:solidFill>
                  <a:srgbClr val="C800A4"/>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C800A4"/>
                </a:solidFill>
                <a:effectLst/>
                <a:uFillTx/>
                <a:latin typeface="Menlo"/>
                <a:ea typeface="Times New Roman"/>
              </a:rPr>
              <a:t>def</a:t>
            </a:r>
            <a:r>
              <a:rPr lang="en-US" sz="1000" b="1" u="none" strike="noStrike">
                <a:solidFill>
                  <a:srgbClr val="000000"/>
                </a:solidFill>
                <a:effectLst/>
                <a:uFillTx/>
                <a:latin typeface="Menlo"/>
                <a:ea typeface="Times New Roman"/>
              </a:rPr>
              <a:t> pybricks_class_basic_task1():</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
            </a:r>
            <a:r>
              <a:rPr lang="en-US" sz="1000" b="1" u="none" strike="noStrike">
                <a:solidFill>
                  <a:srgbClr val="008E00"/>
                </a:solidFill>
                <a:effectLst/>
                <a:uFillTx/>
                <a:latin typeface="Menlo"/>
                <a:ea typeface="Times New Roman"/>
              </a:rPr>
              <a:t># Pybricks Class Block Coding Task1</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
            </a:r>
            <a:r>
              <a:rPr lang="en-US" sz="1000" b="1" u="none" strike="noStrike">
                <a:solidFill>
                  <a:srgbClr val="450084"/>
                </a:solidFill>
                <a:effectLst/>
                <a:uFillTx/>
                <a:latin typeface="Menlo"/>
                <a:ea typeface="Times New Roman"/>
              </a:rPr>
              <a:t>print</a:t>
            </a:r>
            <a:r>
              <a:rPr lang="en-US" sz="1000" b="1" u="none" strike="noStrike">
                <a:solidFill>
                  <a:srgbClr val="000000"/>
                </a:solidFill>
                <a:effectLst/>
                <a:uFillTx/>
                <a:latin typeface="Menlo"/>
                <a:ea typeface="Times New Roman"/>
              </a:rPr>
              <a:t>(</a:t>
            </a:r>
            <a:r>
              <a:rPr lang="en-US" sz="1000" b="1" u="none" strike="noStrike">
                <a:solidFill>
                  <a:srgbClr val="DF0002"/>
                </a:solidFill>
                <a:effectLst/>
                <a:uFillTx/>
                <a:latin typeface="Menlo"/>
                <a:ea typeface="Times New Roman"/>
              </a:rPr>
              <a:t>"Running Pybricks Class Task 1"</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
            </a:r>
            <a:r>
              <a:rPr lang="en-US" sz="1000" b="1" u="none" strike="noStrike">
                <a:solidFill>
                  <a:srgbClr val="450084"/>
                </a:solidFill>
                <a:effectLst/>
                <a:uFillTx/>
                <a:latin typeface="Menlo"/>
                <a:ea typeface="Times New Roman"/>
              </a:rPr>
              <a:t>print</a:t>
            </a:r>
            <a:r>
              <a:rPr lang="en-US" sz="1000" b="1" u="none" strike="noStrike">
                <a:solidFill>
                  <a:srgbClr val="000000"/>
                </a:solidFill>
                <a:effectLst/>
                <a:uFillTx/>
                <a:latin typeface="Menlo"/>
                <a:ea typeface="Times New Roman"/>
              </a:rPr>
              <a:t>(</a:t>
            </a:r>
            <a:r>
              <a:rPr lang="en-US" sz="1000" b="1" u="none" strike="noStrike">
                <a:solidFill>
                  <a:srgbClr val="DF0002"/>
                </a:solidFill>
                <a:effectLst/>
                <a:uFillTx/>
                <a:latin typeface="Menlo"/>
                <a:ea typeface="Times New Roman"/>
              </a:rPr>
              <a:t>'Configure Robot'</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drive_base.use_gyro(</a:t>
            </a:r>
            <a:r>
              <a:rPr lang="en-US" sz="1000" b="1" u="none" strike="noStrike">
                <a:solidFill>
                  <a:srgbClr val="C800A4"/>
                </a:solidFill>
                <a:effectLst/>
                <a:uFillTx/>
                <a:latin typeface="Menlo"/>
                <a:ea typeface="Times New Roman"/>
              </a:rPr>
              <a:t>True</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drive_base.settings(straight_speed=</a:t>
            </a:r>
            <a:r>
              <a:rPr lang="en-US" sz="1000" b="1" u="none" strike="noStrike">
                <a:solidFill>
                  <a:srgbClr val="3A00DC"/>
                </a:solidFill>
                <a:effectLst/>
                <a:uFillTx/>
                <a:latin typeface="Menlo"/>
                <a:ea typeface="Times New Roman"/>
              </a:rPr>
              <a:t>200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drive_base.settings(straight_acceleration=</a:t>
            </a:r>
            <a:r>
              <a:rPr lang="en-US" sz="1000" b="1" u="none" strike="noStrike">
                <a:solidFill>
                  <a:srgbClr val="3A00DC"/>
                </a:solidFill>
                <a:effectLst/>
                <a:uFillTx/>
                <a:latin typeface="Menlo"/>
                <a:ea typeface="Times New Roman"/>
              </a:rPr>
              <a:t>900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drive_base.settings(turn_rate=</a:t>
            </a:r>
            <a:r>
              <a:rPr lang="en-US" sz="1000" b="1" u="none" strike="noStrike">
                <a:solidFill>
                  <a:srgbClr val="3A00DC"/>
                </a:solidFill>
                <a:effectLst/>
                <a:uFillTx/>
                <a:latin typeface="Menlo"/>
                <a:ea typeface="Times New Roman"/>
              </a:rPr>
              <a:t>600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
            </a:r>
            <a:r>
              <a:rPr lang="en-US" sz="1000" b="1" u="none" strike="noStrike">
                <a:solidFill>
                  <a:srgbClr val="450084"/>
                </a:solidFill>
                <a:effectLst/>
                <a:uFillTx/>
                <a:latin typeface="Menlo"/>
                <a:ea typeface="Times New Roman"/>
              </a:rPr>
              <a:t>print</a:t>
            </a:r>
            <a:r>
              <a:rPr lang="en-US" sz="1000" b="1" u="none" strike="noStrike">
                <a:solidFill>
                  <a:srgbClr val="000000"/>
                </a:solidFill>
                <a:effectLst/>
                <a:uFillTx/>
                <a:latin typeface="Menlo"/>
                <a:ea typeface="Times New Roman"/>
              </a:rPr>
              <a:t>(</a:t>
            </a:r>
            <a:r>
              <a:rPr lang="en-US" sz="1000" b="1" u="none" strike="noStrike">
                <a:solidFill>
                  <a:srgbClr val="DF0002"/>
                </a:solidFill>
                <a:effectLst/>
                <a:uFillTx/>
                <a:latin typeface="Menlo"/>
                <a:ea typeface="Times New Roman"/>
              </a:rPr>
              <a:t>'Move the robot forward, move attachment, move back, and turn'</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drive_base.straight(</a:t>
            </a:r>
            <a:r>
              <a:rPr lang="en-US" sz="1000" b="1" u="none" strike="noStrike">
                <a:solidFill>
                  <a:srgbClr val="3A00DC"/>
                </a:solidFill>
                <a:effectLst/>
                <a:uFillTx/>
                <a:latin typeface="Menlo"/>
                <a:ea typeface="Times New Roman"/>
              </a:rPr>
              <a:t>300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attachment_motor.run_angle(</a:t>
            </a:r>
            <a:r>
              <a:rPr lang="en-US" sz="1000" b="1" u="none" strike="noStrike">
                <a:solidFill>
                  <a:srgbClr val="3A00DC"/>
                </a:solidFill>
                <a:effectLst/>
                <a:uFillTx/>
                <a:latin typeface="Menlo"/>
                <a:ea typeface="Times New Roman"/>
              </a:rPr>
              <a:t>900</a:t>
            </a:r>
            <a:r>
              <a:rPr lang="en-US" sz="1000" b="1" u="none" strike="noStrike">
                <a:solidFill>
                  <a:srgbClr val="000000"/>
                </a:solidFill>
                <a:effectLst/>
                <a:uFillTx/>
                <a:latin typeface="Menlo"/>
                <a:ea typeface="Times New Roman"/>
              </a:rPr>
              <a:t>, </a:t>
            </a:r>
            <a:r>
              <a:rPr lang="en-US" sz="1000" b="1" u="none" strike="noStrike">
                <a:solidFill>
                  <a:srgbClr val="C800A4"/>
                </a:solidFill>
                <a:effectLst/>
                <a:uFillTx/>
                <a:latin typeface="Menlo"/>
                <a:ea typeface="Times New Roman"/>
              </a:rPr>
              <a:t>-</a:t>
            </a:r>
            <a:r>
              <a:rPr lang="en-US" sz="1000" b="1" u="none" strike="noStrike">
                <a:solidFill>
                  <a:srgbClr val="3A00DC"/>
                </a:solidFill>
                <a:effectLst/>
                <a:uFillTx/>
                <a:latin typeface="Menlo"/>
                <a:ea typeface="Times New Roman"/>
              </a:rPr>
              <a:t>190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wait(</a:t>
            </a:r>
            <a:r>
              <a:rPr lang="en-US" sz="1000" b="1" u="none" strike="noStrike">
                <a:solidFill>
                  <a:srgbClr val="3A00DC"/>
                </a:solidFill>
                <a:effectLst/>
                <a:uFillTx/>
                <a:latin typeface="Menlo"/>
                <a:ea typeface="Times New Roman"/>
              </a:rPr>
              <a:t>1500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attachment_motor.run_angle(</a:t>
            </a:r>
            <a:r>
              <a:rPr lang="en-US" sz="1000" b="1" u="none" strike="noStrike">
                <a:solidFill>
                  <a:srgbClr val="3A00DC"/>
                </a:solidFill>
                <a:effectLst/>
                <a:uFillTx/>
                <a:latin typeface="Menlo"/>
                <a:ea typeface="Times New Roman"/>
              </a:rPr>
              <a:t>900</a:t>
            </a:r>
            <a:r>
              <a:rPr lang="en-US" sz="1000" b="1" u="none" strike="noStrike">
                <a:solidFill>
                  <a:srgbClr val="000000"/>
                </a:solidFill>
                <a:effectLst/>
                <a:uFillTx/>
                <a:latin typeface="Menlo"/>
                <a:ea typeface="Times New Roman"/>
              </a:rPr>
              <a:t>, </a:t>
            </a:r>
            <a:r>
              <a:rPr lang="en-US" sz="1000" b="1" u="none" strike="noStrike">
                <a:solidFill>
                  <a:srgbClr val="3A00DC"/>
                </a:solidFill>
                <a:effectLst/>
                <a:uFillTx/>
                <a:latin typeface="Menlo"/>
                <a:ea typeface="Times New Roman"/>
              </a:rPr>
              <a:t>190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drive_base.straight(</a:t>
            </a:r>
            <a:r>
              <a:rPr lang="en-US" sz="1000" b="1" u="none" strike="noStrike">
                <a:solidFill>
                  <a:srgbClr val="C800A4"/>
                </a:solidFill>
                <a:effectLst/>
                <a:uFillTx/>
                <a:latin typeface="Menlo"/>
                <a:ea typeface="Times New Roman"/>
              </a:rPr>
              <a:t>-</a:t>
            </a:r>
            <a:r>
              <a:rPr lang="en-US" sz="1000" b="1" u="none" strike="noStrike">
                <a:solidFill>
                  <a:srgbClr val="3A00DC"/>
                </a:solidFill>
                <a:effectLst/>
                <a:uFillTx/>
                <a:latin typeface="Menlo"/>
                <a:ea typeface="Times New Roman"/>
              </a:rPr>
              <a:t>150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drive_base.turn(</a:t>
            </a:r>
            <a:r>
              <a:rPr lang="en-US" sz="1000" b="1" u="none" strike="noStrike">
                <a:solidFill>
                  <a:srgbClr val="3A00DC"/>
                </a:solidFill>
                <a:effectLst/>
                <a:uFillTx/>
                <a:latin typeface="Menlo"/>
                <a:ea typeface="Times New Roman"/>
              </a:rPr>
              <a:t>90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drive_base.straight(</a:t>
            </a:r>
            <a:r>
              <a:rPr lang="en-US" sz="1000" b="1" u="none" strike="noStrike">
                <a:solidFill>
                  <a:srgbClr val="3A00DC"/>
                </a:solidFill>
                <a:effectLst/>
                <a:uFillTx/>
                <a:latin typeface="Menlo"/>
                <a:ea typeface="Times New Roman"/>
              </a:rPr>
              <a:t>200</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a:t>
            </a:r>
            <a:r>
              <a:rPr lang="en-US" sz="1000" b="1" u="none" strike="noStrike">
                <a:solidFill>
                  <a:srgbClr val="450084"/>
                </a:solidFill>
                <a:effectLst/>
                <a:uFillTx/>
                <a:latin typeface="Menlo"/>
                <a:ea typeface="Times New Roman"/>
              </a:rPr>
              <a:t>print</a:t>
            </a:r>
            <a:r>
              <a:rPr lang="en-US" sz="1000" b="1" u="none" strike="noStrike">
                <a:solidFill>
                  <a:srgbClr val="000000"/>
                </a:solidFill>
                <a:effectLst/>
                <a:uFillTx/>
                <a:latin typeface="Menlo"/>
                <a:ea typeface="Times New Roman"/>
              </a:rPr>
              <a:t>(</a:t>
            </a:r>
            <a:r>
              <a:rPr lang="en-US" sz="1000" b="1" u="none" strike="noStrike">
                <a:solidFill>
                  <a:srgbClr val="DF0002"/>
                </a:solidFill>
                <a:effectLst/>
                <a:uFillTx/>
                <a:latin typeface="Menlo"/>
                <a:ea typeface="Times New Roman"/>
              </a:rPr>
              <a:t>'Stop moving robot'</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0000"/>
                </a:solidFill>
                <a:effectLst/>
                <a:uFillTx/>
                <a:latin typeface="Menlo"/>
                <a:ea typeface="Times New Roman"/>
              </a:rPr>
              <a:t>   drive_base.use_gyro(</a:t>
            </a:r>
            <a:r>
              <a:rPr lang="en-US" sz="1000" b="1" u="none" strike="noStrike">
                <a:solidFill>
                  <a:srgbClr val="C800A4"/>
                </a:solidFill>
                <a:effectLst/>
                <a:uFillTx/>
                <a:latin typeface="Menlo"/>
                <a:ea typeface="Times New Roman"/>
              </a:rPr>
              <a:t>False</a:t>
            </a:r>
            <a:r>
              <a:rPr lang="en-US" sz="1000" b="1" u="none" strike="noStrike">
                <a:solidFill>
                  <a:srgbClr val="000000"/>
                </a:solidFill>
                <a:effectLst/>
                <a:uFillTx/>
                <a:latin typeface="Menlo"/>
                <a:ea typeface="Times New Roman"/>
              </a:rPr>
              <a:t>)</a:t>
            </a:r>
            <a:endParaRPr lang="en-US" sz="1000" b="0" u="none" strike="noStrike">
              <a:solidFill>
                <a:srgbClr val="000000"/>
              </a:solidFill>
              <a:effectLst/>
              <a:uFillTx/>
              <a:latin typeface="Arial"/>
            </a:endParaRPr>
          </a:p>
          <a:p>
            <a:pPr>
              <a:lnSpc>
                <a:spcPct val="100000"/>
              </a:lnSpc>
              <a:spcAft>
                <a:spcPts val="201"/>
              </a:spcAft>
            </a:pPr>
            <a:r>
              <a:rPr lang="en-US" sz="1000" b="1" u="none" strike="noStrike">
                <a:solidFill>
                  <a:srgbClr val="008E00"/>
                </a:solidFill>
                <a:effectLst/>
                <a:uFillTx/>
                <a:latin typeface="Menlo"/>
                <a:ea typeface="Times New Roman"/>
              </a:rPr>
              <a:t>#run_task(pybricks_class_task1())</a:t>
            </a:r>
            <a:endParaRPr lang="en-US" sz="10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0" u="none" strike="noStrike">
                <a:solidFill>
                  <a:schemeClr val="lt1"/>
                </a:solidFill>
                <a:effectLst/>
                <a:uFillTx/>
                <a:latin typeface="Arial"/>
                <a:ea typeface="Arial"/>
              </a:rPr>
              <a:t>Basic Robot Library </a:t>
            </a:r>
            <a:r>
              <a:rPr lang="en-US" sz="1600" b="1" u="none" strike="noStrike">
                <a:solidFill>
                  <a:schemeClr val="lt1"/>
                </a:solidFill>
                <a:effectLst/>
                <a:uFillTx/>
                <a:latin typeface="Courier New"/>
                <a:ea typeface="Arial"/>
              </a:rPr>
              <a:t>(</a:t>
            </a:r>
            <a:r>
              <a:rPr lang="en-US" sz="1600" b="1" u="none" strike="noStrike">
                <a:solidFill>
                  <a:schemeClr val="lt1"/>
                </a:solidFill>
                <a:effectLst/>
                <a:uFillTx/>
                <a:latin typeface="Courier New"/>
                <a:ea typeface="Times New Roman"/>
              </a:rPr>
              <a:t>pybricks_class_basic_lib_rev1.py)</a:t>
            </a:r>
            <a:endParaRPr lang="en-US" sz="1600" b="0" u="none" strike="noStrike">
              <a:solidFill>
                <a:srgbClr val="000000"/>
              </a:solidFill>
              <a:effectLst/>
              <a:uFillTx/>
              <a:latin typeface="Arial"/>
            </a:endParaRPr>
          </a:p>
        </p:txBody>
      </p:sp>
      <p:sp>
        <p:nvSpPr>
          <p:cNvPr id="216" name="PlaceHolder 2"/>
          <p:cNvSpPr>
            <a:spLocks noGrp="1"/>
          </p:cNvSpPr>
          <p:nvPr>
            <p:ph type="sldNum" idx="5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D72F567-881E-438C-9A25-18656FAE11AF}" type="slidenum">
              <a:rPr lang="en" sz="1000" b="0" u="none" strike="noStrike">
                <a:solidFill>
                  <a:schemeClr val="dk2"/>
                </a:solidFill>
                <a:effectLst/>
                <a:uFillTx/>
                <a:latin typeface="Arial"/>
                <a:ea typeface="Arial"/>
              </a:rPr>
              <a:t>39</a:t>
            </a:fld>
            <a:endParaRPr lang="en-US" sz="1000" b="0" u="none" strike="noStrike">
              <a:solidFill>
                <a:srgbClr val="000000"/>
              </a:solidFill>
              <a:effectLst/>
              <a:uFillTx/>
              <a:latin typeface="Times New Roman"/>
            </a:endParaRPr>
          </a:p>
        </p:txBody>
      </p:sp>
      <p:sp>
        <p:nvSpPr>
          <p:cNvPr id="217" name="TextBox 5"/>
          <p:cNvSpPr/>
          <p:nvPr/>
        </p:nvSpPr>
        <p:spPr>
          <a:xfrm>
            <a:off x="146520" y="926640"/>
            <a:ext cx="7123680" cy="240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pybricks.hubs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PrimeHub</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pybricks.pupdevices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Motor, ColorSensor, UltrasonicSensor, ForceSensor</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pybricks.parameters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Button, Color, Direction, Port, Side, Stop</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pybricks.robotics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DriveBase</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pybricks.tools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wait, StopWatch, multitask, run_task, hub_menu</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 </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8E00"/>
                </a:solidFill>
                <a:effectLst/>
                <a:uFillTx/>
                <a:latin typeface="Menlo"/>
                <a:ea typeface="Times New Roman"/>
              </a:rPr>
              <a:t># Set up all devices.</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prime_hub = PrimeHub()</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right_motor = Motor(Port.</a:t>
            </a:r>
            <a:r>
              <a:rPr lang="en-US" sz="1100" b="1" u="none" strike="noStrike">
                <a:solidFill>
                  <a:srgbClr val="450084"/>
                </a:solidFill>
                <a:effectLst/>
                <a:uFillTx/>
                <a:latin typeface="Menlo"/>
                <a:ea typeface="Times New Roman"/>
              </a:rPr>
              <a:t>A</a:t>
            </a:r>
            <a:r>
              <a:rPr lang="en-US" sz="1100" b="1" u="none" strike="noStrike">
                <a:solidFill>
                  <a:srgbClr val="000000"/>
                </a:solidFill>
                <a:effectLst/>
                <a:uFillTx/>
                <a:latin typeface="Menlo"/>
                <a:ea typeface="Times New Roman"/>
              </a:rPr>
              <a:t>, Direction.</a:t>
            </a:r>
            <a:r>
              <a:rPr lang="en-US" sz="1100" b="1" u="none" strike="noStrike">
                <a:solidFill>
                  <a:srgbClr val="450084"/>
                </a:solidFill>
                <a:effectLst/>
                <a:uFillTx/>
                <a:latin typeface="Menlo"/>
                <a:ea typeface="Times New Roman"/>
              </a:rPr>
              <a:t>CLOCKWISE</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left_motor = Motor(Port.</a:t>
            </a:r>
            <a:r>
              <a:rPr lang="en-US" sz="1100" b="1" u="none" strike="noStrike">
                <a:solidFill>
                  <a:srgbClr val="450084"/>
                </a:solidFill>
                <a:effectLst/>
                <a:uFillTx/>
                <a:latin typeface="Menlo"/>
                <a:ea typeface="Times New Roman"/>
              </a:rPr>
              <a:t>B</a:t>
            </a:r>
            <a:r>
              <a:rPr lang="en-US" sz="1100" b="1" u="none" strike="noStrike">
                <a:solidFill>
                  <a:srgbClr val="000000"/>
                </a:solidFill>
                <a:effectLst/>
                <a:uFillTx/>
                <a:latin typeface="Menlo"/>
                <a:ea typeface="Times New Roman"/>
              </a:rPr>
              <a:t>, Direction.</a:t>
            </a:r>
            <a:r>
              <a:rPr lang="en-US" sz="1100" b="1" u="none" strike="noStrike">
                <a:solidFill>
                  <a:srgbClr val="450084"/>
                </a:solidFill>
                <a:effectLst/>
                <a:uFillTx/>
                <a:latin typeface="Menlo"/>
                <a:ea typeface="Times New Roman"/>
              </a:rPr>
              <a:t>COUNTERCLOCKWISE</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attachment_motor = Motor(Port.</a:t>
            </a:r>
            <a:r>
              <a:rPr lang="en-US" sz="1100" b="1" u="none" strike="noStrike">
                <a:solidFill>
                  <a:srgbClr val="450084"/>
                </a:solidFill>
                <a:effectLst/>
                <a:uFillTx/>
                <a:latin typeface="Menlo"/>
                <a:ea typeface="Times New Roman"/>
              </a:rPr>
              <a:t>C</a:t>
            </a:r>
            <a:r>
              <a:rPr lang="en-US" sz="1100" b="1" u="none" strike="noStrike">
                <a:solidFill>
                  <a:srgbClr val="000000"/>
                </a:solidFill>
                <a:effectLst/>
                <a:uFillTx/>
                <a:latin typeface="Menlo"/>
                <a:ea typeface="Times New Roman"/>
              </a:rPr>
              <a:t>, Direction.</a:t>
            </a:r>
            <a:r>
              <a:rPr lang="en-US" sz="1100" b="1" u="none" strike="noStrike">
                <a:solidFill>
                  <a:srgbClr val="450084"/>
                </a:solidFill>
                <a:effectLst/>
                <a:uFillTx/>
                <a:latin typeface="Menlo"/>
                <a:ea typeface="Times New Roman"/>
              </a:rPr>
              <a:t>CLOCKWISE</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drive_base = DriveBase(left_motor, right_motor, </a:t>
            </a:r>
            <a:r>
              <a:rPr lang="en-US" sz="1100" b="1" u="none" strike="noStrike">
                <a:solidFill>
                  <a:srgbClr val="3A00DC"/>
                </a:solidFill>
                <a:effectLst/>
                <a:uFillTx/>
                <a:latin typeface="Menlo"/>
                <a:ea typeface="Times New Roman"/>
              </a:rPr>
              <a:t>62.4</a:t>
            </a:r>
            <a:r>
              <a:rPr lang="en-US" sz="1100" b="1" u="none" strike="noStrike">
                <a:solidFill>
                  <a:srgbClr val="000000"/>
                </a:solidFill>
                <a:effectLst/>
                <a:uFillTx/>
                <a:latin typeface="Menlo"/>
                <a:ea typeface="Times New Roman"/>
              </a:rPr>
              <a:t>, </a:t>
            </a:r>
            <a:r>
              <a:rPr lang="en-US" sz="1100" b="1" u="none" strike="noStrike">
                <a:solidFill>
                  <a:srgbClr val="3A00DC"/>
                </a:solidFill>
                <a:effectLst/>
                <a:uFillTx/>
                <a:latin typeface="Menlo"/>
                <a:ea typeface="Times New Roman"/>
              </a:rPr>
              <a:t>204</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p:txBody>
      </p:sp>
      <p:sp>
        <p:nvSpPr>
          <p:cNvPr id="218" name="TextBox 2"/>
          <p:cNvSpPr/>
          <p:nvPr/>
        </p:nvSpPr>
        <p:spPr>
          <a:xfrm>
            <a:off x="7345080" y="1018440"/>
            <a:ext cx="156816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Load all Pybricks functions  you will need</a:t>
            </a:r>
            <a:endParaRPr lang="en-US" sz="1400" b="0" u="none" strike="noStrike">
              <a:solidFill>
                <a:srgbClr val="000000"/>
              </a:solidFill>
              <a:effectLst/>
              <a:uFillTx/>
              <a:latin typeface="Arial"/>
            </a:endParaRPr>
          </a:p>
        </p:txBody>
      </p:sp>
      <p:sp>
        <p:nvSpPr>
          <p:cNvPr id="219" name="TextBox 4"/>
          <p:cNvSpPr/>
          <p:nvPr/>
        </p:nvSpPr>
        <p:spPr>
          <a:xfrm>
            <a:off x="5943240" y="2458800"/>
            <a:ext cx="280296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Initialize the Hub, Motors, and DriveBase</a:t>
            </a:r>
            <a:endParaRPr lang="en-US" sz="1400" b="0" u="none" strike="noStrike">
              <a:solidFill>
                <a:srgbClr val="000000"/>
              </a:solidFill>
              <a:effectLst/>
              <a:uFillTx/>
              <a:latin typeface="Arial"/>
            </a:endParaRPr>
          </a:p>
        </p:txBody>
      </p:sp>
      <p:sp>
        <p:nvSpPr>
          <p:cNvPr id="220" name="TextBox 6"/>
          <p:cNvSpPr/>
          <p:nvPr/>
        </p:nvSpPr>
        <p:spPr>
          <a:xfrm>
            <a:off x="1141920" y="3463560"/>
            <a:ext cx="7135560" cy="15692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This library is imported into the </a:t>
            </a:r>
            <a:r>
              <a:rPr lang="en-US" sz="1600" b="1" u="none" strike="noStrike">
                <a:solidFill>
                  <a:srgbClr val="000000"/>
                </a:solidFill>
                <a:effectLst/>
                <a:uFillTx/>
                <a:latin typeface="Courier New"/>
                <a:ea typeface="Arial"/>
              </a:rPr>
              <a:t>hub_menu()</a:t>
            </a:r>
            <a:r>
              <a:rPr lang="en-US" sz="1600" b="0" u="none" strike="noStrike">
                <a:solidFill>
                  <a:srgbClr val="000000"/>
                </a:solidFill>
                <a:effectLst/>
                <a:uFillTx/>
                <a:latin typeface="Arial"/>
                <a:ea typeface="Arial"/>
              </a:rPr>
              <a:t> task and the each of three robot mission tasks</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It instantiates the </a:t>
            </a:r>
            <a:r>
              <a:rPr lang="en-US" sz="1600" b="1" u="none" strike="noStrike">
                <a:solidFill>
                  <a:srgbClr val="000000"/>
                </a:solidFill>
                <a:effectLst/>
                <a:uFillTx/>
                <a:latin typeface="Courier New"/>
                <a:ea typeface="Arial"/>
              </a:rPr>
              <a:t>PrimeHub</a:t>
            </a:r>
            <a:r>
              <a:rPr lang="en-US" sz="1600" b="0" u="none" strike="noStrike">
                <a:solidFill>
                  <a:srgbClr val="000000"/>
                </a:solidFill>
                <a:effectLst/>
                <a:uFillTx/>
                <a:latin typeface="Arial"/>
                <a:ea typeface="Arial"/>
              </a:rPr>
              <a:t>, 3 </a:t>
            </a:r>
            <a:r>
              <a:rPr lang="en-US" sz="1600" b="1" u="none" strike="noStrike">
                <a:solidFill>
                  <a:srgbClr val="000000"/>
                </a:solidFill>
                <a:effectLst/>
                <a:uFillTx/>
                <a:latin typeface="Courier New"/>
                <a:ea typeface="Arial"/>
              </a:rPr>
              <a:t>Motors,</a:t>
            </a:r>
            <a:r>
              <a:rPr lang="en-US" sz="1600" b="0" u="none" strike="noStrike">
                <a:solidFill>
                  <a:srgbClr val="000000"/>
                </a:solidFill>
                <a:effectLst/>
                <a:uFillTx/>
                <a:latin typeface="Arial"/>
                <a:ea typeface="Arial"/>
              </a:rPr>
              <a:t> and  </a:t>
            </a:r>
            <a:r>
              <a:rPr lang="en-US" sz="1600" b="1" u="none" strike="noStrike">
                <a:solidFill>
                  <a:srgbClr val="000000"/>
                </a:solidFill>
                <a:effectLst/>
                <a:uFillTx/>
                <a:latin typeface="Courier New"/>
                <a:ea typeface="Arial"/>
              </a:rPr>
              <a:t>DriveBase</a:t>
            </a:r>
            <a:r>
              <a:rPr lang="en-US" sz="1600" b="0" u="none" strike="noStrike">
                <a:solidFill>
                  <a:srgbClr val="000000"/>
                </a:solidFill>
                <a:effectLst/>
                <a:uFillTx/>
                <a:latin typeface="Arial"/>
                <a:ea typeface="Arial"/>
              </a:rPr>
              <a:t> objects so they can be used by </a:t>
            </a:r>
            <a:r>
              <a:rPr lang="en-US" sz="1600" b="1" u="none" strike="noStrike">
                <a:solidFill>
                  <a:srgbClr val="000000"/>
                </a:solidFill>
                <a:effectLst/>
                <a:uFillTx/>
                <a:latin typeface="Courier New"/>
                <a:ea typeface="Arial"/>
              </a:rPr>
              <a:t>hub_menu()</a:t>
            </a:r>
            <a:r>
              <a:rPr lang="en-US" sz="1600" b="0" u="none" strike="noStrike">
                <a:solidFill>
                  <a:srgbClr val="000000"/>
                </a:solidFill>
                <a:effectLst/>
                <a:uFillTx/>
                <a:latin typeface="Arial"/>
                <a:ea typeface="Arial"/>
              </a:rPr>
              <a:t> and the three mission tasks</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The objects represent the hardware so if you try to instantiate them more than once, you will get an error</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fontScale="92500" lnSpcReduction="9999"/>
          </a:bodyPr>
          <a:lstStyle/>
          <a:p>
            <a:pPr indent="0" algn="l">
              <a:lnSpc>
                <a:spcPct val="100000"/>
              </a:lnSpc>
              <a:buNone/>
            </a:pPr>
            <a:r>
              <a:rPr lang="en-US" sz="2500" b="1" u="none" strike="noStrike">
                <a:solidFill>
                  <a:schemeClr val="lt1"/>
                </a:solidFill>
                <a:effectLst/>
                <a:uFillTx/>
                <a:latin typeface="Courier New"/>
                <a:ea typeface="Arial"/>
              </a:rPr>
              <a:t>hub_menu()</a:t>
            </a:r>
            <a:r>
              <a:rPr lang="en-US" sz="2500" b="0" u="none" strike="noStrike">
                <a:solidFill>
                  <a:schemeClr val="lt1"/>
                </a:solidFill>
                <a:effectLst/>
                <a:uFillTx/>
                <a:latin typeface="Arial"/>
                <a:ea typeface="Arial"/>
              </a:rPr>
              <a:t> Example Part </a:t>
            </a:r>
            <a:r>
              <a:rPr lang="en-US" sz="2000" b="0" u="none" strike="noStrike">
                <a:solidFill>
                  <a:schemeClr val="lt1"/>
                </a:solidFill>
                <a:effectLst/>
                <a:uFillTx/>
                <a:latin typeface="Arial"/>
                <a:ea typeface="Arial"/>
              </a:rPr>
              <a:t>1 </a:t>
            </a:r>
            <a:r>
              <a:rPr lang="en-US" sz="1800" b="1" u="none" strike="noStrike">
                <a:solidFill>
                  <a:schemeClr val="lt1"/>
                </a:solidFill>
                <a:effectLst/>
                <a:uFillTx/>
                <a:latin typeface="Arial"/>
                <a:ea typeface="Arial"/>
              </a:rPr>
              <a:t>(</a:t>
            </a:r>
            <a:r>
              <a:rPr lang="en-US" sz="1800" b="1" u="none" strike="noStrike">
                <a:solidFill>
                  <a:schemeClr val="lt1"/>
                </a:solidFill>
                <a:effectLst/>
                <a:uFillTx/>
                <a:latin typeface="Courier New"/>
                <a:ea typeface="Arial"/>
              </a:rPr>
              <a:t>pybricks_class_basic_menu_rev3.py</a:t>
            </a:r>
            <a:r>
              <a:rPr lang="en-US" sz="1800" b="1" u="none" strike="noStrike">
                <a:solidFill>
                  <a:schemeClr val="lt1"/>
                </a:solidFill>
                <a:effectLst/>
                <a:uFillTx/>
                <a:latin typeface="Arial"/>
                <a:ea typeface="Arial"/>
              </a:rPr>
              <a:t>)</a:t>
            </a:r>
            <a:endParaRPr lang="en-US" sz="1800" b="0" u="none" strike="noStrike">
              <a:solidFill>
                <a:srgbClr val="000000"/>
              </a:solidFill>
              <a:effectLst/>
              <a:uFillTx/>
              <a:latin typeface="Arial"/>
            </a:endParaRPr>
          </a:p>
        </p:txBody>
      </p:sp>
      <p:sp>
        <p:nvSpPr>
          <p:cNvPr id="222" name="PlaceHolder 2"/>
          <p:cNvSpPr>
            <a:spLocks noGrp="1"/>
          </p:cNvSpPr>
          <p:nvPr>
            <p:ph type="sldNum" idx="5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D706C70-0DD5-410F-B429-A0491677127D}" type="slidenum">
              <a:rPr lang="en" sz="1000" b="0" u="none" strike="noStrike">
                <a:solidFill>
                  <a:schemeClr val="dk2"/>
                </a:solidFill>
                <a:effectLst/>
                <a:uFillTx/>
                <a:latin typeface="Arial"/>
                <a:ea typeface="Arial"/>
              </a:rPr>
              <a:t>40</a:t>
            </a:fld>
            <a:endParaRPr lang="en-US" sz="1000" b="0" u="none" strike="noStrike">
              <a:solidFill>
                <a:srgbClr val="000000"/>
              </a:solidFill>
              <a:effectLst/>
              <a:uFillTx/>
              <a:latin typeface="Times New Roman"/>
            </a:endParaRPr>
          </a:p>
        </p:txBody>
      </p:sp>
      <p:sp>
        <p:nvSpPr>
          <p:cNvPr id="223" name="TextBox 7"/>
          <p:cNvSpPr/>
          <p:nvPr/>
        </p:nvSpPr>
        <p:spPr>
          <a:xfrm>
            <a:off x="146520" y="1024200"/>
            <a:ext cx="5430240" cy="31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201"/>
              </a:spcAft>
            </a:pPr>
            <a:r>
              <a:rPr lang="en-US" sz="1100" b="1" u="none" strike="noStrike">
                <a:solidFill>
                  <a:srgbClr val="008E00"/>
                </a:solidFill>
                <a:effectLst/>
                <a:uFillTx/>
                <a:latin typeface="Menlo"/>
                <a:ea typeface="Times New Roman"/>
              </a:rPr>
              <a:t># Pybricks Class Menu</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8E00"/>
                </a:solidFill>
                <a:effectLst/>
                <a:uFillTx/>
                <a:latin typeface="Menlo"/>
                <a:ea typeface="Times New Roman"/>
              </a:rPr>
              <a:t># menu revision number</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menu_revision=</a:t>
            </a:r>
            <a:r>
              <a:rPr lang="en-US" sz="1100" b="1" u="none" strike="noStrike">
                <a:solidFill>
                  <a:srgbClr val="DF0002"/>
                </a:solidFill>
                <a:effectLst/>
                <a:uFillTx/>
                <a:latin typeface="Menlo"/>
                <a:ea typeface="Times New Roman"/>
              </a:rPr>
              <a:t>"3"</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8E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8E00"/>
                </a:solidFill>
                <a:effectLst/>
                <a:uFillTx/>
                <a:latin typeface="Menlo"/>
                <a:ea typeface="Times New Roman"/>
              </a:rPr>
              <a:t># import necessary libraries and functions</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pybricks_class_small_lib_rev3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a:t>
            </a:r>
            <a:r>
              <a:rPr lang="en-US" sz="1100" b="1" u="none" strike="noStrike">
                <a:solidFill>
                  <a:srgbClr val="C800A4"/>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 </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450084"/>
                </a:solidFill>
                <a:effectLst/>
                <a:uFillTx/>
                <a:latin typeface="Menlo"/>
                <a:ea typeface="Times New Roman"/>
              </a:rPr>
              <a:t>print</a:t>
            </a:r>
            <a:r>
              <a:rPr lang="en-US" sz="1100" b="1" u="none" strike="noStrike">
                <a:solidFill>
                  <a:srgbClr val="000000"/>
                </a:solidFill>
                <a:effectLst/>
                <a:uFillTx/>
                <a:latin typeface="Menlo"/>
                <a:ea typeface="Times New Roman"/>
              </a:rPr>
              <a:t>(</a:t>
            </a:r>
            <a:r>
              <a:rPr lang="en-US" sz="1100" b="1" u="none" strike="noStrike">
                <a:solidFill>
                  <a:srgbClr val="DF0002"/>
                </a:solidFill>
                <a:effectLst/>
                <a:uFillTx/>
                <a:latin typeface="Menlo"/>
                <a:ea typeface="Times New Roman"/>
              </a:rPr>
              <a:t>"Robot Menu, rev#"</a:t>
            </a:r>
            <a:r>
              <a:rPr lang="en-US" sz="1100" b="1" u="none" strike="noStrike">
                <a:solidFill>
                  <a:srgbClr val="000000"/>
                </a:solidFill>
                <a:effectLst/>
                <a:uFillTx/>
                <a:latin typeface="Menlo"/>
                <a:ea typeface="Times New Roman"/>
              </a:rPr>
              <a:t>,menu_revision)</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450084"/>
                </a:solidFill>
                <a:effectLst/>
                <a:uFillTx/>
                <a:latin typeface="Menlo"/>
                <a:ea typeface="Times New Roman"/>
              </a:rPr>
              <a:t>print</a:t>
            </a:r>
            <a:r>
              <a:rPr lang="en-US" sz="1100" b="1" u="none" strike="noStrike">
                <a:solidFill>
                  <a:srgbClr val="000000"/>
                </a:solidFill>
                <a:effectLst/>
                <a:uFillTx/>
                <a:latin typeface="Menlo"/>
                <a:ea typeface="Times New Roman"/>
              </a:rPr>
              <a:t>(</a:t>
            </a:r>
            <a:r>
              <a:rPr lang="en-US" sz="1100" b="1" u="none" strike="noStrike">
                <a:solidFill>
                  <a:srgbClr val="DF0002"/>
                </a:solidFill>
                <a:effectLst/>
                <a:uFillTx/>
                <a:latin typeface="Menlo"/>
                <a:ea typeface="Times New Roman"/>
              </a:rPr>
              <a:t>"Load Task1"</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pybricks_class_task1_rev3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pybricks_class_task1</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450084"/>
                </a:solidFill>
                <a:effectLst/>
                <a:uFillTx/>
                <a:latin typeface="Menlo"/>
                <a:ea typeface="Times New Roman"/>
              </a:rPr>
              <a:t>print</a:t>
            </a:r>
            <a:r>
              <a:rPr lang="en-US" sz="1100" b="1" u="none" strike="noStrike">
                <a:solidFill>
                  <a:srgbClr val="000000"/>
                </a:solidFill>
                <a:effectLst/>
                <a:uFillTx/>
                <a:latin typeface="Menlo"/>
                <a:ea typeface="Times New Roman"/>
              </a:rPr>
              <a:t>(</a:t>
            </a:r>
            <a:r>
              <a:rPr lang="en-US" sz="1100" b="1" u="none" strike="noStrike">
                <a:solidFill>
                  <a:srgbClr val="DF0002"/>
                </a:solidFill>
                <a:effectLst/>
                <a:uFillTx/>
                <a:latin typeface="Menlo"/>
                <a:ea typeface="Times New Roman"/>
              </a:rPr>
              <a:t>"Load Task2"</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pybricks_class_task2_rev3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pybricks_class_task2</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450084"/>
                </a:solidFill>
                <a:effectLst/>
                <a:uFillTx/>
                <a:latin typeface="Menlo"/>
                <a:ea typeface="Times New Roman"/>
              </a:rPr>
              <a:t>print</a:t>
            </a:r>
            <a:r>
              <a:rPr lang="en-US" sz="1100" b="1" u="none" strike="noStrike">
                <a:solidFill>
                  <a:srgbClr val="000000"/>
                </a:solidFill>
                <a:effectLst/>
                <a:uFillTx/>
                <a:latin typeface="Menlo"/>
                <a:ea typeface="Times New Roman"/>
              </a:rPr>
              <a:t>(</a:t>
            </a:r>
            <a:r>
              <a:rPr lang="en-US" sz="1100" b="1" u="none" strike="noStrike">
                <a:solidFill>
                  <a:srgbClr val="DF0002"/>
                </a:solidFill>
                <a:effectLst/>
                <a:uFillTx/>
                <a:latin typeface="Menlo"/>
                <a:ea typeface="Times New Roman"/>
              </a:rPr>
              <a:t>"Load Task3"</a:t>
            </a:r>
            <a:r>
              <a:rPr lang="en-US" sz="1100" b="1" u="none" strike="noStrike">
                <a:solidFill>
                  <a:srgbClr val="000000"/>
                </a:solidFill>
                <a:effectLst/>
                <a:uFillTx/>
                <a:latin typeface="Menlo"/>
                <a:ea typeface="Times New Roman"/>
              </a:rPr>
              <a:t>)</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C800A4"/>
                </a:solidFill>
                <a:effectLst/>
                <a:uFillTx/>
                <a:latin typeface="Menlo"/>
                <a:ea typeface="Times New Roman"/>
              </a:rPr>
              <a:t>from</a:t>
            </a:r>
            <a:r>
              <a:rPr lang="en-US" sz="1100" b="1" u="none" strike="noStrike">
                <a:solidFill>
                  <a:srgbClr val="000000"/>
                </a:solidFill>
                <a:effectLst/>
                <a:uFillTx/>
                <a:latin typeface="Menlo"/>
                <a:ea typeface="Times New Roman"/>
              </a:rPr>
              <a:t> pybricks_class_task3_rev3 </a:t>
            </a:r>
            <a:r>
              <a:rPr lang="en-US" sz="1100" b="1" u="none" strike="noStrike">
                <a:solidFill>
                  <a:srgbClr val="C800A4"/>
                </a:solidFill>
                <a:effectLst/>
                <a:uFillTx/>
                <a:latin typeface="Menlo"/>
                <a:ea typeface="Times New Roman"/>
              </a:rPr>
              <a:t>import</a:t>
            </a:r>
            <a:r>
              <a:rPr lang="en-US" sz="1100" b="1" u="none" strike="noStrike">
                <a:solidFill>
                  <a:srgbClr val="000000"/>
                </a:solidFill>
                <a:effectLst/>
                <a:uFillTx/>
                <a:latin typeface="Menlo"/>
                <a:ea typeface="Times New Roman"/>
              </a:rPr>
              <a:t> pybricks_class_task3</a:t>
            </a:r>
            <a:endParaRPr lang="en-US" sz="1100" b="0" u="none" strike="noStrike">
              <a:solidFill>
                <a:srgbClr val="000000"/>
              </a:solidFill>
              <a:effectLst/>
              <a:uFillTx/>
              <a:latin typeface="Arial"/>
            </a:endParaRPr>
          </a:p>
          <a:p>
            <a:pPr>
              <a:lnSpc>
                <a:spcPct val="100000"/>
              </a:lnSpc>
              <a:spcAft>
                <a:spcPts val="201"/>
              </a:spcAft>
            </a:pPr>
            <a:r>
              <a:rPr lang="en-US" sz="1100" b="1" u="none" strike="noStrike">
                <a:solidFill>
                  <a:srgbClr val="000000"/>
                </a:solidFill>
                <a:effectLst/>
                <a:uFillTx/>
                <a:latin typeface="Menlo"/>
                <a:ea typeface="Times New Roman"/>
              </a:rPr>
              <a:t> </a:t>
            </a:r>
            <a:endParaRPr lang="en-US" sz="1100" b="0" u="none" strike="noStrike">
              <a:solidFill>
                <a:srgbClr val="000000"/>
              </a:solidFill>
              <a:effectLst/>
              <a:uFillTx/>
              <a:latin typeface="Arial"/>
            </a:endParaRPr>
          </a:p>
          <a:p>
            <a:pPr>
              <a:lnSpc>
                <a:spcPct val="100000"/>
              </a:lnSpc>
              <a:spcAft>
                <a:spcPts val="201"/>
              </a:spcAft>
            </a:pPr>
            <a:endParaRPr lang="en-US" sz="1100" b="0" u="none" strike="noStrike">
              <a:solidFill>
                <a:srgbClr val="000000"/>
              </a:solidFill>
              <a:effectLst/>
              <a:uFillTx/>
              <a:latin typeface="Arial"/>
            </a:endParaRPr>
          </a:p>
        </p:txBody>
      </p:sp>
      <p:sp>
        <p:nvSpPr>
          <p:cNvPr id="224" name="TextBox 2"/>
          <p:cNvSpPr/>
          <p:nvPr/>
        </p:nvSpPr>
        <p:spPr>
          <a:xfrm>
            <a:off x="5669280" y="2873520"/>
            <a:ext cx="280296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Import each of the 3 robot tasks into the </a:t>
            </a:r>
            <a:r>
              <a:rPr lang="en-US" sz="1400" b="0" u="none" strike="noStrike">
                <a:solidFill>
                  <a:srgbClr val="000000"/>
                </a:solidFill>
                <a:effectLst/>
                <a:uFillTx/>
                <a:latin typeface="Courier New"/>
                <a:ea typeface="Arial"/>
              </a:rPr>
              <a:t>hub_menu() </a:t>
            </a:r>
            <a:r>
              <a:rPr lang="en-US" sz="1400" b="0" u="none" strike="noStrike">
                <a:solidFill>
                  <a:srgbClr val="000000"/>
                </a:solidFill>
                <a:effectLst/>
                <a:uFillTx/>
                <a:latin typeface="Arial"/>
                <a:ea typeface="Arial"/>
              </a:rPr>
              <a:t>so it can call (run) them</a:t>
            </a:r>
            <a:endParaRPr lang="en-US" sz="1400" b="0" u="none" strike="noStrike">
              <a:solidFill>
                <a:srgbClr val="000000"/>
              </a:solidFill>
              <a:effectLst/>
              <a:uFillTx/>
              <a:latin typeface="Arial"/>
            </a:endParaRPr>
          </a:p>
        </p:txBody>
      </p:sp>
      <p:sp>
        <p:nvSpPr>
          <p:cNvPr id="225" name="TextBox 4"/>
          <p:cNvSpPr/>
          <p:nvPr/>
        </p:nvSpPr>
        <p:spPr>
          <a:xfrm>
            <a:off x="6113520" y="1809000"/>
            <a:ext cx="23583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Importing our library</a:t>
            </a:r>
            <a:endParaRPr lang="en-US" sz="1400" b="0" u="none" strike="noStrike">
              <a:solidFill>
                <a:srgbClr val="000000"/>
              </a:solidFill>
              <a:effectLst/>
              <a:uFillTx/>
              <a:latin typeface="Arial"/>
            </a:endParaRPr>
          </a:p>
        </p:txBody>
      </p:sp>
      <p:cxnSp>
        <p:nvCxnSpPr>
          <p:cNvPr id="226" name="Straight Arrow Connector 5"/>
          <p:cNvCxnSpPr>
            <a:stCxn id="225" idx="1"/>
          </p:cNvCxnSpPr>
          <p:nvPr/>
        </p:nvCxnSpPr>
        <p:spPr>
          <a:xfrm flipH="1">
            <a:off x="4095000" y="1962720"/>
            <a:ext cx="2018880" cy="154440"/>
          </a:xfrm>
          <a:prstGeom prst="straightConnector1">
            <a:avLst/>
          </a:prstGeom>
          <a:ln w="73025">
            <a:solidFill>
              <a:srgbClr val="000000"/>
            </a:solidFill>
            <a:round/>
            <a:tailEnd type="triangl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hub_menu()</a:t>
            </a:r>
            <a:r>
              <a:rPr lang="en-US" sz="2500" b="0" u="none" strike="noStrike">
                <a:solidFill>
                  <a:schemeClr val="lt1"/>
                </a:solidFill>
                <a:effectLst/>
                <a:uFillTx/>
                <a:latin typeface="Arial"/>
                <a:ea typeface="Arial"/>
              </a:rPr>
              <a:t> Example Part 2</a:t>
            </a:r>
            <a:endParaRPr lang="en-US" sz="2500" b="0" u="none" strike="noStrike">
              <a:solidFill>
                <a:srgbClr val="000000"/>
              </a:solidFill>
              <a:effectLst/>
              <a:uFillTx/>
              <a:latin typeface="Arial"/>
            </a:endParaRPr>
          </a:p>
        </p:txBody>
      </p:sp>
      <p:sp>
        <p:nvSpPr>
          <p:cNvPr id="228" name="PlaceHolder 2"/>
          <p:cNvSpPr>
            <a:spLocks noGrp="1"/>
          </p:cNvSpPr>
          <p:nvPr>
            <p:ph type="sldNum" idx="5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BBEB01B-B3E6-41FB-9D68-0A1B14B784FA}" type="slidenum">
              <a:rPr lang="en" sz="1000" b="0" u="none" strike="noStrike">
                <a:solidFill>
                  <a:schemeClr val="dk2"/>
                </a:solidFill>
                <a:effectLst/>
                <a:uFillTx/>
                <a:latin typeface="Arial"/>
                <a:ea typeface="Arial"/>
              </a:rPr>
              <a:t>41</a:t>
            </a:fld>
            <a:endParaRPr lang="en-US" sz="1000" b="0" u="none" strike="noStrike">
              <a:solidFill>
                <a:srgbClr val="000000"/>
              </a:solidFill>
              <a:effectLst/>
              <a:uFillTx/>
              <a:latin typeface="Times New Roman"/>
            </a:endParaRPr>
          </a:p>
        </p:txBody>
      </p:sp>
      <p:sp>
        <p:nvSpPr>
          <p:cNvPr id="229" name="TextBox 7"/>
          <p:cNvSpPr/>
          <p:nvPr/>
        </p:nvSpPr>
        <p:spPr>
          <a:xfrm>
            <a:off x="146520" y="649440"/>
            <a:ext cx="5430240" cy="401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99"/>
              </a:spcAft>
            </a:pP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"Running Hub Menu"</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C800A4"/>
                </a:solidFill>
                <a:effectLst/>
                <a:uFillTx/>
                <a:latin typeface="Menlo"/>
                <a:ea typeface="Times New Roman"/>
              </a:rPr>
              <a:t>while</a:t>
            </a: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True</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selected = hub_menu(</a:t>
            </a:r>
            <a:r>
              <a:rPr lang="en-US" sz="900" b="1" u="none" strike="noStrike">
                <a:solidFill>
                  <a:srgbClr val="DF0002"/>
                </a:solidFill>
                <a:effectLst/>
                <a:uFillTx/>
                <a:latin typeface="Menlo"/>
                <a:ea typeface="Times New Roman"/>
              </a:rPr>
              <a:t>"M"</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"1"</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"2"</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"3"</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"X"</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try</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if</a:t>
            </a:r>
            <a:r>
              <a:rPr lang="en-US" sz="900" b="1" u="none" strike="noStrike">
                <a:solidFill>
                  <a:srgbClr val="000000"/>
                </a:solidFill>
                <a:effectLst/>
                <a:uFillTx/>
                <a:latin typeface="Menlo"/>
                <a:ea typeface="Times New Roman"/>
              </a:rPr>
              <a:t> selected </a:t>
            </a:r>
            <a:r>
              <a:rPr lang="en-US" sz="900" b="1" u="none" strike="noStrike">
                <a:solidFill>
                  <a:srgbClr val="C800A4"/>
                </a:solidFill>
                <a:effectLst/>
                <a:uFillTx/>
                <a:latin typeface="Menlo"/>
                <a:ea typeface="Times New Roman"/>
              </a:rPr>
              <a:t>==</a:t>
            </a:r>
            <a:r>
              <a:rPr lang="en-US" sz="900" b="1" u="none" strike="noStrike">
                <a:solidFill>
                  <a:srgbClr val="000000"/>
                </a:solidFill>
                <a:effectLst/>
                <a:uFillTx/>
                <a:latin typeface="Menlo"/>
                <a:ea typeface="Times New Roman"/>
              </a:rPr>
              <a:t> </a:t>
            </a:r>
            <a:r>
              <a:rPr lang="en-US" sz="900" b="1" u="none" strike="noStrike">
                <a:solidFill>
                  <a:srgbClr val="DF0002"/>
                </a:solidFill>
                <a:effectLst/>
                <a:uFillTx/>
                <a:latin typeface="Menlo"/>
                <a:ea typeface="Times New Roman"/>
              </a:rPr>
              <a:t>"M"</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008E00"/>
                </a:solidFill>
                <a:effectLst/>
                <a:uFillTx/>
                <a:latin typeface="Menlo"/>
                <a:ea typeface="Times New Roman"/>
              </a:rPr>
              <a:t># does nothing. used to show menu is active</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break</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if</a:t>
            </a:r>
            <a:r>
              <a:rPr lang="en-US" sz="900" b="1" u="none" strike="noStrike">
                <a:solidFill>
                  <a:srgbClr val="000000"/>
                </a:solidFill>
                <a:effectLst/>
                <a:uFillTx/>
                <a:latin typeface="Menlo"/>
                <a:ea typeface="Times New Roman"/>
              </a:rPr>
              <a:t> selected </a:t>
            </a:r>
            <a:r>
              <a:rPr lang="en-US" sz="900" b="1" u="none" strike="noStrike">
                <a:solidFill>
                  <a:srgbClr val="C800A4"/>
                </a:solidFill>
                <a:effectLst/>
                <a:uFillTx/>
                <a:latin typeface="Menlo"/>
                <a:ea typeface="Times New Roman"/>
              </a:rPr>
              <a:t>==</a:t>
            </a:r>
            <a:r>
              <a:rPr lang="en-US" sz="900" b="1" u="none" strike="noStrike">
                <a:solidFill>
                  <a:srgbClr val="000000"/>
                </a:solidFill>
                <a:effectLst/>
                <a:uFillTx/>
                <a:latin typeface="Menlo"/>
                <a:ea typeface="Times New Roman"/>
              </a:rPr>
              <a:t> </a:t>
            </a:r>
            <a:r>
              <a:rPr lang="en-US" sz="900" b="1" u="none" strike="noStrike">
                <a:solidFill>
                  <a:srgbClr val="DF0002"/>
                </a:solidFill>
                <a:effectLst/>
                <a:uFillTx/>
                <a:latin typeface="Menlo"/>
                <a:ea typeface="Times New Roman"/>
              </a:rPr>
              <a:t>"1"</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"Task 1 Selected"</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wait(</a:t>
            </a:r>
            <a:r>
              <a:rPr lang="en-US" sz="900" b="1" u="none" strike="noStrike">
                <a:solidFill>
                  <a:srgbClr val="3A00DC"/>
                </a:solidFill>
                <a:effectLst/>
                <a:uFillTx/>
                <a:latin typeface="Menlo"/>
                <a:ea typeface="Times New Roman"/>
              </a:rPr>
              <a:t>1000</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run_task(pybricks_class_task1())</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elif</a:t>
            </a:r>
            <a:r>
              <a:rPr lang="en-US" sz="900" b="1" u="none" strike="noStrike">
                <a:solidFill>
                  <a:srgbClr val="000000"/>
                </a:solidFill>
                <a:effectLst/>
                <a:uFillTx/>
                <a:latin typeface="Menlo"/>
                <a:ea typeface="Times New Roman"/>
              </a:rPr>
              <a:t> selected </a:t>
            </a:r>
            <a:r>
              <a:rPr lang="en-US" sz="900" b="1" u="none" strike="noStrike">
                <a:solidFill>
                  <a:srgbClr val="C800A4"/>
                </a:solidFill>
                <a:effectLst/>
                <a:uFillTx/>
                <a:latin typeface="Menlo"/>
                <a:ea typeface="Times New Roman"/>
              </a:rPr>
              <a:t>==</a:t>
            </a:r>
            <a:r>
              <a:rPr lang="en-US" sz="900" b="1" u="none" strike="noStrike">
                <a:solidFill>
                  <a:srgbClr val="000000"/>
                </a:solidFill>
                <a:effectLst/>
                <a:uFillTx/>
                <a:latin typeface="Menlo"/>
                <a:ea typeface="Times New Roman"/>
              </a:rPr>
              <a:t> </a:t>
            </a:r>
            <a:r>
              <a:rPr lang="en-US" sz="900" b="1" u="none" strike="noStrike">
                <a:solidFill>
                  <a:srgbClr val="DF0002"/>
                </a:solidFill>
                <a:effectLst/>
                <a:uFillTx/>
                <a:latin typeface="Menlo"/>
                <a:ea typeface="Times New Roman"/>
              </a:rPr>
              <a:t>"2"</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"Task 2 Selected"</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wait(</a:t>
            </a:r>
            <a:r>
              <a:rPr lang="en-US" sz="900" b="1" u="none" strike="noStrike">
                <a:solidFill>
                  <a:srgbClr val="3A00DC"/>
                </a:solidFill>
                <a:effectLst/>
                <a:uFillTx/>
                <a:latin typeface="Menlo"/>
                <a:ea typeface="Times New Roman"/>
              </a:rPr>
              <a:t>1000</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run_task(pybricks_class_task2())</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elif</a:t>
            </a:r>
            <a:r>
              <a:rPr lang="en-US" sz="900" b="1" u="none" strike="noStrike">
                <a:solidFill>
                  <a:srgbClr val="000000"/>
                </a:solidFill>
                <a:effectLst/>
                <a:uFillTx/>
                <a:latin typeface="Menlo"/>
                <a:ea typeface="Times New Roman"/>
              </a:rPr>
              <a:t> selected </a:t>
            </a:r>
            <a:r>
              <a:rPr lang="en-US" sz="900" b="1" u="none" strike="noStrike">
                <a:solidFill>
                  <a:srgbClr val="C800A4"/>
                </a:solidFill>
                <a:effectLst/>
                <a:uFillTx/>
                <a:latin typeface="Menlo"/>
                <a:ea typeface="Times New Roman"/>
              </a:rPr>
              <a:t>==</a:t>
            </a:r>
            <a:r>
              <a:rPr lang="en-US" sz="900" b="1" u="none" strike="noStrike">
                <a:solidFill>
                  <a:srgbClr val="000000"/>
                </a:solidFill>
                <a:effectLst/>
                <a:uFillTx/>
                <a:latin typeface="Menlo"/>
                <a:ea typeface="Times New Roman"/>
              </a:rPr>
              <a:t> </a:t>
            </a:r>
            <a:r>
              <a:rPr lang="en-US" sz="900" b="1" u="none" strike="noStrike">
                <a:solidFill>
                  <a:srgbClr val="DF0002"/>
                </a:solidFill>
                <a:effectLst/>
                <a:uFillTx/>
                <a:latin typeface="Menlo"/>
                <a:ea typeface="Times New Roman"/>
              </a:rPr>
              <a:t>"3"</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"Task 3 Selected"</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wait(</a:t>
            </a:r>
            <a:r>
              <a:rPr lang="en-US" sz="900" b="1" u="none" strike="noStrike">
                <a:solidFill>
                  <a:srgbClr val="3A00DC"/>
                </a:solidFill>
                <a:effectLst/>
                <a:uFillTx/>
                <a:latin typeface="Menlo"/>
                <a:ea typeface="Times New Roman"/>
              </a:rPr>
              <a:t>1000</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run_task(pybricks_class_task3())</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elif</a:t>
            </a:r>
            <a:r>
              <a:rPr lang="en-US" sz="900" b="1" u="none" strike="noStrike">
                <a:solidFill>
                  <a:srgbClr val="000000"/>
                </a:solidFill>
                <a:effectLst/>
                <a:uFillTx/>
                <a:latin typeface="Menlo"/>
                <a:ea typeface="Times New Roman"/>
              </a:rPr>
              <a:t> selected </a:t>
            </a:r>
            <a:r>
              <a:rPr lang="en-US" sz="900" b="1" u="none" strike="noStrike">
                <a:solidFill>
                  <a:srgbClr val="C800A4"/>
                </a:solidFill>
                <a:effectLst/>
                <a:uFillTx/>
                <a:latin typeface="Menlo"/>
                <a:ea typeface="Times New Roman"/>
              </a:rPr>
              <a:t>==</a:t>
            </a:r>
            <a:r>
              <a:rPr lang="en-US" sz="900" b="1" u="none" strike="noStrike">
                <a:solidFill>
                  <a:srgbClr val="000000"/>
                </a:solidFill>
                <a:effectLst/>
                <a:uFillTx/>
                <a:latin typeface="Menlo"/>
                <a:ea typeface="Times New Roman"/>
              </a:rPr>
              <a:t> </a:t>
            </a:r>
            <a:r>
              <a:rPr lang="en-US" sz="900" b="1" u="none" strike="noStrike">
                <a:solidFill>
                  <a:srgbClr val="DF0002"/>
                </a:solidFill>
                <a:effectLst/>
                <a:uFillTx/>
                <a:latin typeface="Menlo"/>
                <a:ea typeface="Times New Roman"/>
              </a:rPr>
              <a:t>"X"</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008E00"/>
                </a:solidFill>
                <a:effectLst/>
                <a:uFillTx/>
                <a:latin typeface="Menlo"/>
                <a:ea typeface="Times New Roman"/>
              </a:rPr>
              <a:t># does nothing used to show end of menu</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break</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except</a:t>
            </a:r>
            <a:r>
              <a:rPr lang="en-US" sz="900" b="1" u="none" strike="noStrike">
                <a:solidFill>
                  <a:srgbClr val="000000"/>
                </a:solidFill>
                <a:effectLst/>
                <a:uFillTx/>
                <a:latin typeface="Menlo"/>
                <a:ea typeface="Times New Roman"/>
              </a:rPr>
              <a:t> BaseException </a:t>
            </a:r>
            <a:r>
              <a:rPr lang="en-US" sz="900" b="1" u="none" strike="noStrike">
                <a:solidFill>
                  <a:srgbClr val="C800A4"/>
                </a:solidFill>
                <a:effectLst/>
                <a:uFillTx/>
                <a:latin typeface="Menlo"/>
                <a:ea typeface="Times New Roman"/>
              </a:rPr>
              <a:t>as</a:t>
            </a:r>
            <a:r>
              <a:rPr lang="en-US" sz="900" b="1" u="none" strike="noStrike">
                <a:solidFill>
                  <a:srgbClr val="000000"/>
                </a:solidFill>
                <a:effectLst/>
                <a:uFillTx/>
                <a:latin typeface="Menlo"/>
                <a:ea typeface="Times New Roman"/>
              </a:rPr>
              <a:t> menuException:</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a:t>
            </a:r>
            <a:r>
              <a:rPr lang="en-US" sz="900" b="1" u="none" strike="noStrike">
                <a:solidFill>
                  <a:srgbClr val="DF0002"/>
                </a:solidFill>
                <a:effectLst/>
                <a:uFillTx/>
                <a:latin typeface="Menlo"/>
                <a:ea typeface="Times New Roman"/>
              </a:rPr>
              <a:t>"Stop was Pressed or a Critical Error Occurred."</a:t>
            </a:r>
            <a:r>
              <a:rPr lang="en-US" sz="900" b="1" u="none" strike="noStrike">
                <a:solidFill>
                  <a:srgbClr val="000000"/>
                </a:solidFill>
                <a:effectLst/>
                <a:uFillTx/>
                <a:latin typeface="Menlo"/>
                <a:ea typeface="Times New Roman"/>
              </a:rPr>
              <a:t>)</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450084"/>
                </a:solidFill>
                <a:effectLst/>
                <a:uFillTx/>
                <a:latin typeface="Menlo"/>
                <a:ea typeface="Times New Roman"/>
              </a:rPr>
              <a:t>print</a:t>
            </a:r>
            <a:r>
              <a:rPr lang="en-US" sz="900" b="1" u="none" strike="noStrike">
                <a:solidFill>
                  <a:srgbClr val="000000"/>
                </a:solidFill>
                <a:effectLst/>
                <a:uFillTx/>
                <a:latin typeface="Menlo"/>
                <a:ea typeface="Times New Roman"/>
              </a:rPr>
              <a:t>(menuException)</a:t>
            </a:r>
            <a:endParaRPr lang="en-US" sz="900" b="0" u="none" strike="noStrike">
              <a:solidFill>
                <a:srgbClr val="000000"/>
              </a:solidFill>
              <a:effectLst/>
              <a:uFillTx/>
              <a:latin typeface="Arial"/>
            </a:endParaRPr>
          </a:p>
          <a:p>
            <a:pPr>
              <a:lnSpc>
                <a:spcPct val="100000"/>
              </a:lnSpc>
              <a:spcAft>
                <a:spcPts val="99"/>
              </a:spcAft>
            </a:pPr>
            <a:r>
              <a:rPr lang="en-US" sz="900" b="1" u="none" strike="noStrike">
                <a:solidFill>
                  <a:srgbClr val="000000"/>
                </a:solidFill>
                <a:effectLst/>
                <a:uFillTx/>
                <a:latin typeface="Menlo"/>
                <a:ea typeface="Times New Roman"/>
              </a:rPr>
              <a:t>        </a:t>
            </a:r>
            <a:r>
              <a:rPr lang="en-US" sz="900" b="1" u="none" strike="noStrike">
                <a:solidFill>
                  <a:srgbClr val="C800A4"/>
                </a:solidFill>
                <a:effectLst/>
                <a:uFillTx/>
                <a:latin typeface="Menlo"/>
                <a:ea typeface="Times New Roman"/>
              </a:rPr>
              <a:t>break</a:t>
            </a:r>
            <a:endParaRPr lang="en-US" sz="900" b="0" u="none" strike="noStrike">
              <a:solidFill>
                <a:srgbClr val="000000"/>
              </a:solidFill>
              <a:effectLst/>
              <a:uFillTx/>
              <a:latin typeface="Arial"/>
            </a:endParaRPr>
          </a:p>
        </p:txBody>
      </p:sp>
      <p:sp>
        <p:nvSpPr>
          <p:cNvPr id="230" name="TextBox 2"/>
          <p:cNvSpPr/>
          <p:nvPr/>
        </p:nvSpPr>
        <p:spPr>
          <a:xfrm>
            <a:off x="5184000" y="979920"/>
            <a:ext cx="3619080" cy="116928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400" b="0" u="none" strike="noStrike">
                <a:solidFill>
                  <a:srgbClr val="000000"/>
                </a:solidFill>
                <a:effectLst/>
                <a:uFillTx/>
                <a:latin typeface="Arial"/>
                <a:ea typeface="Arial"/>
              </a:rPr>
              <a:t>Set the characters that will be displayed on the hub menu.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0" u="none" strike="noStrike">
                <a:solidFill>
                  <a:srgbClr val="000000"/>
                </a:solidFill>
                <a:effectLst/>
                <a:uFillTx/>
                <a:latin typeface="Arial"/>
                <a:ea typeface="Arial"/>
              </a:rPr>
              <a:t>’M’ is used to show the menu is active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0" u="none" strike="noStrike">
                <a:solidFill>
                  <a:srgbClr val="000000"/>
                </a:solidFill>
                <a:effectLst/>
                <a:uFillTx/>
                <a:latin typeface="Arial"/>
                <a:ea typeface="Arial"/>
              </a:rPr>
              <a:t>Each number is associated with a task</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0" u="none" strike="noStrike">
                <a:solidFill>
                  <a:srgbClr val="000000"/>
                </a:solidFill>
                <a:effectLst/>
                <a:uFillTx/>
                <a:latin typeface="Arial"/>
                <a:ea typeface="Arial"/>
              </a:rPr>
              <a:t>‘X’ is used to indicate end of the menu</a:t>
            </a:r>
            <a:endParaRPr lang="en-US" sz="1400" b="0" u="none" strike="noStrike">
              <a:solidFill>
                <a:srgbClr val="000000"/>
              </a:solidFill>
              <a:effectLst/>
              <a:uFillTx/>
              <a:latin typeface="Arial"/>
            </a:endParaRPr>
          </a:p>
        </p:txBody>
      </p:sp>
      <p:cxnSp>
        <p:nvCxnSpPr>
          <p:cNvPr id="231" name="Straight Arrow Connector 4"/>
          <p:cNvCxnSpPr>
            <a:stCxn id="230" idx="1"/>
          </p:cNvCxnSpPr>
          <p:nvPr/>
        </p:nvCxnSpPr>
        <p:spPr>
          <a:xfrm flipH="1" flipV="1">
            <a:off x="3291840" y="1096560"/>
            <a:ext cx="1892520" cy="468360"/>
          </a:xfrm>
          <a:prstGeom prst="straightConnector1">
            <a:avLst/>
          </a:prstGeom>
          <a:ln w="73025">
            <a:solidFill>
              <a:srgbClr val="000000"/>
            </a:solidFill>
            <a:round/>
            <a:tailEnd type="triangle" w="med" len="med"/>
          </a:ln>
        </p:spPr>
      </p:cxnSp>
      <p:sp>
        <p:nvSpPr>
          <p:cNvPr id="232" name="TextBox 6"/>
          <p:cNvSpPr/>
          <p:nvPr/>
        </p:nvSpPr>
        <p:spPr>
          <a:xfrm>
            <a:off x="6197400" y="2571840"/>
            <a:ext cx="2606040" cy="16002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Run each mission task if the right number on the hub menu (1,2, or 3) is selected</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wait(1000) is a 1 sec delay so fingers can get out of the way before the robot starts moving</a:t>
            </a:r>
            <a:endParaRPr lang="en-US" sz="1400" b="0" u="none" strike="noStrike">
              <a:solidFill>
                <a:srgbClr val="000000"/>
              </a:solidFill>
              <a:effectLst/>
              <a:uFillTx/>
              <a:latin typeface="Arial"/>
            </a:endParaRPr>
          </a:p>
        </p:txBody>
      </p:sp>
      <p:cxnSp>
        <p:nvCxnSpPr>
          <p:cNvPr id="233" name="Straight Arrow Connector 8"/>
          <p:cNvCxnSpPr>
            <a:stCxn id="232" idx="1"/>
          </p:cNvCxnSpPr>
          <p:nvPr/>
        </p:nvCxnSpPr>
        <p:spPr>
          <a:xfrm flipH="1" flipV="1">
            <a:off x="3291840" y="2177640"/>
            <a:ext cx="2905920" cy="1194840"/>
          </a:xfrm>
          <a:prstGeom prst="straightConnector1">
            <a:avLst/>
          </a:prstGeom>
          <a:ln w="73025">
            <a:solidFill>
              <a:srgbClr val="000000"/>
            </a:solidFill>
            <a:round/>
            <a:tailEnd type="triangle" w="med" len="med"/>
          </a:ln>
        </p:spPr>
      </p:cxnSp>
      <p:cxnSp>
        <p:nvCxnSpPr>
          <p:cNvPr id="234" name="Straight Arrow Connector 12"/>
          <p:cNvCxnSpPr>
            <a:stCxn id="232" idx="1"/>
          </p:cNvCxnSpPr>
          <p:nvPr/>
        </p:nvCxnSpPr>
        <p:spPr>
          <a:xfrm flipH="1" flipV="1">
            <a:off x="3291840" y="2778480"/>
            <a:ext cx="2905920" cy="594000"/>
          </a:xfrm>
          <a:prstGeom prst="straightConnector1">
            <a:avLst/>
          </a:prstGeom>
          <a:ln w="73025">
            <a:solidFill>
              <a:srgbClr val="000000"/>
            </a:solidFill>
            <a:round/>
            <a:tailEnd type="triangle" w="med" len="med"/>
          </a:ln>
        </p:spPr>
      </p:cxnSp>
      <p:cxnSp>
        <p:nvCxnSpPr>
          <p:cNvPr id="235" name="Straight Arrow Connector 15"/>
          <p:cNvCxnSpPr>
            <a:stCxn id="232" idx="1"/>
          </p:cNvCxnSpPr>
          <p:nvPr/>
        </p:nvCxnSpPr>
        <p:spPr>
          <a:xfrm flipH="1" flipV="1">
            <a:off x="3291840" y="3326400"/>
            <a:ext cx="2905920" cy="46080"/>
          </a:xfrm>
          <a:prstGeom prst="straightConnector1">
            <a:avLst/>
          </a:prstGeom>
          <a:ln w="73025">
            <a:solidFill>
              <a:srgbClr val="000000"/>
            </a:solidFill>
            <a:round/>
            <a:tailEnd type="triangle" w="med" len="med"/>
          </a:ln>
        </p:spPr>
      </p:cxnSp>
      <p:sp>
        <p:nvSpPr>
          <p:cNvPr id="236" name="TextBox 20"/>
          <p:cNvSpPr/>
          <p:nvPr/>
        </p:nvSpPr>
        <p:spPr>
          <a:xfrm>
            <a:off x="6444720" y="430560"/>
            <a:ext cx="23583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Run this loop forever</a:t>
            </a:r>
            <a:endParaRPr lang="en-US" sz="1400" b="0" u="none" strike="noStrike">
              <a:solidFill>
                <a:srgbClr val="000000"/>
              </a:solidFill>
              <a:effectLst/>
              <a:uFillTx/>
              <a:latin typeface="Arial"/>
            </a:endParaRPr>
          </a:p>
        </p:txBody>
      </p:sp>
      <p:cxnSp>
        <p:nvCxnSpPr>
          <p:cNvPr id="237" name="Straight Arrow Connector 21"/>
          <p:cNvCxnSpPr>
            <a:stCxn id="236" idx="1"/>
          </p:cNvCxnSpPr>
          <p:nvPr/>
        </p:nvCxnSpPr>
        <p:spPr>
          <a:xfrm flipH="1">
            <a:off x="1137960" y="584280"/>
            <a:ext cx="5307120" cy="396000"/>
          </a:xfrm>
          <a:prstGeom prst="straightConnector1">
            <a:avLst/>
          </a:prstGeom>
          <a:ln w="73025">
            <a:solidFill>
              <a:srgbClr val="000000"/>
            </a:solidFill>
            <a:round/>
            <a:tailEnd type="triangle" w="med" len="med"/>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hub_menu() Example: Part 1</a:t>
            </a:r>
            <a:endParaRPr lang="en-US" sz="2500" b="0" u="none" strike="noStrike">
              <a:solidFill>
                <a:srgbClr val="000000"/>
              </a:solidFill>
              <a:effectLst/>
              <a:uFillTx/>
              <a:latin typeface="Arial"/>
            </a:endParaRPr>
          </a:p>
        </p:txBody>
      </p:sp>
      <p:sp>
        <p:nvSpPr>
          <p:cNvPr id="239" name="PlaceHolder 2"/>
          <p:cNvSpPr>
            <a:spLocks noGrp="1"/>
          </p:cNvSpPr>
          <p:nvPr>
            <p:ph/>
          </p:nvPr>
        </p:nvSpPr>
        <p:spPr>
          <a:xfrm>
            <a:off x="362160" y="782280"/>
            <a:ext cx="8482320" cy="3750480"/>
          </a:xfrm>
          <a:prstGeom prst="rect">
            <a:avLst/>
          </a:prstGeom>
          <a:solidFill>
            <a:schemeClr val="lt1"/>
          </a:solidFill>
          <a:ln w="9360">
            <a:solidFill>
              <a:srgbClr val="000000"/>
            </a:solidFill>
            <a:round/>
          </a:ln>
        </p:spPr>
        <p:txBody>
          <a:bodyPr lIns="91440" tIns="91440" rIns="91440" bIns="91440" anchor="t">
            <a:noAutofit/>
          </a:bodyPr>
          <a:lstStyle/>
          <a:p>
            <a:pPr indent="0" algn="l">
              <a:lnSpc>
                <a:spcPct val="115000"/>
              </a:lnSpc>
              <a:buNone/>
              <a:tabLst>
                <a:tab pos="0" algn="l"/>
              </a:tabLst>
            </a:pPr>
            <a:r>
              <a:rPr lang="en" sz="1450" b="1" u="none" strike="noStrike">
                <a:solidFill>
                  <a:srgbClr val="008E00"/>
                </a:solidFill>
                <a:effectLst/>
                <a:highlight>
                  <a:srgbClr val="FFFFFF"/>
                </a:highlight>
                <a:uFillTx/>
                <a:latin typeface="Courier New"/>
                <a:ea typeface="Courier New"/>
              </a:rPr>
              <a:t># Pybricks Class Menu</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008E00"/>
                </a:solidFill>
                <a:effectLst/>
                <a:highlight>
                  <a:srgbClr val="FFFFFF"/>
                </a:highlight>
                <a:uFillTx/>
                <a:latin typeface="Courier New"/>
                <a:ea typeface="Courier New"/>
              </a:rPr>
              <a:t># menu revision number</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chemeClr val="dk1"/>
                </a:solidFill>
                <a:effectLst/>
                <a:highlight>
                  <a:srgbClr val="FFFFFF"/>
                </a:highlight>
                <a:uFillTx/>
                <a:latin typeface="Courier New"/>
                <a:ea typeface="Courier New"/>
              </a:rPr>
              <a:t>menu_revision=</a:t>
            </a:r>
            <a:r>
              <a:rPr lang="en" sz="1450" b="1" u="none" strike="noStrike">
                <a:solidFill>
                  <a:srgbClr val="DF0002"/>
                </a:solidFill>
                <a:effectLst/>
                <a:highlight>
                  <a:srgbClr val="FFFFFF"/>
                </a:highlight>
                <a:uFillTx/>
                <a:latin typeface="Courier New"/>
                <a:ea typeface="Courier New"/>
              </a:rPr>
              <a:t>"1"</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008E00"/>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008E00"/>
                </a:solidFill>
                <a:effectLst/>
                <a:highlight>
                  <a:srgbClr val="FFFFFF"/>
                </a:highlight>
                <a:uFillTx/>
                <a:latin typeface="Courier New"/>
                <a:ea typeface="Courier New"/>
              </a:rPr>
              <a:t># import our library</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pybricks.tools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hub_menu</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pybricks_class_library_rev1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a:t>
            </a:r>
            <a:r>
              <a:rPr lang="en" sz="1450" b="1" u="none" strike="noStrike">
                <a:solidFill>
                  <a:srgbClr val="C800A4"/>
                </a:solidFill>
                <a:effectLst/>
                <a:highlight>
                  <a:srgbClr val="FFFFFF"/>
                </a:highlight>
                <a:uFillTx/>
                <a:latin typeface="Courier New"/>
                <a:ea typeface="Courier New"/>
              </a:rPr>
              <a:t>*</a:t>
            </a:r>
            <a:endParaRPr lang="en-US" sz="1450" b="0" u="none" strike="noStrike">
              <a:solidFill>
                <a:srgbClr val="000000"/>
              </a:solidFill>
              <a:effectLst/>
              <a:uFillTx/>
              <a:latin typeface="Arial"/>
            </a:endParaRPr>
          </a:p>
          <a:p>
            <a:pPr indent="0" algn="l">
              <a:lnSpc>
                <a:spcPct val="115000"/>
              </a:lnSpc>
              <a:buNone/>
              <a:tabLst>
                <a:tab pos="0" algn="l"/>
              </a:tabLst>
            </a:pP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008E00"/>
                </a:solidFill>
                <a:effectLst/>
                <a:highlight>
                  <a:srgbClr val="FFFFFF"/>
                </a:highlight>
                <a:uFillTx/>
                <a:latin typeface="Courier New"/>
                <a:ea typeface="Courier New"/>
              </a:rPr>
              <a:t># The name of each task file minus the .py file extension</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pybricks_class_task1_rev1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pybricks_class_task1</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pybricks_class_task2_rev1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pybricks_class_task2</a:t>
            </a: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C800A4"/>
                </a:solidFill>
                <a:effectLst/>
                <a:highlight>
                  <a:srgbClr val="FFFFFF"/>
                </a:highlight>
                <a:uFillTx/>
                <a:latin typeface="Courier New"/>
                <a:ea typeface="Courier New"/>
              </a:rPr>
              <a:t>from</a:t>
            </a:r>
            <a:r>
              <a:rPr lang="en" sz="1450" b="1" u="none" strike="noStrike">
                <a:solidFill>
                  <a:schemeClr val="dk1"/>
                </a:solidFill>
                <a:effectLst/>
                <a:highlight>
                  <a:srgbClr val="FFFFFF"/>
                </a:highlight>
                <a:uFillTx/>
                <a:latin typeface="Courier New"/>
                <a:ea typeface="Courier New"/>
              </a:rPr>
              <a:t> pybricks_class_task3_rev1 </a:t>
            </a:r>
            <a:r>
              <a:rPr lang="en" sz="1450" b="1" u="none" strike="noStrike">
                <a:solidFill>
                  <a:srgbClr val="C800A4"/>
                </a:solidFill>
                <a:effectLst/>
                <a:highlight>
                  <a:srgbClr val="FFFFFF"/>
                </a:highlight>
                <a:uFillTx/>
                <a:latin typeface="Courier New"/>
                <a:ea typeface="Courier New"/>
              </a:rPr>
              <a:t>import</a:t>
            </a:r>
            <a:r>
              <a:rPr lang="en" sz="1450" b="1" u="none" strike="noStrike">
                <a:solidFill>
                  <a:schemeClr val="dk1"/>
                </a:solidFill>
                <a:effectLst/>
                <a:highlight>
                  <a:srgbClr val="FFFFFF"/>
                </a:highlight>
                <a:uFillTx/>
                <a:latin typeface="Courier New"/>
                <a:ea typeface="Courier New"/>
              </a:rPr>
              <a:t> pybricks_class_task3</a:t>
            </a:r>
            <a:endParaRPr lang="en-US" sz="1450" b="0" u="none" strike="noStrike">
              <a:solidFill>
                <a:srgbClr val="000000"/>
              </a:solidFill>
              <a:effectLst/>
              <a:uFillTx/>
              <a:latin typeface="Arial"/>
            </a:endParaRPr>
          </a:p>
          <a:p>
            <a:pPr indent="0" algn="l">
              <a:lnSpc>
                <a:spcPct val="115000"/>
              </a:lnSpc>
              <a:buNone/>
              <a:tabLst>
                <a:tab pos="0" algn="l"/>
              </a:tabLst>
            </a:pPr>
            <a:endParaRPr lang="en-US" sz="1450" b="0" u="none" strike="noStrike">
              <a:solidFill>
                <a:srgbClr val="000000"/>
              </a:solidFill>
              <a:effectLst/>
              <a:uFillTx/>
              <a:latin typeface="Arial"/>
            </a:endParaRPr>
          </a:p>
          <a:p>
            <a:pPr indent="0" algn="l">
              <a:lnSpc>
                <a:spcPct val="115000"/>
              </a:lnSpc>
              <a:buNone/>
              <a:tabLst>
                <a:tab pos="0" algn="l"/>
              </a:tabLst>
            </a:pPr>
            <a:r>
              <a:rPr lang="en" sz="1450" b="1" u="none" strike="noStrike">
                <a:solidFill>
                  <a:srgbClr val="450084"/>
                </a:solidFill>
                <a:effectLst/>
                <a:highlight>
                  <a:srgbClr val="FFFFFF"/>
                </a:highlight>
                <a:uFillTx/>
                <a:latin typeface="Courier New"/>
                <a:ea typeface="Courier New"/>
              </a:rPr>
              <a:t>print</a:t>
            </a:r>
            <a:r>
              <a:rPr lang="en" sz="1450" b="1" u="none" strike="noStrike">
                <a:solidFill>
                  <a:schemeClr val="dk1"/>
                </a:solidFill>
                <a:effectLst/>
                <a:highlight>
                  <a:srgbClr val="FFFFFF"/>
                </a:highlight>
                <a:uFillTx/>
                <a:latin typeface="Courier New"/>
                <a:ea typeface="Courier New"/>
              </a:rPr>
              <a:t>(</a:t>
            </a:r>
            <a:r>
              <a:rPr lang="en" sz="1450" b="1" u="none" strike="noStrike">
                <a:solidFill>
                  <a:srgbClr val="DF0002"/>
                </a:solidFill>
                <a:effectLst/>
                <a:highlight>
                  <a:srgbClr val="FFFFFF"/>
                </a:highlight>
                <a:uFillTx/>
                <a:latin typeface="Courier New"/>
                <a:ea typeface="Courier New"/>
              </a:rPr>
              <a:t>"Robot Menu, rev#"</a:t>
            </a:r>
            <a:r>
              <a:rPr lang="en" sz="1450" b="1" u="none" strike="noStrike">
                <a:solidFill>
                  <a:schemeClr val="dk1"/>
                </a:solidFill>
                <a:effectLst/>
                <a:highlight>
                  <a:srgbClr val="FFFFFF"/>
                </a:highlight>
                <a:uFillTx/>
                <a:latin typeface="Courier New"/>
                <a:ea typeface="Courier New"/>
              </a:rPr>
              <a:t>,menu_revision)</a:t>
            </a:r>
            <a:endParaRPr lang="en-US" sz="1450" b="0" u="none" strike="noStrike">
              <a:solidFill>
                <a:srgbClr val="000000"/>
              </a:solidFill>
              <a:effectLst/>
              <a:uFillTx/>
              <a:latin typeface="Arial"/>
            </a:endParaRPr>
          </a:p>
        </p:txBody>
      </p:sp>
      <p:sp>
        <p:nvSpPr>
          <p:cNvPr id="240" name="PlaceHolder 3"/>
          <p:cNvSpPr>
            <a:spLocks noGrp="1"/>
          </p:cNvSpPr>
          <p:nvPr>
            <p:ph type="sldNum" idx="5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0B0E1E6-2E7F-4BAE-89B3-F03C245A4014}" type="slidenum">
              <a:rPr lang="en" sz="1000" b="0" u="none" strike="noStrike">
                <a:solidFill>
                  <a:schemeClr val="dk2"/>
                </a:solidFill>
                <a:effectLst/>
                <a:uFillTx/>
                <a:latin typeface="Arial"/>
                <a:ea typeface="Arial"/>
              </a:rPr>
              <a:t>42</a:t>
            </a:fld>
            <a:endParaRPr lang="en-US" sz="1000" b="0" u="none" strike="noStrike">
              <a:solidFill>
                <a:srgbClr val="000000"/>
              </a:solidFill>
              <a:effectLst/>
              <a:uFillTx/>
              <a:latin typeface="Times New Roman"/>
            </a:endParaRPr>
          </a:p>
        </p:txBody>
      </p:sp>
      <p:sp>
        <p:nvSpPr>
          <p:cNvPr id="241" name="Google Shape;235;p34"/>
          <p:cNvSpPr/>
          <p:nvPr/>
        </p:nvSpPr>
        <p:spPr>
          <a:xfrm>
            <a:off x="6097320" y="922320"/>
            <a:ext cx="2607120" cy="1800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500" b="0" u="none" strike="noStrike">
                <a:solidFill>
                  <a:schemeClr val="dk2"/>
                </a:solidFill>
                <a:effectLst/>
                <a:uFillTx/>
                <a:latin typeface="Arial"/>
                <a:ea typeface="Arial"/>
              </a:rPr>
              <a:t>See slide notes for detailed explanation</a:t>
            </a:r>
            <a:endParaRPr lang="en-US" sz="1500" b="0" u="none" strike="noStrike">
              <a:solidFill>
                <a:srgbClr val="000000"/>
              </a:solidFill>
              <a:effectLst/>
              <a:uFillTx/>
              <a:latin typeface="Arial"/>
            </a:endParaRPr>
          </a:p>
          <a:p>
            <a:pPr algn="ctr">
              <a:lnSpc>
                <a:spcPct val="100000"/>
              </a:lnSpc>
              <a:tabLst>
                <a:tab pos="0" algn="l"/>
              </a:tabLst>
            </a:pPr>
            <a:endParaRPr lang="en-US" sz="1500" b="0" u="none" strike="noStrike">
              <a:solidFill>
                <a:srgbClr val="000000"/>
              </a:solidFill>
              <a:effectLst/>
              <a:uFillTx/>
              <a:latin typeface="Arial"/>
            </a:endParaRPr>
          </a:p>
          <a:p>
            <a:pPr algn="ctr">
              <a:lnSpc>
                <a:spcPct val="100000"/>
              </a:lnSpc>
              <a:tabLst>
                <a:tab pos="0" algn="l"/>
              </a:tabLst>
            </a:pPr>
            <a:r>
              <a:rPr lang="en" sz="1500" b="0" u="none" strike="noStrike">
                <a:solidFill>
                  <a:schemeClr val="dk2"/>
                </a:solidFill>
                <a:effectLst/>
                <a:uFillTx/>
                <a:latin typeface="Arial"/>
                <a:ea typeface="Arial"/>
              </a:rPr>
              <a:t>This hub_menu example is intended to work with the Pybricks Python Examples below.</a:t>
            </a:r>
            <a:endParaRPr lang="en-US" sz="15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hub_menu() Example: Part 2</a:t>
            </a:r>
            <a:endParaRPr lang="en-US" sz="2500" b="0" u="none" strike="noStrike">
              <a:solidFill>
                <a:srgbClr val="000000"/>
              </a:solidFill>
              <a:effectLst/>
              <a:uFillTx/>
              <a:latin typeface="Arial"/>
            </a:endParaRPr>
          </a:p>
        </p:txBody>
      </p:sp>
      <p:sp>
        <p:nvSpPr>
          <p:cNvPr id="243" name="PlaceHolder 2"/>
          <p:cNvSpPr>
            <a:spLocks noGrp="1"/>
          </p:cNvSpPr>
          <p:nvPr>
            <p:ph/>
          </p:nvPr>
        </p:nvSpPr>
        <p:spPr>
          <a:xfrm>
            <a:off x="888120" y="682920"/>
            <a:ext cx="7673400" cy="4305240"/>
          </a:xfrm>
          <a:prstGeom prst="rect">
            <a:avLst/>
          </a:prstGeom>
          <a:solidFill>
            <a:schemeClr val="lt1"/>
          </a:solidFill>
          <a:ln w="9360">
            <a:solidFill>
              <a:srgbClr val="000000"/>
            </a:solidFill>
            <a:round/>
          </a:ln>
        </p:spPr>
        <p:txBody>
          <a:bodyPr lIns="91440" tIns="91440" rIns="91440" bIns="91440" anchor="t">
            <a:noAutofit/>
          </a:bodyPr>
          <a:lstStyle/>
          <a:p>
            <a:pPr indent="0" algn="l">
              <a:lnSpc>
                <a:spcPct val="115000"/>
              </a:lnSpc>
              <a:buNone/>
              <a:tabLst>
                <a:tab pos="0" algn="l"/>
              </a:tabLst>
            </a:pPr>
            <a:r>
              <a:rPr lang="en" sz="1050" b="1" u="none" strike="noStrike">
                <a:solidFill>
                  <a:srgbClr val="C800A4"/>
                </a:solidFill>
                <a:effectLst/>
                <a:highlight>
                  <a:srgbClr val="FFFFFF"/>
                </a:highlight>
                <a:uFillTx/>
                <a:latin typeface="Courier New"/>
                <a:ea typeface="Courier New"/>
              </a:rPr>
              <a:t>while</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True</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selected = hub_menu(</a:t>
            </a:r>
            <a:r>
              <a:rPr lang="en" sz="1050" b="1" u="none" strike="noStrike">
                <a:solidFill>
                  <a:srgbClr val="DF0002"/>
                </a:solidFill>
                <a:effectLst/>
                <a:highlight>
                  <a:srgbClr val="FFFFFF"/>
                </a:highlight>
                <a:uFillTx/>
                <a:latin typeface="Courier New"/>
                <a:ea typeface="Courier New"/>
              </a:rPr>
              <a:t>"M"</a:t>
            </a:r>
            <a:r>
              <a:rPr lang="en" sz="1050" b="1" u="none" strike="noStrike">
                <a:solidFill>
                  <a:schemeClr val="dk1"/>
                </a:solidFill>
                <a:effectLst/>
                <a:highlight>
                  <a:srgbClr val="FFFFFF"/>
                </a:highlight>
                <a:uFillTx/>
                <a:latin typeface="Courier New"/>
                <a:ea typeface="Courier New"/>
              </a:rPr>
              <a:t>,</a:t>
            </a:r>
            <a:r>
              <a:rPr lang="en" sz="1050" b="1" u="none" strike="noStrike">
                <a:solidFill>
                  <a:srgbClr val="DF0002"/>
                </a:solidFill>
                <a:effectLst/>
                <a:highlight>
                  <a:srgbClr val="FFFFFF"/>
                </a:highlight>
                <a:uFillTx/>
                <a:latin typeface="Courier New"/>
                <a:ea typeface="Courier New"/>
              </a:rPr>
              <a:t>"1"</a:t>
            </a:r>
            <a:r>
              <a:rPr lang="en" sz="1050" b="1" u="none" strike="noStrike">
                <a:solidFill>
                  <a:schemeClr val="dk1"/>
                </a:solidFill>
                <a:effectLst/>
                <a:highlight>
                  <a:srgbClr val="FFFFFF"/>
                </a:highlight>
                <a:uFillTx/>
                <a:latin typeface="Courier New"/>
                <a:ea typeface="Courier New"/>
              </a:rPr>
              <a:t>,</a:t>
            </a:r>
            <a:r>
              <a:rPr lang="en" sz="1050" b="1" u="none" strike="noStrike">
                <a:solidFill>
                  <a:srgbClr val="DF0002"/>
                </a:solidFill>
                <a:effectLst/>
                <a:highlight>
                  <a:srgbClr val="FFFFFF"/>
                </a:highlight>
                <a:uFillTx/>
                <a:latin typeface="Courier New"/>
                <a:ea typeface="Courier New"/>
              </a:rPr>
              <a:t>"2"</a:t>
            </a:r>
            <a:r>
              <a:rPr lang="en" sz="1050" b="1" u="none" strike="noStrike">
                <a:solidFill>
                  <a:schemeClr val="dk1"/>
                </a:solidFill>
                <a:effectLst/>
                <a:highlight>
                  <a:srgbClr val="FFFFFF"/>
                </a:highlight>
                <a:uFillTx/>
                <a:latin typeface="Courier New"/>
                <a:ea typeface="Courier New"/>
              </a:rPr>
              <a:t>,</a:t>
            </a:r>
            <a:r>
              <a:rPr lang="en" sz="1050" b="1" u="none" strike="noStrike">
                <a:solidFill>
                  <a:srgbClr val="DF0002"/>
                </a:solidFill>
                <a:effectLst/>
                <a:highlight>
                  <a:srgbClr val="FFFFFF"/>
                </a:highlight>
                <a:uFillTx/>
                <a:latin typeface="Courier New"/>
                <a:ea typeface="Courier New"/>
              </a:rPr>
              <a:t>"3"</a:t>
            </a:r>
            <a:r>
              <a:rPr lang="en" sz="1050" b="1" u="none" strike="noStrike">
                <a:solidFill>
                  <a:schemeClr val="dk1"/>
                </a:solidFill>
                <a:effectLst/>
                <a:highlight>
                  <a:srgbClr val="FFFFFF"/>
                </a:highlight>
                <a:uFillTx/>
                <a:latin typeface="Courier New"/>
                <a:ea typeface="Courier New"/>
              </a:rPr>
              <a:t>,</a:t>
            </a:r>
            <a:r>
              <a:rPr lang="en" sz="1050" b="1" u="none" strike="noStrike">
                <a:solidFill>
                  <a:srgbClr val="DF0002"/>
                </a:solidFill>
                <a:effectLst/>
                <a:highlight>
                  <a:srgbClr val="FFFFFF"/>
                </a:highlight>
                <a:uFillTx/>
                <a:latin typeface="Courier New"/>
                <a:ea typeface="Courier New"/>
              </a:rPr>
              <a:t>"X"</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try</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if</a:t>
            </a:r>
            <a:r>
              <a:rPr lang="en" sz="1050" b="1" u="none" strike="noStrike">
                <a:solidFill>
                  <a:schemeClr val="dk1"/>
                </a:solidFill>
                <a:effectLst/>
                <a:highlight>
                  <a:srgbClr val="FFFFFF"/>
                </a:highlight>
                <a:uFillTx/>
                <a:latin typeface="Courier New"/>
                <a:ea typeface="Courier New"/>
              </a:rPr>
              <a:t> selected </a:t>
            </a:r>
            <a:r>
              <a:rPr lang="en" sz="1050" b="1" u="none" strike="noStrike">
                <a:solidFill>
                  <a:srgbClr val="C800A4"/>
                </a:solidFill>
                <a:effectLst/>
                <a:highlight>
                  <a:srgbClr val="FFFFFF"/>
                </a:highlight>
                <a:uFillTx/>
                <a:latin typeface="Courier New"/>
                <a:ea typeface="Courier New"/>
              </a:rPr>
              <a:t>==</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DF0002"/>
                </a:solidFill>
                <a:effectLst/>
                <a:highlight>
                  <a:srgbClr val="FFFFFF"/>
                </a:highlight>
                <a:uFillTx/>
                <a:latin typeface="Courier New"/>
                <a:ea typeface="Courier New"/>
              </a:rPr>
              <a:t>"M"</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008E00"/>
                </a:solidFill>
                <a:effectLst/>
                <a:highlight>
                  <a:srgbClr val="FFFFFF"/>
                </a:highlight>
                <a:uFillTx/>
                <a:latin typeface="Courier New"/>
                <a:ea typeface="Courier New"/>
              </a:rPr>
              <a:t># does nothing, used to show menu is active</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break</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if</a:t>
            </a:r>
            <a:r>
              <a:rPr lang="en" sz="1050" b="1" u="none" strike="noStrike">
                <a:solidFill>
                  <a:schemeClr val="dk1"/>
                </a:solidFill>
                <a:effectLst/>
                <a:highlight>
                  <a:srgbClr val="FFFFFF"/>
                </a:highlight>
                <a:uFillTx/>
                <a:latin typeface="Courier New"/>
                <a:ea typeface="Courier New"/>
              </a:rPr>
              <a:t> selected </a:t>
            </a:r>
            <a:r>
              <a:rPr lang="en" sz="1050" b="1" u="none" strike="noStrike">
                <a:solidFill>
                  <a:srgbClr val="C800A4"/>
                </a:solidFill>
                <a:effectLst/>
                <a:highlight>
                  <a:srgbClr val="FFFFFF"/>
                </a:highlight>
                <a:uFillTx/>
                <a:latin typeface="Courier New"/>
                <a:ea typeface="Courier New"/>
              </a:rPr>
              <a:t>==</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DF0002"/>
                </a:solidFill>
                <a:effectLst/>
                <a:highlight>
                  <a:srgbClr val="FFFFFF"/>
                </a:highlight>
                <a:uFillTx/>
                <a:latin typeface="Courier New"/>
                <a:ea typeface="Courier New"/>
              </a:rPr>
              <a:t>"1"</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wait(</a:t>
            </a:r>
            <a:r>
              <a:rPr lang="en" sz="1050" b="1" u="none" strike="noStrike">
                <a:solidFill>
                  <a:srgbClr val="3A00DC"/>
                </a:solidFill>
                <a:effectLst/>
                <a:highlight>
                  <a:srgbClr val="FFFFFF"/>
                </a:highlight>
                <a:uFillTx/>
                <a:latin typeface="Courier New"/>
                <a:ea typeface="Courier New"/>
              </a:rPr>
              <a:t>1000</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run_task(pybricks_class_task1())</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elif</a:t>
            </a:r>
            <a:r>
              <a:rPr lang="en" sz="1050" b="1" u="none" strike="noStrike">
                <a:solidFill>
                  <a:schemeClr val="dk1"/>
                </a:solidFill>
                <a:effectLst/>
                <a:highlight>
                  <a:srgbClr val="FFFFFF"/>
                </a:highlight>
                <a:uFillTx/>
                <a:latin typeface="Courier New"/>
                <a:ea typeface="Courier New"/>
              </a:rPr>
              <a:t> selected </a:t>
            </a:r>
            <a:r>
              <a:rPr lang="en" sz="1050" b="1" u="none" strike="noStrike">
                <a:solidFill>
                  <a:srgbClr val="C800A4"/>
                </a:solidFill>
                <a:effectLst/>
                <a:highlight>
                  <a:srgbClr val="FFFFFF"/>
                </a:highlight>
                <a:uFillTx/>
                <a:latin typeface="Courier New"/>
                <a:ea typeface="Courier New"/>
              </a:rPr>
              <a:t>==</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DF0002"/>
                </a:solidFill>
                <a:effectLst/>
                <a:highlight>
                  <a:srgbClr val="FFFFFF"/>
                </a:highlight>
                <a:uFillTx/>
                <a:latin typeface="Courier New"/>
                <a:ea typeface="Courier New"/>
              </a:rPr>
              <a:t>"2"</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wait(</a:t>
            </a:r>
            <a:r>
              <a:rPr lang="en" sz="1050" b="1" u="none" strike="noStrike">
                <a:solidFill>
                  <a:srgbClr val="3A00DC"/>
                </a:solidFill>
                <a:effectLst/>
                <a:highlight>
                  <a:srgbClr val="FFFFFF"/>
                </a:highlight>
                <a:uFillTx/>
                <a:latin typeface="Courier New"/>
                <a:ea typeface="Courier New"/>
              </a:rPr>
              <a:t>1000</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run_task(pybricks_class_task2()) </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elif</a:t>
            </a:r>
            <a:r>
              <a:rPr lang="en" sz="1050" b="1" u="none" strike="noStrike">
                <a:solidFill>
                  <a:schemeClr val="dk1"/>
                </a:solidFill>
                <a:effectLst/>
                <a:highlight>
                  <a:srgbClr val="FFFFFF"/>
                </a:highlight>
                <a:uFillTx/>
                <a:latin typeface="Courier New"/>
                <a:ea typeface="Courier New"/>
              </a:rPr>
              <a:t> selected </a:t>
            </a:r>
            <a:r>
              <a:rPr lang="en" sz="1050" b="1" u="none" strike="noStrike">
                <a:solidFill>
                  <a:srgbClr val="C800A4"/>
                </a:solidFill>
                <a:effectLst/>
                <a:highlight>
                  <a:srgbClr val="FFFFFF"/>
                </a:highlight>
                <a:uFillTx/>
                <a:latin typeface="Courier New"/>
                <a:ea typeface="Courier New"/>
              </a:rPr>
              <a:t>==</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DF0002"/>
                </a:solidFill>
                <a:effectLst/>
                <a:highlight>
                  <a:srgbClr val="FFFFFF"/>
                </a:highlight>
                <a:uFillTx/>
                <a:latin typeface="Courier New"/>
                <a:ea typeface="Courier New"/>
              </a:rPr>
              <a:t>"3"</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wait(</a:t>
            </a:r>
            <a:r>
              <a:rPr lang="en" sz="1050" b="1" u="none" strike="noStrike">
                <a:solidFill>
                  <a:srgbClr val="3A00DC"/>
                </a:solidFill>
                <a:effectLst/>
                <a:highlight>
                  <a:srgbClr val="FFFFFF"/>
                </a:highlight>
                <a:uFillTx/>
                <a:latin typeface="Courier New"/>
                <a:ea typeface="Courier New"/>
              </a:rPr>
              <a:t>1000</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run_task(pybricks_class_task3()) </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elif</a:t>
            </a:r>
            <a:r>
              <a:rPr lang="en" sz="1050" b="1" u="none" strike="noStrike">
                <a:solidFill>
                  <a:schemeClr val="dk1"/>
                </a:solidFill>
                <a:effectLst/>
                <a:highlight>
                  <a:srgbClr val="FFFFFF"/>
                </a:highlight>
                <a:uFillTx/>
                <a:latin typeface="Courier New"/>
                <a:ea typeface="Courier New"/>
              </a:rPr>
              <a:t> selected </a:t>
            </a:r>
            <a:r>
              <a:rPr lang="en" sz="1050" b="1" u="none" strike="noStrike">
                <a:solidFill>
                  <a:srgbClr val="C800A4"/>
                </a:solidFill>
                <a:effectLst/>
                <a:highlight>
                  <a:srgbClr val="FFFFFF"/>
                </a:highlight>
                <a:uFillTx/>
                <a:latin typeface="Courier New"/>
                <a:ea typeface="Courier New"/>
              </a:rPr>
              <a:t>==</a:t>
            </a: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DF0002"/>
                </a:solidFill>
                <a:effectLst/>
                <a:highlight>
                  <a:srgbClr val="FFFFFF"/>
                </a:highlight>
                <a:uFillTx/>
                <a:latin typeface="Courier New"/>
                <a:ea typeface="Courier New"/>
              </a:rPr>
              <a:t>"X"</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008E00"/>
                </a:solidFill>
                <a:effectLst/>
                <a:highlight>
                  <a:srgbClr val="FFFFFF"/>
                </a:highlight>
                <a:uFillTx/>
                <a:latin typeface="Courier New"/>
                <a:ea typeface="Courier New"/>
              </a:rPr>
              <a:t># does nothing, used to show end of menu</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break</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except</a:t>
            </a:r>
            <a:r>
              <a:rPr lang="en" sz="1050" b="1" u="none" strike="noStrike">
                <a:solidFill>
                  <a:schemeClr val="dk1"/>
                </a:solidFill>
                <a:effectLst/>
                <a:highlight>
                  <a:srgbClr val="FFFFFF"/>
                </a:highlight>
                <a:uFillTx/>
                <a:latin typeface="Courier New"/>
                <a:ea typeface="Courier New"/>
              </a:rPr>
              <a:t> BaseException </a:t>
            </a:r>
            <a:r>
              <a:rPr lang="en" sz="1050" b="1" u="none" strike="noStrike">
                <a:solidFill>
                  <a:srgbClr val="C800A4"/>
                </a:solidFill>
                <a:effectLst/>
                <a:highlight>
                  <a:srgbClr val="FFFFFF"/>
                </a:highlight>
                <a:uFillTx/>
                <a:latin typeface="Courier New"/>
                <a:ea typeface="Courier New"/>
              </a:rPr>
              <a:t>as</a:t>
            </a:r>
            <a:r>
              <a:rPr lang="en" sz="1050" b="1" u="none" strike="noStrike">
                <a:solidFill>
                  <a:schemeClr val="dk1"/>
                </a:solidFill>
                <a:effectLst/>
                <a:highlight>
                  <a:srgbClr val="FFFFFF"/>
                </a:highlight>
                <a:uFillTx/>
                <a:latin typeface="Courier New"/>
                <a:ea typeface="Courier New"/>
              </a:rPr>
              <a:t> menuException:</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450084"/>
                </a:solidFill>
                <a:effectLst/>
                <a:highlight>
                  <a:srgbClr val="FFFFFF"/>
                </a:highlight>
                <a:uFillTx/>
                <a:latin typeface="Courier New"/>
                <a:ea typeface="Courier New"/>
              </a:rPr>
              <a:t>print</a:t>
            </a:r>
            <a:r>
              <a:rPr lang="en" sz="1050" b="1" u="none" strike="noStrike">
                <a:solidFill>
                  <a:schemeClr val="dk1"/>
                </a:solidFill>
                <a:effectLst/>
                <a:highlight>
                  <a:srgbClr val="FFFFFF"/>
                </a:highlight>
                <a:uFillTx/>
                <a:latin typeface="Courier New"/>
                <a:ea typeface="Courier New"/>
              </a:rPr>
              <a:t>(</a:t>
            </a:r>
            <a:r>
              <a:rPr lang="en" sz="1050" b="1" u="none" strike="noStrike">
                <a:solidFill>
                  <a:srgbClr val="DF0002"/>
                </a:solidFill>
                <a:effectLst/>
                <a:highlight>
                  <a:srgbClr val="FFFFFF"/>
                </a:highlight>
                <a:uFillTx/>
                <a:latin typeface="Courier New"/>
                <a:ea typeface="Courier New"/>
              </a:rPr>
              <a:t>"Stop was Pressed or a Critical Error Occurred"</a:t>
            </a:r>
            <a:r>
              <a:rPr lang="en" sz="1050" b="1" u="none" strike="noStrike">
                <a:solidFill>
                  <a:schemeClr val="dk1"/>
                </a:solidFill>
                <a:effectLst/>
                <a:highlight>
                  <a:srgbClr val="FFFFFF"/>
                </a:highlight>
                <a:uFillTx/>
                <a:latin typeface="Courier New"/>
                <a:ea typeface="Courier New"/>
              </a:rPr>
              <a:t>)</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450084"/>
                </a:solidFill>
                <a:effectLst/>
                <a:highlight>
                  <a:srgbClr val="FFFFFF"/>
                </a:highlight>
                <a:uFillTx/>
                <a:latin typeface="Courier New"/>
                <a:ea typeface="Courier New"/>
              </a:rPr>
              <a:t>print</a:t>
            </a:r>
            <a:r>
              <a:rPr lang="en" sz="1050" b="1" u="none" strike="noStrike">
                <a:solidFill>
                  <a:schemeClr val="dk1"/>
                </a:solidFill>
                <a:effectLst/>
                <a:highlight>
                  <a:srgbClr val="FFFFFF"/>
                </a:highlight>
                <a:uFillTx/>
                <a:latin typeface="Courier New"/>
                <a:ea typeface="Courier New"/>
              </a:rPr>
              <a:t>(menuException)</a:t>
            </a:r>
            <a:endParaRPr lang="en-US" sz="1050" b="0" u="none" strike="noStrike">
              <a:solidFill>
                <a:srgbClr val="000000"/>
              </a:solidFill>
              <a:effectLst/>
              <a:uFillTx/>
              <a:latin typeface="Arial"/>
            </a:endParaRPr>
          </a:p>
          <a:p>
            <a:pPr indent="0" algn="l">
              <a:lnSpc>
                <a:spcPct val="115000"/>
              </a:lnSpc>
              <a:buNone/>
              <a:tabLst>
                <a:tab pos="0" algn="l"/>
              </a:tabLst>
            </a:pPr>
            <a:r>
              <a:rPr lang="en" sz="1050" b="1" u="none" strike="noStrike">
                <a:solidFill>
                  <a:schemeClr val="dk1"/>
                </a:solidFill>
                <a:effectLst/>
                <a:highlight>
                  <a:srgbClr val="FFFFFF"/>
                </a:highlight>
                <a:uFillTx/>
                <a:latin typeface="Courier New"/>
                <a:ea typeface="Courier New"/>
              </a:rPr>
              <a:t>       </a:t>
            </a:r>
            <a:r>
              <a:rPr lang="en" sz="1050" b="1" u="none" strike="noStrike">
                <a:solidFill>
                  <a:srgbClr val="C800A4"/>
                </a:solidFill>
                <a:effectLst/>
                <a:highlight>
                  <a:srgbClr val="FFFFFF"/>
                </a:highlight>
                <a:uFillTx/>
                <a:latin typeface="Courier New"/>
                <a:ea typeface="Courier New"/>
              </a:rPr>
              <a:t>break</a:t>
            </a:r>
            <a:endParaRPr lang="en-US" sz="1050" b="0" u="none" strike="noStrike">
              <a:solidFill>
                <a:srgbClr val="000000"/>
              </a:solidFill>
              <a:effectLst/>
              <a:uFillTx/>
              <a:latin typeface="Arial"/>
            </a:endParaRPr>
          </a:p>
          <a:p>
            <a:pPr indent="0" algn="l">
              <a:lnSpc>
                <a:spcPct val="115000"/>
              </a:lnSpc>
              <a:buNone/>
              <a:tabLst>
                <a:tab pos="0" algn="l"/>
              </a:tabLst>
            </a:pPr>
            <a:endParaRPr lang="en-US" sz="800" b="0" u="none" strike="noStrike">
              <a:solidFill>
                <a:srgbClr val="000000"/>
              </a:solidFill>
              <a:effectLst/>
              <a:uFillTx/>
              <a:latin typeface="Arial"/>
            </a:endParaRPr>
          </a:p>
        </p:txBody>
      </p:sp>
      <p:sp>
        <p:nvSpPr>
          <p:cNvPr id="244" name="PlaceHolder 3"/>
          <p:cNvSpPr>
            <a:spLocks noGrp="1"/>
          </p:cNvSpPr>
          <p:nvPr>
            <p:ph type="sldNum" idx="5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77E6BE5-E249-4156-8F2F-D738BFBA0201}" type="slidenum">
              <a:rPr lang="en" sz="1000" b="0" u="none" strike="noStrike">
                <a:solidFill>
                  <a:schemeClr val="dk2"/>
                </a:solidFill>
                <a:effectLst/>
                <a:uFillTx/>
                <a:latin typeface="Arial"/>
                <a:ea typeface="Arial"/>
              </a:rPr>
              <a:t>43</a:t>
            </a:fld>
            <a:endParaRPr lang="en-US" sz="1000" b="0" u="none" strike="noStrike">
              <a:solidFill>
                <a:srgbClr val="000000"/>
              </a:solidFill>
              <a:effectLst/>
              <a:uFillTx/>
              <a:latin typeface="Times New Roman"/>
            </a:endParaRPr>
          </a:p>
        </p:txBody>
      </p:sp>
      <p:sp>
        <p:nvSpPr>
          <p:cNvPr id="245" name="Google Shape;243;p35"/>
          <p:cNvSpPr/>
          <p:nvPr/>
        </p:nvSpPr>
        <p:spPr>
          <a:xfrm>
            <a:off x="6120720" y="3219480"/>
            <a:ext cx="2246040" cy="1538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 sz="1200" b="0" u="none" strike="noStrike">
                <a:solidFill>
                  <a:schemeClr val="dk2"/>
                </a:solidFill>
                <a:effectLst/>
                <a:uFillTx/>
                <a:latin typeface="Arial"/>
                <a:ea typeface="Arial"/>
              </a:rPr>
              <a:t>See slide notes for detailed explanation</a:t>
            </a:r>
            <a:endParaRPr lang="en-US" sz="1200" b="0" u="none" strike="noStrike">
              <a:solidFill>
                <a:srgbClr val="000000"/>
              </a:solidFill>
              <a:effectLst/>
              <a:uFillTx/>
              <a:latin typeface="Arial"/>
            </a:endParaRPr>
          </a:p>
          <a:p>
            <a:pPr algn="ctr">
              <a:lnSpc>
                <a:spcPct val="100000"/>
              </a:lnSpc>
              <a:tabLst>
                <a:tab pos="0" algn="l"/>
              </a:tabLst>
            </a:pPr>
            <a:endParaRPr lang="en-US" sz="1200" b="0" u="none" strike="noStrike">
              <a:solidFill>
                <a:srgbClr val="000000"/>
              </a:solidFill>
              <a:effectLst/>
              <a:uFillTx/>
              <a:latin typeface="Arial"/>
            </a:endParaRPr>
          </a:p>
          <a:p>
            <a:pPr algn="ctr">
              <a:lnSpc>
                <a:spcPct val="100000"/>
              </a:lnSpc>
              <a:tabLst>
                <a:tab pos="0" algn="l"/>
              </a:tabLst>
            </a:pPr>
            <a:r>
              <a:rPr lang="en" sz="1200" b="0" u="none" strike="noStrike">
                <a:solidFill>
                  <a:schemeClr val="dk2"/>
                </a:solidFill>
                <a:effectLst/>
                <a:uFillTx/>
                <a:latin typeface="Arial"/>
                <a:ea typeface="Arial"/>
              </a:rPr>
              <a:t>This hub_menu example is intended to work with the Pybricks Python examples above</a:t>
            </a:r>
            <a:r>
              <a:rPr lang="en" sz="1600" b="0" u="none" strike="noStrike">
                <a:solidFill>
                  <a:schemeClr val="dk2"/>
                </a:solidFill>
                <a:effectLst/>
                <a:uFillTx/>
                <a:latin typeface="Arial"/>
                <a:ea typeface="Arial"/>
              </a:rPr>
              <a:t>.</a:t>
            </a:r>
            <a:endParaRPr lang="en-US" sz="1600" b="0" u="none" strike="noStrike">
              <a:solidFill>
                <a:srgbClr val="000000"/>
              </a:solidFill>
              <a:effectLst/>
              <a:uFillTx/>
              <a:latin typeface="Arial"/>
            </a:endParaRPr>
          </a:p>
        </p:txBody>
      </p:sp>
      <p:sp>
        <p:nvSpPr>
          <p:cNvPr id="246" name="Google Shape;243;p35"/>
          <p:cNvSpPr/>
          <p:nvPr/>
        </p:nvSpPr>
        <p:spPr>
          <a:xfrm>
            <a:off x="6120720" y="624600"/>
            <a:ext cx="2246040" cy="3690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tabLst>
                <a:tab pos="0" algn="l"/>
              </a:tabLst>
            </a:pPr>
            <a:r>
              <a:rPr lang="en-US" sz="1200" b="0" u="none" strike="noStrike">
                <a:solidFill>
                  <a:schemeClr val="dk2"/>
                </a:solidFill>
                <a:effectLst/>
                <a:uFillTx/>
                <a:latin typeface="Arial"/>
                <a:ea typeface="Arial"/>
              </a:rPr>
              <a:t>This is </a:t>
            </a:r>
            <a:endParaRPr lang="en-US" sz="12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Running Multi Programs – Option 2</a:t>
            </a:r>
            <a:endParaRPr lang="en-US" sz="2500" b="0" u="none" strike="noStrike">
              <a:solidFill>
                <a:srgbClr val="000000"/>
              </a:solidFill>
              <a:effectLst/>
              <a:uFillTx/>
              <a:latin typeface="Arial"/>
            </a:endParaRPr>
          </a:p>
        </p:txBody>
      </p:sp>
      <p:sp>
        <p:nvSpPr>
          <p:cNvPr id="251" name="PlaceHolder 2"/>
          <p:cNvSpPr>
            <a:spLocks noGrp="1"/>
          </p:cNvSpPr>
          <p:nvPr>
            <p:ph/>
          </p:nvPr>
        </p:nvSpPr>
        <p:spPr>
          <a:xfrm>
            <a:off x="311760" y="853920"/>
            <a:ext cx="8520120" cy="2717280"/>
          </a:xfrm>
          <a:prstGeom prst="rect">
            <a:avLst/>
          </a:prstGeom>
          <a:noFill/>
          <a:ln w="0">
            <a:noFill/>
          </a:ln>
        </p:spPr>
        <p:txBody>
          <a:bodyPr lIns="91440" tIns="91440" rIns="91440" bIns="91440" anchor="t">
            <a:normAutofit fontScale="92500" lnSpcReduction="9999"/>
          </a:bodyPr>
          <a:lstStyle/>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As of Pybricks Code v3.0.1 with firmware v4.0.1, there is new multi-program feature</a:t>
            </a:r>
            <a:endParaRPr lang="en-US" sz="2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It is called </a:t>
            </a:r>
            <a:r>
              <a:rPr lang="en-US" sz="2400" b="1" u="none" strike="noStrike">
                <a:solidFill>
                  <a:schemeClr val="dk1"/>
                </a:solidFill>
                <a:effectLst/>
                <a:uFillTx/>
                <a:latin typeface="Arial"/>
                <a:ea typeface="Arial"/>
              </a:rPr>
              <a:t>Slots </a:t>
            </a:r>
            <a:r>
              <a:rPr lang="en-US" sz="2400" b="0" u="none" strike="noStrike">
                <a:solidFill>
                  <a:schemeClr val="dk1"/>
                </a:solidFill>
                <a:effectLst/>
                <a:uFillTx/>
                <a:latin typeface="Arial"/>
                <a:ea typeface="Arial"/>
              </a:rPr>
              <a:t>and 5 are avalable</a:t>
            </a:r>
            <a:endParaRPr lang="en-US" sz="2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By default, each slot can run one program</a:t>
            </a:r>
            <a:endParaRPr lang="en-US" sz="2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However, you can run a separate hub_menu() in each slot</a:t>
            </a:r>
            <a:endParaRPr lang="en-US" sz="2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Intended to solve the ability to run multiple Block Code based programs on a robot </a:t>
            </a:r>
            <a:endParaRPr lang="en-US" sz="2400" b="0" u="none" strike="noStrike">
              <a:solidFill>
                <a:srgbClr val="000000"/>
              </a:solidFill>
              <a:effectLst/>
              <a:uFillTx/>
              <a:latin typeface="Arial"/>
            </a:endParaRPr>
          </a:p>
          <a:p>
            <a:pPr marL="114480" indent="0" algn="l">
              <a:lnSpc>
                <a:spcPct val="115000"/>
              </a:lnSpc>
              <a:buNone/>
              <a:tabLst>
                <a:tab pos="0" algn="l"/>
              </a:tabLst>
            </a:pPr>
            <a:endParaRPr lang="en-US" sz="1800" b="0" u="none" strike="noStrike">
              <a:solidFill>
                <a:srgbClr val="000000"/>
              </a:solidFill>
              <a:effectLst/>
              <a:uFillTx/>
              <a:latin typeface="Arial"/>
            </a:endParaRPr>
          </a:p>
        </p:txBody>
      </p:sp>
      <p:sp>
        <p:nvSpPr>
          <p:cNvPr id="252" name="PlaceHolder 3"/>
          <p:cNvSpPr>
            <a:spLocks noGrp="1"/>
          </p:cNvSpPr>
          <p:nvPr>
            <p:ph type="sldNum" idx="5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0CE9FBF-D0FE-45DB-AE69-F66F1463931E}" type="slidenum">
              <a:rPr lang="en" sz="1000" b="0" u="none" strike="noStrike">
                <a:solidFill>
                  <a:schemeClr val="dk2"/>
                </a:solidFill>
                <a:effectLst/>
                <a:uFillTx/>
                <a:latin typeface="Arial"/>
                <a:ea typeface="Arial"/>
              </a:rPr>
              <a:t>44</a:t>
            </a:fld>
            <a:endParaRPr lang="en-US" sz="1000" b="0" u="none" strike="noStrike">
              <a:solidFill>
                <a:srgbClr val="000000"/>
              </a:solidFill>
              <a:effectLst/>
              <a:uFillTx/>
              <a:latin typeface="Times New Roman"/>
            </a:endParaRPr>
          </a:p>
        </p:txBody>
      </p:sp>
      <p:pic>
        <p:nvPicPr>
          <p:cNvPr id="253" name="Picture 5"/>
          <p:cNvPicPr/>
          <p:nvPr/>
        </p:nvPicPr>
        <p:blipFill>
          <a:blip r:embed="rId2"/>
          <a:stretch/>
        </p:blipFill>
        <p:spPr>
          <a:xfrm>
            <a:off x="2008440" y="3571560"/>
            <a:ext cx="2461320" cy="1384560"/>
          </a:xfrm>
          <a:prstGeom prst="rect">
            <a:avLst/>
          </a:prstGeom>
          <a:noFill/>
          <a:ln w="0">
            <a:noFill/>
          </a:ln>
        </p:spPr>
      </p:pic>
      <p:pic>
        <p:nvPicPr>
          <p:cNvPr id="254" name="Picture 7"/>
          <p:cNvPicPr/>
          <p:nvPr/>
        </p:nvPicPr>
        <p:blipFill>
          <a:blip r:embed="rId3"/>
          <a:stretch/>
        </p:blipFill>
        <p:spPr>
          <a:xfrm>
            <a:off x="4982400" y="3597480"/>
            <a:ext cx="2461320" cy="138456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fontScale="70000" lnSpcReduction="19999"/>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4 – Overview of Core Pybricks Python Functions</a:t>
            </a:r>
            <a:endParaRPr lang="en-US" sz="3600" b="0" u="none" strike="noStrike">
              <a:solidFill>
                <a:srgbClr val="000000"/>
              </a:solidFill>
              <a:effectLst/>
              <a:uFillTx/>
              <a:latin typeface="Arial"/>
            </a:endParaRPr>
          </a:p>
        </p:txBody>
      </p:sp>
      <p:sp>
        <p:nvSpPr>
          <p:cNvPr id="256" name="PlaceHolder 2"/>
          <p:cNvSpPr>
            <a:spLocks noGrp="1"/>
          </p:cNvSpPr>
          <p:nvPr>
            <p:ph type="sldNum" idx="5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94F7940-1A82-4BBD-B02B-511F1CC6EFC2}" type="slidenum">
              <a:rPr lang="en" sz="1000" b="0" u="none" strike="noStrike">
                <a:solidFill>
                  <a:schemeClr val="dk2"/>
                </a:solidFill>
                <a:effectLst/>
                <a:uFillTx/>
                <a:latin typeface="Arial"/>
                <a:ea typeface="Arial"/>
              </a:rPr>
              <a:t>45</a:t>
            </a:fld>
            <a:endParaRPr lang="en-US" sz="1000" b="0" u="none" strike="noStrike">
              <a:solidFill>
                <a:srgbClr val="000000"/>
              </a:solidFill>
              <a:effectLst/>
              <a:uFillTx/>
              <a:latin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Introduction to Pybricks Functions</a:t>
            </a:r>
            <a:endParaRPr lang="en-US" sz="2500" b="0" u="none" strike="noStrike">
              <a:solidFill>
                <a:srgbClr val="000000"/>
              </a:solidFill>
              <a:effectLst/>
              <a:uFillTx/>
              <a:latin typeface="Arial"/>
            </a:endParaRPr>
          </a:p>
        </p:txBody>
      </p:sp>
      <p:sp>
        <p:nvSpPr>
          <p:cNvPr id="258"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70000" lnSpcReduction="19999"/>
          </a:bodyPr>
          <a:lstStyle/>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Pybricks provides excellent documentation and examples and should be considered the authoritative source for information</a:t>
            </a:r>
            <a:endParaRPr lang="en-US" sz="2000" b="0" u="none" strike="noStrike">
              <a:solidFill>
                <a:srgbClr val="000000"/>
              </a:solidFill>
              <a:effectLst/>
              <a:uFillTx/>
              <a:latin typeface="Arial"/>
            </a:endParaRPr>
          </a:p>
          <a:p>
            <a:pPr indent="0" algn="l">
              <a:lnSpc>
                <a:spcPct val="115000"/>
              </a:lnSpc>
              <a:buNone/>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However, there are  a large number of commands</a:t>
            </a:r>
            <a:endParaRPr lang="en-US" sz="2000" b="0" u="none" strike="noStrike">
              <a:solidFill>
                <a:srgbClr val="000000"/>
              </a:solidFill>
              <a:effectLst/>
              <a:uFillTx/>
              <a:latin typeface="Arial"/>
            </a:endParaRPr>
          </a:p>
          <a:p>
            <a:pPr indent="0" algn="l">
              <a:lnSpc>
                <a:spcPct val="115000"/>
              </a:lnSpc>
              <a:buNone/>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Most are not needed to be effective in solving FLL missions</a:t>
            </a:r>
            <a:endParaRPr lang="en-US" sz="2000" b="0" u="none" strike="noStrike">
              <a:solidFill>
                <a:srgbClr val="000000"/>
              </a:solidFill>
              <a:effectLst/>
              <a:uFillTx/>
              <a:latin typeface="Arial"/>
            </a:endParaRPr>
          </a:p>
          <a:p>
            <a:pPr indent="0" algn="l">
              <a:lnSpc>
                <a:spcPct val="115000"/>
              </a:lnSpc>
              <a:buNone/>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The next set of slides covers the commands we use in our robots</a:t>
            </a:r>
            <a:endParaRPr lang="en-US" sz="2000" b="0" u="none" strike="noStrike">
              <a:solidFill>
                <a:srgbClr val="000000"/>
              </a:solidFill>
              <a:effectLst/>
              <a:uFillTx/>
              <a:latin typeface="Arial"/>
            </a:endParaRPr>
          </a:p>
          <a:p>
            <a:pPr indent="0" algn="l">
              <a:lnSpc>
                <a:spcPct val="115000"/>
              </a:lnSpc>
              <a:buNone/>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Not all features of all commands are covered</a:t>
            </a:r>
            <a:endParaRPr lang="en-US" sz="2000" b="0" u="none" strike="noStrike">
              <a:solidFill>
                <a:srgbClr val="000000"/>
              </a:solidFill>
              <a:effectLst/>
              <a:uFillTx/>
              <a:latin typeface="Arial"/>
            </a:endParaRPr>
          </a:p>
          <a:p>
            <a:pPr indent="0" algn="l">
              <a:lnSpc>
                <a:spcPct val="115000"/>
              </a:lnSpc>
              <a:buNone/>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2000" b="0" u="none" strike="noStrike">
                <a:solidFill>
                  <a:schemeClr val="dk1"/>
                </a:solidFill>
                <a:effectLst/>
                <a:uFillTx/>
                <a:latin typeface="Arial"/>
                <a:ea typeface="Arial"/>
              </a:rPr>
              <a:t>When in doubt use the official Pybricks documentation</a:t>
            </a:r>
            <a:endParaRPr lang="en-US" sz="2000" b="0" u="none" strike="noStrike">
              <a:solidFill>
                <a:srgbClr val="000000"/>
              </a:solidFill>
              <a:effectLst/>
              <a:uFillTx/>
              <a:latin typeface="Arial"/>
            </a:endParaRPr>
          </a:p>
          <a:p>
            <a:pPr marL="11448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2100" b="0" u="none" strike="noStrike">
                <a:solidFill>
                  <a:schemeClr val="dk1"/>
                </a:solidFill>
                <a:effectLst/>
                <a:uFillTx/>
                <a:latin typeface="Arial"/>
                <a:ea typeface="Arial"/>
              </a:rPr>
              <a:t>The following slides include a combination of the official Pybricks documentation with additions/clarifications</a:t>
            </a:r>
            <a:endParaRPr lang="en-US" sz="2100" b="0" u="none" strike="noStrike">
              <a:solidFill>
                <a:srgbClr val="000000"/>
              </a:solidFill>
              <a:effectLst/>
              <a:uFillTx/>
              <a:latin typeface="Arial"/>
            </a:endParaRPr>
          </a:p>
          <a:p>
            <a:pPr indent="0" algn="l">
              <a:lnSpc>
                <a:spcPct val="115000"/>
              </a:lnSpc>
              <a:buNone/>
              <a:tabLst>
                <a:tab pos="0" algn="l"/>
              </a:tabLst>
            </a:pPr>
            <a:endParaRPr lang="en-US" sz="20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59" name="PlaceHolder 3"/>
          <p:cNvSpPr>
            <a:spLocks noGrp="1"/>
          </p:cNvSpPr>
          <p:nvPr>
            <p:ph type="sldNum" idx="58"/>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AC65313-4F5A-455A-854B-D6A4BB6C460C}" type="slidenum">
              <a:rPr lang="en" sz="1000" b="0" u="none" strike="noStrike">
                <a:solidFill>
                  <a:schemeClr val="dk2"/>
                </a:solidFill>
                <a:effectLst/>
                <a:uFillTx/>
                <a:latin typeface="Arial"/>
                <a:ea typeface="Arial"/>
              </a:rPr>
              <a:t>46</a:t>
            </a:fld>
            <a:endParaRPr lang="en-US" sz="1000" b="0" u="none" strike="noStrike">
              <a:solidFill>
                <a:srgbClr val="000000"/>
              </a:solidFill>
              <a:effectLst/>
              <a:uFillTx/>
              <a:latin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Components of a Pybricks program</a:t>
            </a:r>
            <a:endParaRPr lang="en-US" sz="2500" b="0" u="none" strike="noStrike">
              <a:solidFill>
                <a:srgbClr val="000000"/>
              </a:solidFill>
              <a:effectLst/>
              <a:uFillTx/>
              <a:latin typeface="Arial"/>
            </a:endParaRPr>
          </a:p>
        </p:txBody>
      </p:sp>
      <p:sp>
        <p:nvSpPr>
          <p:cNvPr id="26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92500" lnSpcReduction="9999"/>
          </a:bodyPr>
          <a:lstStyle/>
          <a:p>
            <a:pPr indent="0" algn="l">
              <a:lnSpc>
                <a:spcPct val="115000"/>
              </a:lnSpc>
              <a:buNone/>
              <a:tabLst>
                <a:tab pos="0" algn="l"/>
              </a:tabLst>
            </a:pPr>
            <a:r>
              <a:rPr lang="en" sz="1800" b="0" u="none" strike="noStrike">
                <a:solidFill>
                  <a:schemeClr val="dk1"/>
                </a:solidFill>
                <a:effectLst/>
                <a:uFillTx/>
                <a:latin typeface="Arial"/>
                <a:ea typeface="Arial"/>
              </a:rPr>
              <a:t>Pybricks Programs usually consist of the following parts (in order):</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tabLst>
                <a:tab pos="0" algn="l"/>
              </a:tabLst>
            </a:pPr>
            <a:r>
              <a:rPr lang="en" sz="1800" b="0" u="none" strike="noStrike">
                <a:solidFill>
                  <a:schemeClr val="dk1"/>
                </a:solidFill>
                <a:effectLst/>
                <a:uFillTx/>
                <a:latin typeface="Arial"/>
                <a:ea typeface="Arial"/>
              </a:rPr>
              <a:t>Import Pybricks Libraries</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 sz="1400" b="0" u="none" strike="noStrike">
                <a:solidFill>
                  <a:schemeClr val="dk1"/>
                </a:solidFill>
                <a:effectLst/>
                <a:uFillTx/>
                <a:latin typeface="Arial"/>
                <a:ea typeface="Arial"/>
              </a:rPr>
              <a:t>The python command important libraries and functions </a:t>
            </a:r>
            <a:r>
              <a:rPr lang="en" sz="1400" b="1" u="none" strike="noStrike">
                <a:solidFill>
                  <a:schemeClr val="dk1"/>
                </a:solidFill>
                <a:effectLst/>
                <a:uFillTx/>
                <a:latin typeface="Courier New"/>
                <a:ea typeface="Courier New"/>
              </a:rPr>
              <a:t>from</a:t>
            </a:r>
            <a:r>
              <a:rPr lang="en" sz="1400" b="0" u="none" strike="noStrike">
                <a:solidFill>
                  <a:schemeClr val="dk1"/>
                </a:solidFill>
                <a:effectLst/>
                <a:uFillTx/>
                <a:latin typeface="Arial"/>
                <a:ea typeface="Arial"/>
              </a:rPr>
              <a:t>  for use by our program</a:t>
            </a:r>
            <a:endParaRPr lang="en-US" sz="1400" b="0" u="none" strike="noStrike">
              <a:solidFill>
                <a:srgbClr val="000000"/>
              </a:solidFill>
              <a:effectLst/>
              <a:uFillTx/>
              <a:latin typeface="Arial"/>
            </a:endParaRPr>
          </a:p>
          <a:p>
            <a:pPr marL="914400" lvl="1" indent="-324000" algn="l">
              <a:lnSpc>
                <a:spcPct val="130000"/>
              </a:lnSpc>
              <a:buClr>
                <a:srgbClr val="000000"/>
              </a:buClr>
              <a:buFont typeface="Arial"/>
              <a:buChar char="○"/>
              <a:tabLst>
                <a:tab pos="0" algn="l"/>
              </a:tabLst>
            </a:pPr>
            <a:r>
              <a:rPr lang="en" sz="1500" b="0" u="none" strike="noStrike">
                <a:solidFill>
                  <a:schemeClr val="dk1"/>
                </a:solidFill>
                <a:effectLst/>
                <a:highlight>
                  <a:srgbClr val="FFFFFF"/>
                </a:highlight>
                <a:uFillTx/>
                <a:latin typeface="Arial"/>
                <a:ea typeface="Arial"/>
              </a:rPr>
              <a:t>Ex: </a:t>
            </a:r>
            <a:r>
              <a:rPr lang="en" sz="1500" b="1" u="none" strike="noStrike">
                <a:solidFill>
                  <a:srgbClr val="AF00DB"/>
                </a:solidFill>
                <a:effectLst/>
                <a:highlight>
                  <a:srgbClr val="FFFFFF"/>
                </a:highlight>
                <a:uFillTx/>
                <a:latin typeface="Courier New"/>
                <a:ea typeface="Courier New"/>
              </a:rPr>
              <a:t>from</a:t>
            </a:r>
            <a:r>
              <a:rPr lang="en" sz="1500" b="1" u="none" strike="noStrike">
                <a:solidFill>
                  <a:srgbClr val="3B3B3B"/>
                </a:solidFill>
                <a:effectLst/>
                <a:highlight>
                  <a:srgbClr val="FFFFFF"/>
                </a:highlight>
                <a:uFillTx/>
                <a:latin typeface="Courier New"/>
                <a:ea typeface="Courier New"/>
              </a:rPr>
              <a:t> </a:t>
            </a:r>
            <a:r>
              <a:rPr lang="en" sz="1500" b="1" u="none" strike="noStrike">
                <a:solidFill>
                  <a:srgbClr val="267F99"/>
                </a:solidFill>
                <a:effectLst/>
                <a:highlight>
                  <a:srgbClr val="FFFFFF"/>
                </a:highlight>
                <a:uFillTx/>
                <a:latin typeface="Courier New"/>
                <a:ea typeface="Courier New"/>
              </a:rPr>
              <a:t>pybricks</a:t>
            </a:r>
            <a:r>
              <a:rPr lang="en" sz="1500" b="1" u="none" strike="noStrike">
                <a:solidFill>
                  <a:srgbClr val="3B3B3B"/>
                </a:solidFill>
                <a:effectLst/>
                <a:highlight>
                  <a:srgbClr val="FFFFFF"/>
                </a:highlight>
                <a:uFillTx/>
                <a:latin typeface="Courier New"/>
                <a:ea typeface="Courier New"/>
              </a:rPr>
              <a:t>.</a:t>
            </a:r>
            <a:r>
              <a:rPr lang="en" sz="1500" b="1" u="none" strike="noStrike">
                <a:solidFill>
                  <a:srgbClr val="267F99"/>
                </a:solidFill>
                <a:effectLst/>
                <a:highlight>
                  <a:srgbClr val="FFFFFF"/>
                </a:highlight>
                <a:uFillTx/>
                <a:latin typeface="Courier New"/>
                <a:ea typeface="Courier New"/>
              </a:rPr>
              <a:t>hubs</a:t>
            </a:r>
            <a:r>
              <a:rPr lang="en" sz="1500" b="1" u="none" strike="noStrike">
                <a:solidFill>
                  <a:srgbClr val="3B3B3B"/>
                </a:solidFill>
                <a:effectLst/>
                <a:highlight>
                  <a:srgbClr val="FFFFFF"/>
                </a:highlight>
                <a:uFillTx/>
                <a:latin typeface="Courier New"/>
                <a:ea typeface="Courier New"/>
              </a:rPr>
              <a:t> </a:t>
            </a:r>
            <a:r>
              <a:rPr lang="en" sz="1500" b="1" u="none" strike="noStrike">
                <a:solidFill>
                  <a:srgbClr val="AF00DB"/>
                </a:solidFill>
                <a:effectLst/>
                <a:highlight>
                  <a:srgbClr val="FFFFFF"/>
                </a:highlight>
                <a:uFillTx/>
                <a:latin typeface="Courier New"/>
                <a:ea typeface="Courier New"/>
              </a:rPr>
              <a:t>import</a:t>
            </a:r>
            <a:r>
              <a:rPr lang="en" sz="1500" b="1" u="none" strike="noStrike">
                <a:solidFill>
                  <a:srgbClr val="3B3B3B"/>
                </a:solidFill>
                <a:effectLst/>
                <a:highlight>
                  <a:srgbClr val="FFFFFF"/>
                </a:highlight>
                <a:uFillTx/>
                <a:latin typeface="Courier New"/>
                <a:ea typeface="Courier New"/>
              </a:rPr>
              <a:t> </a:t>
            </a:r>
            <a:r>
              <a:rPr lang="en" sz="1500" b="1" u="none" strike="noStrike">
                <a:solidFill>
                  <a:srgbClr val="267F99"/>
                </a:solidFill>
                <a:effectLst/>
                <a:highlight>
                  <a:srgbClr val="FFFFFF"/>
                </a:highlight>
                <a:uFillTx/>
                <a:latin typeface="Courier New"/>
                <a:ea typeface="Courier New"/>
              </a:rPr>
              <a:t>PrimeHub</a:t>
            </a:r>
            <a:endParaRPr lang="en-US" sz="1500" b="0" u="none" strike="noStrike">
              <a:solidFill>
                <a:srgbClr val="000000"/>
              </a:solidFill>
              <a:effectLst/>
              <a:uFillTx/>
              <a:latin typeface="Arial"/>
            </a:endParaRPr>
          </a:p>
          <a:p>
            <a:pPr marL="457200" indent="-343080" algn="l">
              <a:lnSpc>
                <a:spcPct val="115000"/>
              </a:lnSpc>
              <a:buClr>
                <a:srgbClr val="000000"/>
              </a:buClr>
              <a:buFont typeface="Arial"/>
              <a:buAutoNum type="arabicPeriod"/>
              <a:tabLst>
                <a:tab pos="0" algn="l"/>
              </a:tabLst>
            </a:pPr>
            <a:r>
              <a:rPr lang="en" sz="1800" b="0" u="none" strike="noStrike">
                <a:solidFill>
                  <a:schemeClr val="dk1"/>
                </a:solidFill>
                <a:effectLst/>
                <a:uFillTx/>
                <a:latin typeface="Arial"/>
                <a:ea typeface="Arial"/>
              </a:rPr>
              <a:t>Import any support libraries the team wrote that you need</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tabLst>
                <a:tab pos="0" algn="l"/>
              </a:tabLst>
            </a:pPr>
            <a:r>
              <a:rPr lang="en" sz="1800" b="0" u="none" strike="noStrike">
                <a:solidFill>
                  <a:schemeClr val="dk1"/>
                </a:solidFill>
                <a:effectLst/>
                <a:uFillTx/>
                <a:latin typeface="Arial"/>
                <a:ea typeface="Arial"/>
              </a:rPr>
              <a:t>Create any support functions that you need for the new task</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AutoNum type="arabicPeriod"/>
              <a:tabLst>
                <a:tab pos="0" algn="l"/>
              </a:tabLst>
            </a:pPr>
            <a:r>
              <a:rPr lang="en" sz="1800" b="0" u="none" strike="noStrike">
                <a:solidFill>
                  <a:schemeClr val="dk1"/>
                </a:solidFill>
                <a:effectLst/>
                <a:uFillTx/>
                <a:latin typeface="Arial"/>
                <a:ea typeface="Arial"/>
              </a:rPr>
              <a:t>Create the ”main” function, usually named after the task </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 sz="1400" b="0" u="none" strike="noStrike">
                <a:solidFill>
                  <a:schemeClr val="dk1"/>
                </a:solidFill>
                <a:effectLst/>
                <a:uFillTx/>
                <a:latin typeface="Arial"/>
                <a:ea typeface="Arial"/>
              </a:rPr>
              <a:t>Ex: </a:t>
            </a:r>
            <a:r>
              <a:rPr lang="en" sz="1400" b="1" u="none" strike="noStrike">
                <a:solidFill>
                  <a:schemeClr val="dk1"/>
                </a:solidFill>
                <a:effectLst/>
                <a:uFillTx/>
                <a:latin typeface="Courier New"/>
                <a:ea typeface="Courier New"/>
              </a:rPr>
              <a:t>submerged_task1() </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AutoNum type="arabicPeriod"/>
              <a:tabLst>
                <a:tab pos="0" algn="l"/>
              </a:tabLst>
            </a:pPr>
            <a:r>
              <a:rPr lang="en" sz="1800" b="0" u="none" strike="noStrike">
                <a:solidFill>
                  <a:schemeClr val="dk1"/>
                </a:solidFill>
                <a:effectLst/>
                <a:uFillTx/>
                <a:latin typeface="Arial"/>
                <a:ea typeface="Arial"/>
              </a:rPr>
              <a:t>Add </a:t>
            </a:r>
            <a:r>
              <a:rPr lang="en" sz="1800" b="1" u="none" strike="noStrike">
                <a:solidFill>
                  <a:schemeClr val="dk1"/>
                </a:solidFill>
                <a:effectLst/>
                <a:uFillTx/>
                <a:latin typeface="Courier New"/>
                <a:ea typeface="Courier New"/>
              </a:rPr>
              <a:t>run_task()</a:t>
            </a:r>
            <a:r>
              <a:rPr lang="en" sz="1800" b="1" u="none" strike="noStrike">
                <a:solidFill>
                  <a:schemeClr val="dk1"/>
                </a:solidFill>
                <a:effectLst/>
                <a:uFillTx/>
                <a:latin typeface="Arial"/>
                <a:ea typeface="Arial"/>
              </a:rPr>
              <a:t> </a:t>
            </a:r>
            <a:r>
              <a:rPr lang="en" sz="1800" b="0" u="none" strike="noStrike">
                <a:solidFill>
                  <a:schemeClr val="dk1"/>
                </a:solidFill>
                <a:effectLst/>
                <a:uFillTx/>
                <a:latin typeface="Arial"/>
                <a:ea typeface="Arial"/>
              </a:rPr>
              <a:t>at end of program which is used to execute your “main” function on the robot</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 sz="1400" b="0" u="none" strike="noStrike">
                <a:solidFill>
                  <a:schemeClr val="dk1"/>
                </a:solidFill>
                <a:effectLst/>
                <a:uFillTx/>
                <a:latin typeface="Arial"/>
                <a:ea typeface="Arial"/>
              </a:rPr>
              <a:t>Ex: </a:t>
            </a:r>
            <a:r>
              <a:rPr lang="en" sz="1400" b="1" u="none" strike="noStrike">
                <a:solidFill>
                  <a:schemeClr val="dk1"/>
                </a:solidFill>
                <a:effectLst/>
                <a:uFillTx/>
                <a:latin typeface="Courier New"/>
                <a:ea typeface="Courier New"/>
              </a:rPr>
              <a:t>run_task(submerged_task1())</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 sz="1400" b="1" u="sng" strike="noStrike">
                <a:solidFill>
                  <a:schemeClr val="dk1"/>
                </a:solidFill>
                <a:effectLst/>
                <a:uFillTx/>
                <a:latin typeface="Arial"/>
                <a:ea typeface="Arial"/>
              </a:rPr>
              <a:t>Note:</a:t>
            </a:r>
            <a:r>
              <a:rPr lang="en" sz="1400" b="0" u="none" strike="noStrike">
                <a:solidFill>
                  <a:schemeClr val="dk1"/>
                </a:solidFill>
                <a:effectLst/>
                <a:uFillTx/>
                <a:latin typeface="Arial"/>
                <a:ea typeface="Arial"/>
              </a:rPr>
              <a:t> Putting </a:t>
            </a:r>
            <a:r>
              <a:rPr lang="en" sz="1400" b="1" u="none" strike="noStrike">
                <a:solidFill>
                  <a:schemeClr val="dk1"/>
                </a:solidFill>
                <a:effectLst/>
                <a:uFillTx/>
                <a:latin typeface="Courier New"/>
                <a:ea typeface="Courier New"/>
              </a:rPr>
              <a:t>run_task()</a:t>
            </a:r>
            <a:r>
              <a:rPr lang="en" sz="1400" b="0" u="none" strike="noStrike">
                <a:solidFill>
                  <a:schemeClr val="dk1"/>
                </a:solidFill>
                <a:effectLst/>
                <a:uFillTx/>
                <a:latin typeface="Arial"/>
                <a:ea typeface="Arial"/>
              </a:rPr>
              <a:t>in your task’s code is normally not done when </a:t>
            </a:r>
            <a:r>
              <a:rPr lang="en" sz="1400" b="1" u="none" strike="noStrike">
                <a:solidFill>
                  <a:schemeClr val="dk1"/>
                </a:solidFill>
                <a:effectLst/>
                <a:uFillTx/>
                <a:latin typeface="Courier New"/>
                <a:ea typeface="Courier New"/>
              </a:rPr>
              <a:t>hub_menu()</a:t>
            </a:r>
            <a:r>
              <a:rPr lang="en" sz="1400" b="0" u="none" strike="noStrike">
                <a:solidFill>
                  <a:schemeClr val="dk1"/>
                </a:solidFill>
                <a:effectLst/>
                <a:uFillTx/>
                <a:latin typeface="Arial"/>
                <a:ea typeface="Arial"/>
              </a:rPr>
              <a:t>is being used. You use a comment (</a:t>
            </a:r>
            <a:r>
              <a:rPr lang="en" sz="1400" b="1" u="none" strike="noStrike">
                <a:solidFill>
                  <a:schemeClr val="dk1"/>
                </a:solidFill>
                <a:effectLst/>
                <a:uFillTx/>
                <a:latin typeface="Courier New"/>
                <a:ea typeface="Courier New"/>
              </a:rPr>
              <a:t>#</a:t>
            </a:r>
            <a:r>
              <a:rPr lang="en" sz="1400" b="0" u="none" strike="noStrike">
                <a:solidFill>
                  <a:schemeClr val="dk1"/>
                </a:solidFill>
                <a:effectLst/>
                <a:uFillTx/>
                <a:latin typeface="Arial"/>
                <a:ea typeface="Arial"/>
              </a:rPr>
              <a:t>) at the beginning of the line to disable it when using</a:t>
            </a:r>
            <a:r>
              <a:rPr lang="en" sz="1400" b="1" u="none" strike="noStrike">
                <a:solidFill>
                  <a:schemeClr val="dk1"/>
                </a:solidFill>
                <a:effectLst/>
                <a:uFillTx/>
                <a:latin typeface="Courier New"/>
                <a:ea typeface="Courier New"/>
              </a:rPr>
              <a:t> hub_menu()</a:t>
            </a:r>
            <a:r>
              <a:rPr lang="en" sz="1400" b="0" u="none" strike="noStrike">
                <a:solidFill>
                  <a:schemeClr val="dk1"/>
                </a:solidFill>
                <a:effectLst/>
                <a:uFillTx/>
                <a:latin typeface="Arial"/>
                <a:ea typeface="Arial"/>
              </a:rPr>
              <a:t>.</a:t>
            </a:r>
            <a:endParaRPr lang="en-US" sz="1400" b="0" u="none" strike="noStrike">
              <a:solidFill>
                <a:srgbClr val="000000"/>
              </a:solidFill>
              <a:effectLst/>
              <a:uFillTx/>
              <a:latin typeface="Arial"/>
            </a:endParaRPr>
          </a:p>
        </p:txBody>
      </p:sp>
      <p:sp>
        <p:nvSpPr>
          <p:cNvPr id="262" name="PlaceHolder 3"/>
          <p:cNvSpPr>
            <a:spLocks noGrp="1"/>
          </p:cNvSpPr>
          <p:nvPr>
            <p:ph type="sldNum" idx="5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E3873BE-3C16-4180-A192-722503CC0B4F}" type="slidenum">
              <a:rPr lang="en" sz="1000" b="0" u="none" strike="noStrike">
                <a:solidFill>
                  <a:schemeClr val="dk2"/>
                </a:solidFill>
                <a:effectLst/>
                <a:uFillTx/>
                <a:latin typeface="Arial"/>
                <a:ea typeface="Arial"/>
              </a:rPr>
              <a:t>47</a:t>
            </a:fld>
            <a:endParaRPr lang="en-US" sz="1000" b="0" u="none" strike="noStrike">
              <a:solidFill>
                <a:srgbClr val="000000"/>
              </a:solidFill>
              <a:effectLst/>
              <a:uFillTx/>
              <a:latin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await()</a:t>
            </a:r>
            <a:endParaRPr lang="en-US" sz="2500" b="0" u="none" strike="noStrike">
              <a:solidFill>
                <a:srgbClr val="000000"/>
              </a:solidFill>
              <a:effectLst/>
              <a:uFillTx/>
              <a:latin typeface="Arial"/>
            </a:endParaRPr>
          </a:p>
        </p:txBody>
      </p:sp>
      <p:sp>
        <p:nvSpPr>
          <p:cNvPr id="264"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For any Pybricks command that takes time to complete </a:t>
            </a:r>
            <a:r>
              <a:rPr lang="en-US" sz="1800" b="1" u="sng" strike="noStrike">
                <a:solidFill>
                  <a:schemeClr val="dk1"/>
                </a:solidFill>
                <a:effectLst/>
                <a:uFillTx/>
                <a:latin typeface="Arial"/>
                <a:ea typeface="Arial"/>
              </a:rPr>
              <a:t>before</a:t>
            </a:r>
            <a:r>
              <a:rPr lang="en-US" sz="1800" b="0" u="none" strike="noStrike">
                <a:solidFill>
                  <a:schemeClr val="dk1"/>
                </a:solidFill>
                <a:effectLst/>
                <a:uFillTx/>
                <a:latin typeface="Arial"/>
                <a:ea typeface="Arial"/>
              </a:rPr>
              <a:t> moving on to the next command you </a:t>
            </a:r>
            <a:r>
              <a:rPr lang="en-US" sz="1800" b="1" u="sng" strike="noStrike">
                <a:solidFill>
                  <a:schemeClr val="dk1"/>
                </a:solidFill>
                <a:effectLst/>
                <a:uFillTx/>
                <a:latin typeface="Arial"/>
                <a:ea typeface="Arial"/>
              </a:rPr>
              <a:t>must</a:t>
            </a:r>
            <a:r>
              <a:rPr lang="en-US" sz="1800" b="0" u="none" strike="noStrike">
                <a:solidFill>
                  <a:schemeClr val="dk1"/>
                </a:solidFill>
                <a:effectLst/>
                <a:uFillTx/>
                <a:latin typeface="Arial"/>
                <a:ea typeface="Arial"/>
              </a:rPr>
              <a:t> prepend with </a:t>
            </a:r>
            <a:r>
              <a:rPr lang="en-US" sz="1800" b="1" u="none" strike="noStrike">
                <a:solidFill>
                  <a:schemeClr val="dk1"/>
                </a:solidFill>
                <a:effectLst/>
                <a:uFillTx/>
                <a:latin typeface="Courier New"/>
                <a:ea typeface="Arial"/>
              </a:rPr>
              <a:t>await</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Used </a:t>
            </a:r>
            <a:r>
              <a:rPr lang="en-US" sz="1400" b="0" u="sng" strike="noStrike">
                <a:solidFill>
                  <a:schemeClr val="dk1"/>
                </a:solidFill>
                <a:effectLst/>
                <a:uFillTx/>
                <a:latin typeface="Arial"/>
                <a:ea typeface="Arial"/>
              </a:rPr>
              <a:t>before</a:t>
            </a:r>
            <a:r>
              <a:rPr lang="en-US" sz="1400" b="0" u="none" strike="noStrike">
                <a:solidFill>
                  <a:schemeClr val="dk1"/>
                </a:solidFill>
                <a:effectLst/>
                <a:uFillTx/>
                <a:latin typeface="Arial"/>
                <a:ea typeface="Arial"/>
              </a:rPr>
              <a:t> nearly all commands to the robot that result in the robot actually doing something (e.g., moving a motor, reading a sensor, making beeps) and all commands involving a time element</a:t>
            </a:r>
            <a:endParaRPr lang="en-US" sz="1400" b="0" u="none" strike="noStrike">
              <a:solidFill>
                <a:srgbClr val="000000"/>
              </a:solidFill>
              <a:effectLst/>
              <a:uFillTx/>
              <a:latin typeface="Arial"/>
            </a:endParaRPr>
          </a:p>
          <a:p>
            <a:pPr marL="11448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In the Pybricks documentation, if </a:t>
            </a:r>
            <a:r>
              <a:rPr lang="en-US" sz="1800" b="0" i="1" u="sng" strike="noStrike">
                <a:solidFill>
                  <a:schemeClr val="dk1"/>
                </a:solidFill>
                <a:effectLst/>
                <a:uFillTx/>
                <a:latin typeface="Arial"/>
                <a:ea typeface="Arial"/>
              </a:rPr>
              <a:t>await</a:t>
            </a:r>
            <a:r>
              <a:rPr lang="en-US" sz="1800" b="0" u="none" strike="noStrike">
                <a:solidFill>
                  <a:schemeClr val="dk1"/>
                </a:solidFill>
                <a:effectLst/>
                <a:uFillTx/>
                <a:latin typeface="Arial"/>
                <a:ea typeface="Arial"/>
              </a:rPr>
              <a:t> precedes the command then it must be used with </a:t>
            </a:r>
            <a:r>
              <a:rPr lang="en-US" sz="1800" b="1" u="none" strike="noStrike">
                <a:solidFill>
                  <a:schemeClr val="dk1"/>
                </a:solidFill>
                <a:effectLst/>
                <a:uFillTx/>
                <a:latin typeface="Courier New"/>
                <a:ea typeface="Arial"/>
              </a:rPr>
              <a:t>await</a:t>
            </a:r>
            <a:endParaRPr lang="en-US" sz="1800" b="0" u="none" strike="noStrike">
              <a:solidFill>
                <a:srgbClr val="000000"/>
              </a:solidFill>
              <a:effectLst/>
              <a:uFillTx/>
              <a:latin typeface="Arial"/>
            </a:endParaRPr>
          </a:p>
          <a:p>
            <a:pPr marL="114480" indent="0" algn="l">
              <a:lnSpc>
                <a:spcPct val="115000"/>
              </a:lnSpc>
              <a:buNone/>
              <a:tabLst>
                <a:tab pos="0" algn="l"/>
              </a:tabLst>
            </a:pPr>
            <a:r>
              <a:rPr lang="en-US" sz="1800" b="1" i="1" u="sng" strike="noStrike">
                <a:solidFill>
                  <a:schemeClr val="dk1"/>
                </a:solidFill>
                <a:effectLst/>
                <a:uFillTx/>
                <a:latin typeface="Arial"/>
                <a:ea typeface="Arial"/>
              </a:rPr>
              <a:t>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Failure to do this </a:t>
            </a:r>
            <a:r>
              <a:rPr lang="en-US" sz="1800" b="1" u="sng" strike="noStrike">
                <a:solidFill>
                  <a:schemeClr val="dk1"/>
                </a:solidFill>
                <a:effectLst/>
                <a:uFillTx/>
                <a:latin typeface="Arial"/>
                <a:ea typeface="Arial"/>
              </a:rPr>
              <a:t>will</a:t>
            </a:r>
            <a:r>
              <a:rPr lang="en-US" sz="1800" b="0" u="none" strike="noStrike">
                <a:solidFill>
                  <a:schemeClr val="dk1"/>
                </a:solidFill>
                <a:effectLst/>
                <a:uFillTx/>
                <a:latin typeface="Arial"/>
                <a:ea typeface="Arial"/>
              </a:rPr>
              <a:t> result in incorrect and unpredictable behavior with the robot</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65" name="PlaceHolder 3"/>
          <p:cNvSpPr>
            <a:spLocks noGrp="1"/>
          </p:cNvSpPr>
          <p:nvPr>
            <p:ph type="sldNum" idx="6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FA0EC1E3-138A-4E25-9C26-D5E2A3DF2E8B}" type="slidenum">
              <a:rPr lang="en" sz="1000" b="0" u="none" strike="noStrike">
                <a:solidFill>
                  <a:schemeClr val="dk2"/>
                </a:solidFill>
                <a:effectLst/>
                <a:uFillTx/>
                <a:latin typeface="Arial"/>
                <a:ea typeface="Arial"/>
              </a:rPr>
              <a:t>48</a:t>
            </a:fld>
            <a:endParaRPr lang="en-US" sz="1000" b="0" u="none" strike="noStrike">
              <a:solidFill>
                <a:srgbClr val="000000"/>
              </a:solidFill>
              <a:effectLst/>
              <a:uFillTx/>
              <a:latin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Pybricks Multitasking</a:t>
            </a:r>
            <a:endParaRPr lang="en-US" sz="2500" b="0" u="none" strike="noStrike">
              <a:solidFill>
                <a:srgbClr val="000000"/>
              </a:solidFill>
              <a:effectLst/>
              <a:uFillTx/>
              <a:latin typeface="Arial"/>
            </a:endParaRPr>
          </a:p>
        </p:txBody>
      </p:sp>
      <p:sp>
        <p:nvSpPr>
          <p:cNvPr id="267" name="PlaceHolder 2"/>
          <p:cNvSpPr>
            <a:spLocks noGrp="1"/>
          </p:cNvSpPr>
          <p:nvPr>
            <p:ph/>
          </p:nvPr>
        </p:nvSpPr>
        <p:spPr>
          <a:xfrm>
            <a:off x="221400" y="714240"/>
            <a:ext cx="8520120" cy="3825360"/>
          </a:xfrm>
          <a:prstGeom prst="rect">
            <a:avLst/>
          </a:prstGeom>
          <a:noFill/>
          <a:ln w="0">
            <a:noFill/>
          </a:ln>
        </p:spPr>
        <p:txBody>
          <a:bodyPr lIns="91440" tIns="91440" rIns="91440" bIns="91440" anchor="t">
            <a:noAutofit/>
          </a:bodyPr>
          <a:lstStyle/>
          <a:p>
            <a:pPr marL="457200" indent="-330120" algn="l">
              <a:lnSpc>
                <a:spcPct val="90000"/>
              </a:lnSpc>
              <a:buClr>
                <a:srgbClr val="000000"/>
              </a:buClr>
              <a:buFont typeface="Arial"/>
              <a:buChar char="●"/>
            </a:pPr>
            <a:r>
              <a:rPr lang="en" sz="1600" b="0" u="none" strike="noStrike">
                <a:solidFill>
                  <a:schemeClr val="dk1"/>
                </a:solidFill>
                <a:effectLst/>
                <a:uFillTx/>
                <a:latin typeface="Arial"/>
                <a:ea typeface="Arial"/>
              </a:rPr>
              <a:t>Pybricks supports running multiple functions concurrently</a:t>
            </a:r>
            <a:endParaRPr lang="en-US" sz="1600" b="0" u="none" strike="noStrike">
              <a:solidFill>
                <a:srgbClr val="000000"/>
              </a:solidFill>
              <a:effectLst/>
              <a:uFillTx/>
              <a:latin typeface="Arial"/>
            </a:endParaRPr>
          </a:p>
          <a:p>
            <a:pPr marL="914400" lvl="1" indent="-317520" algn="l">
              <a:lnSpc>
                <a:spcPct val="90000"/>
              </a:lnSpc>
              <a:buClr>
                <a:srgbClr val="000000"/>
              </a:buClr>
              <a:buFont typeface="Arial"/>
              <a:buChar char="○"/>
            </a:pPr>
            <a:r>
              <a:rPr lang="en" sz="1400" b="0" u="none" strike="noStrike">
                <a:solidFill>
                  <a:schemeClr val="dk1"/>
                </a:solidFill>
                <a:effectLst/>
                <a:uFillTx/>
                <a:latin typeface="Arial"/>
                <a:ea typeface="Arial"/>
              </a:rPr>
              <a:t>Pybricks uses the term “coroutine” which also called a function</a:t>
            </a:r>
            <a:endParaRPr lang="en-US" sz="1400" b="0" u="none" strike="noStrike">
              <a:solidFill>
                <a:srgbClr val="000000"/>
              </a:solidFill>
              <a:effectLst/>
              <a:uFillTx/>
              <a:latin typeface="Arial"/>
            </a:endParaRPr>
          </a:p>
          <a:p>
            <a:pPr marL="457200" indent="0" algn="l">
              <a:lnSpc>
                <a:spcPct val="90000"/>
              </a:lnSpc>
              <a:buNone/>
              <a:tabLst>
                <a:tab pos="0" algn="l"/>
              </a:tabLst>
            </a:pPr>
            <a:endParaRPr lang="en-US" sz="1600" b="0" u="none" strike="noStrike">
              <a:solidFill>
                <a:srgbClr val="000000"/>
              </a:solidFill>
              <a:effectLst/>
              <a:uFillTx/>
              <a:latin typeface="Arial"/>
            </a:endParaRPr>
          </a:p>
          <a:p>
            <a:pPr marL="457200" indent="-330120" algn="l">
              <a:lnSpc>
                <a:spcPct val="90000"/>
              </a:lnSpc>
              <a:buClr>
                <a:srgbClr val="000000"/>
              </a:buClr>
              <a:buFont typeface="Arial"/>
              <a:buChar char="●"/>
              <a:tabLst>
                <a:tab pos="0" algn="l"/>
              </a:tabLst>
            </a:pPr>
            <a:r>
              <a:rPr lang="en" sz="1600" b="0" u="none" strike="noStrike">
                <a:solidFill>
                  <a:schemeClr val="dk1"/>
                </a:solidFill>
                <a:effectLst/>
                <a:uFillTx/>
                <a:latin typeface="Arial"/>
                <a:ea typeface="Arial"/>
              </a:rPr>
              <a:t>Any Pybricks command that is prefixed with </a:t>
            </a:r>
            <a:r>
              <a:rPr lang="en" sz="1600" b="1" u="none" strike="noStrike">
                <a:solidFill>
                  <a:schemeClr val="dk1"/>
                </a:solidFill>
                <a:effectLst/>
                <a:uFillTx/>
                <a:latin typeface="Courier New"/>
                <a:ea typeface="Courier New"/>
              </a:rPr>
              <a:t>await</a:t>
            </a:r>
            <a:r>
              <a:rPr lang="en" sz="1600" b="0" u="none" strike="noStrike">
                <a:solidFill>
                  <a:schemeClr val="dk1"/>
                </a:solidFill>
                <a:effectLst/>
                <a:uFillTx/>
                <a:latin typeface="Arial"/>
                <a:ea typeface="Arial"/>
              </a:rPr>
              <a:t>  can be used in multitasking and </a:t>
            </a:r>
            <a:r>
              <a:rPr lang="en" sz="1600" b="1" u="none" strike="noStrike">
                <a:solidFill>
                  <a:schemeClr val="dk1"/>
                </a:solidFill>
                <a:effectLst/>
                <a:uFillTx/>
                <a:latin typeface="Courier New"/>
                <a:ea typeface="Courier New"/>
              </a:rPr>
              <a:t>await</a:t>
            </a:r>
            <a:r>
              <a:rPr lang="en" sz="1600" b="0" u="none" strike="noStrike">
                <a:solidFill>
                  <a:schemeClr val="dk1"/>
                </a:solidFill>
                <a:effectLst/>
                <a:uFillTx/>
                <a:latin typeface="Arial"/>
                <a:ea typeface="Arial"/>
              </a:rPr>
              <a:t> must be used with the command or the results will be indeterminate</a:t>
            </a:r>
            <a:endParaRPr lang="en-US" sz="1600" b="0" u="none" strike="noStrike">
              <a:solidFill>
                <a:srgbClr val="000000"/>
              </a:solidFill>
              <a:effectLst/>
              <a:uFillTx/>
              <a:latin typeface="Arial"/>
            </a:endParaRPr>
          </a:p>
          <a:p>
            <a:pPr indent="0" algn="l">
              <a:lnSpc>
                <a:spcPct val="90000"/>
              </a:lnSpc>
              <a:buNone/>
              <a:tabLst>
                <a:tab pos="0" algn="l"/>
              </a:tabLst>
            </a:pPr>
            <a:endParaRPr lang="en-US" sz="1600" b="0" u="none" strike="noStrike">
              <a:solidFill>
                <a:srgbClr val="000000"/>
              </a:solidFill>
              <a:effectLst/>
              <a:uFillTx/>
              <a:latin typeface="Arial"/>
            </a:endParaRPr>
          </a:p>
          <a:p>
            <a:pPr marL="457200" indent="-330120" algn="l">
              <a:lnSpc>
                <a:spcPct val="90000"/>
              </a:lnSpc>
              <a:buClr>
                <a:srgbClr val="000000"/>
              </a:buClr>
              <a:buFont typeface="Arial"/>
              <a:buChar char="●"/>
              <a:tabLst>
                <a:tab pos="0" algn="l"/>
              </a:tabLst>
            </a:pPr>
            <a:r>
              <a:rPr lang="en" sz="1600" b="1" u="none" strike="noStrike">
                <a:solidFill>
                  <a:schemeClr val="dk1"/>
                </a:solidFill>
                <a:effectLst/>
                <a:uFillTx/>
                <a:latin typeface="Courier New"/>
                <a:ea typeface="Courier New"/>
              </a:rPr>
              <a:t>run_task(</a:t>
            </a:r>
            <a:r>
              <a:rPr lang="en" sz="1600" b="0" i="1" u="none" strike="noStrike">
                <a:solidFill>
                  <a:schemeClr val="dk1"/>
                </a:solidFill>
                <a:effectLst/>
                <a:uFillTx/>
                <a:latin typeface="Courier New"/>
                <a:ea typeface="Courier New"/>
              </a:rPr>
              <a:t>function_name</a:t>
            </a:r>
            <a:r>
              <a:rPr lang="en" sz="1600" b="1" u="none" strike="noStrike">
                <a:solidFill>
                  <a:schemeClr val="dk1"/>
                </a:solidFill>
                <a:effectLst/>
                <a:uFillTx/>
                <a:latin typeface="Courier New"/>
                <a:ea typeface="Courier New"/>
              </a:rPr>
              <a:t>)</a:t>
            </a:r>
            <a:r>
              <a:rPr lang="en" sz="1600" b="0" u="none" strike="noStrike">
                <a:solidFill>
                  <a:schemeClr val="dk1"/>
                </a:solidFill>
                <a:effectLst/>
                <a:uFillTx/>
                <a:latin typeface="Arial"/>
                <a:ea typeface="Arial"/>
              </a:rPr>
              <a:t> is used to run one of your functions </a:t>
            </a:r>
            <a:endParaRPr lang="en-US" sz="1600" b="0" u="none" strike="noStrike">
              <a:solidFill>
                <a:srgbClr val="000000"/>
              </a:solidFill>
              <a:effectLst/>
              <a:uFillTx/>
              <a:latin typeface="Arial"/>
            </a:endParaRPr>
          </a:p>
          <a:p>
            <a:pPr marL="457200" indent="0" algn="l">
              <a:lnSpc>
                <a:spcPct val="90000"/>
              </a:lnSpc>
              <a:buNone/>
              <a:tabLst>
                <a:tab pos="0" algn="l"/>
              </a:tabLst>
            </a:pPr>
            <a:r>
              <a:rPr lang="en" sz="1600" b="0" u="none" strike="noStrike">
                <a:solidFill>
                  <a:schemeClr val="dk1"/>
                </a:solidFill>
                <a:effectLst/>
                <a:uFillTx/>
                <a:latin typeface="Arial"/>
                <a:ea typeface="Arial"/>
              </a:rPr>
              <a:t>from start to end while blocking all other functions</a:t>
            </a:r>
            <a:endParaRPr lang="en-US" sz="1600" b="0" u="none" strike="noStrike">
              <a:solidFill>
                <a:srgbClr val="000000"/>
              </a:solidFill>
              <a:effectLst/>
              <a:uFillTx/>
              <a:latin typeface="Arial"/>
            </a:endParaRPr>
          </a:p>
          <a:p>
            <a:pPr marL="914400" lvl="1" indent="-317520" algn="l">
              <a:lnSpc>
                <a:spcPct val="90000"/>
              </a:lnSpc>
              <a:buClr>
                <a:srgbClr val="000000"/>
              </a:buClr>
              <a:buFont typeface="Arial"/>
              <a:buChar char="○"/>
              <a:tabLst>
                <a:tab pos="0" algn="l"/>
              </a:tabLst>
            </a:pPr>
            <a:r>
              <a:rPr lang="en" sz="1400" b="0" u="none" strike="noStrike">
                <a:solidFill>
                  <a:schemeClr val="dk1"/>
                </a:solidFill>
                <a:effectLst/>
                <a:uFillTx/>
                <a:latin typeface="Arial"/>
                <a:ea typeface="Arial"/>
              </a:rPr>
              <a:t>When using </a:t>
            </a:r>
            <a:r>
              <a:rPr lang="en" sz="1400" b="1" u="none" strike="noStrike">
                <a:solidFill>
                  <a:schemeClr val="dk1"/>
                </a:solidFill>
                <a:effectLst/>
                <a:uFillTx/>
                <a:latin typeface="Courier New"/>
                <a:ea typeface="Courier New"/>
              </a:rPr>
              <a:t>hub_menu()</a:t>
            </a:r>
            <a:r>
              <a:rPr lang="en" sz="1400" b="0" u="none" strike="noStrike">
                <a:solidFill>
                  <a:schemeClr val="dk1"/>
                </a:solidFill>
                <a:effectLst/>
                <a:uFillTx/>
                <a:latin typeface="Arial"/>
                <a:ea typeface="Arial"/>
              </a:rPr>
              <a:t> the </a:t>
            </a:r>
            <a:r>
              <a:rPr lang="en" sz="1400" b="1" u="none" strike="noStrike">
                <a:solidFill>
                  <a:schemeClr val="dk1"/>
                </a:solidFill>
                <a:effectLst/>
                <a:uFillTx/>
                <a:latin typeface="Courier New"/>
                <a:ea typeface="Courier New"/>
              </a:rPr>
              <a:t>run_task()</a:t>
            </a:r>
            <a:r>
              <a:rPr lang="en" sz="1400" b="0" u="none" strike="noStrike">
                <a:solidFill>
                  <a:schemeClr val="dk1"/>
                </a:solidFill>
                <a:effectLst/>
                <a:uFillTx/>
                <a:latin typeface="Arial"/>
                <a:ea typeface="Arial"/>
              </a:rPr>
              <a:t> in your tasks should be commented out (put a </a:t>
            </a:r>
            <a:r>
              <a:rPr lang="en" sz="1400" b="1" u="none" strike="noStrike">
                <a:solidFill>
                  <a:schemeClr val="dk1"/>
                </a:solidFill>
                <a:effectLst/>
                <a:uFillTx/>
                <a:latin typeface="Courier New"/>
                <a:ea typeface="Courier New"/>
              </a:rPr>
              <a:t>#</a:t>
            </a:r>
            <a:r>
              <a:rPr lang="en" sz="1400" b="0" u="none" strike="noStrike">
                <a:solidFill>
                  <a:schemeClr val="dk1"/>
                </a:solidFill>
                <a:effectLst/>
                <a:uFillTx/>
                <a:latin typeface="Arial"/>
                <a:ea typeface="Arial"/>
              </a:rPr>
              <a:t> at the beginning of the line) </a:t>
            </a:r>
            <a:endParaRPr lang="en-US" sz="1400" b="0" u="none" strike="noStrike">
              <a:solidFill>
                <a:srgbClr val="000000"/>
              </a:solidFill>
              <a:effectLst/>
              <a:uFillTx/>
              <a:latin typeface="Arial"/>
            </a:endParaRPr>
          </a:p>
          <a:p>
            <a:pPr indent="0" algn="l">
              <a:lnSpc>
                <a:spcPct val="90000"/>
              </a:lnSpc>
              <a:buNone/>
              <a:tabLst>
                <a:tab pos="0" algn="l"/>
              </a:tabLst>
            </a:pPr>
            <a:endParaRPr lang="en-US" sz="1600" b="0" u="none" strike="noStrike">
              <a:solidFill>
                <a:srgbClr val="000000"/>
              </a:solidFill>
              <a:effectLst/>
              <a:uFillTx/>
              <a:latin typeface="Arial"/>
            </a:endParaRPr>
          </a:p>
          <a:p>
            <a:pPr marL="457200" indent="-330120" algn="l">
              <a:lnSpc>
                <a:spcPct val="90000"/>
              </a:lnSpc>
              <a:buClr>
                <a:srgbClr val="000000"/>
              </a:buClr>
              <a:buFont typeface="Arial"/>
              <a:buChar char="●"/>
              <a:tabLst>
                <a:tab pos="0" algn="l"/>
              </a:tabLst>
            </a:pPr>
            <a:r>
              <a:rPr lang="en" sz="1600" b="1" u="none" strike="noStrike">
                <a:solidFill>
                  <a:schemeClr val="dk1"/>
                </a:solidFill>
                <a:effectLst/>
                <a:uFillTx/>
                <a:latin typeface="Courier New"/>
                <a:ea typeface="Courier New"/>
              </a:rPr>
              <a:t>multitask(</a:t>
            </a:r>
            <a:r>
              <a:rPr lang="en" sz="1600" b="0" i="1" u="none" strike="noStrike">
                <a:solidFill>
                  <a:schemeClr val="dk1"/>
                </a:solidFill>
                <a:effectLst/>
                <a:uFillTx/>
                <a:latin typeface="Courier New"/>
                <a:ea typeface="Courier New"/>
              </a:rPr>
              <a:t>function_name1, function_name2, function_nameN</a:t>
            </a:r>
            <a:r>
              <a:rPr lang="en" sz="1600" b="1" u="none" strike="noStrike">
                <a:solidFill>
                  <a:schemeClr val="dk1"/>
                </a:solidFill>
                <a:effectLst/>
                <a:uFillTx/>
                <a:latin typeface="Courier New"/>
                <a:ea typeface="Courier New"/>
              </a:rPr>
              <a:t>)</a:t>
            </a:r>
            <a:r>
              <a:rPr lang="en" sz="1600" b="0" u="none" strike="noStrike">
                <a:solidFill>
                  <a:schemeClr val="dk1"/>
                </a:solidFill>
                <a:effectLst/>
                <a:uFillTx/>
                <a:latin typeface="Arial"/>
                <a:ea typeface="Arial"/>
              </a:rPr>
              <a:t> is used to run multiple functions at at time</a:t>
            </a:r>
            <a:endParaRPr lang="en-US" sz="1600" b="0" u="none" strike="noStrike">
              <a:solidFill>
                <a:srgbClr val="000000"/>
              </a:solidFill>
              <a:effectLst/>
              <a:uFillTx/>
              <a:latin typeface="Arial"/>
            </a:endParaRPr>
          </a:p>
          <a:p>
            <a:pPr marL="914400" lvl="1" indent="-317520" algn="l">
              <a:lnSpc>
                <a:spcPct val="90000"/>
              </a:lnSpc>
              <a:buClr>
                <a:srgbClr val="000000"/>
              </a:buClr>
              <a:buFont typeface="Arial"/>
              <a:buChar char="○"/>
              <a:tabLst>
                <a:tab pos="0" algn="l"/>
              </a:tabLst>
            </a:pPr>
            <a:r>
              <a:rPr lang="en" sz="1400" b="0" u="none" strike="noStrike">
                <a:solidFill>
                  <a:schemeClr val="dk1"/>
                </a:solidFill>
                <a:effectLst/>
                <a:uFillTx/>
                <a:latin typeface="Arial"/>
                <a:ea typeface="Arial"/>
              </a:rPr>
              <a:t>By default, </a:t>
            </a:r>
            <a:r>
              <a:rPr lang="en" sz="1400" b="0" u="none" strike="noStrike">
                <a:solidFill>
                  <a:schemeClr val="dk1"/>
                </a:solidFill>
                <a:effectLst/>
                <a:uFillTx/>
                <a:latin typeface="Courier New"/>
                <a:ea typeface="Courier New"/>
              </a:rPr>
              <a:t>multitask()</a:t>
            </a:r>
            <a:r>
              <a:rPr lang="en" sz="1400" b="0" u="none" strike="noStrike">
                <a:solidFill>
                  <a:schemeClr val="dk1"/>
                </a:solidFill>
                <a:effectLst/>
                <a:uFillTx/>
                <a:latin typeface="Arial"/>
                <a:ea typeface="Arial"/>
              </a:rPr>
              <a:t>waits for all functions to complete</a:t>
            </a:r>
            <a:endParaRPr lang="en-US" sz="1400" b="0" u="none" strike="noStrike">
              <a:solidFill>
                <a:srgbClr val="000000"/>
              </a:solidFill>
              <a:effectLst/>
              <a:uFillTx/>
              <a:latin typeface="Arial"/>
            </a:endParaRPr>
          </a:p>
          <a:p>
            <a:pPr marL="914400" lvl="1" indent="-317520" algn="l">
              <a:lnSpc>
                <a:spcPct val="90000"/>
              </a:lnSpc>
              <a:buClr>
                <a:srgbClr val="000000"/>
              </a:buClr>
              <a:buFont typeface="Arial"/>
              <a:buChar char="○"/>
              <a:tabLst>
                <a:tab pos="0" algn="l"/>
              </a:tabLst>
            </a:pPr>
            <a:r>
              <a:rPr lang="en" sz="1400" b="0" u="none" strike="noStrike">
                <a:solidFill>
                  <a:schemeClr val="dk1"/>
                </a:solidFill>
                <a:effectLst/>
                <a:uFillTx/>
                <a:latin typeface="Arial"/>
                <a:ea typeface="Arial"/>
              </a:rPr>
              <a:t>If you add the </a:t>
            </a:r>
            <a:r>
              <a:rPr lang="en" sz="1400" b="0" u="none" strike="noStrike">
                <a:solidFill>
                  <a:schemeClr val="dk1"/>
                </a:solidFill>
                <a:effectLst/>
                <a:uFillTx/>
                <a:latin typeface="Courier New"/>
                <a:ea typeface="Courier New"/>
              </a:rPr>
              <a:t>race=True</a:t>
            </a:r>
            <a:r>
              <a:rPr lang="en" sz="1400" b="0" u="none" strike="noStrike">
                <a:solidFill>
                  <a:schemeClr val="dk1"/>
                </a:solidFill>
                <a:effectLst/>
                <a:uFillTx/>
                <a:latin typeface="Arial"/>
                <a:ea typeface="Arial"/>
              </a:rPr>
              <a:t> parameter, </a:t>
            </a:r>
            <a:r>
              <a:rPr lang="en" sz="1400" b="0" u="none" strike="noStrike">
                <a:solidFill>
                  <a:schemeClr val="dk1"/>
                </a:solidFill>
                <a:effectLst/>
                <a:uFillTx/>
                <a:latin typeface="Courier New"/>
                <a:ea typeface="Courier New"/>
              </a:rPr>
              <a:t>multitask()</a:t>
            </a:r>
            <a:r>
              <a:rPr lang="en" sz="1400" b="0" u="none" strike="noStrike">
                <a:solidFill>
                  <a:schemeClr val="dk1"/>
                </a:solidFill>
                <a:effectLst/>
                <a:uFillTx/>
                <a:latin typeface="Arial"/>
                <a:ea typeface="Arial"/>
              </a:rPr>
              <a:t> will wait until one function completes and then it will stop the rest</a:t>
            </a:r>
            <a:endParaRPr lang="en-US" sz="1400" b="0" u="none" strike="noStrike">
              <a:solidFill>
                <a:srgbClr val="000000"/>
              </a:solidFill>
              <a:effectLst/>
              <a:uFillTx/>
              <a:latin typeface="Arial"/>
            </a:endParaRPr>
          </a:p>
        </p:txBody>
      </p:sp>
      <p:sp>
        <p:nvSpPr>
          <p:cNvPr id="268" name="PlaceHolder 3"/>
          <p:cNvSpPr>
            <a:spLocks noGrp="1"/>
          </p:cNvSpPr>
          <p:nvPr>
            <p:ph type="sldNum" idx="6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B31CD74-AF30-4D7C-8493-3ECF77C6AE8D}" type="slidenum">
              <a:rPr lang="en" sz="1000" b="0" u="none" strike="noStrike">
                <a:solidFill>
                  <a:schemeClr val="dk2"/>
                </a:solidFill>
                <a:effectLst/>
                <a:uFillTx/>
                <a:latin typeface="Arial"/>
                <a:ea typeface="Arial"/>
              </a:rPr>
              <a:t>49</a:t>
            </a:fld>
            <a:endParaRPr lang="en-US" sz="1000" b="0" u="none" strike="noStrike">
              <a:solidFill>
                <a:srgbClr val="000000"/>
              </a:solidFill>
              <a:effectLst/>
              <a:uFillTx/>
              <a:latin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Miscellaneous Tidbits</a:t>
            </a:r>
            <a:endParaRPr lang="en-US" sz="2500" b="0" u="none" strike="noStrike">
              <a:solidFill>
                <a:srgbClr val="000000"/>
              </a:solidFill>
              <a:effectLst/>
              <a:uFillTx/>
              <a:latin typeface="Arial"/>
            </a:endParaRPr>
          </a:p>
        </p:txBody>
      </p:sp>
      <p:sp>
        <p:nvSpPr>
          <p:cNvPr id="270"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000000"/>
              </a:buClr>
              <a:buFont typeface="Arial"/>
              <a:buChar char="●"/>
            </a:pPr>
            <a:r>
              <a:rPr lang="en-US" sz="2400" b="0" u="none" strike="noStrike">
                <a:solidFill>
                  <a:schemeClr val="dk1"/>
                </a:solidFill>
                <a:effectLst/>
                <a:uFillTx/>
                <a:latin typeface="Arial"/>
                <a:ea typeface="Arial"/>
              </a:rPr>
              <a:t>Positive/Negative integers are used to move forward/backward for distance, angles, and up/down for attachments</a:t>
            </a:r>
            <a:endParaRPr lang="en-US" sz="2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2000" b="0" u="none" strike="noStrike">
                <a:solidFill>
                  <a:schemeClr val="dk1"/>
                </a:solidFill>
                <a:effectLst/>
                <a:uFillTx/>
                <a:latin typeface="Arial"/>
                <a:ea typeface="Arial"/>
              </a:rPr>
              <a:t>But the </a:t>
            </a:r>
            <a:r>
              <a:rPr lang="en-US" sz="2000" b="0" u="sng" strike="noStrike">
                <a:solidFill>
                  <a:schemeClr val="dk1"/>
                </a:solidFill>
                <a:effectLst/>
                <a:uFillTx/>
                <a:latin typeface="Arial"/>
                <a:ea typeface="Arial"/>
              </a:rPr>
              <a:t>orientation</a:t>
            </a:r>
            <a:r>
              <a:rPr lang="en-US" sz="2000" b="0" u="none" strike="noStrike">
                <a:solidFill>
                  <a:schemeClr val="dk1"/>
                </a:solidFill>
                <a:effectLst/>
                <a:uFillTx/>
                <a:latin typeface="Arial"/>
                <a:ea typeface="Arial"/>
              </a:rPr>
              <a:t> of the motor determines if positive is forward or backward</a:t>
            </a:r>
            <a:endParaRPr lang="en-US" sz="2000" b="0" u="none" strike="noStrike">
              <a:solidFill>
                <a:srgbClr val="000000"/>
              </a:solidFill>
              <a:effectLst/>
              <a:uFillTx/>
              <a:latin typeface="Arial"/>
            </a:endParaRPr>
          </a:p>
          <a:p>
            <a:pPr marL="596880" indent="0" algn="l">
              <a:lnSpc>
                <a:spcPct val="115000"/>
              </a:lnSpc>
              <a:buNone/>
              <a:tabLst>
                <a:tab pos="0" algn="l"/>
              </a:tabLst>
            </a:pPr>
            <a:endParaRPr lang="en-US" sz="20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2400" b="0" u="none" strike="noStrike">
                <a:solidFill>
                  <a:schemeClr val="dk1"/>
                </a:solidFill>
                <a:effectLst/>
                <a:uFillTx/>
                <a:latin typeface="Arial"/>
                <a:ea typeface="Arial"/>
              </a:rPr>
              <a:t>Attachments should have a </a:t>
            </a:r>
            <a:r>
              <a:rPr lang="en-US" sz="2400" b="0" u="sng" strike="noStrike">
                <a:solidFill>
                  <a:schemeClr val="dk1"/>
                </a:solidFill>
                <a:effectLst/>
                <a:uFillTx/>
                <a:latin typeface="Arial"/>
                <a:ea typeface="Arial"/>
              </a:rPr>
              <a:t>defined AND consistent</a:t>
            </a:r>
            <a:r>
              <a:rPr lang="en-US" sz="2400" b="0" u="none" strike="noStrike">
                <a:solidFill>
                  <a:schemeClr val="dk1"/>
                </a:solidFill>
                <a:effectLst/>
                <a:uFillTx/>
                <a:latin typeface="Arial"/>
                <a:ea typeface="Arial"/>
              </a:rPr>
              <a:t> start position</a:t>
            </a:r>
            <a:endParaRPr lang="en-US" sz="24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2000" b="0" u="none" strike="noStrike">
                <a:solidFill>
                  <a:schemeClr val="dk1"/>
                </a:solidFill>
                <a:effectLst/>
                <a:uFillTx/>
                <a:latin typeface="Arial"/>
                <a:ea typeface="Arial"/>
              </a:rPr>
              <a:t>Teams should be encouraged to always verify the attachments’ start position for each run</a:t>
            </a:r>
            <a:endParaRPr lang="en-US" sz="20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2000" b="0" u="none" strike="noStrike">
                <a:solidFill>
                  <a:schemeClr val="dk1"/>
                </a:solidFill>
                <a:effectLst/>
                <a:uFillTx/>
                <a:latin typeface="Arial"/>
                <a:ea typeface="Arial"/>
              </a:rPr>
              <a:t>Our teams ”wiggle” each attachment forward/backward and then set it in the start position for each run</a:t>
            </a:r>
            <a:endParaRPr lang="en-US" sz="2000" b="0" u="none" strike="noStrike">
              <a:solidFill>
                <a:srgbClr val="000000"/>
              </a:solidFill>
              <a:effectLst/>
              <a:uFillTx/>
              <a:latin typeface="Arial"/>
            </a:endParaRPr>
          </a:p>
          <a:p>
            <a:pPr indent="0" algn="l">
              <a:lnSpc>
                <a:spcPct val="115000"/>
              </a:lnSpc>
              <a:buNone/>
              <a:tabLst>
                <a:tab pos="0" algn="l"/>
              </a:tabLst>
            </a:pPr>
            <a:endParaRPr lang="en-US" sz="2000" b="0" u="none" strike="noStrike">
              <a:solidFill>
                <a:srgbClr val="000000"/>
              </a:solidFill>
              <a:effectLst/>
              <a:uFillTx/>
              <a:latin typeface="Arial"/>
            </a:endParaRPr>
          </a:p>
          <a:p>
            <a:pPr indent="0" algn="l">
              <a:lnSpc>
                <a:spcPct val="115000"/>
              </a:lnSpc>
              <a:buNone/>
              <a:tabLst>
                <a:tab pos="0" algn="l"/>
              </a:tabLst>
            </a:pPr>
            <a:endParaRPr lang="en-US" sz="2400" b="0" u="none" strike="noStrike">
              <a:solidFill>
                <a:srgbClr val="000000"/>
              </a:solidFill>
              <a:effectLst/>
              <a:uFillTx/>
              <a:latin typeface="Arial"/>
            </a:endParaRPr>
          </a:p>
        </p:txBody>
      </p:sp>
      <p:sp>
        <p:nvSpPr>
          <p:cNvPr id="271" name="PlaceHolder 3"/>
          <p:cNvSpPr>
            <a:spLocks noGrp="1"/>
          </p:cNvSpPr>
          <p:nvPr>
            <p:ph type="sldNum" idx="6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045A278-FB40-4402-A440-C202C13D92F6}" type="slidenum">
              <a:rPr lang="en" sz="1000" b="0" u="none" strike="noStrike">
                <a:solidFill>
                  <a:schemeClr val="dk2"/>
                </a:solidFill>
                <a:effectLst/>
                <a:uFillTx/>
                <a:latin typeface="Arial"/>
                <a:ea typeface="Arial"/>
              </a:rPr>
              <a:t>50</a:t>
            </a:fld>
            <a:endParaRPr lang="en-US" sz="1000" b="0" u="none" strike="noStrike">
              <a:solidFill>
                <a:srgbClr val="000000"/>
              </a:solidFill>
              <a:effectLst/>
              <a:uFillTx/>
              <a:latin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Motor()</a:t>
            </a:r>
            <a:endParaRPr lang="en-US" sz="2500" b="0" u="none" strike="noStrike">
              <a:solidFill>
                <a:srgbClr val="000000"/>
              </a:solidFill>
              <a:effectLst/>
              <a:uFillTx/>
              <a:latin typeface="Arial"/>
            </a:endParaRPr>
          </a:p>
        </p:txBody>
      </p:sp>
      <p:sp>
        <p:nvSpPr>
          <p:cNvPr id="273" name="PlaceHolder 2"/>
          <p:cNvSpPr>
            <a:spLocks noGrp="1"/>
          </p:cNvSpPr>
          <p:nvPr>
            <p:ph/>
          </p:nvPr>
        </p:nvSpPr>
        <p:spPr>
          <a:xfrm>
            <a:off x="233640" y="780480"/>
            <a:ext cx="8520120" cy="3764160"/>
          </a:xfrm>
          <a:prstGeom prst="rect">
            <a:avLst/>
          </a:prstGeom>
          <a:noFill/>
          <a:ln w="0">
            <a:noFill/>
          </a:ln>
        </p:spPr>
        <p:txBody>
          <a:bodyPr lIns="91440" tIns="91440" rIns="91440" bIns="91440" anchor="t">
            <a:normAutofit fontScale="85000" lnSpcReduction="9999"/>
          </a:bodyPr>
          <a:lstStyle/>
          <a:p>
            <a:pPr marL="114480" indent="0" algn="l">
              <a:lnSpc>
                <a:spcPct val="115000"/>
              </a:lnSpc>
              <a:buNone/>
              <a:tabLst>
                <a:tab pos="0" algn="l"/>
              </a:tabLst>
            </a:pPr>
            <a:r>
              <a:rPr lang="en-US" sz="1800" b="1" u="none" strike="noStrike">
                <a:solidFill>
                  <a:schemeClr val="dk1"/>
                </a:solidFill>
                <a:effectLst/>
                <a:uFillTx/>
                <a:latin typeface="Courier New"/>
                <a:ea typeface="Arial"/>
              </a:rPr>
              <a:t>Motor(port, positive_direction=</a:t>
            </a:r>
            <a:r>
              <a:rPr lang="en-US" sz="1800" b="0" i="1" u="none" strike="noStrike">
                <a:solidFill>
                  <a:schemeClr val="dk1"/>
                </a:solidFill>
                <a:effectLst/>
                <a:uFillTx/>
                <a:latin typeface="Arial"/>
                <a:ea typeface="Arial"/>
              </a:rPr>
              <a:t>direction</a:t>
            </a:r>
            <a:r>
              <a:rPr lang="en-US" sz="1800" b="1" i="1" u="none" strike="noStrike">
                <a:solidFill>
                  <a:schemeClr val="dk1"/>
                </a:solidFill>
                <a:effectLst/>
                <a:uFillTx/>
                <a:latin typeface="Courier New"/>
                <a:ea typeface="Arial"/>
              </a:rPr>
              <a:t>,</a:t>
            </a:r>
            <a:r>
              <a:rPr lang="en-US" sz="1800" b="1" u="none" strike="noStrike">
                <a:solidFill>
                  <a:schemeClr val="dk1"/>
                </a:solidFill>
                <a:effectLst/>
                <a:uFillTx/>
                <a:latin typeface="Courier New"/>
                <a:ea typeface="Arial"/>
              </a:rPr>
              <a:t> gears=</a:t>
            </a:r>
            <a:r>
              <a:rPr lang="en-US" sz="1800" b="0" u="none" strike="noStrike">
                <a:solidFill>
                  <a:schemeClr val="dk1"/>
                </a:solidFill>
                <a:effectLst/>
                <a:uFillTx/>
                <a:latin typeface="Courier New"/>
                <a:ea typeface="Arial"/>
              </a:rPr>
              <a:t>None</a:t>
            </a:r>
            <a:r>
              <a:rPr lang="en-US" sz="1800" b="1" u="none" strike="noStrike">
                <a:solidFill>
                  <a:schemeClr val="dk1"/>
                </a:solidFill>
                <a:effectLst/>
                <a:uFillTx/>
                <a:latin typeface="Courier New"/>
                <a:ea typeface="Arial"/>
              </a:rPr>
              <a:t> </a:t>
            </a:r>
            <a:r>
              <a:rPr lang="en-US" sz="1800" b="1" u="none" strike="noStrike">
                <a:solidFill>
                  <a:schemeClr val="dk1"/>
                </a:solidFill>
                <a:effectLst/>
                <a:uFillTx/>
                <a:latin typeface="Arial"/>
                <a:ea typeface="Arial"/>
              </a:rPr>
              <a:t>or</a:t>
            </a:r>
            <a:r>
              <a:rPr lang="en-US" sz="1800" b="1" u="none" strike="noStrike">
                <a:solidFill>
                  <a:schemeClr val="dk1"/>
                </a:solidFill>
                <a:effectLst/>
                <a:uFillTx/>
                <a:latin typeface="Courier New"/>
                <a:ea typeface="Arial"/>
              </a:rPr>
              <a:t> </a:t>
            </a:r>
            <a:r>
              <a:rPr lang="en-US" sz="1800" b="0" u="none" strike="noStrike">
                <a:solidFill>
                  <a:schemeClr val="dk1"/>
                </a:solidFill>
                <a:effectLst/>
                <a:uFillTx/>
                <a:latin typeface="Courier New"/>
                <a:ea typeface="Arial"/>
              </a:rPr>
              <a:t>[list of gears]</a:t>
            </a:r>
            <a:r>
              <a:rPr lang="en-US" sz="1800" b="1" u="none" strike="noStrike">
                <a:solidFill>
                  <a:schemeClr val="dk1"/>
                </a:solidFill>
                <a:effectLst/>
                <a:uFillTx/>
                <a:latin typeface="Courier New"/>
                <a:ea typeface="Arial"/>
              </a:rPr>
              <a:t>, reset_angle=</a:t>
            </a:r>
            <a:r>
              <a:rPr lang="en-US" sz="1800" b="0" u="none" strike="noStrike">
                <a:solidFill>
                  <a:schemeClr val="dk1"/>
                </a:solidFill>
                <a:effectLst/>
                <a:uFillTx/>
                <a:latin typeface="Courier New"/>
                <a:ea typeface="Arial"/>
              </a:rPr>
              <a:t>True</a:t>
            </a:r>
            <a:r>
              <a:rPr lang="en-US" sz="1800" b="1" u="none" strike="noStrike">
                <a:solidFill>
                  <a:schemeClr val="dk1"/>
                </a:solidFill>
                <a:effectLst/>
                <a:uFillTx/>
                <a:latin typeface="Courier New"/>
                <a:ea typeface="Arial"/>
              </a:rPr>
              <a:t>|</a:t>
            </a:r>
            <a:r>
              <a:rPr lang="en-US" sz="1800" b="0" u="none" strike="noStrike">
                <a:solidFill>
                  <a:schemeClr val="dk1"/>
                </a:solidFill>
                <a:effectLst/>
                <a:uFillTx/>
                <a:latin typeface="Courier New"/>
                <a:ea typeface="Arial"/>
              </a:rPr>
              <a:t>False</a:t>
            </a:r>
            <a:r>
              <a:rPr lang="en-US" sz="1800" b="1" u="none" strike="noStrike">
                <a:solidFill>
                  <a:schemeClr val="dk1"/>
                </a:solidFill>
                <a:effectLst/>
                <a:uFillTx/>
                <a:latin typeface="Courier New"/>
                <a:ea typeface="Arial"/>
              </a:rPr>
              <a:t>, profile=</a:t>
            </a:r>
            <a:r>
              <a:rPr lang="en-US" sz="1800" b="0" u="none" strike="noStrike">
                <a:solidFill>
                  <a:schemeClr val="dk1"/>
                </a:solidFill>
                <a:effectLst/>
                <a:uFillTx/>
                <a:latin typeface="Courier New"/>
                <a:ea typeface="Arial"/>
              </a:rPr>
              <a:t>None</a:t>
            </a:r>
            <a:r>
              <a:rPr lang="en-US" sz="1800" b="1" u="none" strike="noStrike">
                <a:solidFill>
                  <a:schemeClr val="dk1"/>
                </a:solidFill>
                <a:effectLst/>
                <a:uFillTx/>
                <a:latin typeface="Courier New"/>
                <a:ea typeface="Arial"/>
              </a:rPr>
              <a:t>)</a:t>
            </a:r>
            <a:endParaRPr lang="en-US" sz="1800" b="0" u="none" strike="noStrike">
              <a:solidFill>
                <a:srgbClr val="000000"/>
              </a:solidFill>
              <a:effectLst/>
              <a:uFillTx/>
              <a:latin typeface="Arial"/>
            </a:endParaRPr>
          </a:p>
          <a:p>
            <a:pPr marL="114480" indent="0" algn="l">
              <a:lnSpc>
                <a:spcPct val="115000"/>
              </a:lnSpc>
              <a:buNone/>
              <a:tabLst>
                <a:tab pos="0" algn="l"/>
              </a:tabLst>
            </a:pPr>
            <a:r>
              <a:rPr lang="en-US" sz="1800" b="0" u="none" strike="noStrike">
                <a:solidFill>
                  <a:schemeClr val="dk1"/>
                </a:solidFill>
                <a:effectLst/>
                <a:uFillTx/>
                <a:latin typeface="Courier New"/>
                <a:ea typeface="Arial"/>
              </a:rPr>
              <a:t>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Where </a:t>
            </a:r>
            <a:r>
              <a:rPr lang="en-US" sz="1800" b="1" i="1" u="none" strike="noStrike">
                <a:solidFill>
                  <a:schemeClr val="dk1"/>
                </a:solidFill>
                <a:effectLst/>
                <a:uFillTx/>
                <a:latin typeface="Arial"/>
                <a:ea typeface="Arial"/>
              </a:rPr>
              <a:t>direction</a:t>
            </a:r>
            <a:r>
              <a:rPr lang="en-US" sz="1800" b="0" u="none" strike="noStrike">
                <a:solidFill>
                  <a:schemeClr val="dk1"/>
                </a:solidFill>
                <a:effectLst/>
                <a:uFillTx/>
                <a:latin typeface="Arial"/>
                <a:ea typeface="Arial"/>
              </a:rPr>
              <a:t> is </a:t>
            </a:r>
            <a:r>
              <a:rPr lang="en-US" sz="1800" b="0" u="none" strike="noStrike">
                <a:solidFill>
                  <a:schemeClr val="dk1"/>
                </a:solidFill>
                <a:effectLst/>
                <a:uFillTx/>
                <a:latin typeface="Courier New"/>
                <a:ea typeface="Arial"/>
              </a:rPr>
              <a:t>Direction.CLOCKWISE</a:t>
            </a:r>
            <a:r>
              <a:rPr lang="en-US" sz="1800" b="0" u="none" strike="noStrike">
                <a:solidFill>
                  <a:schemeClr val="dk1"/>
                </a:solidFill>
                <a:effectLst/>
                <a:uFillTx/>
                <a:latin typeface="Arial"/>
                <a:ea typeface="Arial"/>
              </a:rPr>
              <a:t> or </a:t>
            </a:r>
            <a:r>
              <a:rPr lang="en-US" sz="1800" b="0" u="none" strike="noStrike">
                <a:solidFill>
                  <a:schemeClr val="dk1"/>
                </a:solidFill>
                <a:effectLst/>
                <a:uFillTx/>
                <a:latin typeface="Courier New"/>
                <a:ea typeface="Arial"/>
              </a:rPr>
              <a:t>Direction.COUNTERCLOCKWISE</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Courier New"/>
                <a:ea typeface="Arial"/>
              </a:rPr>
              <a:t>Gears</a:t>
            </a:r>
            <a:r>
              <a:rPr lang="en-US" sz="1800" b="0" u="none" strike="noStrike">
                <a:solidFill>
                  <a:schemeClr val="dk1"/>
                </a:solidFill>
                <a:effectLst/>
                <a:uFillTx/>
                <a:latin typeface="Arial"/>
                <a:ea typeface="Arial"/>
              </a:rPr>
              <a:t> is the list of gears linked to the motor. The gear connected to the motor comes first and the gear connected to the output comes last.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Gears are represented by number of teeth. So </a:t>
            </a:r>
            <a:r>
              <a:rPr lang="en-US" sz="1800" b="1" u="none" strike="noStrike">
                <a:solidFill>
                  <a:schemeClr val="dk1"/>
                </a:solidFill>
                <a:effectLst/>
                <a:uFillTx/>
                <a:latin typeface="Courier New"/>
                <a:ea typeface="Arial"/>
              </a:rPr>
              <a:t>[12,36]</a:t>
            </a:r>
            <a:r>
              <a:rPr lang="en-US" sz="1800" b="0" u="none" strike="noStrike">
                <a:solidFill>
                  <a:schemeClr val="dk1"/>
                </a:solidFill>
                <a:effectLst/>
                <a:uFillTx/>
                <a:latin typeface="Arial"/>
                <a:ea typeface="Arial"/>
              </a:rPr>
              <a:t> would be a 12-tooth gear connected to a 36-tooth gear. Gears are primarily used in attachments.</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Normally you have two drive motors, one must be moving COUNTERCLOCKWISE and the other CLOCKWISE</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By default motors move CLOCKWISE</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You can use </a:t>
            </a:r>
            <a:r>
              <a:rPr lang="en-US" sz="1600" b="1" u="none" strike="noStrike">
                <a:solidFill>
                  <a:schemeClr val="dk1"/>
                </a:solidFill>
                <a:effectLst/>
                <a:uFillTx/>
                <a:latin typeface="Courier New"/>
                <a:ea typeface="Arial"/>
              </a:rPr>
              <a:t>+</a:t>
            </a:r>
            <a:r>
              <a:rPr lang="en-US" sz="1600" b="0" u="none" strike="noStrike">
                <a:solidFill>
                  <a:schemeClr val="dk1"/>
                </a:solidFill>
                <a:effectLst/>
                <a:uFillTx/>
                <a:latin typeface="Courier New"/>
                <a:ea typeface="Arial"/>
              </a:rPr>
              <a:t>/</a:t>
            </a:r>
            <a:r>
              <a:rPr lang="en-US" sz="1600" b="1" u="none" strike="noStrike">
                <a:solidFill>
                  <a:schemeClr val="dk1"/>
                </a:solidFill>
                <a:effectLst/>
                <a:uFillTx/>
                <a:latin typeface="Courier New"/>
                <a:ea typeface="Arial"/>
              </a:rPr>
              <a:t>-</a:t>
            </a:r>
            <a:r>
              <a:rPr lang="en-US" sz="1600" b="0" u="none" strike="noStrike">
                <a:solidFill>
                  <a:schemeClr val="dk1"/>
                </a:solidFill>
                <a:effectLst/>
                <a:uFillTx/>
                <a:latin typeface="Arial"/>
                <a:ea typeface="Arial"/>
              </a:rPr>
              <a:t> in the angle in commands like </a:t>
            </a:r>
            <a:r>
              <a:rPr lang="en-US" sz="1600" b="1" u="none" strike="noStrike">
                <a:solidFill>
                  <a:schemeClr val="dk1"/>
                </a:solidFill>
                <a:effectLst/>
                <a:uFillTx/>
                <a:latin typeface="Courier New"/>
                <a:ea typeface="Arial"/>
              </a:rPr>
              <a:t>run_target()</a:t>
            </a:r>
            <a:r>
              <a:rPr lang="en-US" sz="1600" b="1" u="none" strike="noStrike">
                <a:solidFill>
                  <a:schemeClr val="dk1"/>
                </a:solidFill>
                <a:effectLst/>
                <a:uFillTx/>
                <a:latin typeface="Arial"/>
                <a:ea typeface="Arial"/>
              </a:rPr>
              <a:t> </a:t>
            </a:r>
            <a:r>
              <a:rPr lang="en-US" sz="1600" b="0" u="none" strike="noStrike">
                <a:solidFill>
                  <a:schemeClr val="dk1"/>
                </a:solidFill>
                <a:effectLst/>
                <a:uFillTx/>
                <a:latin typeface="Arial"/>
                <a:ea typeface="Arial"/>
              </a:rPr>
              <a:t>to change the direction</a:t>
            </a:r>
            <a:endParaRPr lang="en-US" sz="16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Courier New"/>
                <a:ea typeface="Arial"/>
              </a:rPr>
              <a:t>Motor()</a:t>
            </a:r>
            <a:r>
              <a:rPr lang="en-US" sz="1800" b="0" u="none" strike="noStrike">
                <a:solidFill>
                  <a:schemeClr val="dk1"/>
                </a:solidFill>
                <a:effectLst/>
                <a:uFillTx/>
                <a:latin typeface="Arial"/>
                <a:ea typeface="Arial"/>
              </a:rPr>
              <a:t> has a number of functions associated with it. </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Courier New"/>
                <a:ea typeface="Arial"/>
              </a:rPr>
              <a:t>Motor.stalled()</a:t>
            </a:r>
            <a:r>
              <a:rPr lang="en-US" sz="1800" b="0" u="none" strike="noStrike">
                <a:solidFill>
                  <a:schemeClr val="dk1"/>
                </a:solidFill>
                <a:effectLst/>
                <a:uFillTx/>
                <a:latin typeface="Arial"/>
                <a:ea typeface="Arial"/>
              </a:rPr>
              <a:t> function is used to determine if a motor (usually an attachment has gotten stuck</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74" name="PlaceHolder 3"/>
          <p:cNvSpPr>
            <a:spLocks noGrp="1"/>
          </p:cNvSpPr>
          <p:nvPr>
            <p:ph type="sldNum" idx="6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31E81AF4-0BFB-44FE-AEAB-3C97E4CE32D5}" type="slidenum">
              <a:rPr lang="en" sz="1000" b="0" u="none" strike="noStrike">
                <a:solidFill>
                  <a:schemeClr val="dk2"/>
                </a:solidFill>
                <a:effectLst/>
                <a:uFillTx/>
                <a:latin typeface="Arial"/>
                <a:ea typeface="Arial"/>
              </a:rPr>
              <a:t>51</a:t>
            </a:fld>
            <a:endParaRPr lang="en-US" sz="1000" b="0" u="none" strike="noStrike">
              <a:solidFill>
                <a:srgbClr val="000000"/>
              </a:solidFill>
              <a:effectLst/>
              <a:uFillTx/>
              <a:latin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Motor()</a:t>
            </a:r>
            <a:r>
              <a:rPr lang="en-US" sz="2500" b="1" u="none" strike="noStrike">
                <a:solidFill>
                  <a:schemeClr val="lt1"/>
                </a:solidFill>
                <a:effectLst/>
                <a:uFillTx/>
                <a:latin typeface="Arial"/>
                <a:ea typeface="Arial"/>
              </a:rPr>
              <a:t> Examples</a:t>
            </a:r>
            <a:endParaRPr lang="en-US" sz="2500" b="0" u="none" strike="noStrike">
              <a:solidFill>
                <a:srgbClr val="000000"/>
              </a:solidFill>
              <a:effectLst/>
              <a:uFillTx/>
              <a:latin typeface="Arial"/>
            </a:endParaRPr>
          </a:p>
        </p:txBody>
      </p:sp>
      <p:sp>
        <p:nvSpPr>
          <p:cNvPr id="276"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596880"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700" b="1" u="none" strike="noStrike">
                <a:solidFill>
                  <a:schemeClr val="dk1"/>
                </a:solidFill>
                <a:effectLst/>
                <a:uFillTx/>
                <a:latin typeface="Courier New"/>
                <a:ea typeface="Arial"/>
              </a:rPr>
              <a:t>leftMotor = Motor(LeftDriveMotorPort, Direction.COUNTERCLOCKWISE, reset_angle=True)</a:t>
            </a:r>
            <a:endParaRPr lang="en-US" sz="1700" b="0" u="none" strike="noStrike">
              <a:solidFill>
                <a:srgbClr val="000000"/>
              </a:solidFill>
              <a:effectLst/>
              <a:uFillTx/>
              <a:latin typeface="Arial"/>
            </a:endParaRPr>
          </a:p>
          <a:p>
            <a:pPr indent="0" algn="l">
              <a:lnSpc>
                <a:spcPct val="115000"/>
              </a:lnSpc>
              <a:buNone/>
              <a:tabLst>
                <a:tab pos="0" algn="l"/>
              </a:tabLst>
            </a:pPr>
            <a:endParaRPr lang="en-US" sz="17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700" b="1" u="none" strike="noStrike">
                <a:solidFill>
                  <a:schemeClr val="dk1"/>
                </a:solidFill>
                <a:effectLst/>
                <a:uFillTx/>
                <a:latin typeface="Courier New"/>
                <a:ea typeface="Arial"/>
              </a:rPr>
              <a:t>rightMotor = Motor(RightDriveMotorPort,Direction.CLOCKWISE, reset_angle=True)</a:t>
            </a:r>
            <a:endParaRPr lang="en-US" sz="1700" b="0" u="none" strike="noStrike">
              <a:solidFill>
                <a:srgbClr val="000000"/>
              </a:solidFill>
              <a:effectLst/>
              <a:uFillTx/>
              <a:latin typeface="Arial"/>
            </a:endParaRPr>
          </a:p>
          <a:p>
            <a:pPr indent="0" algn="l">
              <a:lnSpc>
                <a:spcPct val="115000"/>
              </a:lnSpc>
              <a:buNone/>
              <a:tabLst>
                <a:tab pos="0" algn="l"/>
              </a:tabLst>
            </a:pPr>
            <a:endParaRPr lang="en-US" sz="17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700" b="1" u="none" strike="noStrike">
                <a:solidFill>
                  <a:schemeClr val="dk1"/>
                </a:solidFill>
                <a:effectLst/>
                <a:uFillTx/>
                <a:latin typeface="Courier New"/>
                <a:ea typeface="Arial"/>
              </a:rPr>
              <a:t>leftAttachment = Motor(LeftAttachmentMotorPort, Direction.CLOCKWISE, reset_angle=True)</a:t>
            </a:r>
            <a:endParaRPr lang="en-US" sz="17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300" b="1" u="none" strike="noStrike">
                <a:solidFill>
                  <a:schemeClr val="dk1">
                    <a:lumMod val="95000"/>
                    <a:lumOff val="5000"/>
                  </a:schemeClr>
                </a:solidFill>
                <a:effectLst/>
                <a:uFillTx/>
                <a:latin typeface="Courier New"/>
                <a:ea typeface="Arial"/>
              </a:rPr>
              <a:t>if leftAttachment.stalled() == True then </a:t>
            </a:r>
            <a:r>
              <a:rPr lang="en-US" sz="1300" b="0" i="1" u="none" strike="noStrike">
                <a:solidFill>
                  <a:schemeClr val="dk1">
                    <a:lumMod val="95000"/>
                    <a:lumOff val="5000"/>
                  </a:schemeClr>
                </a:solidFill>
                <a:effectLst/>
                <a:uFillTx/>
                <a:latin typeface="Arial"/>
                <a:ea typeface="Arial"/>
              </a:rPr>
              <a:t>doing something about it..</a:t>
            </a:r>
            <a:endParaRPr lang="en-US" sz="1300" b="0" u="none" strike="noStrike">
              <a:solidFill>
                <a:srgbClr val="000000"/>
              </a:solidFill>
              <a:effectLst/>
              <a:uFillTx/>
              <a:latin typeface="Arial"/>
            </a:endParaRPr>
          </a:p>
          <a:p>
            <a:pPr indent="0" algn="l">
              <a:lnSpc>
                <a:spcPct val="115000"/>
              </a:lnSpc>
              <a:buNone/>
              <a:tabLst>
                <a:tab pos="0" algn="l"/>
              </a:tabLst>
            </a:pPr>
            <a:endParaRPr lang="en-US" sz="12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77" name="PlaceHolder 3"/>
          <p:cNvSpPr>
            <a:spLocks noGrp="1"/>
          </p:cNvSpPr>
          <p:nvPr>
            <p:ph type="sldNum" idx="6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499FC878-11B8-4ADB-9568-7208D1F23754}" type="slidenum">
              <a:rPr lang="en" sz="1000" b="0" u="none" strike="noStrike">
                <a:solidFill>
                  <a:schemeClr val="dk2"/>
                </a:solidFill>
                <a:effectLst/>
                <a:uFillTx/>
                <a:latin typeface="Arial"/>
                <a:ea typeface="Arial"/>
              </a:rPr>
              <a:t>52</a:t>
            </a:fld>
            <a:endParaRPr lang="en-US" sz="1000" b="0" u="none" strike="noStrike">
              <a:solidFill>
                <a:srgbClr val="000000"/>
              </a:solidFill>
              <a:effectLst/>
              <a:uFillTx/>
              <a:latin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DriveBase()</a:t>
            </a:r>
            <a:endParaRPr lang="en-US" sz="2500" b="0" u="none" strike="noStrike">
              <a:solidFill>
                <a:srgbClr val="000000"/>
              </a:solidFill>
              <a:effectLst/>
              <a:uFillTx/>
              <a:latin typeface="Arial"/>
            </a:endParaRPr>
          </a:p>
        </p:txBody>
      </p:sp>
      <p:sp>
        <p:nvSpPr>
          <p:cNvPr id="279" name="PlaceHolder 2"/>
          <p:cNvSpPr>
            <a:spLocks noGrp="1"/>
          </p:cNvSpPr>
          <p:nvPr>
            <p:ph/>
          </p:nvPr>
        </p:nvSpPr>
        <p:spPr>
          <a:xfrm>
            <a:off x="311760" y="873360"/>
            <a:ext cx="8520120" cy="3646080"/>
          </a:xfrm>
          <a:prstGeom prst="rect">
            <a:avLst/>
          </a:prstGeom>
          <a:noFill/>
          <a:ln w="0">
            <a:noFill/>
          </a:ln>
        </p:spPr>
        <p:txBody>
          <a:bodyPr lIns="91440" tIns="91440" rIns="91440" bIns="91440" anchor="t">
            <a:normAutofit fontScale="85000" lnSpcReduction="19999"/>
          </a:bodyPr>
          <a:lstStyle/>
          <a:p>
            <a:pPr indent="0" algn="l">
              <a:lnSpc>
                <a:spcPct val="115000"/>
              </a:lnSpc>
              <a:buNone/>
            </a:pPr>
            <a:endParaRPr lang="en-US" sz="1800" b="0" u="none" strike="noStrike">
              <a:solidFill>
                <a:srgbClr val="000000"/>
              </a:solidFill>
              <a:effectLst/>
              <a:uFillTx/>
              <a:latin typeface="Arial"/>
            </a:endParaRPr>
          </a:p>
          <a:p>
            <a:pPr marL="114480" indent="0" algn="l">
              <a:lnSpc>
                <a:spcPct val="115000"/>
              </a:lnSpc>
              <a:buNone/>
              <a:tabLst>
                <a:tab pos="0" algn="l"/>
              </a:tabLst>
            </a:pPr>
            <a:r>
              <a:rPr lang="en-US" sz="1900" b="1" u="none" strike="noStrike">
                <a:solidFill>
                  <a:schemeClr val="dk1"/>
                </a:solidFill>
                <a:effectLst/>
                <a:uFillTx/>
                <a:latin typeface="Courier New"/>
                <a:ea typeface="Arial"/>
              </a:rPr>
              <a:t>DriveBase(</a:t>
            </a:r>
            <a:r>
              <a:rPr lang="en-US" sz="1900" b="1" i="1" u="none" strike="noStrike">
                <a:solidFill>
                  <a:schemeClr val="dk1"/>
                </a:solidFill>
                <a:effectLst/>
                <a:uFillTx/>
                <a:latin typeface="Courier New"/>
                <a:ea typeface="Arial"/>
              </a:rPr>
              <a:t>left_motor</a:t>
            </a:r>
            <a:r>
              <a:rPr lang="en-US" sz="1900" b="1" u="none" strike="noStrike">
                <a:solidFill>
                  <a:schemeClr val="dk1"/>
                </a:solidFill>
                <a:effectLst/>
                <a:uFillTx/>
                <a:latin typeface="Courier New"/>
                <a:ea typeface="Arial"/>
              </a:rPr>
              <a:t>, </a:t>
            </a:r>
            <a:r>
              <a:rPr lang="en-US" sz="1900" b="1" i="1" u="none" strike="noStrike">
                <a:solidFill>
                  <a:schemeClr val="dk1"/>
                </a:solidFill>
                <a:effectLst/>
                <a:uFillTx/>
                <a:latin typeface="Courier New"/>
                <a:ea typeface="Arial"/>
              </a:rPr>
              <a:t>right_motor</a:t>
            </a:r>
            <a:r>
              <a:rPr lang="en-US" sz="1900" b="1" u="none" strike="noStrike">
                <a:solidFill>
                  <a:schemeClr val="dk1"/>
                </a:solidFill>
                <a:effectLst/>
                <a:uFillTx/>
                <a:latin typeface="Courier New"/>
                <a:ea typeface="Arial"/>
              </a:rPr>
              <a:t>, </a:t>
            </a:r>
            <a:r>
              <a:rPr lang="en-US" sz="1900" b="1" i="1" u="none" strike="noStrike">
                <a:solidFill>
                  <a:schemeClr val="dk1"/>
                </a:solidFill>
                <a:effectLst/>
                <a:uFillTx/>
                <a:latin typeface="Courier New"/>
                <a:ea typeface="Arial"/>
              </a:rPr>
              <a:t>wheel_diameter</a:t>
            </a:r>
            <a:r>
              <a:rPr lang="en-US" sz="1900" b="1" u="none" strike="noStrike">
                <a:solidFill>
                  <a:schemeClr val="dk1"/>
                </a:solidFill>
                <a:effectLst/>
                <a:uFillTx/>
                <a:latin typeface="Courier New"/>
                <a:ea typeface="Arial"/>
              </a:rPr>
              <a:t>, </a:t>
            </a:r>
            <a:r>
              <a:rPr lang="en-US" sz="1900" b="1" i="1" u="none" strike="noStrike">
                <a:solidFill>
                  <a:schemeClr val="dk1"/>
                </a:solidFill>
                <a:effectLst/>
                <a:uFillTx/>
                <a:latin typeface="Courier New"/>
                <a:ea typeface="Arial"/>
              </a:rPr>
              <a:t>axle_track</a:t>
            </a:r>
            <a:r>
              <a:rPr lang="en-US" sz="1900" b="1" u="none" strike="noStrike">
                <a:solidFill>
                  <a:schemeClr val="dk1"/>
                </a:solidFill>
                <a:effectLst/>
                <a:uFillTx/>
                <a:latin typeface="Courier New"/>
                <a:ea typeface="Arial"/>
              </a:rPr>
              <a:t>)</a:t>
            </a:r>
            <a:endParaRPr lang="en-US" sz="1900" b="0" u="none" strike="noStrike">
              <a:solidFill>
                <a:srgbClr val="000000"/>
              </a:solidFill>
              <a:effectLst/>
              <a:uFillTx/>
              <a:latin typeface="Arial"/>
            </a:endParaRPr>
          </a:p>
          <a:p>
            <a:pPr marL="114480" indent="0" algn="l">
              <a:lnSpc>
                <a:spcPct val="115000"/>
              </a:lnSpc>
              <a:buNone/>
              <a:tabLst>
                <a:tab pos="0" algn="l"/>
              </a:tabLst>
            </a:pPr>
            <a:endParaRPr lang="en-US" sz="19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left_motor</a:t>
            </a:r>
            <a:r>
              <a:rPr lang="en-US" sz="1800" b="0" u="none" strike="noStrike">
                <a:solidFill>
                  <a:schemeClr val="dk1"/>
                </a:solidFill>
                <a:effectLst/>
                <a:uFillTx/>
                <a:latin typeface="Courier New"/>
                <a:ea typeface="Arial"/>
              </a:rPr>
              <a:t> </a:t>
            </a:r>
            <a:r>
              <a:rPr lang="en-US" sz="1800" b="0" u="none" strike="noStrike">
                <a:solidFill>
                  <a:schemeClr val="dk1"/>
                </a:solidFill>
                <a:effectLst/>
                <a:uFillTx/>
                <a:latin typeface="Arial"/>
                <a:ea typeface="Arial"/>
              </a:rPr>
              <a:t>(</a:t>
            </a:r>
            <a:r>
              <a:rPr lang="en-US" sz="1800" b="0" i="1" u="sng" strike="noStrike">
                <a:solidFill>
                  <a:schemeClr val="dk1"/>
                </a:solidFill>
                <a:effectLst/>
                <a:uFillTx/>
                <a:latin typeface="Arial"/>
                <a:ea typeface="Arial"/>
                <a:hlinkClick r:id="rId2"/>
              </a:rPr>
              <a:t>Motor</a:t>
            </a:r>
            <a:r>
              <a:rPr lang="en-US" sz="1800" b="0" u="none" strike="noStrike">
                <a:solidFill>
                  <a:schemeClr val="dk1"/>
                </a:solidFill>
                <a:effectLst/>
                <a:uFillTx/>
                <a:latin typeface="Arial"/>
                <a:ea typeface="Arial"/>
              </a:rPr>
              <a:t>) – The motor that drives the left wheel, use </a:t>
            </a:r>
            <a:r>
              <a:rPr lang="en-US" sz="1800" b="0" u="none" strike="noStrike">
                <a:solidFill>
                  <a:schemeClr val="dk1"/>
                </a:solidFill>
                <a:effectLst/>
                <a:uFillTx/>
                <a:latin typeface="Courier New"/>
                <a:ea typeface="Arial"/>
              </a:rPr>
              <a:t>Motor()</a:t>
            </a:r>
            <a:r>
              <a:rPr lang="en-US" sz="1800" b="0" u="none" strike="noStrike">
                <a:solidFill>
                  <a:schemeClr val="dk1"/>
                </a:solidFill>
                <a:effectLst/>
                <a:uFillTx/>
                <a:latin typeface="Arial"/>
                <a:ea typeface="Arial"/>
              </a:rPr>
              <a:t> to create the left_motor object</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right_motor</a:t>
            </a:r>
            <a:r>
              <a:rPr lang="en-US" sz="1800" b="0" u="none" strike="noStrike">
                <a:solidFill>
                  <a:schemeClr val="dk1"/>
                </a:solidFill>
                <a:effectLst/>
                <a:uFillTx/>
                <a:latin typeface="Courier New"/>
                <a:ea typeface="Arial"/>
              </a:rPr>
              <a:t> </a:t>
            </a:r>
            <a:r>
              <a:rPr lang="en-US" sz="1800" b="0" u="none" strike="noStrike">
                <a:solidFill>
                  <a:schemeClr val="dk1"/>
                </a:solidFill>
                <a:effectLst/>
                <a:uFillTx/>
                <a:latin typeface="Arial"/>
                <a:ea typeface="Arial"/>
              </a:rPr>
              <a:t>(</a:t>
            </a:r>
            <a:r>
              <a:rPr lang="en-US" sz="1800" b="0" i="1" u="sng" strike="noStrike">
                <a:solidFill>
                  <a:schemeClr val="dk1"/>
                </a:solidFill>
                <a:effectLst/>
                <a:uFillTx/>
                <a:latin typeface="Arial"/>
                <a:ea typeface="Arial"/>
                <a:hlinkClick r:id="rId2"/>
              </a:rPr>
              <a:t>Motor</a:t>
            </a:r>
            <a:r>
              <a:rPr lang="en-US" sz="1800" b="0" u="none" strike="noStrike">
                <a:solidFill>
                  <a:schemeClr val="dk1"/>
                </a:solidFill>
                <a:effectLst/>
                <a:uFillTx/>
                <a:latin typeface="Arial"/>
                <a:ea typeface="Arial"/>
              </a:rPr>
              <a:t>) – The motor that drives the right wheel, use </a:t>
            </a:r>
            <a:r>
              <a:rPr lang="en-US" sz="1800" b="0" u="none" strike="noStrike">
                <a:solidFill>
                  <a:schemeClr val="dk1"/>
                </a:solidFill>
                <a:effectLst/>
                <a:uFillTx/>
                <a:latin typeface="Courier New"/>
                <a:ea typeface="Arial"/>
              </a:rPr>
              <a:t>Motor() </a:t>
            </a:r>
            <a:r>
              <a:rPr lang="en-US" sz="1800" b="0" u="none" strike="noStrike">
                <a:solidFill>
                  <a:schemeClr val="dk1"/>
                </a:solidFill>
                <a:effectLst/>
                <a:uFillTx/>
                <a:latin typeface="Arial"/>
                <a:ea typeface="Arial"/>
              </a:rPr>
              <a:t>to create the left_motor object</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wheel_diameter</a:t>
            </a:r>
            <a:r>
              <a:rPr lang="en-US" sz="1800" b="0" u="none" strike="noStrike">
                <a:solidFill>
                  <a:schemeClr val="dk1"/>
                </a:solidFill>
                <a:effectLst/>
                <a:uFillTx/>
                <a:latin typeface="Courier New"/>
                <a:ea typeface="Arial"/>
              </a:rPr>
              <a:t> </a:t>
            </a:r>
            <a:r>
              <a:rPr lang="en-US" sz="1800" b="0" u="none" strike="noStrike">
                <a:solidFill>
                  <a:schemeClr val="dk1"/>
                </a:solidFill>
                <a:effectLst/>
                <a:uFillTx/>
                <a:latin typeface="Arial"/>
                <a:ea typeface="Arial"/>
              </a:rPr>
              <a:t>(</a:t>
            </a:r>
            <a:r>
              <a:rPr lang="en-US" sz="1800" b="0" i="1" u="sng" strike="noStrike">
                <a:solidFill>
                  <a:schemeClr val="dk1"/>
                </a:solidFill>
                <a:effectLst/>
                <a:uFillTx/>
                <a:latin typeface="Arial"/>
                <a:ea typeface="Arial"/>
                <a:hlinkClick r:id="rId3"/>
              </a:rPr>
              <a:t>Number</a:t>
            </a:r>
            <a:r>
              <a:rPr lang="en-US" sz="1800" b="0" i="1" u="none" strike="noStrike">
                <a:solidFill>
                  <a:schemeClr val="dk1"/>
                </a:solidFill>
                <a:effectLst/>
                <a:uFillTx/>
                <a:latin typeface="Arial"/>
                <a:ea typeface="Arial"/>
              </a:rPr>
              <a:t>, mm</a:t>
            </a:r>
            <a:r>
              <a:rPr lang="en-US" sz="1800" b="0" u="none" strike="noStrike">
                <a:solidFill>
                  <a:schemeClr val="dk1"/>
                </a:solidFill>
                <a:effectLst/>
                <a:uFillTx/>
                <a:latin typeface="Arial"/>
                <a:ea typeface="Arial"/>
              </a:rPr>
              <a:t>) – Diameter of the wheels.</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axle_track</a:t>
            </a:r>
            <a:r>
              <a:rPr lang="en-US" sz="1800" b="0" u="none" strike="noStrike">
                <a:solidFill>
                  <a:schemeClr val="dk1"/>
                </a:solidFill>
                <a:effectLst/>
                <a:uFillTx/>
                <a:latin typeface="Courier New"/>
                <a:ea typeface="Arial"/>
              </a:rPr>
              <a:t> </a:t>
            </a:r>
            <a:r>
              <a:rPr lang="en-US" sz="1800" b="0" u="none" strike="noStrike">
                <a:solidFill>
                  <a:schemeClr val="dk1"/>
                </a:solidFill>
                <a:effectLst/>
                <a:uFillTx/>
                <a:latin typeface="Arial"/>
                <a:ea typeface="Arial"/>
              </a:rPr>
              <a:t>(</a:t>
            </a:r>
            <a:r>
              <a:rPr lang="en-US" sz="1800" b="0" i="1" u="sng" strike="noStrike">
                <a:solidFill>
                  <a:schemeClr val="dk1"/>
                </a:solidFill>
                <a:effectLst/>
                <a:uFillTx/>
                <a:latin typeface="Arial"/>
                <a:ea typeface="Arial"/>
                <a:hlinkClick r:id="rId3"/>
              </a:rPr>
              <a:t>Number</a:t>
            </a:r>
            <a:r>
              <a:rPr lang="en-US" sz="1800" b="0" i="1" u="none" strike="noStrike">
                <a:solidFill>
                  <a:schemeClr val="dk1"/>
                </a:solidFill>
                <a:effectLst/>
                <a:uFillTx/>
                <a:latin typeface="Arial"/>
                <a:ea typeface="Arial"/>
              </a:rPr>
              <a:t>, mm</a:t>
            </a:r>
            <a:r>
              <a:rPr lang="en-US" sz="1800" b="0" u="none" strike="noStrike">
                <a:solidFill>
                  <a:schemeClr val="dk1"/>
                </a:solidFill>
                <a:effectLst/>
                <a:uFillTx/>
                <a:latin typeface="Arial"/>
                <a:ea typeface="Arial"/>
              </a:rPr>
              <a:t>) – Distance between the points where both wheels touch the ground.</a:t>
            </a: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Used to control the drive motors for the robot</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sng" strike="noStrike">
                <a:solidFill>
                  <a:schemeClr val="dk1"/>
                </a:solidFill>
                <a:effectLst/>
                <a:uFillTx/>
                <a:latin typeface="Arial"/>
                <a:ea typeface="Arial"/>
              </a:rPr>
              <a:t>IMPORTANT:</a:t>
            </a:r>
            <a:r>
              <a:rPr lang="en-US" sz="1800" b="0" u="none" strike="noStrike">
                <a:solidFill>
                  <a:schemeClr val="dk1"/>
                </a:solidFill>
                <a:effectLst/>
                <a:uFillTx/>
                <a:latin typeface="Arial"/>
                <a:ea typeface="Arial"/>
              </a:rPr>
              <a:t> Review the “</a:t>
            </a:r>
            <a:r>
              <a:rPr lang="en-US" sz="1800" b="0" i="1" u="none" strike="noStrike">
                <a:solidFill>
                  <a:schemeClr val="dk1"/>
                </a:solidFill>
                <a:effectLst/>
                <a:uFillTx/>
                <a:latin typeface="Arial"/>
                <a:ea typeface="Arial"/>
              </a:rPr>
              <a:t>Measuring and validating the robot dimensions</a:t>
            </a:r>
            <a:r>
              <a:rPr lang="en-US" sz="1800" b="0" u="none" strike="noStrike">
                <a:solidFill>
                  <a:schemeClr val="dk1"/>
                </a:solidFill>
                <a:effectLst/>
                <a:uFillTx/>
                <a:latin typeface="Arial"/>
                <a:ea typeface="Arial"/>
              </a:rPr>
              <a:t>” section in the DriveBase documentation on how to test and tweak the </a:t>
            </a:r>
            <a:r>
              <a:rPr lang="en-US" sz="1800" b="1" u="none" strike="noStrike">
                <a:solidFill>
                  <a:schemeClr val="dk1"/>
                </a:solidFill>
                <a:effectLst/>
                <a:uFillTx/>
                <a:latin typeface="Courier New"/>
                <a:ea typeface="Arial"/>
              </a:rPr>
              <a:t>wheel_diameter </a:t>
            </a:r>
            <a:r>
              <a:rPr lang="en-US" sz="1800" b="0" u="none" strike="noStrike">
                <a:solidFill>
                  <a:schemeClr val="dk1"/>
                </a:solidFill>
                <a:effectLst/>
                <a:uFillTx/>
                <a:latin typeface="Arial"/>
                <a:ea typeface="Arial"/>
              </a:rPr>
              <a:t>and </a:t>
            </a:r>
            <a:r>
              <a:rPr lang="en-US" sz="1800" b="1" u="none" strike="noStrike">
                <a:solidFill>
                  <a:schemeClr val="dk1"/>
                </a:solidFill>
                <a:effectLst/>
                <a:uFillTx/>
                <a:latin typeface="Arial"/>
                <a:ea typeface="Arial"/>
              </a:rPr>
              <a:t>axle_track </a:t>
            </a:r>
            <a:r>
              <a:rPr lang="en-US" sz="1800" b="0" u="none" strike="noStrike">
                <a:solidFill>
                  <a:schemeClr val="dk1"/>
                </a:solidFill>
                <a:effectLst/>
                <a:uFillTx/>
                <a:latin typeface="Arial"/>
                <a:ea typeface="Arial"/>
              </a:rPr>
              <a:t>settings</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80" name="PlaceHolder 3"/>
          <p:cNvSpPr>
            <a:spLocks noGrp="1"/>
          </p:cNvSpPr>
          <p:nvPr>
            <p:ph type="sldNum" idx="6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2657FE1-4377-4875-A5BF-45396CE2550A}" type="slidenum">
              <a:rPr lang="en" sz="1000" b="0" u="none" strike="noStrike">
                <a:solidFill>
                  <a:schemeClr val="dk2"/>
                </a:solidFill>
                <a:effectLst/>
                <a:uFillTx/>
                <a:latin typeface="Arial"/>
                <a:ea typeface="Arial"/>
              </a:rPr>
              <a:t>53</a:t>
            </a:fld>
            <a:endParaRPr lang="en-US" sz="1000" b="0" u="none" strike="noStrike">
              <a:solidFill>
                <a:srgbClr val="000000"/>
              </a:solidFill>
              <a:effectLst/>
              <a:uFillTx/>
              <a:latin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DriveBase()</a:t>
            </a:r>
            <a:r>
              <a:rPr lang="en-US" sz="2500" b="1" u="none" strike="noStrike">
                <a:solidFill>
                  <a:schemeClr val="lt1"/>
                </a:solidFill>
                <a:effectLst/>
                <a:uFillTx/>
                <a:latin typeface="Arial"/>
                <a:ea typeface="Arial"/>
              </a:rPr>
              <a:t>Functions</a:t>
            </a:r>
            <a:endParaRPr lang="en-US" sz="2500" b="0" u="none" strike="noStrike">
              <a:solidFill>
                <a:srgbClr val="000000"/>
              </a:solidFill>
              <a:effectLst/>
              <a:uFillTx/>
              <a:latin typeface="Arial"/>
            </a:endParaRPr>
          </a:p>
        </p:txBody>
      </p:sp>
      <p:sp>
        <p:nvSpPr>
          <p:cNvPr id="282" name="PlaceHolder 2"/>
          <p:cNvSpPr>
            <a:spLocks noGrp="1"/>
          </p:cNvSpPr>
          <p:nvPr>
            <p:ph/>
          </p:nvPr>
        </p:nvSpPr>
        <p:spPr>
          <a:xfrm>
            <a:off x="311760" y="87336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DriveBase.settings(</a:t>
            </a:r>
            <a:r>
              <a:rPr lang="en-US" sz="1600" b="1" i="1" u="none" strike="noStrike">
                <a:solidFill>
                  <a:schemeClr val="dk1"/>
                </a:solidFill>
                <a:effectLst/>
                <a:uFillTx/>
                <a:latin typeface="Courier New"/>
                <a:ea typeface="Arial"/>
              </a:rPr>
              <a:t>straight_speed</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straight_acceleration</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turn_rate</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turn_acceleration</a:t>
            </a:r>
            <a:r>
              <a:rPr lang="en-US" sz="1600" b="1" u="none" strike="noStrike">
                <a:solidFill>
                  <a:schemeClr val="dk1"/>
                </a:solidFill>
                <a:effectLst/>
                <a:uFillTx/>
                <a:latin typeface="Courier New"/>
                <a:ea typeface="Arial"/>
              </a:rPr>
              <a:t>)</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Used to configure speed, acceleration</a:t>
            </a:r>
            <a:endParaRPr lang="en-US" sz="13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You need to use the </a:t>
            </a:r>
            <a:r>
              <a:rPr lang="en-US" sz="1300" b="0" u="none" strike="noStrike">
                <a:solidFill>
                  <a:schemeClr val="dk1"/>
                </a:solidFill>
                <a:effectLst/>
                <a:uFillTx/>
                <a:latin typeface="Courier New"/>
                <a:ea typeface="Arial"/>
              </a:rPr>
              <a:t>DriveBase.Settings()</a:t>
            </a:r>
            <a:r>
              <a:rPr lang="en-US" sz="1300" b="0" u="none" strike="noStrike">
                <a:solidFill>
                  <a:schemeClr val="dk1"/>
                </a:solidFill>
                <a:effectLst/>
                <a:uFillTx/>
                <a:latin typeface="Arial"/>
                <a:ea typeface="Arial"/>
              </a:rPr>
              <a:t> function to set the speed and acceleration values for below  </a:t>
            </a:r>
            <a:r>
              <a:rPr lang="en-US" sz="1300" b="0" u="none" strike="noStrike">
                <a:solidFill>
                  <a:schemeClr val="dk1"/>
                </a:solidFill>
                <a:effectLst/>
                <a:uFillTx/>
                <a:latin typeface="Courier New"/>
                <a:ea typeface="Arial"/>
              </a:rPr>
              <a:t>arc()</a:t>
            </a:r>
            <a:r>
              <a:rPr lang="en-US" sz="1300" b="0" u="none" strike="noStrike">
                <a:solidFill>
                  <a:schemeClr val="dk1"/>
                </a:solidFill>
                <a:effectLst/>
                <a:uFillTx/>
                <a:latin typeface="Arial"/>
                <a:ea typeface="Arial"/>
              </a:rPr>
              <a:t>, </a:t>
            </a:r>
            <a:r>
              <a:rPr lang="en-US" sz="1300" b="0" u="none" strike="noStrike">
                <a:solidFill>
                  <a:schemeClr val="dk1"/>
                </a:solidFill>
                <a:effectLst/>
                <a:uFillTx/>
                <a:latin typeface="Courier New"/>
                <a:ea typeface="Arial"/>
              </a:rPr>
              <a:t>turn()</a:t>
            </a:r>
            <a:r>
              <a:rPr lang="en-US" sz="1300" b="0" u="none" strike="noStrike">
                <a:solidFill>
                  <a:schemeClr val="dk1"/>
                </a:solidFill>
                <a:effectLst/>
                <a:uFillTx/>
                <a:latin typeface="Arial"/>
                <a:ea typeface="Arial"/>
              </a:rPr>
              <a:t>, and </a:t>
            </a:r>
            <a:r>
              <a:rPr lang="en-US" sz="1300" b="0" u="none" strike="noStrike">
                <a:solidFill>
                  <a:schemeClr val="dk1"/>
                </a:solidFill>
                <a:effectLst/>
                <a:uFillTx/>
                <a:latin typeface="Courier New"/>
                <a:ea typeface="Arial"/>
              </a:rPr>
              <a:t>straight() </a:t>
            </a:r>
            <a:r>
              <a:rPr lang="en-US" sz="1300" b="0" u="none" strike="noStrike">
                <a:solidFill>
                  <a:schemeClr val="dk1"/>
                </a:solidFill>
                <a:effectLst/>
                <a:uFillTx/>
                <a:latin typeface="Arial"/>
                <a:ea typeface="Arial"/>
              </a:rPr>
              <a:t>functions</a:t>
            </a:r>
            <a:endParaRPr lang="en-US" sz="13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DriveBase.use_gryo(Boolean)</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 enables the gryroscope</a:t>
            </a:r>
            <a:endParaRPr lang="en-US" sz="13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await DriveBase.arc(</a:t>
            </a:r>
            <a:r>
              <a:rPr lang="en-US" sz="1600" b="1" i="1" u="none" strike="noStrike">
                <a:solidFill>
                  <a:schemeClr val="dk1"/>
                </a:solidFill>
                <a:effectLst/>
                <a:uFillTx/>
                <a:latin typeface="Courier New"/>
                <a:ea typeface="Arial"/>
              </a:rPr>
              <a:t>radius</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angle=None</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distance=None</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then=Stop.HOLD</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wait=True</a:t>
            </a:r>
            <a:r>
              <a:rPr lang="en-US" sz="1600" b="1" u="none" strike="noStrike">
                <a:solidFill>
                  <a:schemeClr val="dk1"/>
                </a:solidFill>
                <a:effectLst/>
                <a:uFillTx/>
                <a:latin typeface="Courier New"/>
                <a:ea typeface="Arial"/>
              </a:rPr>
              <a:t>)</a:t>
            </a:r>
            <a:r>
              <a:rPr lang="en-US" sz="1600" b="1" u="none" strike="noStrike">
                <a:solidFill>
                  <a:schemeClr val="dk1"/>
                </a:solidFill>
                <a:effectLst/>
                <a:uFillTx/>
                <a:latin typeface="Arial"/>
                <a:ea typeface="Arial"/>
              </a:rPr>
              <a:t> </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Used to drive in an arc based on degrees or distance</a:t>
            </a:r>
            <a:endParaRPr lang="en-US" sz="13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You can use either </a:t>
            </a:r>
            <a:r>
              <a:rPr lang="en-US" sz="1300" b="1" u="none" strike="noStrike">
                <a:solidFill>
                  <a:schemeClr val="dk1"/>
                </a:solidFill>
                <a:effectLst/>
                <a:uFillTx/>
                <a:latin typeface="Arial"/>
                <a:ea typeface="Arial"/>
              </a:rPr>
              <a:t>Angle</a:t>
            </a:r>
            <a:r>
              <a:rPr lang="en-US" sz="1300" b="0" u="none" strike="noStrike">
                <a:solidFill>
                  <a:schemeClr val="dk1"/>
                </a:solidFill>
                <a:effectLst/>
                <a:uFillTx/>
                <a:latin typeface="Arial"/>
                <a:ea typeface="Arial"/>
              </a:rPr>
              <a:t> or </a:t>
            </a:r>
            <a:r>
              <a:rPr lang="en-US" sz="1300" b="1" u="none" strike="noStrike">
                <a:solidFill>
                  <a:schemeClr val="dk1"/>
                </a:solidFill>
                <a:effectLst/>
                <a:uFillTx/>
                <a:latin typeface="Arial"/>
                <a:ea typeface="Arial"/>
              </a:rPr>
              <a:t>Distance</a:t>
            </a:r>
            <a:r>
              <a:rPr lang="en-US" sz="1300" b="0" u="none" strike="noStrike">
                <a:solidFill>
                  <a:schemeClr val="dk1"/>
                </a:solidFill>
                <a:effectLst/>
                <a:uFillTx/>
                <a:latin typeface="Arial"/>
                <a:ea typeface="Arial"/>
              </a:rPr>
              <a:t> but not both</a:t>
            </a:r>
            <a:endParaRPr lang="en-US" sz="13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await DriveBase.turn(</a:t>
            </a:r>
            <a:r>
              <a:rPr lang="en-US" sz="1600" b="1" i="1" u="none" strike="noStrike">
                <a:solidFill>
                  <a:schemeClr val="dk1"/>
                </a:solidFill>
                <a:effectLst/>
                <a:uFillTx/>
                <a:latin typeface="Courier New"/>
                <a:ea typeface="Arial"/>
              </a:rPr>
              <a:t>angle</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then=Stop.HOLD</a:t>
            </a:r>
            <a:r>
              <a:rPr lang="en-US" sz="1600" b="1" u="none" strike="noStrike">
                <a:solidFill>
                  <a:schemeClr val="dk1"/>
                </a:solidFill>
                <a:effectLst/>
                <a:uFillTx/>
                <a:latin typeface="Courier New"/>
                <a:ea typeface="Arial"/>
              </a:rPr>
              <a:t>, </a:t>
            </a:r>
            <a:r>
              <a:rPr lang="en-US" sz="1600" b="1" i="1" u="none" strike="noStrike">
                <a:solidFill>
                  <a:schemeClr val="dk1"/>
                </a:solidFill>
                <a:effectLst/>
                <a:uFillTx/>
                <a:latin typeface="Courier New"/>
                <a:ea typeface="Arial"/>
              </a:rPr>
              <a:t>wait=Blooean</a:t>
            </a:r>
            <a:r>
              <a:rPr lang="en-US" sz="1600" b="1" u="none" strike="noStrike">
                <a:solidFill>
                  <a:schemeClr val="dk1"/>
                </a:solidFill>
                <a:effectLst/>
                <a:uFillTx/>
                <a:latin typeface="Courier New"/>
                <a:ea typeface="Arial"/>
              </a:rPr>
              <a:t>)</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Used to turn the robot a specific number of degrees</a:t>
            </a:r>
            <a:endParaRPr lang="en-US" sz="13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await DriveBase.straight(dist, then=Stop.HOLD, wait=True)</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0" u="none" strike="noStrike">
                <a:solidFill>
                  <a:schemeClr val="dk1"/>
                </a:solidFill>
                <a:effectLst/>
                <a:uFillTx/>
                <a:latin typeface="Arial"/>
                <a:ea typeface="Arial"/>
              </a:rPr>
              <a:t>Used to drive straight in mm</a:t>
            </a:r>
            <a:endParaRPr lang="en-US" sz="13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0" u="none" strike="noStrike">
                <a:solidFill>
                  <a:schemeClr val="dk1"/>
                </a:solidFill>
                <a:effectLst/>
                <a:uFillTx/>
                <a:latin typeface="Arial"/>
                <a:ea typeface="Arial"/>
              </a:rPr>
              <a:t>Distances and Angles can be Positive (right) or Negative (left) – unless your hub is situated differently, then Pos/Neg might be opposite</a:t>
            </a:r>
            <a:endParaRPr lang="en-US" sz="16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p:txBody>
      </p:sp>
      <p:sp>
        <p:nvSpPr>
          <p:cNvPr id="283" name="PlaceHolder 3"/>
          <p:cNvSpPr>
            <a:spLocks noGrp="1"/>
          </p:cNvSpPr>
          <p:nvPr>
            <p:ph type="sldNum" idx="6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A6BD937-E784-45C8-B717-245D1CEEBF08}" type="slidenum">
              <a:rPr lang="en" sz="1000" b="0" u="none" strike="noStrike">
                <a:solidFill>
                  <a:schemeClr val="dk2"/>
                </a:solidFill>
                <a:effectLst/>
                <a:uFillTx/>
                <a:latin typeface="Arial"/>
                <a:ea typeface="Arial"/>
              </a:rPr>
              <a:t>54</a:t>
            </a:fld>
            <a:endParaRPr lang="en-US" sz="1000" b="0" u="none" strike="noStrike">
              <a:solidFill>
                <a:srgbClr val="000000"/>
              </a:solidFill>
              <a:effectLst/>
              <a:uFillTx/>
              <a:latin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DriveBase()</a:t>
            </a:r>
            <a:r>
              <a:rPr lang="en-US" sz="2500" b="1" u="none" strike="noStrike">
                <a:solidFill>
                  <a:schemeClr val="lt1"/>
                </a:solidFill>
                <a:effectLst/>
                <a:uFillTx/>
                <a:latin typeface="Arial"/>
                <a:ea typeface="Arial"/>
              </a:rPr>
              <a:t>Examples</a:t>
            </a:r>
            <a:endParaRPr lang="en-US" sz="2500" b="0" u="none" strike="noStrike">
              <a:solidFill>
                <a:srgbClr val="000000"/>
              </a:solidFill>
              <a:effectLst/>
              <a:uFillTx/>
              <a:latin typeface="Arial"/>
            </a:endParaRPr>
          </a:p>
        </p:txBody>
      </p:sp>
      <p:sp>
        <p:nvSpPr>
          <p:cNvPr id="285" name="PlaceHolder 2"/>
          <p:cNvSpPr>
            <a:spLocks noGrp="1"/>
          </p:cNvSpPr>
          <p:nvPr>
            <p:ph/>
          </p:nvPr>
        </p:nvSpPr>
        <p:spPr>
          <a:xfrm>
            <a:off x="311760" y="873360"/>
            <a:ext cx="8520120" cy="3646080"/>
          </a:xfrm>
          <a:prstGeom prst="rect">
            <a:avLst/>
          </a:prstGeom>
          <a:noFill/>
          <a:ln w="0">
            <a:noFill/>
          </a:ln>
        </p:spPr>
        <p:txBody>
          <a:bodyPr lIns="91440" tIns="91440" rIns="91440" bIns="91440" anchor="t">
            <a:normAutofit lnSpcReduction="9999"/>
          </a:bodyPr>
          <a:lstStyle/>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driveBase = DriveBase(leftMotor,rightMotor, wheel_diameter=62.4, axle_track=204)</a:t>
            </a:r>
            <a:endParaRPr lang="en-US" sz="1600" b="0" u="none" strike="noStrike">
              <a:solidFill>
                <a:srgbClr val="000000"/>
              </a:solidFill>
              <a:effectLst/>
              <a:uFillTx/>
              <a:latin typeface="Arial"/>
            </a:endParaRPr>
          </a:p>
          <a:p>
            <a:pPr marL="114480" indent="0" algn="l">
              <a:lnSpc>
                <a:spcPct val="115000"/>
              </a:lnSpc>
              <a:buNone/>
              <a:tabLst>
                <a:tab pos="0" algn="l"/>
              </a:tabLst>
            </a:pPr>
            <a:endParaRPr lang="en-US" sz="16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600" b="1" u="none" strike="noStrike">
                <a:solidFill>
                  <a:schemeClr val="dk1"/>
                </a:solidFill>
                <a:effectLst/>
                <a:uFillTx/>
                <a:latin typeface="Courier New"/>
                <a:ea typeface="Arial"/>
              </a:rPr>
              <a:t>driveBase.settings(DefaultStraightSpeed=400, DefaultTurnRate=300 DefaultStraightAcceleration=[500,100], DefaultTurnAcceleration=300)</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Accelerations values are for acceleration and deceleration. This sets the speed at 400 mm/s, turn rate= 300 mm/s, Straight Acceleration at 500 mm/s</a:t>
            </a:r>
            <a:r>
              <a:rPr lang="en-US" sz="1400" b="0" u="none" strike="noStrike" baseline="30000">
                <a:solidFill>
                  <a:schemeClr val="dk1"/>
                </a:solidFill>
                <a:effectLst/>
                <a:uFillTx/>
                <a:latin typeface="Arial"/>
                <a:ea typeface="Arial"/>
              </a:rPr>
              <a:t>2</a:t>
            </a:r>
            <a:r>
              <a:rPr lang="en-US" sz="1400" b="0" u="none" strike="noStrike">
                <a:solidFill>
                  <a:schemeClr val="dk1"/>
                </a:solidFill>
                <a:effectLst/>
                <a:uFillTx/>
                <a:latin typeface="Arial"/>
                <a:ea typeface="Arial"/>
              </a:rPr>
              <a:t> and Deceleration at 100 mm/s</a:t>
            </a:r>
            <a:r>
              <a:rPr lang="en-US" sz="1400" b="0" u="none" strike="noStrike" baseline="30000">
                <a:solidFill>
                  <a:schemeClr val="dk1"/>
                </a:solidFill>
                <a:effectLst/>
                <a:uFillTx/>
                <a:latin typeface="Arial"/>
                <a:ea typeface="Arial"/>
              </a:rPr>
              <a:t>2</a:t>
            </a:r>
            <a:r>
              <a:rPr lang="en-US" sz="1400" b="0" u="none" strike="noStrike">
                <a:solidFill>
                  <a:schemeClr val="dk1"/>
                </a:solidFill>
                <a:effectLst/>
                <a:uFillTx/>
                <a:latin typeface="Arial"/>
                <a:ea typeface="Arial"/>
              </a:rPr>
              <a:t>, both turn accelerations at 300 mm/s</a:t>
            </a:r>
            <a:r>
              <a:rPr lang="en-US" sz="1400" b="0" u="none" strike="noStrike" baseline="30000">
                <a:solidFill>
                  <a:schemeClr val="dk1"/>
                </a:solidFill>
                <a:effectLst/>
                <a:uFillTx/>
                <a:latin typeface="Arial"/>
                <a:ea typeface="Arial"/>
              </a:rPr>
              <a:t>2</a:t>
            </a:r>
            <a:r>
              <a:rPr lang="en-US" sz="1400" b="0" u="none" strike="noStrike">
                <a:solidFill>
                  <a:schemeClr val="dk1"/>
                </a:solidFill>
                <a:effectLst/>
                <a:uFillTx/>
                <a:latin typeface="Arial"/>
                <a:ea typeface="Arial"/>
              </a:rPr>
              <a:t>. </a:t>
            </a:r>
            <a:endParaRPr lang="en-US" sz="1400" b="0" u="none" strike="noStrike">
              <a:solidFill>
                <a:srgbClr val="000000"/>
              </a:solidFill>
              <a:effectLst/>
              <a:uFillTx/>
              <a:latin typeface="Arial"/>
            </a:endParaRPr>
          </a:p>
          <a:p>
            <a:pPr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To drive straight for 1000mm slowly</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1" u="none" strike="noStrike">
                <a:solidFill>
                  <a:schemeClr val="dk1"/>
                </a:solidFill>
                <a:effectLst/>
                <a:uFillTx/>
                <a:latin typeface="Courier New"/>
                <a:ea typeface="Arial"/>
              </a:rPr>
              <a:t>driveBase.settings(straight_speed=100, straight_acceleration=100)</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1" u="none" strike="noStrike">
                <a:solidFill>
                  <a:schemeClr val="dk1"/>
                </a:solidFill>
                <a:effectLst/>
                <a:uFillTx/>
                <a:latin typeface="Courier New"/>
                <a:ea typeface="Arial"/>
              </a:rPr>
              <a:t>await driveBase.straight(1000 ,then=Stop.HOLD, wait=True</a:t>
            </a:r>
            <a:r>
              <a:rPr lang="en-US" sz="1600" b="0" u="none" strike="noStrike">
                <a:solidFill>
                  <a:schemeClr val="dk1"/>
                </a:solidFill>
                <a:effectLst/>
                <a:uFillTx/>
                <a:latin typeface="Courier New"/>
                <a:ea typeface="Arial"/>
              </a:rPr>
              <a:t>)</a:t>
            </a:r>
            <a:endParaRPr lang="en-US" sz="1600" b="0" u="none" strike="noStrike">
              <a:solidFill>
                <a:srgbClr val="000000"/>
              </a:solidFill>
              <a:effectLst/>
              <a:uFillTx/>
              <a:latin typeface="Arial"/>
            </a:endParaRPr>
          </a:p>
        </p:txBody>
      </p:sp>
      <p:sp>
        <p:nvSpPr>
          <p:cNvPr id="286" name="PlaceHolder 3"/>
          <p:cNvSpPr>
            <a:spLocks noGrp="1"/>
          </p:cNvSpPr>
          <p:nvPr>
            <p:ph type="sldNum" idx="6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E0DCE70-2E27-49F0-BD0B-A3725DED1F28}" type="slidenum">
              <a:rPr lang="en" sz="1000" b="0" u="none" strike="noStrike">
                <a:solidFill>
                  <a:schemeClr val="dk2"/>
                </a:solidFill>
                <a:effectLst/>
                <a:uFillTx/>
                <a:latin typeface="Arial"/>
                <a:ea typeface="Arial"/>
              </a:rPr>
              <a:t>55</a:t>
            </a:fld>
            <a:endParaRPr lang="en-US" sz="1000" b="0" u="none" strike="noStrike">
              <a:solidFill>
                <a:srgbClr val="000000"/>
              </a:solidFill>
              <a:effectLst/>
              <a:uFillTx/>
              <a:latin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Gyroscope	</a:t>
            </a:r>
            <a:endParaRPr lang="en-US" sz="2500" b="0" u="none" strike="noStrike">
              <a:solidFill>
                <a:srgbClr val="000000"/>
              </a:solidFill>
              <a:effectLst/>
              <a:uFillTx/>
              <a:latin typeface="Arial"/>
            </a:endParaRPr>
          </a:p>
        </p:txBody>
      </p:sp>
      <p:sp>
        <p:nvSpPr>
          <p:cNvPr id="288"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19999"/>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The gyroscope (gyro for short) sensor on the hub is used to provide automatic real-time corrections to bumps and anomalies on the course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To enable (turn-on) the gyro use: </a:t>
            </a:r>
            <a:r>
              <a:rPr lang="en-US" sz="1800" b="1" u="none" strike="noStrike">
                <a:solidFill>
                  <a:schemeClr val="dk1"/>
                </a:solidFill>
                <a:effectLst/>
                <a:uFillTx/>
                <a:latin typeface="Courier New"/>
                <a:ea typeface="Arial"/>
              </a:rPr>
              <a:t>driveBase.use_gyro(True)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To disable (turn-off) the gyro use: </a:t>
            </a:r>
            <a:r>
              <a:rPr lang="en-US" sz="1800" b="1" u="none" strike="noStrike">
                <a:solidFill>
                  <a:schemeClr val="dk1"/>
                </a:solidFill>
                <a:effectLst/>
                <a:uFillTx/>
                <a:latin typeface="Courier New"/>
                <a:ea typeface="Arial"/>
              </a:rPr>
              <a:t>driveBase.use_gyro(False)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1" u="sng" strike="noStrike">
                <a:solidFill>
                  <a:schemeClr val="dk1"/>
                </a:solidFill>
                <a:effectLst/>
                <a:uFillTx/>
                <a:latin typeface="Arial"/>
                <a:ea typeface="Arial"/>
              </a:rPr>
              <a:t>ALWAYS</a:t>
            </a:r>
            <a:r>
              <a:rPr lang="en-US" sz="1800" b="1" u="none" strike="noStrike">
                <a:solidFill>
                  <a:schemeClr val="dk1"/>
                </a:solidFill>
                <a:effectLst/>
                <a:uFillTx/>
                <a:latin typeface="Arial"/>
                <a:ea typeface="Arial"/>
              </a:rPr>
              <a:t> </a:t>
            </a:r>
            <a:r>
              <a:rPr lang="en-US" sz="1800" b="0" u="none" strike="noStrike">
                <a:solidFill>
                  <a:schemeClr val="dk1"/>
                </a:solidFill>
                <a:effectLst/>
                <a:uFillTx/>
                <a:latin typeface="Arial"/>
                <a:ea typeface="Arial"/>
              </a:rPr>
              <a:t>remember to disable the gryo after every mission</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Failure to do so could be catastrophic in the Robot Game and would require turning off the robot</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Simple solution is disable the gyro in hub_menu()</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Ideally create a function that stops the gyro and stops all the robot motors</a:t>
            </a:r>
            <a:endParaRPr lang="en-US" sz="14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Remember to enable the gyro at the start of the mission, some missions might require the gyro to be disabled</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p:txBody>
      </p:sp>
      <p:sp>
        <p:nvSpPr>
          <p:cNvPr id="289" name="PlaceHolder 3"/>
          <p:cNvSpPr>
            <a:spLocks noGrp="1"/>
          </p:cNvSpPr>
          <p:nvPr>
            <p:ph type="sldNum" idx="68"/>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E6157A5-0217-4DF2-AAC8-8B872F8DDD4E}" type="slidenum">
              <a:rPr lang="en" sz="1000" b="0" u="none" strike="noStrike">
                <a:solidFill>
                  <a:schemeClr val="dk2"/>
                </a:solidFill>
                <a:effectLst/>
                <a:uFillTx/>
                <a:latin typeface="Arial"/>
                <a:ea typeface="Arial"/>
              </a:rPr>
              <a:t>56</a:t>
            </a:fld>
            <a:endParaRPr lang="en-US" sz="1000" b="0" u="none" strike="noStrike">
              <a:solidFill>
                <a:srgbClr val="000000"/>
              </a:solidFill>
              <a:effectLst/>
              <a:uFillTx/>
              <a:latin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Motor.run_target()</a:t>
            </a:r>
            <a:endParaRPr lang="en-US" sz="2500" b="0" u="none" strike="noStrike">
              <a:solidFill>
                <a:srgbClr val="000000"/>
              </a:solidFill>
              <a:effectLst/>
              <a:uFillTx/>
              <a:latin typeface="Arial"/>
            </a:endParaRPr>
          </a:p>
        </p:txBody>
      </p:sp>
      <p:sp>
        <p:nvSpPr>
          <p:cNvPr id="29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US" sz="1700" b="1" u="none" strike="noStrike">
                <a:solidFill>
                  <a:schemeClr val="dk1"/>
                </a:solidFill>
                <a:effectLst/>
                <a:uFillTx/>
                <a:latin typeface="Courier New"/>
                <a:ea typeface="Arial"/>
              </a:rPr>
              <a:t>await run_target(</a:t>
            </a:r>
            <a:r>
              <a:rPr lang="en-US" sz="1700" b="1" i="1" u="none" strike="noStrike">
                <a:solidFill>
                  <a:schemeClr val="dk1"/>
                </a:solidFill>
                <a:effectLst/>
                <a:uFillTx/>
                <a:latin typeface="Courier New"/>
                <a:ea typeface="Arial"/>
              </a:rPr>
              <a:t>speed</a:t>
            </a:r>
            <a:r>
              <a:rPr lang="en-US" sz="1700" b="1" u="none" strike="noStrike">
                <a:solidFill>
                  <a:schemeClr val="dk1"/>
                </a:solidFill>
                <a:effectLst/>
                <a:uFillTx/>
                <a:latin typeface="Courier New"/>
                <a:ea typeface="Arial"/>
              </a:rPr>
              <a:t>, </a:t>
            </a:r>
            <a:r>
              <a:rPr lang="en-US" sz="1700" b="1" i="1" u="none" strike="noStrike">
                <a:solidFill>
                  <a:schemeClr val="dk1"/>
                </a:solidFill>
                <a:effectLst/>
                <a:uFillTx/>
                <a:latin typeface="Courier New"/>
                <a:ea typeface="Arial"/>
              </a:rPr>
              <a:t>target_angle</a:t>
            </a:r>
            <a:r>
              <a:rPr lang="en-US" sz="1700" b="1" u="none" strike="noStrike">
                <a:solidFill>
                  <a:schemeClr val="dk1"/>
                </a:solidFill>
                <a:effectLst/>
                <a:uFillTx/>
                <a:latin typeface="Courier New"/>
                <a:ea typeface="Arial"/>
              </a:rPr>
              <a:t>, </a:t>
            </a:r>
            <a:r>
              <a:rPr lang="en-US" sz="1700" b="1" i="1" u="none" strike="noStrike">
                <a:solidFill>
                  <a:schemeClr val="dk1"/>
                </a:solidFill>
                <a:effectLst/>
                <a:uFillTx/>
                <a:latin typeface="Courier New"/>
                <a:ea typeface="Arial"/>
              </a:rPr>
              <a:t>then=Stop.HOLD, wait=True</a:t>
            </a:r>
            <a:r>
              <a:rPr lang="en-US" sz="1700" b="1" u="none" strike="noStrike">
                <a:solidFill>
                  <a:schemeClr val="dk1"/>
                </a:solidFill>
                <a:effectLst/>
                <a:uFillTx/>
                <a:latin typeface="Courier New"/>
                <a:ea typeface="Arial"/>
              </a:rPr>
              <a:t>)</a:t>
            </a:r>
            <a:endParaRPr lang="en-US" sz="17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0" u="none" strike="noStrike">
                <a:solidFill>
                  <a:schemeClr val="dk1"/>
                </a:solidFill>
                <a:effectLst/>
                <a:uFillTx/>
                <a:latin typeface="Arial"/>
                <a:ea typeface="Arial"/>
              </a:rPr>
              <a:t>Runs the motor at a constant speed towards a given target angle.</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0" u="none" strike="noStrike">
                <a:solidFill>
                  <a:schemeClr val="dk1"/>
                </a:solidFill>
                <a:effectLst/>
                <a:uFillTx/>
                <a:latin typeface="Arial"/>
                <a:ea typeface="Arial"/>
              </a:rPr>
              <a:t>The direction of rotation is automatically selected based on the target angle. It does not matter if speed is positive or negative.</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1" u="none" strike="noStrike">
                <a:solidFill>
                  <a:schemeClr val="dk1"/>
                </a:solidFill>
                <a:effectLst/>
                <a:uFillTx/>
                <a:latin typeface="Arial"/>
                <a:ea typeface="Arial"/>
              </a:rPr>
              <a:t>speed</a:t>
            </a:r>
            <a:r>
              <a:rPr lang="en-US" sz="1500" b="0" u="none" strike="noStrike">
                <a:solidFill>
                  <a:schemeClr val="dk1"/>
                </a:solidFill>
                <a:effectLst/>
                <a:uFillTx/>
                <a:latin typeface="Arial"/>
                <a:ea typeface="Arial"/>
              </a:rPr>
              <a:t> (</a:t>
            </a:r>
            <a:r>
              <a:rPr lang="en-US" sz="1500" b="0" i="1" u="sng" strike="noStrike">
                <a:solidFill>
                  <a:schemeClr val="dk1"/>
                </a:solidFill>
                <a:effectLst/>
                <a:uFillTx/>
                <a:latin typeface="Arial"/>
                <a:ea typeface="Arial"/>
                <a:hlinkClick r:id="rId2"/>
              </a:rPr>
              <a:t>Number</a:t>
            </a:r>
            <a:r>
              <a:rPr lang="en-US" sz="1500" b="0" i="1" u="none" strike="noStrike">
                <a:solidFill>
                  <a:schemeClr val="dk1"/>
                </a:solidFill>
                <a:effectLst/>
                <a:uFillTx/>
                <a:latin typeface="Arial"/>
                <a:ea typeface="Arial"/>
              </a:rPr>
              <a:t>, deg/s</a:t>
            </a:r>
            <a:r>
              <a:rPr lang="en-US" sz="1500" b="0" u="none" strike="noStrike">
                <a:solidFill>
                  <a:schemeClr val="dk1"/>
                </a:solidFill>
                <a:effectLst/>
                <a:uFillTx/>
                <a:latin typeface="Arial"/>
                <a:ea typeface="Arial"/>
              </a:rPr>
              <a:t>) – Speed of the motor.</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1" u="none" strike="noStrike">
                <a:solidFill>
                  <a:schemeClr val="dk1"/>
                </a:solidFill>
                <a:effectLst/>
                <a:uFillTx/>
                <a:latin typeface="Arial"/>
                <a:ea typeface="Arial"/>
              </a:rPr>
              <a:t>target_angle</a:t>
            </a:r>
            <a:r>
              <a:rPr lang="en-US" sz="1500" b="0" u="none" strike="noStrike">
                <a:solidFill>
                  <a:schemeClr val="dk1"/>
                </a:solidFill>
                <a:effectLst/>
                <a:uFillTx/>
                <a:latin typeface="Arial"/>
                <a:ea typeface="Arial"/>
              </a:rPr>
              <a:t> (</a:t>
            </a:r>
            <a:r>
              <a:rPr lang="en-US" sz="1500" b="0" i="1" u="sng" strike="noStrike">
                <a:solidFill>
                  <a:schemeClr val="dk1"/>
                </a:solidFill>
                <a:effectLst/>
                <a:uFillTx/>
                <a:latin typeface="Arial"/>
                <a:ea typeface="Arial"/>
                <a:hlinkClick r:id="rId2"/>
              </a:rPr>
              <a:t>Number</a:t>
            </a:r>
            <a:r>
              <a:rPr lang="en-US" sz="1500" b="0" i="1" u="none" strike="noStrike">
                <a:solidFill>
                  <a:schemeClr val="dk1"/>
                </a:solidFill>
                <a:effectLst/>
                <a:uFillTx/>
                <a:latin typeface="Arial"/>
                <a:ea typeface="Arial"/>
              </a:rPr>
              <a:t>, deg</a:t>
            </a:r>
            <a:r>
              <a:rPr lang="en-US" sz="1500" b="0" u="none" strike="noStrike">
                <a:solidFill>
                  <a:schemeClr val="dk1"/>
                </a:solidFill>
                <a:effectLst/>
                <a:uFillTx/>
                <a:latin typeface="Arial"/>
                <a:ea typeface="Arial"/>
              </a:rPr>
              <a:t>) – Angle that the motor should rotate to.</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1" u="none" strike="noStrike">
                <a:solidFill>
                  <a:schemeClr val="dk1"/>
                </a:solidFill>
                <a:effectLst/>
                <a:uFillTx/>
                <a:latin typeface="Arial"/>
                <a:ea typeface="Arial"/>
              </a:rPr>
              <a:t>then</a:t>
            </a:r>
            <a:r>
              <a:rPr lang="en-US" sz="1500" b="0" u="none" strike="noStrike">
                <a:solidFill>
                  <a:schemeClr val="dk1"/>
                </a:solidFill>
                <a:effectLst/>
                <a:uFillTx/>
                <a:latin typeface="Arial"/>
                <a:ea typeface="Arial"/>
              </a:rPr>
              <a:t> (</a:t>
            </a:r>
            <a:r>
              <a:rPr lang="en-US" sz="1500" b="0" i="1" u="sng" strike="noStrike">
                <a:solidFill>
                  <a:schemeClr val="dk1"/>
                </a:solidFill>
                <a:effectLst/>
                <a:uFillTx/>
                <a:latin typeface="Arial"/>
                <a:ea typeface="Arial"/>
                <a:hlinkClick r:id="rId3"/>
              </a:rPr>
              <a:t>Stop</a:t>
            </a:r>
            <a:r>
              <a:rPr lang="en-US" sz="1500" b="0" u="none" strike="noStrike">
                <a:solidFill>
                  <a:schemeClr val="dk1"/>
                </a:solidFill>
                <a:effectLst/>
                <a:uFillTx/>
                <a:latin typeface="Arial"/>
                <a:ea typeface="Arial"/>
              </a:rPr>
              <a:t>) – What to do after coming to a standstill.</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1" u="none" strike="noStrike">
                <a:solidFill>
                  <a:schemeClr val="dk1"/>
                </a:solidFill>
                <a:effectLst/>
                <a:uFillTx/>
                <a:latin typeface="Arial"/>
                <a:ea typeface="Arial"/>
              </a:rPr>
              <a:t>wait</a:t>
            </a:r>
            <a:r>
              <a:rPr lang="en-US" sz="1500" b="0" u="none" strike="noStrike">
                <a:solidFill>
                  <a:schemeClr val="dk1"/>
                </a:solidFill>
                <a:effectLst/>
                <a:uFillTx/>
                <a:latin typeface="Arial"/>
                <a:ea typeface="Arial"/>
              </a:rPr>
              <a:t> (</a:t>
            </a:r>
            <a:r>
              <a:rPr lang="en-US" sz="1500" b="0" i="1" u="sng" strike="noStrike">
                <a:solidFill>
                  <a:schemeClr val="dk1"/>
                </a:solidFill>
                <a:effectLst/>
                <a:uFillTx/>
                <a:latin typeface="Arial"/>
                <a:ea typeface="Arial"/>
                <a:hlinkClick r:id="rId4"/>
              </a:rPr>
              <a:t>bool</a:t>
            </a:r>
            <a:r>
              <a:rPr lang="en-US" sz="1500" b="0" u="none" strike="noStrike">
                <a:solidFill>
                  <a:schemeClr val="dk1"/>
                </a:solidFill>
                <a:effectLst/>
                <a:uFillTx/>
                <a:latin typeface="Arial"/>
                <a:ea typeface="Arial"/>
              </a:rPr>
              <a:t>) – Wait for the motor to reach the target before continuing with the rest of the program.</a:t>
            </a:r>
            <a:endParaRPr lang="en-US" sz="15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500" b="1" u="none" strike="noStrike">
                <a:solidFill>
                  <a:schemeClr val="dk1"/>
                </a:solidFill>
                <a:effectLst/>
                <a:uFillTx/>
                <a:latin typeface="Courier New"/>
                <a:ea typeface="Arial"/>
              </a:rPr>
              <a:t>run_target</a:t>
            </a:r>
            <a:r>
              <a:rPr lang="en-US" sz="1500" b="1" u="none" strike="noStrike">
                <a:solidFill>
                  <a:schemeClr val="dk1"/>
                </a:solidFill>
                <a:effectLst/>
                <a:uFillTx/>
                <a:latin typeface="Arial"/>
                <a:ea typeface="Arial"/>
              </a:rPr>
              <a:t> </a:t>
            </a:r>
            <a:r>
              <a:rPr lang="en-US" sz="1500" b="0" u="none" strike="noStrike">
                <a:solidFill>
                  <a:schemeClr val="dk1"/>
                </a:solidFill>
                <a:effectLst/>
                <a:uFillTx/>
                <a:latin typeface="Arial"/>
                <a:ea typeface="Arial"/>
              </a:rPr>
              <a:t>is commonly used for attachments to provide precise control over the how far it moves</a:t>
            </a:r>
            <a:endParaRPr lang="en-US" sz="1500" b="0" u="none" strike="noStrike">
              <a:solidFill>
                <a:srgbClr val="000000"/>
              </a:solidFill>
              <a:effectLst/>
              <a:uFillTx/>
              <a:latin typeface="Arial"/>
            </a:endParaRPr>
          </a:p>
          <a:p>
            <a:pPr marL="114480" indent="0" algn="l">
              <a:lnSpc>
                <a:spcPct val="115000"/>
              </a:lnSpc>
              <a:buNone/>
              <a:tabLst>
                <a:tab pos="0" algn="l"/>
              </a:tabLst>
            </a:pPr>
            <a:endParaRPr lang="en-US" sz="22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292" name="PlaceHolder 3"/>
          <p:cNvSpPr>
            <a:spLocks noGrp="1"/>
          </p:cNvSpPr>
          <p:nvPr>
            <p:ph type="sldNum" idx="69"/>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F706645-5424-459D-9689-5F4764CCEF2E}" type="slidenum">
              <a:rPr lang="en" sz="1000" b="0" u="none" strike="noStrike">
                <a:solidFill>
                  <a:schemeClr val="dk2"/>
                </a:solidFill>
                <a:effectLst/>
                <a:uFillTx/>
                <a:latin typeface="Arial"/>
                <a:ea typeface="Arial"/>
              </a:rPr>
              <a:t>57</a:t>
            </a:fld>
            <a:endParaRPr lang="en-US" sz="1000" b="0" u="none" strike="noStrike">
              <a:solidFill>
                <a:srgbClr val="000000"/>
              </a:solidFill>
              <a:effectLst/>
              <a:uFillTx/>
              <a:latin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then=Stop.????</a:t>
            </a:r>
            <a:endParaRPr lang="en-US" sz="2500" b="0" u="none" strike="noStrike">
              <a:solidFill>
                <a:srgbClr val="000000"/>
              </a:solidFill>
              <a:effectLst/>
              <a:uFillTx/>
              <a:latin typeface="Arial"/>
            </a:endParaRPr>
          </a:p>
        </p:txBody>
      </p:sp>
      <p:sp>
        <p:nvSpPr>
          <p:cNvPr id="294" name="PlaceHolder 2"/>
          <p:cNvSpPr>
            <a:spLocks noGrp="1"/>
          </p:cNvSpPr>
          <p:nvPr>
            <p:ph/>
          </p:nvPr>
        </p:nvSpPr>
        <p:spPr>
          <a:xfrm>
            <a:off x="226080" y="733680"/>
            <a:ext cx="8520120" cy="3878280"/>
          </a:xfrm>
          <a:prstGeom prst="rect">
            <a:avLst/>
          </a:prstGeom>
          <a:noFill/>
          <a:ln w="0">
            <a:noFill/>
          </a:ln>
        </p:spPr>
        <p:txBody>
          <a:bodyPr lIns="91440" tIns="91440" rIns="91440" bIns="91440" anchor="t">
            <a:normAutofit fontScale="92500" lnSpcReduction="9999"/>
          </a:bodyPr>
          <a:lstStyle/>
          <a:p>
            <a:pPr marL="457200" indent="-343080" algn="l">
              <a:lnSpc>
                <a:spcPct val="115000"/>
              </a:lnSpc>
              <a:buClr>
                <a:srgbClr val="000000"/>
              </a:buClr>
              <a:buFont typeface="Arial"/>
              <a:buChar char="●"/>
            </a:pPr>
            <a:r>
              <a:rPr lang="en-US" sz="1400" b="0" u="none" strike="noStrike">
                <a:solidFill>
                  <a:schemeClr val="dk1"/>
                </a:solidFill>
                <a:effectLst/>
                <a:uFillTx/>
                <a:latin typeface="Arial"/>
                <a:ea typeface="Arial"/>
              </a:rPr>
              <a:t>Used to the control the end condition of a motor</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400" b="0" u="none" strike="noStrike">
                <a:solidFill>
                  <a:schemeClr val="dk1"/>
                </a:solidFill>
                <a:effectLst/>
                <a:uFillTx/>
                <a:latin typeface="Arial"/>
                <a:ea typeface="Arial"/>
              </a:rPr>
              <a:t>Multiple Pybricks commands have the </a:t>
            </a:r>
            <a:r>
              <a:rPr lang="en-US" sz="1400" b="1" u="none" strike="noStrike">
                <a:solidFill>
                  <a:schemeClr val="dk1"/>
                </a:solidFill>
                <a:effectLst/>
                <a:uFillTx/>
                <a:latin typeface="Courier New"/>
                <a:ea typeface="Arial"/>
              </a:rPr>
              <a:t>then=Stop.????</a:t>
            </a:r>
            <a:r>
              <a:rPr lang="en-US" sz="1400" b="1" u="none" strike="noStrike">
                <a:solidFill>
                  <a:schemeClr val="dk1"/>
                </a:solidFill>
                <a:effectLst/>
                <a:uFillTx/>
                <a:latin typeface="Arial"/>
                <a:ea typeface="Arial"/>
              </a:rPr>
              <a:t> </a:t>
            </a:r>
            <a:r>
              <a:rPr lang="en-US" sz="1400" b="0" u="none" strike="noStrike">
                <a:solidFill>
                  <a:schemeClr val="dk1"/>
                </a:solidFill>
                <a:effectLst/>
                <a:uFillTx/>
                <a:latin typeface="Arial"/>
                <a:ea typeface="Arial"/>
              </a:rPr>
              <a:t>argument</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400" b="0" u="none" strike="noStrike">
                <a:solidFill>
                  <a:schemeClr val="dk1"/>
                </a:solidFill>
                <a:effectLst/>
                <a:uFillTx/>
                <a:latin typeface="Arial"/>
                <a:ea typeface="Arial"/>
              </a:rPr>
              <a:t>In FLL it is typically used for attachment motors to control whether or not they hold their position.</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100" b="0" u="none" strike="noStrike">
                <a:solidFill>
                  <a:schemeClr val="dk1"/>
                </a:solidFill>
                <a:effectLst/>
                <a:uFillTx/>
                <a:latin typeface="Arial"/>
                <a:ea typeface="Arial"/>
              </a:rPr>
              <a:t>For example, if you want to lift an object and carry it to a different location, the </a:t>
            </a:r>
            <a:r>
              <a:rPr lang="en-US" sz="1100" b="1" u="none" strike="noStrike">
                <a:solidFill>
                  <a:schemeClr val="dk1"/>
                </a:solidFill>
                <a:effectLst/>
                <a:uFillTx/>
                <a:latin typeface="Courier New"/>
                <a:ea typeface="Arial"/>
              </a:rPr>
              <a:t>Stop.HOLD </a:t>
            </a:r>
            <a:r>
              <a:rPr lang="en-US" sz="1100" b="0" u="none" strike="noStrike">
                <a:solidFill>
                  <a:schemeClr val="dk1"/>
                </a:solidFill>
                <a:effectLst/>
                <a:uFillTx/>
                <a:latin typeface="Arial"/>
                <a:ea typeface="Arial"/>
              </a:rPr>
              <a:t>would be used to hold the attachment off the mat.</a:t>
            </a:r>
            <a:r>
              <a:rPr lang="en-US" sz="1100" b="1" u="none" strike="noStrike">
                <a:solidFill>
                  <a:schemeClr val="dk1"/>
                </a:solidFill>
                <a:effectLst/>
                <a:uFillTx/>
                <a:latin typeface="Courier New"/>
                <a:ea typeface="Arial"/>
              </a:rPr>
              <a:t> </a:t>
            </a:r>
            <a:r>
              <a:rPr lang="en-US" sz="1100" b="0" u="none" strike="noStrike">
                <a:solidFill>
                  <a:schemeClr val="dk1"/>
                </a:solidFill>
                <a:effectLst/>
                <a:uFillTx/>
                <a:latin typeface="Arial"/>
                <a:ea typeface="Arial"/>
              </a:rPr>
              <a:t>If you used </a:t>
            </a:r>
            <a:r>
              <a:rPr lang="en-US" sz="1100" b="1" u="none" strike="noStrike">
                <a:solidFill>
                  <a:schemeClr val="dk1"/>
                </a:solidFill>
                <a:effectLst/>
                <a:uFillTx/>
                <a:latin typeface="Courier New"/>
                <a:ea typeface="Arial"/>
              </a:rPr>
              <a:t>Stop.COAST</a:t>
            </a:r>
            <a:r>
              <a:rPr lang="en-US" sz="1100" b="1" u="none" strike="noStrike">
                <a:solidFill>
                  <a:schemeClr val="dk1"/>
                </a:solidFill>
                <a:effectLst/>
                <a:uFillTx/>
                <a:latin typeface="Arial"/>
                <a:ea typeface="Arial"/>
              </a:rPr>
              <a:t> </a:t>
            </a:r>
            <a:r>
              <a:rPr lang="en-US" sz="1100" b="0" u="none" strike="noStrike">
                <a:solidFill>
                  <a:schemeClr val="dk1"/>
                </a:solidFill>
                <a:effectLst/>
                <a:uFillTx/>
                <a:latin typeface="Arial"/>
                <a:ea typeface="Arial"/>
              </a:rPr>
              <a:t>or</a:t>
            </a:r>
            <a:r>
              <a:rPr lang="en-US" sz="1100" b="1" u="none" strike="noStrike">
                <a:solidFill>
                  <a:schemeClr val="dk1"/>
                </a:solidFill>
                <a:effectLst/>
                <a:uFillTx/>
                <a:latin typeface="Arial"/>
                <a:ea typeface="Arial"/>
              </a:rPr>
              <a:t> </a:t>
            </a:r>
            <a:r>
              <a:rPr lang="en-US" sz="1100" b="1" u="none" strike="noStrike">
                <a:solidFill>
                  <a:schemeClr val="dk1"/>
                </a:solidFill>
                <a:effectLst/>
                <a:uFillTx/>
                <a:latin typeface="Courier New"/>
                <a:ea typeface="Arial"/>
              </a:rPr>
              <a:t>Stop.BRAKE</a:t>
            </a:r>
            <a:r>
              <a:rPr lang="en-US" sz="1100" b="1" u="none" strike="noStrike">
                <a:solidFill>
                  <a:schemeClr val="dk1"/>
                </a:solidFill>
                <a:effectLst/>
                <a:uFillTx/>
                <a:latin typeface="Arial"/>
                <a:ea typeface="Arial"/>
              </a:rPr>
              <a:t> </a:t>
            </a:r>
            <a:r>
              <a:rPr lang="en-US" sz="1100" b="0" u="none" strike="noStrike">
                <a:solidFill>
                  <a:schemeClr val="dk1"/>
                </a:solidFill>
                <a:effectLst/>
                <a:uFillTx/>
                <a:latin typeface="Arial"/>
                <a:ea typeface="Arial"/>
              </a:rPr>
              <a:t>the attachment will not stay in position.</a:t>
            </a:r>
            <a:endParaRPr lang="en-US" sz="1100" b="0" u="none" strike="noStrike">
              <a:solidFill>
                <a:srgbClr val="000000"/>
              </a:solidFill>
              <a:effectLst/>
              <a:uFillTx/>
              <a:latin typeface="Arial"/>
            </a:endParaRPr>
          </a:p>
          <a:p>
            <a:pPr marL="596880" indent="0" algn="l">
              <a:lnSpc>
                <a:spcPct val="115000"/>
              </a:lnSpc>
              <a:buNone/>
              <a:tabLst>
                <a:tab pos="0" algn="l"/>
              </a:tabLst>
            </a:pPr>
            <a:endParaRPr lang="en-US" sz="11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Valid values are:</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100" b="1" u="none" strike="noStrike">
                <a:solidFill>
                  <a:schemeClr val="dk1"/>
                </a:solidFill>
                <a:effectLst/>
                <a:uFillTx/>
                <a:latin typeface="Courier New"/>
                <a:ea typeface="Arial"/>
              </a:rPr>
              <a:t>Stop.COAST</a:t>
            </a:r>
            <a:endParaRPr lang="en-US" sz="1100" b="0" u="none" strike="noStrike">
              <a:solidFill>
                <a:srgbClr val="000000"/>
              </a:solidFill>
              <a:effectLst/>
              <a:uFillTx/>
              <a:latin typeface="Arial"/>
            </a:endParaRPr>
          </a:p>
          <a:p>
            <a:pPr marL="1371600" lvl="2" indent="-317520" algn="l">
              <a:lnSpc>
                <a:spcPct val="115000"/>
              </a:lnSpc>
              <a:buClr>
                <a:srgbClr val="000000"/>
              </a:buClr>
              <a:buFont typeface="Arial"/>
              <a:buChar char="■"/>
              <a:tabLst>
                <a:tab pos="0" algn="l"/>
              </a:tabLst>
            </a:pPr>
            <a:r>
              <a:rPr lang="en-US" sz="1100" b="0" u="none" strike="noStrike">
                <a:solidFill>
                  <a:schemeClr val="dk1"/>
                </a:solidFill>
                <a:effectLst/>
                <a:uFillTx/>
                <a:latin typeface="Arial"/>
                <a:ea typeface="Arial"/>
              </a:rPr>
              <a:t>Let the motor move freely.</a:t>
            </a:r>
            <a:endParaRPr lang="en-US" sz="11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100" b="1" u="none" strike="noStrike">
                <a:solidFill>
                  <a:schemeClr val="dk1"/>
                </a:solidFill>
                <a:effectLst/>
                <a:uFillTx/>
                <a:latin typeface="Courier New"/>
                <a:ea typeface="Arial"/>
              </a:rPr>
              <a:t>Stop.COAST_SMART</a:t>
            </a:r>
            <a:endParaRPr lang="en-US" sz="1100" b="0" u="none" strike="noStrike">
              <a:solidFill>
                <a:srgbClr val="000000"/>
              </a:solidFill>
              <a:effectLst/>
              <a:uFillTx/>
              <a:latin typeface="Arial"/>
            </a:endParaRPr>
          </a:p>
          <a:p>
            <a:pPr marL="1371600" lvl="2" indent="-317520" algn="l">
              <a:lnSpc>
                <a:spcPct val="115000"/>
              </a:lnSpc>
              <a:buClr>
                <a:srgbClr val="000000"/>
              </a:buClr>
              <a:buFont typeface="Arial"/>
              <a:buChar char="■"/>
              <a:tabLst>
                <a:tab pos="0" algn="l"/>
              </a:tabLst>
            </a:pPr>
            <a:r>
              <a:rPr lang="en-US" sz="1100" b="0" u="none" strike="noStrike">
                <a:solidFill>
                  <a:schemeClr val="dk1"/>
                </a:solidFill>
                <a:effectLst/>
                <a:uFillTx/>
                <a:latin typeface="Arial"/>
                <a:ea typeface="Arial"/>
              </a:rPr>
              <a:t>Let the motor move freely. For the next relative angle maneuver, take the last target angle (instead of the current angle) as the new starting point. This reduces cumulative errors. This will apply only if the current angle is less than twice the configured position tolerance.</a:t>
            </a:r>
            <a:endParaRPr lang="en-US" sz="11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100" b="1" u="none" strike="noStrike">
                <a:solidFill>
                  <a:schemeClr val="dk1"/>
                </a:solidFill>
                <a:effectLst/>
                <a:uFillTx/>
                <a:latin typeface="Courier New"/>
                <a:ea typeface="Arial"/>
              </a:rPr>
              <a:t>Stop.BRAKE</a:t>
            </a:r>
            <a:endParaRPr lang="en-US" sz="1100" b="0" u="none" strike="noStrike">
              <a:solidFill>
                <a:srgbClr val="000000"/>
              </a:solidFill>
              <a:effectLst/>
              <a:uFillTx/>
              <a:latin typeface="Arial"/>
            </a:endParaRPr>
          </a:p>
          <a:p>
            <a:pPr marL="1371600" lvl="2" indent="-317520" algn="l">
              <a:lnSpc>
                <a:spcPct val="115000"/>
              </a:lnSpc>
              <a:buClr>
                <a:srgbClr val="000000"/>
              </a:buClr>
              <a:buFont typeface="Arial"/>
              <a:buChar char="■"/>
              <a:tabLst>
                <a:tab pos="0" algn="l"/>
              </a:tabLst>
            </a:pPr>
            <a:r>
              <a:rPr lang="en-US" sz="1100" b="0" u="none" strike="noStrike">
                <a:solidFill>
                  <a:schemeClr val="dk1"/>
                </a:solidFill>
                <a:effectLst/>
                <a:uFillTx/>
                <a:latin typeface="Arial"/>
                <a:ea typeface="Arial"/>
              </a:rPr>
              <a:t>Passively resist small external forces.</a:t>
            </a:r>
            <a:endParaRPr lang="en-US" sz="11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100" b="1" u="none" strike="noStrike">
                <a:solidFill>
                  <a:schemeClr val="dk1"/>
                </a:solidFill>
                <a:effectLst/>
                <a:uFillTx/>
                <a:latin typeface="Courier New"/>
                <a:ea typeface="Arial"/>
              </a:rPr>
              <a:t>Stop.HOLD</a:t>
            </a:r>
            <a:endParaRPr lang="en-US" sz="1100" b="0" u="none" strike="noStrike">
              <a:solidFill>
                <a:srgbClr val="000000"/>
              </a:solidFill>
              <a:effectLst/>
              <a:uFillTx/>
              <a:latin typeface="Arial"/>
            </a:endParaRPr>
          </a:p>
          <a:p>
            <a:pPr marL="1371600" lvl="2" indent="-317520" algn="l">
              <a:lnSpc>
                <a:spcPct val="115000"/>
              </a:lnSpc>
              <a:buClr>
                <a:srgbClr val="000000"/>
              </a:buClr>
              <a:buFont typeface="Arial"/>
              <a:buChar char="■"/>
              <a:tabLst>
                <a:tab pos="0" algn="l"/>
              </a:tabLst>
            </a:pPr>
            <a:r>
              <a:rPr lang="en-US" sz="1100" b="0" u="none" strike="noStrike">
                <a:solidFill>
                  <a:schemeClr val="dk1"/>
                </a:solidFill>
                <a:effectLst/>
                <a:uFillTx/>
                <a:latin typeface="Arial"/>
                <a:ea typeface="Arial"/>
              </a:rPr>
              <a:t>Keep controlling the motor to </a:t>
            </a:r>
            <a:r>
              <a:rPr lang="en-US" sz="1100" b="1" u="none" strike="noStrike">
                <a:solidFill>
                  <a:schemeClr val="dk1"/>
                </a:solidFill>
                <a:effectLst/>
                <a:uFillTx/>
                <a:latin typeface="Arial"/>
                <a:ea typeface="Arial"/>
              </a:rPr>
              <a:t>hold</a:t>
            </a:r>
            <a:r>
              <a:rPr lang="en-US" sz="1100" b="0" u="none" strike="noStrike">
                <a:solidFill>
                  <a:schemeClr val="dk1"/>
                </a:solidFill>
                <a:effectLst/>
                <a:uFillTx/>
                <a:latin typeface="Arial"/>
                <a:ea typeface="Arial"/>
              </a:rPr>
              <a:t> it at the commanded angle.</a:t>
            </a:r>
            <a:endParaRPr lang="en-US" sz="11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100" b="1" u="none" strike="noStrike">
                <a:solidFill>
                  <a:schemeClr val="dk1"/>
                </a:solidFill>
                <a:effectLst/>
                <a:uFillTx/>
                <a:latin typeface="Courier New"/>
                <a:ea typeface="Arial"/>
              </a:rPr>
              <a:t>Stop.NONE</a:t>
            </a:r>
            <a:endParaRPr lang="en-US" sz="1100" b="0" u="none" strike="noStrike">
              <a:solidFill>
                <a:srgbClr val="000000"/>
              </a:solidFill>
              <a:effectLst/>
              <a:uFillTx/>
              <a:latin typeface="Arial"/>
            </a:endParaRPr>
          </a:p>
          <a:p>
            <a:pPr marL="1371600" lvl="2" indent="-317520" algn="l">
              <a:lnSpc>
                <a:spcPct val="115000"/>
              </a:lnSpc>
              <a:buClr>
                <a:srgbClr val="000000"/>
              </a:buClr>
              <a:buFont typeface="Arial"/>
              <a:buChar char="■"/>
              <a:tabLst>
                <a:tab pos="0" algn="l"/>
              </a:tabLst>
            </a:pPr>
            <a:r>
              <a:rPr lang="en-US" sz="1100" b="0" u="none" strike="noStrike">
                <a:solidFill>
                  <a:schemeClr val="dk1"/>
                </a:solidFill>
                <a:effectLst/>
                <a:uFillTx/>
                <a:latin typeface="Arial"/>
                <a:ea typeface="Arial"/>
              </a:rPr>
              <a:t>Do not decelerate when approaching the target position. This can be used to concatenate multiple motor or drive base maneuvers without stopping. If no further commands are given, the motor will proceed to run indefinitely at the given speed.</a:t>
            </a:r>
            <a:endParaRPr lang="en-US" sz="1100" b="0" u="none" strike="noStrike">
              <a:solidFill>
                <a:srgbClr val="000000"/>
              </a:solidFill>
              <a:effectLst/>
              <a:uFillTx/>
              <a:latin typeface="Arial"/>
            </a:endParaRPr>
          </a:p>
        </p:txBody>
      </p:sp>
      <p:sp>
        <p:nvSpPr>
          <p:cNvPr id="295" name="PlaceHolder 3"/>
          <p:cNvSpPr>
            <a:spLocks noGrp="1"/>
          </p:cNvSpPr>
          <p:nvPr>
            <p:ph type="sldNum" idx="7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3B40CD4A-2099-4428-A270-43EC0EF5E4EB}" type="slidenum">
              <a:rPr lang="en" sz="1000" b="0" u="none" strike="noStrike">
                <a:solidFill>
                  <a:schemeClr val="dk2"/>
                </a:solidFill>
                <a:effectLst/>
                <a:uFillTx/>
                <a:latin typeface="Arial"/>
                <a:ea typeface="Arial"/>
              </a:rPr>
              <a:t>58</a:t>
            </a:fld>
            <a:endParaRPr lang="en-US" sz="1000" b="0" u="none" strike="noStrike">
              <a:solidFill>
                <a:srgbClr val="000000"/>
              </a:solidFill>
              <a:effectLst/>
              <a:uFillTx/>
              <a:latin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Motor.run_target()</a:t>
            </a:r>
            <a:r>
              <a:rPr lang="en-US" sz="2500" b="1" u="none" strike="noStrike">
                <a:solidFill>
                  <a:schemeClr val="lt1"/>
                </a:solidFill>
                <a:effectLst/>
                <a:uFillTx/>
                <a:latin typeface="Arial"/>
                <a:ea typeface="Arial"/>
              </a:rPr>
              <a:t>Examples</a:t>
            </a:r>
            <a:endParaRPr lang="en-US" sz="2500" b="0" u="none" strike="noStrike">
              <a:solidFill>
                <a:srgbClr val="000000"/>
              </a:solidFill>
              <a:effectLst/>
              <a:uFillTx/>
              <a:latin typeface="Arial"/>
            </a:endParaRPr>
          </a:p>
        </p:txBody>
      </p:sp>
      <p:sp>
        <p:nvSpPr>
          <p:cNvPr id="297" name="PlaceHolder 2"/>
          <p:cNvSpPr>
            <a:spLocks noGrp="1"/>
          </p:cNvSpPr>
          <p:nvPr>
            <p:ph/>
          </p:nvPr>
        </p:nvSpPr>
        <p:spPr>
          <a:xfrm>
            <a:off x="146520" y="853920"/>
            <a:ext cx="887400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US" sz="1900" b="1" u="none" strike="noStrike">
                <a:solidFill>
                  <a:schemeClr val="dk1"/>
                </a:solidFill>
                <a:effectLst/>
                <a:uFillTx/>
                <a:latin typeface="Courier New"/>
                <a:ea typeface="Arial"/>
              </a:rPr>
              <a:t>await multitask(attachment.run_target(</a:t>
            </a:r>
            <a:r>
              <a:rPr lang="en-US" sz="1900" b="1" i="1" u="none" strike="noStrike">
                <a:solidFill>
                  <a:schemeClr val="dk1"/>
                </a:solidFill>
                <a:effectLst/>
                <a:uFillTx/>
                <a:latin typeface="Courier New"/>
                <a:ea typeface="Arial"/>
              </a:rPr>
              <a:t>250</a:t>
            </a:r>
            <a:r>
              <a:rPr lang="en-US" sz="1900" b="1" u="none" strike="noStrike">
                <a:solidFill>
                  <a:schemeClr val="dk1"/>
                </a:solidFill>
                <a:effectLst/>
                <a:uFillTx/>
                <a:latin typeface="Courier New"/>
                <a:ea typeface="Arial"/>
              </a:rPr>
              <a:t>,</a:t>
            </a:r>
            <a:r>
              <a:rPr lang="en-US" sz="1900" b="1" i="1" u="none" strike="noStrike">
                <a:solidFill>
                  <a:schemeClr val="dk1"/>
                </a:solidFill>
                <a:effectLst/>
                <a:uFillTx/>
                <a:latin typeface="Courier New"/>
                <a:ea typeface="Arial"/>
              </a:rPr>
              <a:t>190, then=Stop.COAST), isStalled(attachment),race=True</a:t>
            </a:r>
            <a:r>
              <a:rPr lang="en-US" sz="1900" b="1" u="none" strike="noStrike">
                <a:solidFill>
                  <a:schemeClr val="dk1"/>
                </a:solidFill>
                <a:effectLst/>
                <a:uFillTx/>
                <a:latin typeface="Courier New"/>
                <a:ea typeface="Arial"/>
              </a:rPr>
              <a:t>)</a:t>
            </a:r>
            <a:endParaRPr lang="en-US" sz="19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Moves an attachment at 250 mm/s by 190 degrees then coasts the attachment at that position while moving the attachment it is also checking to see if the attachment motor has stalled. If it stalls it stops. If stall detection wasn’t used it could lock the robot. </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For example, in the Submerged season the team used this approach when using an attachment to release the shark in Mission 2 and flipping the coral reef in Mission 3. Without stall detect the attachment would frequently stall locking the robot in position.</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1" u="none" strike="noStrike">
                <a:solidFill>
                  <a:schemeClr val="dk1"/>
                </a:solidFill>
                <a:effectLst/>
                <a:uFillTx/>
                <a:latin typeface="Courier New"/>
                <a:ea typeface="Arial"/>
              </a:rPr>
              <a:t>await attachment.run_target(250,120, then=stop.HOLD, wait=True)</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Moves an attachment motor at 250 mm/s by 100 degrees then holds the attachment at that position (“floating” in the air)</a:t>
            </a:r>
            <a:endParaRPr lang="en-US" sz="14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p:txBody>
      </p:sp>
      <p:sp>
        <p:nvSpPr>
          <p:cNvPr id="298" name="PlaceHolder 3"/>
          <p:cNvSpPr>
            <a:spLocks noGrp="1"/>
          </p:cNvSpPr>
          <p:nvPr>
            <p:ph type="sldNum" idx="7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0C7A862-6939-4852-9F62-BB8061708A97}" type="slidenum">
              <a:rPr lang="en" sz="1000" b="0" u="none" strike="noStrike">
                <a:solidFill>
                  <a:schemeClr val="dk2"/>
                </a:solidFill>
                <a:effectLst/>
                <a:uFillTx/>
                <a:latin typeface="Arial"/>
                <a:ea typeface="Arial"/>
              </a:rPr>
              <a:t>59</a:t>
            </a:fld>
            <a:endParaRPr lang="en-US" sz="1000" b="0" u="none" strike="noStrike">
              <a:solidFill>
                <a:srgbClr val="000000"/>
              </a:solidFill>
              <a:effectLst/>
              <a:uFillTx/>
              <a:latin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fontScale="70000" lnSpcReduction="19999"/>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5 – Building &amp; Using a Pybricks Robot Library</a:t>
            </a:r>
            <a:endParaRPr lang="en-US" sz="3600" b="0" u="none" strike="noStrike">
              <a:solidFill>
                <a:srgbClr val="000000"/>
              </a:solidFill>
              <a:effectLst/>
              <a:uFillTx/>
              <a:latin typeface="Arial"/>
            </a:endParaRPr>
          </a:p>
        </p:txBody>
      </p:sp>
      <p:sp>
        <p:nvSpPr>
          <p:cNvPr id="300" name="PlaceHolder 2"/>
          <p:cNvSpPr>
            <a:spLocks noGrp="1"/>
          </p:cNvSpPr>
          <p:nvPr>
            <p:ph type="sldNum" idx="7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73E4808-5D8E-415F-A827-119CC99B0001}" type="slidenum">
              <a:rPr lang="en" sz="1000" b="0" u="none" strike="noStrike">
                <a:solidFill>
                  <a:schemeClr val="dk2"/>
                </a:solidFill>
                <a:effectLst/>
                <a:uFillTx/>
                <a:latin typeface="Arial"/>
                <a:ea typeface="Arial"/>
              </a:rPr>
              <a:t>60</a:t>
            </a:fld>
            <a:endParaRPr lang="en-US" sz="1000" b="0" u="none" strike="noStrike">
              <a:solidFill>
                <a:srgbClr val="000000"/>
              </a:solidFill>
              <a:effectLst/>
              <a:uFillTx/>
              <a:latin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Why a Robot Library?</a:t>
            </a:r>
            <a:endParaRPr lang="en-US" sz="2500" b="0" u="none" strike="noStrike">
              <a:solidFill>
                <a:srgbClr val="000000"/>
              </a:solidFill>
              <a:effectLst/>
              <a:uFillTx/>
              <a:latin typeface="Arial"/>
            </a:endParaRPr>
          </a:p>
        </p:txBody>
      </p:sp>
      <p:sp>
        <p:nvSpPr>
          <p:cNvPr id="302"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lnSpcReduction="9999"/>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“I thought you said Pybricks is easy to learn and use….”</a:t>
            </a:r>
            <a:endParaRPr lang="en-US" sz="1800" b="0" u="none" strike="noStrike">
              <a:solidFill>
                <a:srgbClr val="000000"/>
              </a:solidFill>
              <a:effectLst/>
              <a:uFillTx/>
              <a:latin typeface="Arial"/>
            </a:endParaRPr>
          </a:p>
          <a:p>
            <a:pPr marL="114480"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It is...but kids end up repeatedly using the same sequence of commands over and over but just with different values</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A Robot Library:</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Allows students to focus on solving the robot missions</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Combines multiple functions (e.g., steps) into a single step</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Enables easier debugging of robot programs</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600" b="0" u="none" strike="noStrike">
                <a:solidFill>
                  <a:schemeClr val="dk1"/>
                </a:solidFill>
                <a:effectLst/>
                <a:uFillTx/>
                <a:latin typeface="Arial"/>
                <a:ea typeface="Arial"/>
              </a:rPr>
              <a:t>Simplifies the robot control into English like phrases that are easy for kids to understand</a:t>
            </a:r>
            <a:endParaRPr lang="en-US" sz="1600" b="0" u="none" strike="noStrike">
              <a:solidFill>
                <a:srgbClr val="000000"/>
              </a:solidFill>
              <a:effectLst/>
              <a:uFillTx/>
              <a:latin typeface="Arial"/>
            </a:endParaRPr>
          </a:p>
        </p:txBody>
      </p:sp>
      <p:sp>
        <p:nvSpPr>
          <p:cNvPr id="303" name="PlaceHolder 3"/>
          <p:cNvSpPr>
            <a:spLocks noGrp="1"/>
          </p:cNvSpPr>
          <p:nvPr>
            <p:ph type="sldNum" idx="7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E9C7955-662E-473D-A820-BA7BC14DEA90}" type="slidenum">
              <a:rPr lang="en" sz="1000" b="0" u="none" strike="noStrike">
                <a:solidFill>
                  <a:schemeClr val="dk2"/>
                </a:solidFill>
                <a:effectLst/>
                <a:uFillTx/>
                <a:latin typeface="Arial"/>
                <a:ea typeface="Arial"/>
              </a:rPr>
              <a:t>61</a:t>
            </a:fld>
            <a:endParaRPr lang="en-US" sz="1000" b="0" u="none" strike="noStrike">
              <a:solidFill>
                <a:srgbClr val="000000"/>
              </a:solidFill>
              <a:effectLst/>
              <a:uFillTx/>
              <a:latin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Why a Robot Library?</a:t>
            </a:r>
            <a:endParaRPr lang="en-US" sz="2500" b="0" u="none" strike="noStrike">
              <a:solidFill>
                <a:srgbClr val="000000"/>
              </a:solidFill>
              <a:effectLst/>
              <a:uFillTx/>
              <a:latin typeface="Arial"/>
            </a:endParaRPr>
          </a:p>
        </p:txBody>
      </p:sp>
      <p:sp>
        <p:nvSpPr>
          <p:cNvPr id="305"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The robot library combines those commands into functions, which: </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600" b="0" u="none" strike="noStrike">
                <a:solidFill>
                  <a:schemeClr val="dk1"/>
                </a:solidFill>
                <a:effectLst/>
                <a:uFillTx/>
                <a:latin typeface="Arial"/>
                <a:ea typeface="Arial"/>
              </a:rPr>
              <a:t>Reduces errors of manually reusing the same block of code over and over</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600" b="0" u="none" strike="noStrike">
                <a:solidFill>
                  <a:schemeClr val="dk1"/>
                </a:solidFill>
                <a:effectLst/>
                <a:uFillTx/>
                <a:latin typeface="Arial"/>
                <a:ea typeface="Arial"/>
              </a:rPr>
              <a:t>Provides a mechanism to embed configurable debugging (diagnostic) statements that can be displayed when testing</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600" b="0" u="none" strike="noStrike">
                <a:solidFill>
                  <a:schemeClr val="dk1"/>
                </a:solidFill>
                <a:effectLst/>
                <a:uFillTx/>
                <a:latin typeface="Arial"/>
                <a:ea typeface="Arial"/>
              </a:rPr>
              <a:t>Supports code reuse which is a major programming principle</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600" b="0" u="none" strike="noStrike">
                <a:solidFill>
                  <a:schemeClr val="dk1"/>
                </a:solidFill>
                <a:effectLst/>
                <a:uFillTx/>
                <a:latin typeface="Arial"/>
                <a:ea typeface="Arial"/>
              </a:rPr>
              <a:t>Allows changes to the underlying implementation without (necessarily) changing how it is used</a:t>
            </a:r>
            <a:endParaRPr lang="en-US" sz="1600" b="0" u="none" strike="noStrike">
              <a:solidFill>
                <a:srgbClr val="000000"/>
              </a:solidFill>
              <a:effectLst/>
              <a:uFillTx/>
              <a:latin typeface="Arial"/>
            </a:endParaRPr>
          </a:p>
          <a:p>
            <a:pPr marL="1371600" lvl="2" indent="-317520" algn="l">
              <a:lnSpc>
                <a:spcPct val="115000"/>
              </a:lnSpc>
              <a:buClr>
                <a:srgbClr val="000000"/>
              </a:buClr>
              <a:buFont typeface="Arial"/>
              <a:buChar char="■"/>
            </a:pPr>
            <a:r>
              <a:rPr lang="en-US" sz="1600" b="0" u="none" strike="noStrike">
                <a:solidFill>
                  <a:schemeClr val="dk1"/>
                </a:solidFill>
                <a:effectLst/>
                <a:uFillTx/>
                <a:latin typeface="Arial"/>
                <a:ea typeface="Arial"/>
              </a:rPr>
              <a:t>For example: to improve debugging functionally, to enable step-by-step execution, to improve error condition handing, to improve performance, improve input validation</a:t>
            </a:r>
            <a:endParaRPr lang="en-US" sz="1600" b="0" u="none" strike="noStrike">
              <a:solidFill>
                <a:srgbClr val="000000"/>
              </a:solidFill>
              <a:effectLst/>
              <a:uFillTx/>
              <a:latin typeface="Arial"/>
            </a:endParaRPr>
          </a:p>
          <a:p>
            <a:pPr indent="0" algn="l">
              <a:lnSpc>
                <a:spcPct val="115000"/>
              </a:lnSpc>
              <a:buNone/>
            </a:pPr>
            <a:endParaRPr lang="en-US" sz="16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700" b="0" u="none" strike="noStrike">
                <a:solidFill>
                  <a:schemeClr val="dk1"/>
                </a:solidFill>
                <a:effectLst/>
                <a:uFillTx/>
                <a:latin typeface="Arial"/>
                <a:ea typeface="Arial"/>
              </a:rPr>
              <a:t>Teaches and enforces the concept and value of code reuse</a:t>
            </a:r>
            <a:endParaRPr lang="en-US" sz="1700" b="0" u="none" strike="noStrike">
              <a:solidFill>
                <a:srgbClr val="000000"/>
              </a:solidFill>
              <a:effectLst/>
              <a:uFillTx/>
              <a:latin typeface="Arial"/>
            </a:endParaRPr>
          </a:p>
        </p:txBody>
      </p:sp>
      <p:sp>
        <p:nvSpPr>
          <p:cNvPr id="306" name="PlaceHolder 3"/>
          <p:cNvSpPr>
            <a:spLocks noGrp="1"/>
          </p:cNvSpPr>
          <p:nvPr>
            <p:ph type="sldNum" idx="7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951BFD7-12AC-4CFB-B6F5-6C4A977C16D7}" type="slidenum">
              <a:rPr lang="en" sz="1000" b="0" u="none" strike="noStrike">
                <a:solidFill>
                  <a:schemeClr val="dk2"/>
                </a:solidFill>
                <a:effectLst/>
                <a:uFillTx/>
                <a:latin typeface="Arial"/>
                <a:ea typeface="Arial"/>
              </a:rPr>
              <a:t>62</a:t>
            </a:fld>
            <a:endParaRPr lang="en-US" sz="1000" b="0" u="none" strike="noStrike">
              <a:solidFill>
                <a:srgbClr val="000000"/>
              </a:solidFill>
              <a:effectLst/>
              <a:uFillTx/>
              <a:latin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Changes from Actual Code</a:t>
            </a:r>
            <a:endParaRPr lang="en-US" sz="2500" b="0" u="none" strike="noStrike">
              <a:solidFill>
                <a:srgbClr val="000000"/>
              </a:solidFill>
              <a:effectLst/>
              <a:uFillTx/>
              <a:latin typeface="Arial"/>
            </a:endParaRPr>
          </a:p>
        </p:txBody>
      </p:sp>
      <p:sp>
        <p:nvSpPr>
          <p:cNvPr id="308"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lnSpcReduction="9999"/>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The code examples in these slides differ slightly from the actual code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Comments may have been removed so the code could fit on the slide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Whitespace (spaces/tabs) has been changed to so the code could fit on the slide. So indentations are likely wrong.</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Some debugging statements may have been removed to improve readability</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This particular robot library does NOT make use of light sensor. It only uses the sensors on the Lego Spike Prime Hub.</a:t>
            </a:r>
            <a:endParaRPr lang="en-US" sz="1800" b="0" u="none" strike="noStrike">
              <a:solidFill>
                <a:srgbClr val="000000"/>
              </a:solidFill>
              <a:effectLst/>
              <a:uFillTx/>
              <a:latin typeface="Arial"/>
            </a:endParaRPr>
          </a:p>
        </p:txBody>
      </p:sp>
      <p:sp>
        <p:nvSpPr>
          <p:cNvPr id="309" name="PlaceHolder 3"/>
          <p:cNvSpPr>
            <a:spLocks noGrp="1"/>
          </p:cNvSpPr>
          <p:nvPr>
            <p:ph type="sldNum" idx="7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4E6610C-623C-4AD6-85C0-588B94CB737A}" type="slidenum">
              <a:rPr lang="en" sz="1000" b="0" u="none" strike="noStrike">
                <a:solidFill>
                  <a:schemeClr val="dk2"/>
                </a:solidFill>
                <a:effectLst/>
                <a:uFillTx/>
                <a:latin typeface="Arial"/>
                <a:ea typeface="Arial"/>
              </a:rPr>
              <a:t>63</a:t>
            </a:fld>
            <a:endParaRPr lang="en-US" sz="1000" b="0" u="none" strike="noStrike">
              <a:solidFill>
                <a:srgbClr val="000000"/>
              </a:solidFill>
              <a:effectLst/>
              <a:uFillTx/>
              <a:latin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Support Functions</a:t>
            </a:r>
            <a:endParaRPr lang="en-US" sz="2500" b="0" u="none" strike="noStrike">
              <a:solidFill>
                <a:srgbClr val="000000"/>
              </a:solidFill>
              <a:effectLst/>
              <a:uFillTx/>
              <a:latin typeface="Arial"/>
            </a:endParaRPr>
          </a:p>
        </p:txBody>
      </p:sp>
      <p:sp>
        <p:nvSpPr>
          <p:cNvPr id="31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initializeRobot()</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Configures the robot</a:t>
            </a:r>
            <a:endParaRPr lang="en-US" sz="1400" b="0" u="none" strike="noStrike">
              <a:solidFill>
                <a:srgbClr val="000000"/>
              </a:solidFill>
              <a:effectLst/>
              <a:uFillTx/>
              <a:latin typeface="Arial"/>
            </a:endParaRPr>
          </a:p>
          <a:p>
            <a:pPr indent="0" algn="l">
              <a:lnSpc>
                <a:spcPct val="115000"/>
              </a:lnSpc>
              <a:buNone/>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stopEverything()</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Disables the Gyroscope and stops the motors</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600" b="1" u="none" strike="noStrike">
                <a:solidFill>
                  <a:schemeClr val="dk1"/>
                </a:solidFill>
                <a:effectLst/>
                <a:uFillTx/>
                <a:latin typeface="Courier New"/>
                <a:ea typeface="Arial"/>
              </a:rPr>
              <a:t>initializeRobotForTask()</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Called at the beginning of each task to set the robot </a:t>
            </a:r>
            <a:endParaRPr lang="en-US" sz="1400" b="0" u="none" strike="noStrike">
              <a:solidFill>
                <a:srgbClr val="000000"/>
              </a:solidFill>
              <a:effectLst/>
              <a:uFillTx/>
              <a:latin typeface="Arial"/>
            </a:endParaRPr>
          </a:p>
          <a:p>
            <a:pPr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600" b="1" u="none" strike="noStrike">
                <a:solidFill>
                  <a:schemeClr val="dk1"/>
                </a:solidFill>
                <a:effectLst/>
                <a:uFillTx/>
                <a:latin typeface="Courier New"/>
                <a:ea typeface="Arial"/>
              </a:rPr>
              <a:t>isStalled(attachment)</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Internal function to detect if an attachment has got stuck, not directly called by users of library</a:t>
            </a:r>
            <a:endParaRPr lang="en-US" sz="1400" b="0" u="none" strike="noStrike">
              <a:solidFill>
                <a:srgbClr val="000000"/>
              </a:solidFill>
              <a:effectLst/>
              <a:uFillTx/>
              <a:latin typeface="Arial"/>
            </a:endParaRPr>
          </a:p>
          <a:p>
            <a:pPr indent="0" algn="l">
              <a:lnSpc>
                <a:spcPct val="115000"/>
              </a:lnSpc>
              <a:buNone/>
              <a:tabLst>
                <a:tab pos="0" algn="l"/>
              </a:tabLst>
            </a:pPr>
            <a:endParaRPr lang="en-US" sz="14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312" name="PlaceHolder 3"/>
          <p:cNvSpPr>
            <a:spLocks noGrp="1"/>
          </p:cNvSpPr>
          <p:nvPr>
            <p:ph type="sldNum" idx="7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FC5B62A-62F5-4B8C-9AFA-49AFEA134488}" type="slidenum">
              <a:rPr lang="en" sz="1000" b="0" u="none" strike="noStrike">
                <a:solidFill>
                  <a:schemeClr val="dk2"/>
                </a:solidFill>
                <a:effectLst/>
                <a:uFillTx/>
                <a:latin typeface="Arial"/>
                <a:ea typeface="Arial"/>
              </a:rPr>
              <a:t>64</a:t>
            </a:fld>
            <a:endParaRPr lang="en-US" sz="1000" b="0" u="none" strike="noStrike">
              <a:solidFill>
                <a:srgbClr val="000000"/>
              </a:solidFill>
              <a:effectLst/>
              <a:uFillTx/>
              <a:latin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Movement Functions (1/2)</a:t>
            </a:r>
            <a:endParaRPr lang="en-US" sz="2500" b="0" u="none" strike="noStrike">
              <a:solidFill>
                <a:srgbClr val="000000"/>
              </a:solidFill>
              <a:effectLst/>
              <a:uFillTx/>
              <a:latin typeface="Arial"/>
            </a:endParaRPr>
          </a:p>
        </p:txBody>
      </p:sp>
      <p:sp>
        <p:nvSpPr>
          <p:cNvPr id="314"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lnSpcReduction="9999"/>
          </a:bodyPr>
          <a:lstStyle/>
          <a:p>
            <a:pPr marL="457200" indent="-343080" algn="l">
              <a:lnSpc>
                <a:spcPct val="115000"/>
              </a:lnSpc>
              <a:buClr>
                <a:srgbClr val="000000"/>
              </a:buClr>
              <a:buFont typeface="Arial"/>
              <a:buChar char="●"/>
            </a:pPr>
            <a:r>
              <a:rPr lang="en-US" sz="1800" b="1" u="none" strike="noStrike">
                <a:solidFill>
                  <a:schemeClr val="dk1"/>
                </a:solidFill>
                <a:effectLst/>
                <a:uFillTx/>
                <a:latin typeface="Courier New"/>
                <a:ea typeface="Arial"/>
              </a:rPr>
              <a:t>driveRobot(dist, speed, accel)</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Drive robot forward or backward at a specific speed and acceleration</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driveRobotAndLift(dist, accel, attachmentStr, degrees, aSpeed, stopMode, resetAngle, stallDetect)</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Drive robot forward or backward while lifting an attachment up or down</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turnRobot(dir, turnAccel, turnRate)</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Turn robot in a specific direction at a specific speed (rate) and acceleration</a:t>
            </a:r>
            <a:endParaRPr lang="en-US" sz="1400" b="0" u="none" strike="noStrike">
              <a:solidFill>
                <a:srgbClr val="000000"/>
              </a:solidFill>
              <a:effectLst/>
              <a:uFillTx/>
              <a:latin typeface="Arial"/>
            </a:endParaRPr>
          </a:p>
          <a:p>
            <a:pPr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1" u="none" strike="noStrike">
                <a:solidFill>
                  <a:schemeClr val="dk1"/>
                </a:solidFill>
                <a:effectLst/>
                <a:uFillTx/>
                <a:latin typeface="Courier New"/>
                <a:ea typeface="Arial"/>
              </a:rPr>
              <a:t>turnRobotAndLift(dir, turnAccel, turnRate, attachmentStr, degrees, aSpeed, stopMode, resetAngle, stallDetect)</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0" u="none" strike="noStrike">
                <a:solidFill>
                  <a:schemeClr val="dk1"/>
                </a:solidFill>
                <a:effectLst/>
                <a:uFillTx/>
                <a:latin typeface="Arial"/>
                <a:ea typeface="Arial"/>
              </a:rPr>
              <a:t>Turn robot while lifting up or down while lifting an attachment up or down</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114480" indent="0" algn="l">
              <a:lnSpc>
                <a:spcPct val="115000"/>
              </a:lnSpc>
              <a:buNone/>
              <a:tabLst>
                <a:tab pos="0" algn="l"/>
              </a:tabLst>
            </a:pPr>
            <a:endParaRPr lang="en-US" sz="1500" b="0" u="none" strike="noStrike">
              <a:solidFill>
                <a:srgbClr val="000000"/>
              </a:solidFill>
              <a:effectLst/>
              <a:uFillTx/>
              <a:latin typeface="Arial"/>
            </a:endParaRPr>
          </a:p>
          <a:p>
            <a:pPr indent="0" algn="l">
              <a:lnSpc>
                <a:spcPct val="115000"/>
              </a:lnSpc>
              <a:buNone/>
              <a:tabLst>
                <a:tab pos="0" algn="l"/>
              </a:tabLst>
            </a:pPr>
            <a:endParaRPr lang="en-US" sz="13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315" name="PlaceHolder 3"/>
          <p:cNvSpPr>
            <a:spLocks noGrp="1"/>
          </p:cNvSpPr>
          <p:nvPr>
            <p:ph type="sldNum" idx="7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2CB311D-DE2C-4B7C-965C-FEA00651584A}" type="slidenum">
              <a:rPr lang="en" sz="1000" b="0" u="none" strike="noStrike">
                <a:solidFill>
                  <a:schemeClr val="dk2"/>
                </a:solidFill>
                <a:effectLst/>
                <a:uFillTx/>
                <a:latin typeface="Arial"/>
                <a:ea typeface="Arial"/>
              </a:rPr>
              <a:t>65</a:t>
            </a:fld>
            <a:endParaRPr lang="en-US" sz="1000" b="0" u="none" strike="noStrike">
              <a:solidFill>
                <a:srgbClr val="000000"/>
              </a:solidFill>
              <a:effectLst/>
              <a:uFillTx/>
              <a:latin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Movement Functions (2/2)</a:t>
            </a:r>
            <a:endParaRPr lang="en-US" sz="2500" b="0" u="none" strike="noStrike">
              <a:solidFill>
                <a:srgbClr val="000000"/>
              </a:solidFill>
              <a:effectLst/>
              <a:uFillTx/>
              <a:latin typeface="Arial"/>
            </a:endParaRPr>
          </a:p>
        </p:txBody>
      </p:sp>
      <p:sp>
        <p:nvSpPr>
          <p:cNvPr id="317"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92500" lnSpcReduction="9999"/>
          </a:bodyPr>
          <a:lstStyle/>
          <a:p>
            <a:pPr marL="457200" indent="-343080" algn="l">
              <a:lnSpc>
                <a:spcPct val="115000"/>
              </a:lnSpc>
              <a:buClr>
                <a:srgbClr val="000000"/>
              </a:buClr>
              <a:buFont typeface="Arial"/>
              <a:buChar char="●"/>
            </a:pPr>
            <a:r>
              <a:rPr lang="en-US" sz="1800" b="1" u="none" strike="noStrike">
                <a:solidFill>
                  <a:schemeClr val="dk1"/>
                </a:solidFill>
                <a:effectLst/>
                <a:uFillTx/>
                <a:latin typeface="Courier New"/>
                <a:ea typeface="Arial"/>
              </a:rPr>
              <a:t>driveRobotInArc(radius, mode, angleOrDist, speed, accel, turnAccel, turnRate)</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Drive robot forward or backward in arc for a specific angle or distance at a specific speed, acceleration, and turn rate</a:t>
            </a:r>
            <a:endParaRPr lang="en-US" sz="1400" b="0" u="none" strike="noStrike">
              <a:solidFill>
                <a:srgbClr val="000000"/>
              </a:solidFill>
              <a:effectLst/>
              <a:uFillTx/>
              <a:latin typeface="Arial"/>
            </a:endParaRPr>
          </a:p>
          <a:p>
            <a:pPr indent="0" algn="l">
              <a:lnSpc>
                <a:spcPct val="115000"/>
              </a:lnSpc>
              <a:buNone/>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700" b="1" u="none" strike="noStrike">
                <a:solidFill>
                  <a:schemeClr val="dk1"/>
                </a:solidFill>
                <a:effectLst/>
                <a:uFillTx/>
                <a:latin typeface="Courier New"/>
                <a:ea typeface="Arial"/>
              </a:rPr>
              <a:t>driveRobotInArcAndLift(radius,mode, angleOrDist, attachmentStr, degrees, aSpeed, </a:t>
            </a:r>
            <a:r>
              <a:rPr lang="en-US" sz="1600" b="1" u="none" strike="noStrike">
                <a:solidFill>
                  <a:schemeClr val="dk1"/>
                </a:solidFill>
                <a:effectLst/>
                <a:uFillTx/>
                <a:latin typeface="Courier New"/>
                <a:ea typeface="Arial"/>
              </a:rPr>
              <a:t>stopMode, </a:t>
            </a:r>
            <a:r>
              <a:rPr lang="en-US" sz="1700" b="1" u="none" strike="noStrike">
                <a:solidFill>
                  <a:schemeClr val="dk1"/>
                </a:solidFill>
                <a:effectLst/>
                <a:uFillTx/>
                <a:latin typeface="Courier New"/>
                <a:ea typeface="Arial"/>
              </a:rPr>
              <a:t>resetAngle, stallDetect)</a:t>
            </a:r>
            <a:r>
              <a:rPr lang="en-US" sz="1700" b="1" u="none" strike="noStrike">
                <a:solidFill>
                  <a:schemeClr val="dk1"/>
                </a:solidFill>
                <a:effectLst/>
                <a:uFillTx/>
                <a:latin typeface="Arial"/>
                <a:ea typeface="Arial"/>
              </a:rPr>
              <a:t> </a:t>
            </a:r>
            <a:endParaRPr lang="en-US" sz="17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Drive robot forward or backward in arc for a specific angle or distance at a specific speed, acceleration, and turn rate while lifting an attachment up or down</a:t>
            </a:r>
            <a:endParaRPr lang="en-US" sz="1400" b="0" u="none" strike="noStrike">
              <a:solidFill>
                <a:srgbClr val="000000"/>
              </a:solidFill>
              <a:effectLst/>
              <a:uFillTx/>
              <a:latin typeface="Arial"/>
            </a:endParaRPr>
          </a:p>
          <a:p>
            <a:pPr indent="0" algn="l">
              <a:lnSpc>
                <a:spcPct val="115000"/>
              </a:lnSpc>
              <a:buNone/>
            </a:pPr>
            <a:endParaRPr lang="en-US" sz="15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600" b="1" u="none" strike="noStrike">
                <a:solidFill>
                  <a:schemeClr val="dk1"/>
                </a:solidFill>
                <a:effectLst/>
                <a:uFillTx/>
                <a:latin typeface="Courier New"/>
                <a:ea typeface="Arial"/>
              </a:rPr>
              <a:t>moveAttachment(attachmentStr, degrees, speed, stopMode, resetAngle, stallDetect)</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Move an attachment by a specified number of degrees at specific speed with optional stall detection</a:t>
            </a:r>
            <a:endParaRPr lang="en-US" sz="1400" b="0" u="none" strike="noStrike">
              <a:solidFill>
                <a:srgbClr val="000000"/>
              </a:solidFill>
              <a:effectLst/>
              <a:uFillTx/>
              <a:latin typeface="Arial"/>
            </a:endParaRPr>
          </a:p>
          <a:p>
            <a:pPr indent="0" algn="l">
              <a:lnSpc>
                <a:spcPct val="115000"/>
              </a:lnSpc>
              <a:buNone/>
            </a:pPr>
            <a:endParaRPr lang="en-US" sz="1900" b="0" u="none" strike="noStrike">
              <a:solidFill>
                <a:srgbClr val="000000"/>
              </a:solidFill>
              <a:effectLst/>
              <a:uFillTx/>
              <a:latin typeface="Arial"/>
            </a:endParaRPr>
          </a:p>
          <a:p>
            <a:pPr indent="0" algn="l">
              <a:lnSpc>
                <a:spcPct val="115000"/>
              </a:lnSpc>
              <a:buNone/>
            </a:pPr>
            <a:endParaRPr lang="en-US" sz="13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p:txBody>
      </p:sp>
      <p:sp>
        <p:nvSpPr>
          <p:cNvPr id="318" name="PlaceHolder 3"/>
          <p:cNvSpPr>
            <a:spLocks noGrp="1"/>
          </p:cNvSpPr>
          <p:nvPr>
            <p:ph type="sldNum" idx="78"/>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74B683A-06A0-4B16-B1A5-34A06BB8F17C}" type="slidenum">
              <a:rPr lang="en" sz="1000" b="0" u="none" strike="noStrike">
                <a:solidFill>
                  <a:schemeClr val="dk2"/>
                </a:solidFill>
                <a:effectLst/>
                <a:uFillTx/>
                <a:latin typeface="Arial"/>
                <a:ea typeface="Arial"/>
              </a:rPr>
              <a:t>66</a:t>
            </a:fld>
            <a:endParaRPr lang="en-US" sz="1000" b="0" u="none" strike="noStrike">
              <a:solidFill>
                <a:srgbClr val="000000"/>
              </a:solidFill>
              <a:effectLst/>
              <a:uFillTx/>
              <a:latin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Robot Library Header </a:t>
            </a:r>
            <a:endParaRPr lang="en-US" sz="2500" b="0" u="none" strike="noStrike">
              <a:solidFill>
                <a:srgbClr val="000000"/>
              </a:solidFill>
              <a:effectLst/>
              <a:uFillTx/>
              <a:latin typeface="Arial"/>
            </a:endParaRPr>
          </a:p>
        </p:txBody>
      </p:sp>
      <p:sp>
        <p:nvSpPr>
          <p:cNvPr id="320" name="PlaceHolder 2"/>
          <p:cNvSpPr>
            <a:spLocks noGrp="1"/>
          </p:cNvSpPr>
          <p:nvPr>
            <p:ph type="sldNum" idx="79"/>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598C9C0-642D-4942-992C-A6965FA45F34}" type="slidenum">
              <a:rPr lang="en" sz="1000" b="0" u="none" strike="noStrike">
                <a:solidFill>
                  <a:schemeClr val="dk2"/>
                </a:solidFill>
                <a:effectLst/>
                <a:uFillTx/>
                <a:latin typeface="Arial"/>
                <a:ea typeface="Arial"/>
              </a:rPr>
              <a:t>67</a:t>
            </a:fld>
            <a:endParaRPr lang="en-US" sz="1000" b="0" u="none" strike="noStrike">
              <a:solidFill>
                <a:srgbClr val="000000"/>
              </a:solidFill>
              <a:effectLst/>
              <a:uFillTx/>
              <a:latin typeface="Times New Roman"/>
            </a:endParaRPr>
          </a:p>
        </p:txBody>
      </p:sp>
      <p:sp>
        <p:nvSpPr>
          <p:cNvPr id="321" name="TextBox 5"/>
          <p:cNvSpPr/>
          <p:nvPr/>
        </p:nvSpPr>
        <p:spPr>
          <a:xfrm>
            <a:off x="122760" y="682920"/>
            <a:ext cx="6556680" cy="393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000" b="1" u="none" strike="noStrike">
                <a:solidFill>
                  <a:srgbClr val="008E00"/>
                </a:solidFill>
                <a:effectLst/>
                <a:uFillTx/>
                <a:latin typeface="Menlo"/>
                <a:ea typeface="Arial"/>
              </a:rPr>
              <a:t># Basic FLL Robot Library</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This code is released under the Apache License v2.0</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https://www.apache.org/licenses/LICENSE-2.0.txt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Developed against Pybricks 3.6.1 </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Update this if you change the code</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Menlo"/>
                <a:ea typeface="Arial"/>
              </a:rPr>
              <a:t>coreLib_revision=</a:t>
            </a:r>
            <a:r>
              <a:rPr lang="en-US" sz="1000" b="1" u="none" strike="noStrike">
                <a:solidFill>
                  <a:srgbClr val="DF0002"/>
                </a:solidFill>
                <a:effectLst/>
                <a:uFillTx/>
                <a:latin typeface="Menlo"/>
                <a:ea typeface="Arial"/>
              </a:rPr>
              <a:t>"4"</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Menlo"/>
                <a:ea typeface="Arial"/>
              </a:rPr>
              <a:t>coreLib_date=</a:t>
            </a:r>
            <a:r>
              <a:rPr lang="en-US" sz="1000" b="1" u="none" strike="noStrike">
                <a:solidFill>
                  <a:srgbClr val="DF0002"/>
                </a:solidFill>
                <a:effectLst/>
                <a:uFillTx/>
                <a:latin typeface="Menlo"/>
                <a:ea typeface="Arial"/>
              </a:rPr>
              <a:t>"14 September 2025"</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pybricks.hubs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PrimeHub</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pybricks.pupdevices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Motor, ColorSensor, UltrasonicSensor, ForceSensor</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pybricks.parameters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Axis, Button, Color, Direction, Port, Side, Stop</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pybricks.robotics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DriveBase</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pybricks.iodevices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XboxController</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pybricks.tools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wait, StopWatch, multitask, run_task, hub_menu</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umath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sin, pi</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from</a:t>
            </a:r>
            <a:r>
              <a:rPr lang="en-US" sz="1000" b="1" u="none" strike="noStrike">
                <a:solidFill>
                  <a:srgbClr val="000000"/>
                </a:solidFill>
                <a:effectLst/>
                <a:uFillTx/>
                <a:latin typeface="Menlo"/>
                <a:ea typeface="Arial"/>
              </a:rPr>
              <a:t> pybricks.hubs </a:t>
            </a:r>
            <a:r>
              <a:rPr lang="en-US" sz="1000" b="1" u="none" strike="noStrike">
                <a:solidFill>
                  <a:srgbClr val="C800A4"/>
                </a:solidFill>
                <a:effectLst/>
                <a:uFillTx/>
                <a:latin typeface="Menlo"/>
                <a:ea typeface="Arial"/>
              </a:rPr>
              <a:t>import</a:t>
            </a:r>
            <a:r>
              <a:rPr lang="en-US" sz="1000" b="1" u="none" strike="noStrike">
                <a:solidFill>
                  <a:srgbClr val="000000"/>
                </a:solidFill>
                <a:effectLst/>
                <a:uFillTx/>
                <a:latin typeface="Menlo"/>
                <a:ea typeface="Arial"/>
              </a:rPr>
              <a:t> PrimeHub</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change this for your configuration file</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a:t>
            </a:r>
            <a:endParaRPr lang="en-US" sz="1000" b="0" u="none" strike="noStrike">
              <a:solidFill>
                <a:srgbClr val="000000"/>
              </a:solidFill>
              <a:effectLst/>
              <a:uFillTx/>
              <a:latin typeface="Arial"/>
            </a:endParaRPr>
          </a:p>
          <a:p>
            <a:pPr>
              <a:lnSpc>
                <a:spcPct val="100000"/>
              </a:lnSpc>
            </a:pPr>
            <a:r>
              <a:rPr lang="en-US" sz="1000" b="1" u="none" strike="noStrike">
                <a:solidFill>
                  <a:srgbClr val="008E00"/>
                </a:solidFill>
                <a:effectLst/>
                <a:uFillTx/>
                <a:latin typeface="Menlo"/>
                <a:ea typeface="Arial"/>
              </a:rPr>
              <a:t># define and set the debug levels</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Menlo"/>
                <a:ea typeface="Arial"/>
              </a:rPr>
              <a:t>debugL1=</a:t>
            </a:r>
            <a:r>
              <a:rPr lang="en-US" sz="1000" b="1" u="none" strike="noStrike">
                <a:solidFill>
                  <a:srgbClr val="C800A4"/>
                </a:solidFill>
                <a:effectLst/>
                <a:uFillTx/>
                <a:latin typeface="Menlo"/>
                <a:ea typeface="Arial"/>
              </a:rPr>
              <a:t>True</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Menlo"/>
                <a:ea typeface="Arial"/>
              </a:rPr>
              <a:t>debugL2=</a:t>
            </a:r>
            <a:r>
              <a:rPr lang="en-US" sz="1000" b="1" u="none" strike="noStrike">
                <a:solidFill>
                  <a:srgbClr val="C800A4"/>
                </a:solidFill>
                <a:effectLst/>
                <a:uFillTx/>
                <a:latin typeface="Menlo"/>
                <a:ea typeface="Arial"/>
              </a:rPr>
              <a:t>False</a:t>
            </a:r>
            <a:endParaRPr lang="en-US" sz="1000" b="0" u="none" strike="noStrike">
              <a:solidFill>
                <a:srgbClr val="000000"/>
              </a:solidFill>
              <a:effectLst/>
              <a:uFillTx/>
              <a:latin typeface="Arial"/>
            </a:endParaRPr>
          </a:p>
        </p:txBody>
      </p:sp>
      <p:cxnSp>
        <p:nvCxnSpPr>
          <p:cNvPr id="322" name="Straight Arrow Connector 6"/>
          <p:cNvCxnSpPr>
            <a:stCxn id="323" idx="1"/>
          </p:cNvCxnSpPr>
          <p:nvPr/>
        </p:nvCxnSpPr>
        <p:spPr>
          <a:xfrm flipH="1">
            <a:off x="3106080" y="1180080"/>
            <a:ext cx="3663720" cy="739800"/>
          </a:xfrm>
          <a:prstGeom prst="straightConnector1">
            <a:avLst/>
          </a:prstGeom>
          <a:ln w="73025">
            <a:solidFill>
              <a:srgbClr val="000000"/>
            </a:solidFill>
            <a:round/>
            <a:tailEnd type="triangle" w="med" len="med"/>
          </a:ln>
        </p:spPr>
      </p:cxnSp>
      <p:sp>
        <p:nvSpPr>
          <p:cNvPr id="323" name="TextBox 7"/>
          <p:cNvSpPr/>
          <p:nvPr/>
        </p:nvSpPr>
        <p:spPr>
          <a:xfrm>
            <a:off x="6769440" y="918720"/>
            <a:ext cx="215640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Change these when you update the library</a:t>
            </a:r>
            <a:endParaRPr lang="en-US" sz="1400" b="0" u="none" strike="noStrike">
              <a:solidFill>
                <a:srgbClr val="000000"/>
              </a:solidFill>
              <a:effectLst/>
              <a:uFillTx/>
              <a:latin typeface="Arial"/>
            </a:endParaRPr>
          </a:p>
        </p:txBody>
      </p:sp>
      <p:sp>
        <p:nvSpPr>
          <p:cNvPr id="324" name="TextBox 9"/>
          <p:cNvSpPr/>
          <p:nvPr/>
        </p:nvSpPr>
        <p:spPr>
          <a:xfrm>
            <a:off x="6769440" y="1617480"/>
            <a:ext cx="215640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This imports the majority of the Pybricks functions you will likely need if your programs.</a:t>
            </a:r>
            <a:endParaRPr lang="en-US" sz="1400" b="0" u="none" strike="noStrike">
              <a:solidFill>
                <a:srgbClr val="000000"/>
              </a:solidFill>
              <a:effectLst/>
              <a:uFillTx/>
              <a:latin typeface="Arial"/>
            </a:endParaRPr>
          </a:p>
        </p:txBody>
      </p:sp>
      <p:cxnSp>
        <p:nvCxnSpPr>
          <p:cNvPr id="325" name="Straight Arrow Connector 10"/>
          <p:cNvCxnSpPr>
            <a:stCxn id="324" idx="1"/>
          </p:cNvCxnSpPr>
          <p:nvPr/>
        </p:nvCxnSpPr>
        <p:spPr>
          <a:xfrm flipH="1">
            <a:off x="5751360" y="2094480"/>
            <a:ext cx="1018440" cy="322560"/>
          </a:xfrm>
          <a:prstGeom prst="straightConnector1">
            <a:avLst/>
          </a:prstGeom>
          <a:ln w="73025">
            <a:solidFill>
              <a:srgbClr val="000000"/>
            </a:solidFill>
            <a:round/>
            <a:tailEnd type="triangle" w="med" len="med"/>
          </a:ln>
        </p:spPr>
      </p:cxnSp>
      <p:sp>
        <p:nvSpPr>
          <p:cNvPr id="326" name="TextBox 15"/>
          <p:cNvSpPr/>
          <p:nvPr/>
        </p:nvSpPr>
        <p:spPr>
          <a:xfrm>
            <a:off x="5947200" y="2989440"/>
            <a:ext cx="2979000" cy="15692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1" u="none" strike="noStrike">
                <a:solidFill>
                  <a:srgbClr val="000000"/>
                </a:solidFill>
                <a:effectLst/>
                <a:uFillTx/>
                <a:latin typeface="Arial"/>
                <a:ea typeface="Arial"/>
              </a:rPr>
              <a:t>debugL1</a:t>
            </a:r>
            <a:r>
              <a:rPr lang="en-US" sz="1200" b="0" u="none" strike="noStrike">
                <a:solidFill>
                  <a:srgbClr val="000000"/>
                </a:solidFill>
                <a:effectLst/>
                <a:uFillTx/>
                <a:latin typeface="Arial"/>
                <a:ea typeface="Arial"/>
              </a:rPr>
              <a:t>  </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en-US" sz="1200" b="0" u="none" strike="noStrike">
                <a:solidFill>
                  <a:srgbClr val="000000"/>
                </a:solidFill>
                <a:effectLst/>
                <a:uFillTx/>
                <a:latin typeface="Arial"/>
                <a:ea typeface="Arial"/>
              </a:rPr>
              <a:t>Minimal debug output</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en-US" sz="1200" b="0" u="none" strike="noStrike">
                <a:solidFill>
                  <a:srgbClr val="000000"/>
                </a:solidFill>
                <a:effectLst/>
                <a:uFillTx/>
                <a:latin typeface="Arial"/>
                <a:ea typeface="Arial"/>
              </a:rPr>
              <a:t>We typically use L1 for our robot tasks</a:t>
            </a:r>
            <a:endParaRPr lang="en-US" sz="1200" b="0" u="none" strike="noStrike">
              <a:solidFill>
                <a:srgbClr val="000000"/>
              </a:solidFill>
              <a:effectLst/>
              <a:uFillTx/>
              <a:latin typeface="Arial"/>
            </a:endParaRPr>
          </a:p>
          <a:p>
            <a:pPr>
              <a:lnSpc>
                <a:spcPct val="100000"/>
              </a:lnSpc>
            </a:pPr>
            <a:r>
              <a:rPr lang="en-US" sz="1200" b="1" u="none" strike="noStrike">
                <a:solidFill>
                  <a:srgbClr val="000000"/>
                </a:solidFill>
                <a:effectLst/>
                <a:uFillTx/>
                <a:latin typeface="Arial"/>
                <a:ea typeface="Arial"/>
              </a:rPr>
              <a:t>debugL2</a:t>
            </a:r>
            <a:endParaRPr lang="en-US" sz="1200" b="0" u="none" strike="noStrike">
              <a:solidFill>
                <a:srgbClr val="000000"/>
              </a:solidFill>
              <a:effectLst/>
              <a:uFillTx/>
              <a:latin typeface="Arial"/>
            </a:endParaRPr>
          </a:p>
          <a:p>
            <a:pPr marL="171360" lvl="1" indent="-171360">
              <a:lnSpc>
                <a:spcPct val="100000"/>
              </a:lnSpc>
              <a:buClr>
                <a:srgbClr val="000000"/>
              </a:buClr>
              <a:buFont typeface="Arial"/>
              <a:buChar char="•"/>
            </a:pPr>
            <a:r>
              <a:rPr lang="en-US" sz="1200" b="0" u="none" strike="noStrike">
                <a:solidFill>
                  <a:srgbClr val="000000"/>
                </a:solidFill>
                <a:effectLst/>
                <a:uFillTx/>
                <a:latin typeface="Arial"/>
                <a:ea typeface="Arial"/>
              </a:rPr>
              <a:t>Large amount of debug output </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Arial"/>
              </a:rPr>
              <a:t>Both should be set to </a:t>
            </a:r>
            <a:r>
              <a:rPr lang="en-US" sz="1200" b="1" u="none" strike="noStrike">
                <a:solidFill>
                  <a:srgbClr val="000000"/>
                </a:solidFill>
                <a:effectLst/>
                <a:uFillTx/>
                <a:latin typeface="Courier New"/>
                <a:ea typeface="Arial"/>
              </a:rPr>
              <a:t>False</a:t>
            </a:r>
            <a:r>
              <a:rPr lang="en-US" sz="1200" b="0" u="none" strike="noStrike">
                <a:solidFill>
                  <a:srgbClr val="000000"/>
                </a:solidFill>
                <a:effectLst/>
                <a:uFillTx/>
                <a:latin typeface="Arial"/>
                <a:ea typeface="Arial"/>
              </a:rPr>
              <a:t> for production (competition)</a:t>
            </a:r>
            <a:endParaRPr lang="en-US" sz="1200" b="0" u="none" strike="noStrike">
              <a:solidFill>
                <a:srgbClr val="000000"/>
              </a:solidFill>
              <a:effectLst/>
              <a:uFillTx/>
              <a:latin typeface="Arial"/>
            </a:endParaRPr>
          </a:p>
        </p:txBody>
      </p:sp>
      <p:cxnSp>
        <p:nvCxnSpPr>
          <p:cNvPr id="327" name="Straight Arrow Connector 16"/>
          <p:cNvCxnSpPr>
            <a:stCxn id="326" idx="1"/>
          </p:cNvCxnSpPr>
          <p:nvPr/>
        </p:nvCxnSpPr>
        <p:spPr>
          <a:xfrm flipH="1">
            <a:off x="1758960" y="3774240"/>
            <a:ext cx="4188600" cy="637560"/>
          </a:xfrm>
          <a:prstGeom prst="straightConnector1">
            <a:avLst/>
          </a:prstGeom>
          <a:ln w="73025">
            <a:solidFill>
              <a:srgbClr val="000000"/>
            </a:solidFill>
            <a:round/>
            <a:tailEnd type="triangle" w="med" len="med"/>
          </a:ln>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xtBox 8"/>
          <p:cNvSpPr/>
          <p:nvPr/>
        </p:nvSpPr>
        <p:spPr>
          <a:xfrm>
            <a:off x="146520" y="682920"/>
            <a:ext cx="7261920" cy="393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000" b="1" u="none" strike="noStrike">
                <a:solidFill>
                  <a:srgbClr val="C800A4"/>
                </a:solidFill>
                <a:effectLst/>
                <a:uFillTx/>
                <a:latin typeface="Menlo"/>
                <a:ea typeface="Arial"/>
              </a:rPr>
              <a:t>def</a:t>
            </a:r>
            <a:r>
              <a:rPr lang="en-US" sz="1000" b="1" u="none" strike="noStrike">
                <a:solidFill>
                  <a:srgbClr val="000000"/>
                </a:solidFill>
                <a:effectLst/>
                <a:uFillTx/>
                <a:latin typeface="Menlo"/>
                <a:ea typeface="Arial"/>
              </a:rPr>
              <a:t> initiatizeRobot():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hub</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Menlo"/>
                <a:ea typeface="Arial"/>
              </a:rPr>
              <a:t>   </a:t>
            </a:r>
            <a:r>
              <a:rPr lang="en-US" sz="1000" b="1" u="none" strike="noStrike">
                <a:solidFill>
                  <a:srgbClr val="C800A4"/>
                </a:solidFill>
                <a:effectLst/>
                <a:uFillTx/>
                <a:latin typeface="Menlo"/>
                <a:ea typeface="Arial"/>
              </a:rPr>
              <a:t>global</a:t>
            </a:r>
            <a:r>
              <a:rPr lang="en-US" sz="1000" b="1" u="none" strike="noStrike">
                <a:solidFill>
                  <a:srgbClr val="000000"/>
                </a:solidFill>
                <a:effectLst/>
                <a:uFillTx/>
                <a:latin typeface="Menlo"/>
                <a:ea typeface="Arial"/>
              </a:rPr>
              <a:t> leftAttachment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leftAttachmentName</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rightAttachment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rightAttachmentName</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attachmentsPresent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driveBase</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leftMotor</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rightMotor</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leftDriveMotorPort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rightDriveMotorPort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leftAttachmentMotorPort</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rightAttachmentMotorPort </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leftAttachmentHasGears</a:t>
            </a:r>
            <a:endParaRPr lang="en-US" sz="1000" b="0" u="none" strike="noStrike">
              <a:solidFill>
                <a:srgbClr val="000000"/>
              </a:solidFill>
              <a:effectLst/>
              <a:uFillTx/>
              <a:latin typeface="Arial"/>
            </a:endParaRPr>
          </a:p>
          <a:p>
            <a:pPr>
              <a:lnSpc>
                <a:spcPct val="100000"/>
              </a:lnSpc>
            </a:pPr>
            <a:r>
              <a:rPr lang="en-US" sz="1000" b="1" u="none" strike="noStrike">
                <a:solidFill>
                  <a:srgbClr val="C800A4"/>
                </a:solidFill>
                <a:effectLst/>
                <a:uFillTx/>
                <a:latin typeface="Menlo"/>
                <a:ea typeface="Arial"/>
              </a:rPr>
              <a:t>   global</a:t>
            </a:r>
            <a:r>
              <a:rPr lang="en-US" sz="1000" b="1" u="none" strike="noStrike">
                <a:solidFill>
                  <a:srgbClr val="000000"/>
                </a:solidFill>
                <a:effectLst/>
                <a:uFillTx/>
                <a:latin typeface="Menlo"/>
                <a:ea typeface="Arial"/>
              </a:rPr>
              <a:t> rightAttachmentHasGears</a:t>
            </a: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a:p>
            <a:pPr>
              <a:lnSpc>
                <a:spcPts val="1349"/>
              </a:lnSpc>
            </a:pPr>
            <a:r>
              <a:rPr lang="en-US" sz="1000" b="1" u="none" strike="noStrike">
                <a:solidFill>
                  <a:srgbClr val="008000"/>
                </a:solidFill>
                <a:effectLst/>
                <a:uFillTx/>
                <a:latin typeface="Menlo"/>
                <a:ea typeface="Arial"/>
              </a:rPr>
              <a:t># initialize the robot's</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hub</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267F99"/>
                </a:solidFill>
                <a:effectLst/>
                <a:uFillTx/>
                <a:latin typeface="Menlo"/>
                <a:ea typeface="Arial"/>
              </a:rPr>
              <a:t>PrimeHub</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8000"/>
                </a:solidFill>
                <a:effectLst/>
                <a:uFillTx/>
                <a:latin typeface="Menlo"/>
                <a:ea typeface="Arial"/>
              </a:rPr>
              <a:t># print some information about the robot library</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debugL1</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"Basic Robot Library Rev#"</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coreLib_revision</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"Release Date: "</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coreLib_date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debugL1</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Initializing Robot"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debugL1</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Using hub named: "</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hub</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system</a:t>
            </a:r>
            <a:r>
              <a:rPr lang="en-US" sz="1000" b="1" u="none" strike="noStrike">
                <a:solidFill>
                  <a:srgbClr val="3B3B3B"/>
                </a:solidFill>
                <a:effectLst/>
                <a:uFillTx/>
                <a:latin typeface="Menlo"/>
                <a:ea typeface="Arial"/>
              </a:rPr>
              <a:t>.</a:t>
            </a:r>
            <a:r>
              <a:rPr lang="en-US" sz="1000" b="1" u="none" strike="noStrike">
                <a:solidFill>
                  <a:srgbClr val="795E26"/>
                </a:solidFill>
                <a:effectLst/>
                <a:uFillTx/>
                <a:latin typeface="Menlo"/>
                <a:ea typeface="Arial"/>
              </a:rPr>
              <a:t>name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p:txBody>
      </p:sp>
      <p:sp>
        <p:nvSpPr>
          <p:cNvPr id="32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400" b="1" u="none" strike="noStrike">
                <a:solidFill>
                  <a:schemeClr val="lt1"/>
                </a:solidFill>
                <a:effectLst/>
                <a:uFillTx/>
                <a:latin typeface="Courier New"/>
                <a:ea typeface="Arial"/>
              </a:rPr>
              <a:t>initializeRobot() </a:t>
            </a:r>
            <a:r>
              <a:rPr lang="en-US" sz="2400" b="1" u="none" strike="noStrike">
                <a:solidFill>
                  <a:schemeClr val="lt1"/>
                </a:solidFill>
                <a:effectLst/>
                <a:uFillTx/>
                <a:latin typeface="Arial"/>
                <a:ea typeface="Arial"/>
              </a:rPr>
              <a:t>(1/4)</a:t>
            </a:r>
            <a:br>
              <a:rPr sz="2000"/>
            </a:br>
            <a:endParaRPr lang="en-US" sz="2400" b="0" u="none" strike="noStrike">
              <a:solidFill>
                <a:srgbClr val="000000"/>
              </a:solidFill>
              <a:effectLst/>
              <a:uFillTx/>
              <a:latin typeface="Arial"/>
            </a:endParaRPr>
          </a:p>
        </p:txBody>
      </p:sp>
      <p:sp>
        <p:nvSpPr>
          <p:cNvPr id="330" name="PlaceHolder 2"/>
          <p:cNvSpPr>
            <a:spLocks noGrp="1"/>
          </p:cNvSpPr>
          <p:nvPr>
            <p:ph type="sldNum" idx="8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3543F875-3F4A-4190-99DE-B5FD315BA7D2}" type="slidenum">
              <a:rPr lang="en" sz="1000" b="0" u="none" strike="noStrike">
                <a:solidFill>
                  <a:schemeClr val="dk2"/>
                </a:solidFill>
                <a:effectLst/>
                <a:uFillTx/>
                <a:latin typeface="Arial"/>
                <a:ea typeface="Arial"/>
              </a:rPr>
              <a:t>68</a:t>
            </a:fld>
            <a:endParaRPr lang="en-US" sz="1000" b="0" u="none" strike="noStrike">
              <a:solidFill>
                <a:srgbClr val="000000"/>
              </a:solidFill>
              <a:effectLst/>
              <a:uFillTx/>
              <a:latin typeface="Times New Roman"/>
            </a:endParaRPr>
          </a:p>
        </p:txBody>
      </p:sp>
      <p:cxnSp>
        <p:nvCxnSpPr>
          <p:cNvPr id="331" name="Straight Arrow Connector 13"/>
          <p:cNvCxnSpPr>
            <a:stCxn id="332" idx="1"/>
          </p:cNvCxnSpPr>
          <p:nvPr/>
        </p:nvCxnSpPr>
        <p:spPr>
          <a:xfrm flipH="1">
            <a:off x="2836800" y="1503360"/>
            <a:ext cx="3933000" cy="330840"/>
          </a:xfrm>
          <a:prstGeom prst="straightConnector1">
            <a:avLst/>
          </a:prstGeom>
          <a:ln w="73025">
            <a:solidFill>
              <a:srgbClr val="000000"/>
            </a:solidFill>
            <a:round/>
            <a:tailEnd type="triangle" w="med" len="med"/>
          </a:ln>
        </p:spPr>
      </p:cxnSp>
      <p:sp>
        <p:nvSpPr>
          <p:cNvPr id="332" name="TextBox 16"/>
          <p:cNvSpPr/>
          <p:nvPr/>
        </p:nvSpPr>
        <p:spPr>
          <a:xfrm>
            <a:off x="6769440" y="918720"/>
            <a:ext cx="2156400" cy="116928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Declare a bunch of variables as global variables so they can be updated in the initializeRobot() function</a:t>
            </a:r>
            <a:endParaRPr lang="en-US" sz="1400" b="0" u="none" strike="noStrike">
              <a:solidFill>
                <a:srgbClr val="000000"/>
              </a:solidFill>
              <a:effectLst/>
              <a:uFillTx/>
              <a:latin typeface="Arial"/>
            </a:endParaRPr>
          </a:p>
        </p:txBody>
      </p:sp>
      <p:sp>
        <p:nvSpPr>
          <p:cNvPr id="333" name="TextBox 2"/>
          <p:cNvSpPr/>
          <p:nvPr/>
        </p:nvSpPr>
        <p:spPr>
          <a:xfrm>
            <a:off x="1240200" y="4446720"/>
            <a:ext cx="695628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Initialize the robot by configuring the Prime Hub, DriveBase, drive motors, and attachment motors</a:t>
            </a:r>
            <a:endParaRPr lang="en-US" sz="1400" b="0" u="none" strike="noStrike">
              <a:solidFill>
                <a:srgbClr val="000000"/>
              </a:solidFill>
              <a:effectLst/>
              <a:uFillTx/>
              <a:latin typeface="Arial"/>
            </a:endParaRPr>
          </a:p>
        </p:txBody>
      </p:sp>
      <p:cxnSp>
        <p:nvCxnSpPr>
          <p:cNvPr id="334" name="Straight Arrow Connector 12"/>
          <p:cNvCxnSpPr>
            <a:stCxn id="335" idx="1"/>
          </p:cNvCxnSpPr>
          <p:nvPr/>
        </p:nvCxnSpPr>
        <p:spPr>
          <a:xfrm flipH="1">
            <a:off x="2070720" y="2776320"/>
            <a:ext cx="4699080" cy="834480"/>
          </a:xfrm>
          <a:prstGeom prst="straightConnector1">
            <a:avLst/>
          </a:prstGeom>
          <a:ln w="73025">
            <a:solidFill>
              <a:srgbClr val="000000"/>
            </a:solidFill>
            <a:round/>
            <a:tailEnd type="triangle" w="med" len="med"/>
          </a:ln>
        </p:spPr>
      </p:cxnSp>
      <p:sp>
        <p:nvSpPr>
          <p:cNvPr id="335" name="TextBox 14"/>
          <p:cNvSpPr/>
          <p:nvPr/>
        </p:nvSpPr>
        <p:spPr>
          <a:xfrm>
            <a:off x="6769440" y="2406960"/>
            <a:ext cx="215640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Initial the Lego Spike Prime hub so that it can be used</a:t>
            </a:r>
            <a:endParaRPr lang="en-US" sz="14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400" b="1" u="none" strike="noStrike">
                <a:solidFill>
                  <a:schemeClr val="lt1"/>
                </a:solidFill>
                <a:effectLst/>
                <a:uFillTx/>
                <a:latin typeface="Courier New"/>
                <a:ea typeface="Arial"/>
              </a:rPr>
              <a:t>initializeRobot() </a:t>
            </a:r>
            <a:r>
              <a:rPr lang="en-US" sz="2400" b="1" u="none" strike="noStrike">
                <a:solidFill>
                  <a:schemeClr val="lt1"/>
                </a:solidFill>
                <a:effectLst/>
                <a:uFillTx/>
                <a:latin typeface="Arial"/>
                <a:ea typeface="Arial"/>
              </a:rPr>
              <a:t>(2/4)</a:t>
            </a:r>
            <a:br>
              <a:rPr sz="2400"/>
            </a:br>
            <a:endParaRPr lang="en-US" sz="2400" b="0" u="none" strike="noStrike">
              <a:solidFill>
                <a:srgbClr val="000000"/>
              </a:solidFill>
              <a:effectLst/>
              <a:uFillTx/>
              <a:latin typeface="Arial"/>
            </a:endParaRPr>
          </a:p>
        </p:txBody>
      </p:sp>
      <p:sp>
        <p:nvSpPr>
          <p:cNvPr id="337" name="PlaceHolder 2"/>
          <p:cNvSpPr>
            <a:spLocks noGrp="1"/>
          </p:cNvSpPr>
          <p:nvPr>
            <p:ph type="sldNum" idx="8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FAF6D3E-4DC6-447C-90C8-4BDE179D85B3}" type="slidenum">
              <a:rPr lang="en" sz="1000" b="0" u="none" strike="noStrike">
                <a:solidFill>
                  <a:schemeClr val="dk2"/>
                </a:solidFill>
                <a:effectLst/>
                <a:uFillTx/>
                <a:latin typeface="Arial"/>
                <a:ea typeface="Arial"/>
              </a:rPr>
              <a:t>69</a:t>
            </a:fld>
            <a:endParaRPr lang="en-US" sz="1000" b="0" u="none" strike="noStrike">
              <a:solidFill>
                <a:srgbClr val="000000"/>
              </a:solidFill>
              <a:effectLst/>
              <a:uFillTx/>
              <a:latin typeface="Times New Roman"/>
            </a:endParaRPr>
          </a:p>
        </p:txBody>
      </p:sp>
      <p:sp>
        <p:nvSpPr>
          <p:cNvPr id="338" name="TextBox 5"/>
          <p:cNvSpPr/>
          <p:nvPr/>
        </p:nvSpPr>
        <p:spPr>
          <a:xfrm>
            <a:off x="250200" y="744480"/>
            <a:ext cx="7814880" cy="349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50" b="1" u="none" strike="noStrike">
                <a:solidFill>
                  <a:srgbClr val="008000"/>
                </a:solidFill>
                <a:effectLst/>
                <a:uFillTx/>
                <a:latin typeface="Menlo"/>
                <a:ea typeface="Arial"/>
              </a:rPr>
              <a:t># set the hub LED display to the correct orientation</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hub</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display</a:t>
            </a:r>
            <a:r>
              <a:rPr lang="en-US" sz="1050" b="1" u="none" strike="noStrike">
                <a:solidFill>
                  <a:srgbClr val="3B3B3B"/>
                </a:solidFill>
                <a:effectLst/>
                <a:uFillTx/>
                <a:latin typeface="Menlo"/>
                <a:ea typeface="Arial"/>
              </a:rPr>
              <a:t>.</a:t>
            </a:r>
            <a:r>
              <a:rPr lang="en-US" sz="1050" b="1" u="none" strike="noStrike">
                <a:solidFill>
                  <a:srgbClr val="795E26"/>
                </a:solidFill>
                <a:effectLst/>
                <a:uFillTx/>
                <a:latin typeface="Menlo"/>
                <a:ea typeface="Arial"/>
              </a:rPr>
              <a:t>orientation</a:t>
            </a:r>
            <a:r>
              <a:rPr lang="en-US" sz="1050" b="1" u="none" strike="noStrike">
                <a:solidFill>
                  <a:srgbClr val="3B3B3B"/>
                </a:solidFill>
                <a:effectLst/>
                <a:uFillTx/>
                <a:latin typeface="Menlo"/>
                <a:ea typeface="Arial"/>
              </a:rPr>
              <a:t>(</a:t>
            </a:r>
            <a:r>
              <a:rPr lang="en-US" sz="1050" b="1" u="none" strike="noStrike">
                <a:solidFill>
                  <a:srgbClr val="267F99"/>
                </a:solidFill>
                <a:effectLst/>
                <a:uFillTx/>
                <a:latin typeface="Menlo"/>
                <a:ea typeface="Arial"/>
              </a:rPr>
              <a:t>Side</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RIGHT</a:t>
            </a:r>
            <a:r>
              <a:rPr lang="en-US" sz="1050" b="1" u="none" strike="noStrike">
                <a:solidFill>
                  <a:srgbClr val="3B3B3B"/>
                </a:solidFill>
                <a:effectLst/>
                <a:uFillTx/>
                <a:latin typeface="Menlo"/>
                <a:ea typeface="Arial"/>
              </a:rPr>
              <a:t>)           </a:t>
            </a:r>
            <a:r>
              <a:rPr lang="en-US" sz="1050" b="1" u="none" strike="noStrike">
                <a:solidFill>
                  <a:srgbClr val="009051"/>
                </a:solidFill>
                <a:effectLst/>
                <a:uFillTx/>
                <a:latin typeface="Menlo"/>
                <a:ea typeface="Arial"/>
              </a:rPr>
              <a:t># Side.TOP is the normal value</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008000"/>
                </a:solidFill>
                <a:effectLst/>
                <a:uFillTx/>
                <a:latin typeface="Menlo"/>
                <a:ea typeface="Arial"/>
              </a:rPr>
              <a:t># set this to true if there are attachments</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attachmentsPresent</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008000"/>
                </a:solidFill>
                <a:effectLst/>
                <a:uFillTx/>
                <a:latin typeface="Menlo"/>
                <a:ea typeface="Arial"/>
              </a:rPr>
              <a:t># the port locations for the light sensors, drive motors, </a:t>
            </a:r>
            <a:endParaRPr lang="en-US" sz="1050" b="0" u="none" strike="noStrike">
              <a:solidFill>
                <a:srgbClr val="000000"/>
              </a:solidFill>
              <a:effectLst/>
              <a:uFillTx/>
              <a:latin typeface="Arial"/>
            </a:endParaRPr>
          </a:p>
          <a:p>
            <a:pPr>
              <a:lnSpc>
                <a:spcPts val="1349"/>
              </a:lnSpc>
            </a:pPr>
            <a:r>
              <a:rPr lang="en-US" sz="1050" b="1" u="none" strike="noStrike">
                <a:solidFill>
                  <a:srgbClr val="008000"/>
                </a:solidFill>
                <a:effectLst/>
                <a:uFillTx/>
                <a:latin typeface="Menlo"/>
                <a:ea typeface="Arial"/>
              </a:rPr>
              <a:t># and attachment motors</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LeftDriveMotorPort</a:t>
            </a:r>
            <a:r>
              <a:rPr lang="en-US" sz="1050" b="1" u="none" strike="noStrike">
                <a:solidFill>
                  <a:srgbClr val="000000"/>
                </a:solidFill>
                <a:effectLst/>
                <a:uFillTx/>
                <a:latin typeface="Menlo"/>
                <a:ea typeface="Arial"/>
              </a:rPr>
              <a:t>=</a:t>
            </a:r>
            <a:r>
              <a:rPr lang="en-US" sz="1050" b="1" u="none" strike="noStrike">
                <a:solidFill>
                  <a:srgbClr val="267F99"/>
                </a:solidFill>
                <a:effectLst/>
                <a:uFillTx/>
                <a:latin typeface="Menlo"/>
                <a:ea typeface="Arial"/>
              </a:rPr>
              <a:t>Port</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B</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RightDriveMotorPort</a:t>
            </a:r>
            <a:r>
              <a:rPr lang="en-US" sz="1050" b="1" u="none" strike="noStrike">
                <a:solidFill>
                  <a:srgbClr val="000000"/>
                </a:solidFill>
                <a:effectLst/>
                <a:uFillTx/>
                <a:latin typeface="Menlo"/>
                <a:ea typeface="Arial"/>
              </a:rPr>
              <a:t>=</a:t>
            </a:r>
            <a:r>
              <a:rPr lang="en-US" sz="1050" b="1" u="none" strike="noStrike">
                <a:solidFill>
                  <a:srgbClr val="267F99"/>
                </a:solidFill>
                <a:effectLst/>
                <a:uFillTx/>
                <a:latin typeface="Menlo"/>
                <a:ea typeface="Arial"/>
              </a:rPr>
              <a:t>Port</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A</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RightAttachmentMotorPort</a:t>
            </a:r>
            <a:r>
              <a:rPr lang="en-US" sz="1050" b="1" u="none" strike="noStrike">
                <a:solidFill>
                  <a:srgbClr val="000000"/>
                </a:solidFill>
                <a:effectLst/>
                <a:uFillTx/>
                <a:latin typeface="Menlo"/>
                <a:ea typeface="Arial"/>
              </a:rPr>
              <a:t>=</a:t>
            </a:r>
            <a:r>
              <a:rPr lang="en-US" sz="1050" b="1" u="none" strike="noStrike">
                <a:solidFill>
                  <a:srgbClr val="267F99"/>
                </a:solidFill>
                <a:effectLst/>
                <a:uFillTx/>
                <a:latin typeface="Menlo"/>
                <a:ea typeface="Arial"/>
              </a:rPr>
              <a:t>Port</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C</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LeftAttachmentMotorPort</a:t>
            </a:r>
            <a:r>
              <a:rPr lang="en-US" sz="1050" b="1" u="none" strike="noStrike">
                <a:solidFill>
                  <a:srgbClr val="000000"/>
                </a:solidFill>
                <a:effectLst/>
                <a:uFillTx/>
                <a:latin typeface="Menlo"/>
                <a:ea typeface="Arial"/>
              </a:rPr>
              <a:t>=</a:t>
            </a:r>
            <a:r>
              <a:rPr lang="en-US" sz="1050" b="1" u="none" strike="noStrike">
                <a:solidFill>
                  <a:srgbClr val="267F99"/>
                </a:solidFill>
                <a:effectLst/>
                <a:uFillTx/>
                <a:latin typeface="Menlo"/>
                <a:ea typeface="Arial"/>
              </a:rPr>
              <a:t>Port</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D</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debugL2</a:t>
            </a:r>
            <a:r>
              <a:rPr lang="en-US" sz="1050" b="1" u="none" strike="noStrike">
                <a:solidFill>
                  <a:srgbClr val="3B3B3B"/>
                </a:solidFill>
                <a:effectLst/>
                <a:uFillTx/>
                <a:latin typeface="Menlo"/>
                <a:ea typeface="Arial"/>
              </a:rPr>
              <a:t>: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Assigning &amp; Configuring Motors"</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leftMotor</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267F99"/>
                </a:solidFill>
                <a:effectLst/>
                <a:uFillTx/>
                <a:latin typeface="Menlo"/>
                <a:ea typeface="Arial"/>
              </a:rPr>
              <a:t>Motor</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LeftDriveMotorPort</a:t>
            </a:r>
            <a:r>
              <a:rPr lang="en-US" sz="1050" b="1" u="none" strike="noStrike">
                <a:solidFill>
                  <a:srgbClr val="3B3B3B"/>
                </a:solidFill>
                <a:effectLst/>
                <a:uFillTx/>
                <a:latin typeface="Menlo"/>
                <a:ea typeface="Arial"/>
              </a:rPr>
              <a:t>, </a:t>
            </a:r>
            <a:r>
              <a:rPr lang="en-US" sz="1050" b="1" u="none" strike="noStrike">
                <a:solidFill>
                  <a:srgbClr val="267F99"/>
                </a:solidFill>
                <a:effectLst/>
                <a:uFillTx/>
                <a:latin typeface="Menlo"/>
                <a:ea typeface="Arial"/>
              </a:rPr>
              <a:t>Direction</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COUNTERCLOCKWISE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reset_angle</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rightMotor</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267F99"/>
                </a:solidFill>
                <a:effectLst/>
                <a:uFillTx/>
                <a:latin typeface="Menlo"/>
                <a:ea typeface="Arial"/>
              </a:rPr>
              <a:t>Motor</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RightDriveMotorPort</a:t>
            </a:r>
            <a:r>
              <a:rPr lang="en-US" sz="1050" b="1" u="none" strike="noStrike">
                <a:solidFill>
                  <a:srgbClr val="3B3B3B"/>
                </a:solidFill>
                <a:effectLst/>
                <a:uFillTx/>
                <a:latin typeface="Menlo"/>
                <a:ea typeface="Arial"/>
              </a:rPr>
              <a:t>,</a:t>
            </a:r>
            <a:r>
              <a:rPr lang="en-US" sz="1050" b="1" u="none" strike="noStrike">
                <a:solidFill>
                  <a:srgbClr val="267F99"/>
                </a:solidFill>
                <a:effectLst/>
                <a:uFillTx/>
                <a:latin typeface="Menlo"/>
                <a:ea typeface="Arial"/>
              </a:rPr>
              <a:t>Direction</a:t>
            </a:r>
            <a:r>
              <a:rPr lang="en-US" sz="1050" b="1" u="none" strike="noStrike">
                <a:solidFill>
                  <a:srgbClr val="3B3B3B"/>
                </a:solidFill>
                <a:effectLst/>
                <a:uFillTx/>
                <a:latin typeface="Menlo"/>
                <a:ea typeface="Arial"/>
              </a:rPr>
              <a:t>.</a:t>
            </a:r>
            <a:r>
              <a:rPr lang="en-US" sz="1050" b="1" u="none" strike="noStrike">
                <a:solidFill>
                  <a:srgbClr val="0070C1"/>
                </a:solidFill>
                <a:effectLst/>
                <a:uFillTx/>
                <a:latin typeface="Menlo"/>
                <a:ea typeface="Arial"/>
              </a:rPr>
              <a:t>CLOCKWISE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reset_angle</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p:txBody>
      </p:sp>
      <p:sp>
        <p:nvSpPr>
          <p:cNvPr id="339" name="TextBox 6"/>
          <p:cNvSpPr/>
          <p:nvPr/>
        </p:nvSpPr>
        <p:spPr>
          <a:xfrm>
            <a:off x="6589800" y="890280"/>
            <a:ext cx="2156400" cy="116928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Tells the Prime Hub how the hub is oriented in/on the robot. See Pybricks docs for more detail</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340" name="TextBox 7"/>
          <p:cNvSpPr/>
          <p:nvPr/>
        </p:nvSpPr>
        <p:spPr>
          <a:xfrm>
            <a:off x="6589800" y="2220840"/>
            <a:ext cx="2156400" cy="116928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Assign the ports on the Prime Hub to the two drive motors and the two attachment motors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cxnSp>
        <p:nvCxnSpPr>
          <p:cNvPr id="341" name="Straight Arrow Connector 8"/>
          <p:cNvCxnSpPr>
            <a:stCxn id="340" idx="1"/>
          </p:cNvCxnSpPr>
          <p:nvPr/>
        </p:nvCxnSpPr>
        <p:spPr>
          <a:xfrm flipH="1" flipV="1">
            <a:off x="3024360" y="2571480"/>
            <a:ext cx="3565800" cy="234360"/>
          </a:xfrm>
          <a:prstGeom prst="straightConnector1">
            <a:avLst/>
          </a:prstGeom>
          <a:ln w="73025">
            <a:solidFill>
              <a:srgbClr val="000000"/>
            </a:solidFill>
            <a:round/>
            <a:tailEnd type="triangle" w="med" len="med"/>
          </a:ln>
        </p:spPr>
      </p:cxnSp>
      <p:cxnSp>
        <p:nvCxnSpPr>
          <p:cNvPr id="342" name="Straight Arrow Connector 11"/>
          <p:cNvCxnSpPr>
            <a:stCxn id="339" idx="1"/>
          </p:cNvCxnSpPr>
          <p:nvPr/>
        </p:nvCxnSpPr>
        <p:spPr>
          <a:xfrm flipH="1" flipV="1">
            <a:off x="3195000" y="1141560"/>
            <a:ext cx="3395160" cy="333720"/>
          </a:xfrm>
          <a:prstGeom prst="straightConnector1">
            <a:avLst/>
          </a:prstGeom>
          <a:ln w="73025">
            <a:solidFill>
              <a:srgbClr val="000000"/>
            </a:solidFill>
            <a:round/>
            <a:tailEnd type="triangle" w="med" len="med"/>
          </a:ln>
        </p:spPr>
      </p:cxnSp>
      <p:sp>
        <p:nvSpPr>
          <p:cNvPr id="343" name="TextBox 14"/>
          <p:cNvSpPr/>
          <p:nvPr/>
        </p:nvSpPr>
        <p:spPr>
          <a:xfrm>
            <a:off x="6136560" y="3546360"/>
            <a:ext cx="2610000" cy="8100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Initialize motors. The motor on the left must turn counterclockwise to make the robot go forward.</a:t>
            </a:r>
            <a:endParaRPr lang="en-US" sz="1400" b="0" u="none" strike="noStrike">
              <a:solidFill>
                <a:srgbClr val="000000"/>
              </a:solidFill>
              <a:effectLst/>
              <a:uFillTx/>
              <a:latin typeface="Arial"/>
            </a:endParaRPr>
          </a:p>
        </p:txBody>
      </p:sp>
      <p:cxnSp>
        <p:nvCxnSpPr>
          <p:cNvPr id="344" name="Straight Arrow Connector 15"/>
          <p:cNvCxnSpPr>
            <a:stCxn id="343" idx="1"/>
          </p:cNvCxnSpPr>
          <p:nvPr/>
        </p:nvCxnSpPr>
        <p:spPr>
          <a:xfrm flipH="1" flipV="1">
            <a:off x="5220360" y="3618360"/>
            <a:ext cx="916560" cy="333360"/>
          </a:xfrm>
          <a:prstGeom prst="straightConnector1">
            <a:avLst/>
          </a:prstGeom>
          <a:ln w="73025">
            <a:solidFill>
              <a:srgbClr val="000000"/>
            </a:solidFill>
            <a:round/>
            <a:tailEnd type="triangle" w="med" len="med"/>
          </a:ln>
        </p:spPr>
      </p:cxnSp>
      <p:sp>
        <p:nvSpPr>
          <p:cNvPr id="345" name="TextBox 20"/>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400" b="1" u="none" strike="noStrike">
                <a:solidFill>
                  <a:schemeClr val="lt1"/>
                </a:solidFill>
                <a:effectLst/>
                <a:uFillTx/>
                <a:latin typeface="Courier New"/>
                <a:ea typeface="Arial"/>
              </a:rPr>
              <a:t>initializeRobot() </a:t>
            </a:r>
            <a:r>
              <a:rPr lang="en-US" sz="2400" b="1" u="none" strike="noStrike">
                <a:solidFill>
                  <a:schemeClr val="lt1"/>
                </a:solidFill>
                <a:effectLst/>
                <a:uFillTx/>
                <a:latin typeface="Arial"/>
                <a:ea typeface="Arial"/>
              </a:rPr>
              <a:t>(3/4)</a:t>
            </a:r>
            <a:br>
              <a:rPr sz="2000"/>
            </a:br>
            <a:endParaRPr lang="en-US" sz="2400" b="0" u="none" strike="noStrike">
              <a:solidFill>
                <a:srgbClr val="000000"/>
              </a:solidFill>
              <a:effectLst/>
              <a:uFillTx/>
              <a:latin typeface="Arial"/>
            </a:endParaRPr>
          </a:p>
        </p:txBody>
      </p:sp>
      <p:sp>
        <p:nvSpPr>
          <p:cNvPr id="347" name="PlaceHolder 2"/>
          <p:cNvSpPr>
            <a:spLocks noGrp="1"/>
          </p:cNvSpPr>
          <p:nvPr>
            <p:ph type="sldNum" idx="8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D59B2D6-1111-4AFA-8DDF-012B9F80F605}" type="slidenum">
              <a:rPr lang="en" sz="1000" b="0" u="none" strike="noStrike">
                <a:solidFill>
                  <a:schemeClr val="dk2"/>
                </a:solidFill>
                <a:effectLst/>
                <a:uFillTx/>
                <a:latin typeface="Arial"/>
                <a:ea typeface="Arial"/>
              </a:rPr>
              <a:t>70</a:t>
            </a:fld>
            <a:endParaRPr lang="en-US" sz="1000" b="0" u="none" strike="noStrike">
              <a:solidFill>
                <a:srgbClr val="000000"/>
              </a:solidFill>
              <a:effectLst/>
              <a:uFillTx/>
              <a:latin typeface="Times New Roman"/>
            </a:endParaRPr>
          </a:p>
        </p:txBody>
      </p:sp>
      <p:sp>
        <p:nvSpPr>
          <p:cNvPr id="348" name="TextBox 5"/>
          <p:cNvSpPr/>
          <p:nvPr/>
        </p:nvSpPr>
        <p:spPr>
          <a:xfrm>
            <a:off x="253080" y="2369520"/>
            <a:ext cx="8637480" cy="133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008000"/>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8000"/>
                </a:solidFill>
                <a:effectLst/>
                <a:uFillTx/>
                <a:latin typeface="Menlo"/>
                <a:ea typeface="Arial"/>
              </a:rPr>
              <a:t># Setup drive base and default performance parameters</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debugL2</a:t>
            </a:r>
            <a:r>
              <a:rPr lang="en-US" sz="1050" b="1" u="none" strike="noStrike">
                <a:solidFill>
                  <a:srgbClr val="3B3B3B"/>
                </a:solidFill>
                <a:effectLst/>
                <a:uFillTx/>
                <a:latin typeface="Menlo"/>
                <a:ea typeface="Arial"/>
              </a:rPr>
              <a:t>: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Configuring the DriveBase"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wheelDiameter</a:t>
            </a:r>
            <a:r>
              <a:rPr lang="en-US" sz="1050" b="1" u="none" strike="noStrike">
                <a:solidFill>
                  <a:srgbClr val="000000"/>
                </a:solidFill>
                <a:effectLst/>
                <a:uFillTx/>
                <a:latin typeface="Menlo"/>
                <a:ea typeface="Arial"/>
              </a:rPr>
              <a:t>=</a:t>
            </a:r>
            <a:r>
              <a:rPr lang="en-US" sz="1050" b="1" u="none" strike="noStrike">
                <a:solidFill>
                  <a:srgbClr val="098658"/>
                </a:solidFill>
                <a:effectLst/>
                <a:uFillTx/>
                <a:latin typeface="Menlo"/>
                <a:ea typeface="Arial"/>
              </a:rPr>
              <a:t>62.4</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axleTrack</a:t>
            </a:r>
            <a:r>
              <a:rPr lang="en-US" sz="1050" b="1" u="none" strike="noStrike">
                <a:solidFill>
                  <a:srgbClr val="000000"/>
                </a:solidFill>
                <a:effectLst/>
                <a:uFillTx/>
                <a:latin typeface="Menlo"/>
                <a:ea typeface="Arial"/>
              </a:rPr>
              <a:t>=</a:t>
            </a:r>
            <a:r>
              <a:rPr lang="en-US" sz="1050" b="1" u="none" strike="noStrike">
                <a:solidFill>
                  <a:srgbClr val="098658"/>
                </a:solidFill>
                <a:effectLst/>
                <a:uFillTx/>
                <a:latin typeface="Menlo"/>
                <a:ea typeface="Arial"/>
              </a:rPr>
              <a:t>204</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driveBase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267F99"/>
                </a:solidFill>
                <a:effectLst/>
                <a:uFillTx/>
                <a:latin typeface="Menlo"/>
                <a:ea typeface="Arial"/>
              </a:rPr>
              <a:t>DriveBase</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leftMotor</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rightMotor</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wheel_diameter</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wheelDiameter</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axle_track</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axleTrack</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p:txBody>
      </p:sp>
      <p:sp>
        <p:nvSpPr>
          <p:cNvPr id="349" name="TextBox 6"/>
          <p:cNvSpPr/>
          <p:nvPr/>
        </p:nvSpPr>
        <p:spPr>
          <a:xfrm>
            <a:off x="2940840" y="965520"/>
            <a:ext cx="6080040" cy="14256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spcAft>
                <a:spcPts val="201"/>
              </a:spcAft>
            </a:pPr>
            <a:r>
              <a:rPr lang="en-US" sz="1400" b="0" u="none" strike="noStrike">
                <a:solidFill>
                  <a:schemeClr val="dk1"/>
                </a:solidFill>
                <a:effectLst/>
                <a:uFillTx/>
                <a:latin typeface="Arial"/>
                <a:ea typeface="Arial"/>
              </a:rPr>
              <a:t>Initialize the DriveBase and configure wheelDiameter &amp; axleTrack </a:t>
            </a:r>
            <a:r>
              <a:rPr lang="en-US" sz="1400" b="1" u="sng" strike="noStrike">
                <a:solidFill>
                  <a:schemeClr val="dk1"/>
                </a:solidFill>
                <a:effectLst/>
                <a:uFillTx/>
                <a:latin typeface="Arial"/>
                <a:ea typeface="Arial"/>
              </a:rPr>
              <a:t>that are specific for your robot!! </a:t>
            </a:r>
            <a:r>
              <a:rPr lang="en-US" sz="1400" b="0" u="none" strike="noStrike">
                <a:solidFill>
                  <a:schemeClr val="dk1"/>
                </a:solidFill>
                <a:effectLst/>
                <a:uFillTx/>
                <a:latin typeface="Arial"/>
                <a:ea typeface="Arial"/>
              </a:rPr>
              <a:t>Both values are in millimeters (mm).</a:t>
            </a:r>
            <a:endParaRPr lang="en-US" sz="1400" b="0" u="none" strike="noStrike">
              <a:solidFill>
                <a:srgbClr val="000000"/>
              </a:solidFill>
              <a:effectLst/>
              <a:uFillTx/>
              <a:latin typeface="Arial"/>
            </a:endParaRPr>
          </a:p>
          <a:p>
            <a:pPr marL="285840" indent="-285840">
              <a:lnSpc>
                <a:spcPts val="1349"/>
              </a:lnSpc>
              <a:spcAft>
                <a:spcPts val="201"/>
              </a:spcAft>
              <a:buClr>
                <a:srgbClr val="000000"/>
              </a:buClr>
              <a:buFont typeface="Arial"/>
              <a:buChar char="•"/>
            </a:pPr>
            <a:r>
              <a:rPr lang="en-US" sz="1400" b="0" u="none" strike="noStrike">
                <a:solidFill>
                  <a:schemeClr val="dk1"/>
                </a:solidFill>
                <a:effectLst/>
                <a:uFillTx/>
                <a:latin typeface="Arial"/>
                <a:ea typeface="Arial"/>
              </a:rPr>
              <a:t>axleTrack is the measurement between the centerpoints of the both wheel treads </a:t>
            </a:r>
            <a:endParaRPr lang="en-US" sz="1400" b="0" u="none" strike="noStrike">
              <a:solidFill>
                <a:srgbClr val="000000"/>
              </a:solidFill>
              <a:effectLst/>
              <a:uFillTx/>
              <a:latin typeface="Arial"/>
            </a:endParaRPr>
          </a:p>
          <a:p>
            <a:pPr marL="285840" indent="-285840">
              <a:lnSpc>
                <a:spcPts val="1349"/>
              </a:lnSpc>
              <a:spcAft>
                <a:spcPts val="201"/>
              </a:spcAft>
              <a:buClr>
                <a:srgbClr val="000000"/>
              </a:buClr>
              <a:buFont typeface="Arial"/>
              <a:buChar char="•"/>
            </a:pPr>
            <a:r>
              <a:rPr lang="en-US" sz="1400" b="0" u="none" strike="noStrike">
                <a:solidFill>
                  <a:schemeClr val="dk1"/>
                </a:solidFill>
                <a:effectLst/>
                <a:uFillTx/>
                <a:latin typeface="Arial"/>
                <a:ea typeface="Arial"/>
              </a:rPr>
              <a:t>The axleTrack &amp; wheelDiameter likely will need to tweaking. </a:t>
            </a:r>
            <a:endParaRPr lang="en-US" sz="1400" b="0" u="none" strike="noStrike">
              <a:solidFill>
                <a:srgbClr val="000000"/>
              </a:solidFill>
              <a:effectLst/>
              <a:uFillTx/>
              <a:latin typeface="Arial"/>
            </a:endParaRPr>
          </a:p>
          <a:p>
            <a:pPr marL="285840" indent="-285840">
              <a:lnSpc>
                <a:spcPts val="1349"/>
              </a:lnSpc>
              <a:spcAft>
                <a:spcPts val="201"/>
              </a:spcAft>
              <a:buClr>
                <a:srgbClr val="000000"/>
              </a:buClr>
              <a:buFont typeface="Arial"/>
              <a:buChar char="•"/>
            </a:pPr>
            <a:r>
              <a:rPr lang="en-US" sz="1400" b="0" u="none" strike="noStrike">
                <a:solidFill>
                  <a:schemeClr val="dk1"/>
                </a:solidFill>
                <a:effectLst/>
                <a:uFillTx/>
                <a:latin typeface="Arial"/>
                <a:ea typeface="Arial"/>
              </a:rPr>
              <a:t>Read the Pybricks doc on DriveBase in the subsection "Measuring and validating the robot dimensions" on how tune these settings</a:t>
            </a:r>
            <a:endParaRPr lang="en-US" sz="1400" b="0" u="none" strike="noStrike">
              <a:solidFill>
                <a:srgbClr val="000000"/>
              </a:solidFill>
              <a:effectLst/>
              <a:uFillTx/>
              <a:latin typeface="Arial"/>
            </a:endParaRPr>
          </a:p>
        </p:txBody>
      </p:sp>
      <p:cxnSp>
        <p:nvCxnSpPr>
          <p:cNvPr id="350" name="Straight Arrow Connector 8"/>
          <p:cNvCxnSpPr>
            <a:stCxn id="349" idx="2"/>
          </p:cNvCxnSpPr>
          <p:nvPr/>
        </p:nvCxnSpPr>
        <p:spPr>
          <a:xfrm flipH="1">
            <a:off x="5087880" y="2391120"/>
            <a:ext cx="893520" cy="856080"/>
          </a:xfrm>
          <a:prstGeom prst="straightConnector1">
            <a:avLst/>
          </a:prstGeom>
          <a:ln w="73025">
            <a:solidFill>
              <a:srgbClr val="000000"/>
            </a:solidFill>
            <a:round/>
            <a:tailEnd type="triangle" w="med" len="med"/>
          </a:ln>
        </p:spPr>
      </p:cxnSp>
      <p:sp>
        <p:nvSpPr>
          <p:cNvPr id="351" name="TextBox 14"/>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400" b="1" u="none" strike="noStrike">
                <a:solidFill>
                  <a:schemeClr val="lt1"/>
                </a:solidFill>
                <a:effectLst/>
                <a:uFillTx/>
                <a:latin typeface="Courier New"/>
                <a:ea typeface="Arial"/>
              </a:rPr>
              <a:t>initializeRobot() </a:t>
            </a:r>
            <a:r>
              <a:rPr lang="en-US" sz="2400" b="1" u="none" strike="noStrike">
                <a:solidFill>
                  <a:schemeClr val="lt1"/>
                </a:solidFill>
                <a:effectLst/>
                <a:uFillTx/>
                <a:latin typeface="Arial"/>
                <a:ea typeface="Arial"/>
              </a:rPr>
              <a:t>(4/4)</a:t>
            </a:r>
            <a:endParaRPr lang="en-US" sz="2400" b="0" u="none" strike="noStrike">
              <a:solidFill>
                <a:srgbClr val="000000"/>
              </a:solidFill>
              <a:effectLst/>
              <a:uFillTx/>
              <a:latin typeface="Arial"/>
            </a:endParaRPr>
          </a:p>
        </p:txBody>
      </p:sp>
      <p:sp>
        <p:nvSpPr>
          <p:cNvPr id="353" name="PlaceHolder 2"/>
          <p:cNvSpPr>
            <a:spLocks noGrp="1"/>
          </p:cNvSpPr>
          <p:nvPr>
            <p:ph type="sldNum" idx="8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504CB00-CBC3-4F7F-8472-E25B11F30AAA}" type="slidenum">
              <a:rPr lang="en" sz="1000" b="0" u="none" strike="noStrike">
                <a:solidFill>
                  <a:schemeClr val="dk2"/>
                </a:solidFill>
                <a:effectLst/>
                <a:uFillTx/>
                <a:latin typeface="Arial"/>
                <a:ea typeface="Arial"/>
              </a:rPr>
              <a:t>71</a:t>
            </a:fld>
            <a:endParaRPr lang="en-US" sz="1000" b="0" u="none" strike="noStrike">
              <a:solidFill>
                <a:srgbClr val="000000"/>
              </a:solidFill>
              <a:effectLst/>
              <a:uFillTx/>
              <a:latin typeface="Times New Roman"/>
            </a:endParaRPr>
          </a:p>
        </p:txBody>
      </p:sp>
      <p:sp>
        <p:nvSpPr>
          <p:cNvPr id="354" name="TextBox 7"/>
          <p:cNvSpPr/>
          <p:nvPr/>
        </p:nvSpPr>
        <p:spPr>
          <a:xfrm>
            <a:off x="146520" y="862560"/>
            <a:ext cx="8737200" cy="295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00" b="1" u="none" strike="noStrike">
                <a:solidFill>
                  <a:srgbClr val="001080"/>
                </a:solidFill>
                <a:effectLst/>
                <a:uFillTx/>
                <a:latin typeface="Menlo"/>
                <a:ea typeface="Arial"/>
              </a:rPr>
              <a:t>DefaultStraightSpeed</a:t>
            </a:r>
            <a:r>
              <a:rPr lang="en-US" sz="1000" b="1" u="none" strike="noStrike">
                <a:solidFill>
                  <a:srgbClr val="000000"/>
                </a:solidFill>
                <a:effectLst/>
                <a:uFillTx/>
                <a:latin typeface="Menlo"/>
                <a:ea typeface="Arial"/>
              </a:rPr>
              <a:t>=</a:t>
            </a:r>
            <a:r>
              <a:rPr lang="en-US" sz="1000" b="1" u="none" strike="noStrike">
                <a:solidFill>
                  <a:srgbClr val="098658"/>
                </a:solidFill>
                <a:effectLst/>
                <a:uFillTx/>
                <a:latin typeface="Menlo"/>
                <a:ea typeface="Arial"/>
              </a:rPr>
              <a:t>400</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DefaultStraightAcceleration</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a:t>
            </a:r>
            <a:r>
              <a:rPr lang="en-US" sz="1000" b="1" u="none" strike="noStrike">
                <a:solidFill>
                  <a:srgbClr val="098658"/>
                </a:solidFill>
                <a:effectLst/>
                <a:uFillTx/>
                <a:latin typeface="Menlo"/>
                <a:ea typeface="Arial"/>
              </a:rPr>
              <a:t>500</a:t>
            </a:r>
            <a:r>
              <a:rPr lang="en-US" sz="1000" b="1" u="none" strike="noStrike">
                <a:solidFill>
                  <a:srgbClr val="3B3B3B"/>
                </a:solidFill>
                <a:effectLst/>
                <a:uFillTx/>
                <a:latin typeface="Menlo"/>
                <a:ea typeface="Arial"/>
              </a:rPr>
              <a:t>,</a:t>
            </a:r>
            <a:r>
              <a:rPr lang="en-US" sz="1000" b="1" u="none" strike="noStrike">
                <a:solidFill>
                  <a:srgbClr val="098658"/>
                </a:solidFill>
                <a:effectLst/>
                <a:uFillTx/>
                <a:latin typeface="Menlo"/>
                <a:ea typeface="Arial"/>
              </a:rPr>
              <a:t>500</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DefaultTurnAcceleration</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a:t>
            </a:r>
            <a:r>
              <a:rPr lang="en-US" sz="1000" b="1" u="none" strike="noStrike">
                <a:solidFill>
                  <a:srgbClr val="098658"/>
                </a:solidFill>
                <a:effectLst/>
                <a:uFillTx/>
                <a:latin typeface="Menlo"/>
                <a:ea typeface="Arial"/>
              </a:rPr>
              <a:t>500</a:t>
            </a:r>
            <a:r>
              <a:rPr lang="en-US" sz="1000" b="1" u="none" strike="noStrike">
                <a:solidFill>
                  <a:srgbClr val="3B3B3B"/>
                </a:solidFill>
                <a:effectLst/>
                <a:uFillTx/>
                <a:latin typeface="Menlo"/>
                <a:ea typeface="Arial"/>
              </a:rPr>
              <a:t>,</a:t>
            </a:r>
            <a:r>
              <a:rPr lang="en-US" sz="1000" b="1" u="none" strike="noStrike">
                <a:solidFill>
                  <a:srgbClr val="098658"/>
                </a:solidFill>
                <a:effectLst/>
                <a:uFillTx/>
                <a:latin typeface="Menlo"/>
                <a:ea typeface="Arial"/>
              </a:rPr>
              <a:t>500</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DefaultTurnRate</a:t>
            </a:r>
            <a:r>
              <a:rPr lang="en-US" sz="1000" b="1" u="none" strike="noStrike">
                <a:solidFill>
                  <a:srgbClr val="000000"/>
                </a:solidFill>
                <a:effectLst/>
                <a:uFillTx/>
                <a:latin typeface="Menlo"/>
                <a:ea typeface="Arial"/>
              </a:rPr>
              <a:t>=</a:t>
            </a:r>
            <a:r>
              <a:rPr lang="en-US" sz="1000" b="1" u="none" strike="noStrike">
                <a:solidFill>
                  <a:srgbClr val="098658"/>
                </a:solidFill>
                <a:effectLst/>
                <a:uFillTx/>
                <a:latin typeface="Menlo"/>
                <a:ea typeface="Arial"/>
              </a:rPr>
              <a:t>300</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debugL2</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"DEBUG-L2 - Configuring the Speed &amp; Acceleration default settings"</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driveBase</a:t>
            </a:r>
            <a:r>
              <a:rPr lang="en-US" sz="1000" b="1" u="none" strike="noStrike">
                <a:solidFill>
                  <a:srgbClr val="3B3B3B"/>
                </a:solidFill>
                <a:effectLst/>
                <a:uFillTx/>
                <a:latin typeface="Menlo"/>
                <a:ea typeface="Arial"/>
              </a:rPr>
              <a:t>.</a:t>
            </a:r>
            <a:r>
              <a:rPr lang="en-US" sz="1000" b="1" u="none" strike="noStrike">
                <a:solidFill>
                  <a:srgbClr val="795E26"/>
                </a:solidFill>
                <a:effectLst/>
                <a:uFillTx/>
                <a:latin typeface="Menlo"/>
                <a:ea typeface="Arial"/>
              </a:rPr>
              <a:t>settings</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straight_speed</a:t>
            </a:r>
            <a:r>
              <a:rPr lang="en-US" sz="1000" b="1" u="none" strike="noStrike">
                <a:solidFill>
                  <a:srgbClr val="000000"/>
                </a:solidFill>
                <a:effectLst/>
                <a:uFillTx/>
                <a:latin typeface="Menlo"/>
                <a:ea typeface="Arial"/>
              </a:rPr>
              <a:t>=</a:t>
            </a:r>
            <a:r>
              <a:rPr lang="en-US" sz="1000" b="1" u="none" strike="noStrike">
                <a:solidFill>
                  <a:srgbClr val="001080"/>
                </a:solidFill>
                <a:effectLst/>
                <a:uFillTx/>
                <a:latin typeface="Menlo"/>
                <a:ea typeface="Arial"/>
              </a:rPr>
              <a:t>DefaultStraightSpeed</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straight_acceleration</a:t>
            </a:r>
            <a:r>
              <a:rPr lang="en-US" sz="1000" b="1" u="none" strike="noStrike">
                <a:solidFill>
                  <a:srgbClr val="000000"/>
                </a:solidFill>
                <a:effectLst/>
                <a:uFillTx/>
                <a:latin typeface="Menlo"/>
                <a:ea typeface="Arial"/>
              </a:rPr>
              <a:t>=</a:t>
            </a:r>
            <a:r>
              <a:rPr lang="en-US" sz="1000" b="1" u="none" strike="noStrike">
                <a:solidFill>
                  <a:srgbClr val="001080"/>
                </a:solidFill>
                <a:effectLst/>
                <a:uFillTx/>
                <a:latin typeface="Menlo"/>
                <a:ea typeface="Arial"/>
              </a:rPr>
              <a:t>DefaultStraightAcceleration</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turn_acceleration</a:t>
            </a:r>
            <a:r>
              <a:rPr lang="en-US" sz="1000" b="1" u="none" strike="noStrike">
                <a:solidFill>
                  <a:srgbClr val="000000"/>
                </a:solidFill>
                <a:effectLst/>
                <a:uFillTx/>
                <a:latin typeface="Menlo"/>
                <a:ea typeface="Arial"/>
              </a:rPr>
              <a:t>=</a:t>
            </a:r>
            <a:r>
              <a:rPr lang="en-US" sz="1000" b="1" u="none" strike="noStrike">
                <a:solidFill>
                  <a:srgbClr val="001080"/>
                </a:solidFill>
                <a:effectLst/>
                <a:uFillTx/>
                <a:latin typeface="Menlo"/>
                <a:ea typeface="Arial"/>
              </a:rPr>
              <a:t>DefaultTurnAcceleration</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turn_rate</a:t>
            </a:r>
            <a:r>
              <a:rPr lang="en-US" sz="1000" b="1" u="none" strike="noStrike">
                <a:solidFill>
                  <a:srgbClr val="000000"/>
                </a:solidFill>
                <a:effectLst/>
                <a:uFillTx/>
                <a:latin typeface="Menlo"/>
                <a:ea typeface="Arial"/>
              </a:rPr>
              <a:t>=</a:t>
            </a:r>
            <a:r>
              <a:rPr lang="en-US" sz="1000" b="1" u="none" strike="noStrike">
                <a:solidFill>
                  <a:srgbClr val="001080"/>
                </a:solidFill>
                <a:effectLst/>
                <a:uFillTx/>
                <a:latin typeface="Menlo"/>
                <a:ea typeface="Arial"/>
              </a:rPr>
              <a:t>DefaultTurnRate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attachmentsPresent</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True</a:t>
            </a:r>
            <a:r>
              <a:rPr lang="en-US" sz="1000" b="1" u="none" strike="noStrike">
                <a:solidFill>
                  <a:srgbClr val="3B3B3B"/>
                </a:solidFill>
                <a:effectLst/>
                <a:uFillTx/>
                <a:latin typeface="Menlo"/>
                <a:ea typeface="Arial"/>
              </a:rPr>
              <a:t>: </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debugL2</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"DEBUG-L2 - Configuring Attachment Motors"</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leftAttachment</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267F99"/>
                </a:solidFill>
                <a:effectLst/>
                <a:uFillTx/>
                <a:latin typeface="Menlo"/>
                <a:ea typeface="Arial"/>
              </a:rPr>
              <a:t>Motor</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LeftAttachmentMotorPort</a:t>
            </a:r>
            <a:r>
              <a:rPr lang="en-US" sz="1000" b="1" u="none" strike="noStrike">
                <a:solidFill>
                  <a:srgbClr val="3B3B3B"/>
                </a:solidFill>
                <a:effectLst/>
                <a:uFillTx/>
                <a:latin typeface="Menlo"/>
                <a:ea typeface="Arial"/>
              </a:rPr>
              <a:t>,</a:t>
            </a:r>
            <a:r>
              <a:rPr lang="en-US" sz="1000" b="1" u="none" strike="noStrike">
                <a:solidFill>
                  <a:srgbClr val="267F99"/>
                </a:solidFill>
                <a:effectLst/>
                <a:uFillTx/>
                <a:latin typeface="Menlo"/>
                <a:ea typeface="Arial"/>
              </a:rPr>
              <a:t>Direction</a:t>
            </a:r>
            <a:r>
              <a:rPr lang="en-US" sz="1000" b="1" u="none" strike="noStrike">
                <a:solidFill>
                  <a:srgbClr val="3B3B3B"/>
                </a:solidFill>
                <a:effectLst/>
                <a:uFillTx/>
                <a:latin typeface="Menlo"/>
                <a:ea typeface="Arial"/>
              </a:rPr>
              <a:t>.</a:t>
            </a:r>
            <a:r>
              <a:rPr lang="en-US" sz="1000" b="1" u="none" strike="noStrike">
                <a:solidFill>
                  <a:srgbClr val="0070C1"/>
                </a:solidFill>
                <a:effectLst/>
                <a:uFillTx/>
                <a:latin typeface="Menlo"/>
                <a:ea typeface="Arial"/>
              </a:rPr>
              <a:t>CLOCKWISE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reset_angle</a:t>
            </a:r>
            <a:r>
              <a:rPr lang="en-US" sz="1000" b="1" u="none" strike="noStrike">
                <a:solidFill>
                  <a:srgbClr val="000000"/>
                </a:solidFill>
                <a:effectLst/>
                <a:uFillTx/>
                <a:latin typeface="Menlo"/>
                <a:ea typeface="Arial"/>
              </a:rPr>
              <a:t>=</a:t>
            </a:r>
            <a:r>
              <a:rPr lang="en-US" sz="1000" b="1" u="none" strike="noStrike">
                <a:solidFill>
                  <a:srgbClr val="0000FF"/>
                </a:solidFill>
                <a:effectLst/>
                <a:uFillTx/>
                <a:latin typeface="Menlo"/>
                <a:ea typeface="Arial"/>
              </a:rPr>
              <a:t>True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rightAttachment</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267F99"/>
                </a:solidFill>
                <a:effectLst/>
                <a:uFillTx/>
                <a:latin typeface="Menlo"/>
                <a:ea typeface="Arial"/>
              </a:rPr>
              <a:t>Motor</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RightAttachmentMotorPort</a:t>
            </a:r>
            <a:r>
              <a:rPr lang="en-US" sz="1000" b="1" u="none" strike="noStrike">
                <a:solidFill>
                  <a:srgbClr val="3B3B3B"/>
                </a:solidFill>
                <a:effectLst/>
                <a:uFillTx/>
                <a:latin typeface="Menlo"/>
                <a:ea typeface="Arial"/>
              </a:rPr>
              <a:t>,</a:t>
            </a:r>
            <a:r>
              <a:rPr lang="en-US" sz="1000" b="1" u="none" strike="noStrike">
                <a:solidFill>
                  <a:srgbClr val="267F99"/>
                </a:solidFill>
                <a:effectLst/>
                <a:uFillTx/>
                <a:latin typeface="Menlo"/>
                <a:ea typeface="Arial"/>
              </a:rPr>
              <a:t>Direction</a:t>
            </a:r>
            <a:r>
              <a:rPr lang="en-US" sz="1000" b="1" u="none" strike="noStrike">
                <a:solidFill>
                  <a:srgbClr val="3B3B3B"/>
                </a:solidFill>
                <a:effectLst/>
                <a:uFillTx/>
                <a:latin typeface="Menlo"/>
                <a:ea typeface="Arial"/>
              </a:rPr>
              <a:t>.</a:t>
            </a:r>
            <a:r>
              <a:rPr lang="en-US" sz="1000" b="1" u="none" strike="noStrike">
                <a:solidFill>
                  <a:srgbClr val="0070C1"/>
                </a:solidFill>
                <a:effectLst/>
                <a:uFillTx/>
                <a:latin typeface="Menlo"/>
                <a:ea typeface="Arial"/>
              </a:rPr>
              <a:t>CLOCKWISE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reset_angle</a:t>
            </a:r>
            <a:r>
              <a:rPr lang="en-US" sz="1000" b="1" u="none" strike="noStrike">
                <a:solidFill>
                  <a:srgbClr val="000000"/>
                </a:solidFill>
                <a:effectLst/>
                <a:uFillTx/>
                <a:latin typeface="Menlo"/>
                <a:ea typeface="Arial"/>
              </a:rPr>
              <a:t>=</a:t>
            </a:r>
            <a:r>
              <a:rPr lang="en-US" sz="1000" b="1" u="none" strike="noStrike">
                <a:solidFill>
                  <a:srgbClr val="0000FF"/>
                </a:solidFill>
                <a:effectLst/>
                <a:uFillTx/>
                <a:latin typeface="Menlo"/>
                <a:ea typeface="Arial"/>
              </a:rPr>
              <a:t>True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p:txBody>
      </p:sp>
      <p:sp>
        <p:nvSpPr>
          <p:cNvPr id="355" name="TextBox 8"/>
          <p:cNvSpPr/>
          <p:nvPr/>
        </p:nvSpPr>
        <p:spPr>
          <a:xfrm>
            <a:off x="6864120" y="869040"/>
            <a:ext cx="2156400" cy="8100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Define some default speed and acceleration motor settings for your drive motors</a:t>
            </a:r>
            <a:endParaRPr lang="en-US" sz="1400" b="0" u="none" strike="noStrike">
              <a:solidFill>
                <a:srgbClr val="000000"/>
              </a:solidFill>
              <a:effectLst/>
              <a:uFillTx/>
              <a:latin typeface="Arial"/>
            </a:endParaRPr>
          </a:p>
        </p:txBody>
      </p:sp>
      <p:sp>
        <p:nvSpPr>
          <p:cNvPr id="356" name="TextBox 9"/>
          <p:cNvSpPr/>
          <p:nvPr/>
        </p:nvSpPr>
        <p:spPr>
          <a:xfrm>
            <a:off x="6864120" y="1940760"/>
            <a:ext cx="2156400" cy="630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Actually, configure the DriveBase to use the above settings</a:t>
            </a:r>
            <a:endParaRPr lang="en-US" sz="1400" b="0" u="none" strike="noStrike">
              <a:solidFill>
                <a:srgbClr val="000000"/>
              </a:solidFill>
              <a:effectLst/>
              <a:uFillTx/>
              <a:latin typeface="Arial"/>
            </a:endParaRPr>
          </a:p>
        </p:txBody>
      </p:sp>
      <p:cxnSp>
        <p:nvCxnSpPr>
          <p:cNvPr id="357" name="Straight Arrow Connector 10"/>
          <p:cNvCxnSpPr>
            <a:stCxn id="355" idx="1"/>
          </p:cNvCxnSpPr>
          <p:nvPr/>
        </p:nvCxnSpPr>
        <p:spPr>
          <a:xfrm flipH="1">
            <a:off x="3211920" y="1274040"/>
            <a:ext cx="3652560" cy="720"/>
          </a:xfrm>
          <a:prstGeom prst="straightConnector1">
            <a:avLst/>
          </a:prstGeom>
          <a:ln w="73025">
            <a:solidFill>
              <a:srgbClr val="000000"/>
            </a:solidFill>
            <a:round/>
            <a:tailEnd type="triangle" w="med" len="med"/>
          </a:ln>
        </p:spPr>
      </p:cxnSp>
      <p:cxnSp>
        <p:nvCxnSpPr>
          <p:cNvPr id="358" name="Straight Arrow Connector 13"/>
          <p:cNvCxnSpPr/>
          <p:nvPr/>
        </p:nvCxnSpPr>
        <p:spPr>
          <a:xfrm flipH="1">
            <a:off x="5064120" y="2266200"/>
            <a:ext cx="1800360" cy="109800"/>
          </a:xfrm>
          <a:prstGeom prst="straightConnector1">
            <a:avLst/>
          </a:prstGeom>
          <a:ln w="73025">
            <a:solidFill>
              <a:srgbClr val="000000"/>
            </a:solidFill>
            <a:round/>
            <a:tailEnd type="triangle" w="med" len="med"/>
          </a:ln>
        </p:spPr>
      </p:cxnSp>
      <p:sp>
        <p:nvSpPr>
          <p:cNvPr id="359" name="TextBox 16"/>
          <p:cNvSpPr/>
          <p:nvPr/>
        </p:nvSpPr>
        <p:spPr>
          <a:xfrm>
            <a:off x="6840360" y="4027320"/>
            <a:ext cx="2156400" cy="45108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Assign and configure the two attachment motors</a:t>
            </a:r>
            <a:endParaRPr lang="en-US" sz="1400" b="0" u="none" strike="noStrike">
              <a:solidFill>
                <a:srgbClr val="000000"/>
              </a:solidFill>
              <a:effectLst/>
              <a:uFillTx/>
              <a:latin typeface="Arial"/>
            </a:endParaRPr>
          </a:p>
        </p:txBody>
      </p:sp>
      <p:cxnSp>
        <p:nvCxnSpPr>
          <p:cNvPr id="360" name="Straight Arrow Connector 17"/>
          <p:cNvCxnSpPr>
            <a:stCxn id="359" idx="0"/>
          </p:cNvCxnSpPr>
          <p:nvPr/>
        </p:nvCxnSpPr>
        <p:spPr>
          <a:xfrm flipH="1" flipV="1">
            <a:off x="6955560" y="3543480"/>
            <a:ext cx="963360" cy="484200"/>
          </a:xfrm>
          <a:prstGeom prst="straightConnector1">
            <a:avLst/>
          </a:prstGeom>
          <a:ln w="73025">
            <a:solidFill>
              <a:srgbClr val="000000"/>
            </a:solidFill>
            <a:round/>
            <a:tailEnd type="triangle" w="med" len="med"/>
          </a:ln>
        </p:spPr>
      </p:cxnSp>
      <p:sp>
        <p:nvSpPr>
          <p:cNvPr id="361" name="TextBox 21"/>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laceHolder 1"/>
          <p:cNvSpPr>
            <a:spLocks noGrp="1"/>
          </p:cNvSpPr>
          <p:nvPr>
            <p:ph type="sldNum" idx="8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3118EBA-F05C-4E52-B86B-A998746EAD6E}" type="slidenum">
              <a:rPr lang="en" sz="1000" b="0" u="none" strike="noStrike">
                <a:solidFill>
                  <a:schemeClr val="dk2"/>
                </a:solidFill>
                <a:effectLst/>
                <a:uFillTx/>
                <a:latin typeface="Arial"/>
                <a:ea typeface="Arial"/>
              </a:rPr>
              <a:t>72</a:t>
            </a:fld>
            <a:endParaRPr lang="en-US" sz="1000" b="0" u="none" strike="noStrike">
              <a:solidFill>
                <a:srgbClr val="000000"/>
              </a:solidFill>
              <a:effectLst/>
              <a:uFillTx/>
              <a:latin typeface="Times New Roman"/>
            </a:endParaRPr>
          </a:p>
        </p:txBody>
      </p:sp>
      <p:sp>
        <p:nvSpPr>
          <p:cNvPr id="363" name="TextBox 13"/>
          <p:cNvSpPr/>
          <p:nvPr/>
        </p:nvSpPr>
        <p:spPr>
          <a:xfrm>
            <a:off x="83880" y="735480"/>
            <a:ext cx="8794440" cy="367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50" b="1" u="none" strike="noStrike">
                <a:solidFill>
                  <a:srgbClr val="0000FF"/>
                </a:solidFill>
                <a:effectLst/>
                <a:uFillTx/>
                <a:latin typeface="Menlo"/>
                <a:ea typeface="Arial"/>
              </a:rPr>
              <a:t>async</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def</a:t>
            </a:r>
            <a:r>
              <a:rPr lang="en-US" sz="1050" b="1" u="none" strike="noStrike">
                <a:solidFill>
                  <a:srgbClr val="3B3B3B"/>
                </a:solidFill>
                <a:effectLst/>
                <a:uFillTx/>
                <a:latin typeface="Menlo"/>
                <a:ea typeface="Arial"/>
              </a:rPr>
              <a:t> </a:t>
            </a:r>
            <a:r>
              <a:rPr lang="en-US" sz="1050" b="1" u="none" strike="noStrike">
                <a:solidFill>
                  <a:srgbClr val="795E26"/>
                </a:solidFill>
                <a:effectLst/>
                <a:uFillTx/>
                <a:latin typeface="Menlo"/>
                <a:ea typeface="Arial"/>
              </a:rPr>
              <a:t>moveAttachment</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degrees</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speed</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stopMode</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resetAngle</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stallDetect</a:t>
            </a:r>
            <a:r>
              <a:rPr lang="en-US" sz="1050" b="1" u="none" strike="noStrike">
                <a:solidFill>
                  <a:srgbClr val="3B3B3B"/>
                </a:solidFill>
                <a:effectLst/>
                <a:uFillTx/>
                <a:latin typeface="Menlo"/>
                <a:ea typeface="Arial"/>
              </a:rPr>
              <a:t>) -&gt; </a:t>
            </a:r>
            <a:r>
              <a:rPr lang="en-US" sz="1050" b="1" u="none" strike="noStrike">
                <a:solidFill>
                  <a:srgbClr val="267F99"/>
                </a:solidFill>
                <a:effectLst/>
                <a:uFillTx/>
                <a:latin typeface="Menlo"/>
                <a:ea typeface="Arial"/>
              </a:rPr>
              <a:t>bool</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"left"</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attachment</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leftAttachment</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"right"</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attachment</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rightAttachment</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795E26"/>
                </a:solidFill>
                <a:effectLst/>
                <a:uFillTx/>
                <a:latin typeface="Menlo"/>
                <a:ea typeface="Arial"/>
              </a:rPr>
              <a:t>      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"moveAttachment() - ERROR, illegal attachment name of "</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return</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False</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resetAngle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 resetAttachment(</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stopMode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"hold"</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stopMode</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Stop.HOLD</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stopMode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"brake"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stopMode</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Stop.BRAKE</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stopMode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"coast"</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stopMode</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Stop.COAST </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001080"/>
                </a:solidFill>
                <a:effectLst/>
                <a:uFillTx/>
                <a:latin typeface="Menlo"/>
                <a:ea typeface="Arial"/>
              </a:rPr>
              <a:t>        stopMode</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Stop.HOLD</a:t>
            </a:r>
            <a:endParaRPr lang="en-US" sz="1050" b="0" u="none" strike="noStrike">
              <a:solidFill>
                <a:srgbClr val="000000"/>
              </a:solidFill>
              <a:effectLst/>
              <a:uFillTx/>
              <a:latin typeface="Arial"/>
            </a:endParaRPr>
          </a:p>
        </p:txBody>
      </p:sp>
      <p:sp>
        <p:nvSpPr>
          <p:cNvPr id="364" name="TextBox 6"/>
          <p:cNvSpPr/>
          <p:nvPr/>
        </p:nvSpPr>
        <p:spPr>
          <a:xfrm>
            <a:off x="5808960" y="2571840"/>
            <a:ext cx="2994120" cy="17078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Motors have different stop modes.</a:t>
            </a:r>
            <a:endParaRPr lang="en-US" sz="1400" b="0" u="none" strike="noStrike">
              <a:solidFill>
                <a:srgbClr val="000000"/>
              </a:solidFill>
              <a:effectLst/>
              <a:uFillTx/>
              <a:latin typeface="Arial"/>
            </a:endParaRPr>
          </a:p>
          <a:p>
            <a:pPr marL="285840" indent="-285840">
              <a:lnSpc>
                <a:spcPts val="1349"/>
              </a:lnSpc>
              <a:buClr>
                <a:srgbClr val="000000"/>
              </a:buClr>
              <a:buFont typeface="Arial"/>
              <a:buChar char="•"/>
            </a:pPr>
            <a:r>
              <a:rPr lang="en-US" sz="1400" b="1" u="none" strike="noStrike">
                <a:solidFill>
                  <a:schemeClr val="dk1"/>
                </a:solidFill>
                <a:effectLst/>
                <a:uFillTx/>
                <a:latin typeface="Arial"/>
                <a:ea typeface="Arial"/>
              </a:rPr>
              <a:t>HOLD</a:t>
            </a:r>
            <a:r>
              <a:rPr lang="en-US" sz="1400" b="0" u="none" strike="noStrike">
                <a:solidFill>
                  <a:schemeClr val="dk1"/>
                </a:solidFill>
                <a:effectLst/>
                <a:uFillTx/>
                <a:latin typeface="Arial"/>
                <a:ea typeface="Arial"/>
              </a:rPr>
              <a:t> is used for picking up and carrying items. </a:t>
            </a:r>
            <a:endParaRPr lang="en-US" sz="1400" b="0" u="none" strike="noStrike">
              <a:solidFill>
                <a:srgbClr val="000000"/>
              </a:solidFill>
              <a:effectLst/>
              <a:uFillTx/>
              <a:latin typeface="Arial"/>
            </a:endParaRPr>
          </a:p>
          <a:p>
            <a:pPr marL="285840" indent="-285840">
              <a:lnSpc>
                <a:spcPts val="1349"/>
              </a:lnSpc>
              <a:buClr>
                <a:srgbClr val="000000"/>
              </a:buClr>
              <a:buFont typeface="Arial"/>
              <a:buChar char="•"/>
            </a:pPr>
            <a:r>
              <a:rPr lang="en-US" sz="1400" b="1" u="none" strike="noStrike">
                <a:solidFill>
                  <a:schemeClr val="dk1"/>
                </a:solidFill>
                <a:effectLst/>
                <a:uFillTx/>
                <a:latin typeface="Arial"/>
                <a:ea typeface="Arial"/>
              </a:rPr>
              <a:t>HOLD</a:t>
            </a:r>
            <a:r>
              <a:rPr lang="en-US" sz="1400" b="0" u="none" strike="noStrike">
                <a:solidFill>
                  <a:schemeClr val="dk1"/>
                </a:solidFill>
                <a:effectLst/>
                <a:uFillTx/>
                <a:latin typeface="Arial"/>
                <a:ea typeface="Arial"/>
              </a:rPr>
              <a:t> or </a:t>
            </a:r>
            <a:r>
              <a:rPr lang="en-US" sz="1400" b="1" u="none" strike="noStrike">
                <a:solidFill>
                  <a:schemeClr val="dk1"/>
                </a:solidFill>
                <a:effectLst/>
                <a:uFillTx/>
                <a:latin typeface="Arial"/>
                <a:ea typeface="Arial"/>
              </a:rPr>
              <a:t>BRAKE</a:t>
            </a:r>
            <a:r>
              <a:rPr lang="en-US" sz="1400" b="0" u="none" strike="noStrike">
                <a:solidFill>
                  <a:schemeClr val="dk1"/>
                </a:solidFill>
                <a:effectLst/>
                <a:uFillTx/>
                <a:latin typeface="Arial"/>
                <a:ea typeface="Arial"/>
              </a:rPr>
              <a:t>  is good for lifting a lever or object that the robot doesn't have to carry. </a:t>
            </a:r>
            <a:endParaRPr lang="en-US" sz="1400" b="0" u="none" strike="noStrike">
              <a:solidFill>
                <a:srgbClr val="000000"/>
              </a:solidFill>
              <a:effectLst/>
              <a:uFillTx/>
              <a:latin typeface="Arial"/>
            </a:endParaRPr>
          </a:p>
          <a:p>
            <a:pPr marL="285840" indent="-285840">
              <a:lnSpc>
                <a:spcPts val="1349"/>
              </a:lnSpc>
              <a:buClr>
                <a:srgbClr val="000000"/>
              </a:buClr>
              <a:buFont typeface="Arial"/>
              <a:buChar char="•"/>
            </a:pPr>
            <a:r>
              <a:rPr lang="en-US" sz="1400" b="1" u="none" strike="noStrike">
                <a:solidFill>
                  <a:schemeClr val="dk1"/>
                </a:solidFill>
                <a:effectLst/>
                <a:uFillTx/>
                <a:latin typeface="Arial"/>
                <a:ea typeface="Arial"/>
              </a:rPr>
              <a:t>COAST</a:t>
            </a:r>
            <a:r>
              <a:rPr lang="en-US" sz="1400" b="0" u="none" strike="noStrike">
                <a:solidFill>
                  <a:schemeClr val="dk1"/>
                </a:solidFill>
                <a:effectLst/>
                <a:uFillTx/>
                <a:latin typeface="Arial"/>
                <a:ea typeface="Arial"/>
              </a:rPr>
              <a:t> is best for levers you have to push down to reduce stall risk.</a:t>
            </a:r>
            <a:endParaRPr lang="en-US" sz="1400" b="0" u="none" strike="noStrike">
              <a:solidFill>
                <a:srgbClr val="000000"/>
              </a:solidFill>
              <a:effectLst/>
              <a:uFillTx/>
              <a:latin typeface="Arial"/>
            </a:endParaRPr>
          </a:p>
        </p:txBody>
      </p:sp>
      <p:cxnSp>
        <p:nvCxnSpPr>
          <p:cNvPr id="365" name="Straight Arrow Connector 7"/>
          <p:cNvCxnSpPr>
            <a:stCxn id="364" idx="1"/>
          </p:cNvCxnSpPr>
          <p:nvPr/>
        </p:nvCxnSpPr>
        <p:spPr>
          <a:xfrm flipH="1">
            <a:off x="2653560" y="3425760"/>
            <a:ext cx="3155760" cy="271080"/>
          </a:xfrm>
          <a:prstGeom prst="straightConnector1">
            <a:avLst/>
          </a:prstGeom>
          <a:ln w="73025">
            <a:solidFill>
              <a:srgbClr val="000000"/>
            </a:solidFill>
            <a:round/>
            <a:tailEnd type="triangle" w="med" len="med"/>
          </a:ln>
        </p:spPr>
      </p:cxnSp>
      <p:sp>
        <p:nvSpPr>
          <p:cNvPr id="366" name="Title 1"/>
          <p:cNvSpPr/>
          <p:nvPr/>
        </p:nvSpPr>
        <p:spPr>
          <a:xfrm>
            <a:off x="146520" y="54360"/>
            <a:ext cx="8520120" cy="572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pPr>
            <a:r>
              <a:rPr lang="en-US" sz="1800" b="1" u="none" strike="noStrike">
                <a:solidFill>
                  <a:schemeClr val="lt1"/>
                </a:solidFill>
                <a:effectLst/>
                <a:uFillTx/>
                <a:latin typeface="Courier New"/>
                <a:ea typeface="Arial"/>
              </a:rPr>
              <a:t>moveAttachment(attachmentStr, degrees, speed, stopMode, </a:t>
            </a:r>
            <a:br>
              <a:rPr sz="1800"/>
            </a:br>
            <a:r>
              <a:rPr lang="en-US" sz="1800" b="1" u="none" strike="noStrike">
                <a:solidFill>
                  <a:schemeClr val="lt1"/>
                </a:solidFill>
                <a:effectLst/>
                <a:uFillTx/>
                <a:latin typeface="Courier New"/>
                <a:ea typeface="Arial"/>
              </a:rPr>
              <a:t>               resetAngle, stallDetect) </a:t>
            </a:r>
            <a:r>
              <a:rPr lang="en-US" sz="1800" b="1" u="none" strike="noStrike">
                <a:solidFill>
                  <a:schemeClr val="lt1"/>
                </a:solidFill>
                <a:effectLst/>
                <a:uFillTx/>
                <a:latin typeface="Arial"/>
                <a:ea typeface="Arial"/>
              </a:rPr>
              <a:t>(1/2)</a:t>
            </a:r>
            <a:endParaRPr lang="en-US" sz="1800" b="0" u="none" strike="noStrike">
              <a:solidFill>
                <a:srgbClr val="000000"/>
              </a:solidFill>
              <a:effectLst/>
              <a:uFillTx/>
              <a:latin typeface="Arial"/>
            </a:endParaRPr>
          </a:p>
        </p:txBody>
      </p:sp>
      <p:sp>
        <p:nvSpPr>
          <p:cNvPr id="367" name="TextBox 2"/>
          <p:cNvSpPr/>
          <p:nvPr/>
        </p:nvSpPr>
        <p:spPr>
          <a:xfrm>
            <a:off x="2286000" y="2417400"/>
            <a:ext cx="45716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(2/2)</a:t>
            </a:r>
            <a:endParaRPr lang="en-US" sz="1400" b="0" u="none" strike="noStrike">
              <a:solidFill>
                <a:srgbClr val="000000"/>
              </a:solidFill>
              <a:effectLst/>
              <a:uFillTx/>
              <a:latin typeface="Arial"/>
            </a:endParaRPr>
          </a:p>
        </p:txBody>
      </p:sp>
      <p:sp>
        <p:nvSpPr>
          <p:cNvPr id="368" name="TextBox 4"/>
          <p:cNvSpPr/>
          <p:nvPr/>
        </p:nvSpPr>
        <p:spPr>
          <a:xfrm>
            <a:off x="1233360" y="4376520"/>
            <a:ext cx="695628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Move an attachment a specific number of degrees, with a configurable stop mode, and optional stall detection. Degrees are relative to the start position of the attachment.</a:t>
            </a:r>
            <a:endParaRPr lang="en-US" sz="1400" b="0" u="none" strike="noStrike">
              <a:solidFill>
                <a:srgbClr val="000000"/>
              </a:solidFill>
              <a:effectLst/>
              <a:uFillTx/>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146520" y="5436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800" b="1" u="none" strike="noStrike">
                <a:solidFill>
                  <a:schemeClr val="lt1"/>
                </a:solidFill>
                <a:effectLst/>
                <a:uFillTx/>
                <a:latin typeface="Courier New"/>
                <a:ea typeface="Arial"/>
              </a:rPr>
              <a:t>moveAttachment(attachmentStr, degrees, speed, stopMode, </a:t>
            </a:r>
            <a:br>
              <a:rPr sz="1800"/>
            </a:br>
            <a:r>
              <a:rPr lang="en-US" sz="1800" b="1" u="none" strike="noStrike">
                <a:solidFill>
                  <a:schemeClr val="lt1"/>
                </a:solidFill>
                <a:effectLst/>
                <a:uFillTx/>
                <a:latin typeface="Courier New"/>
                <a:ea typeface="Arial"/>
              </a:rPr>
              <a:t>               resetAngle, stallDetect) </a:t>
            </a:r>
            <a:r>
              <a:rPr lang="en-US" sz="1800" b="1" u="none" strike="noStrike">
                <a:solidFill>
                  <a:schemeClr val="lt1"/>
                </a:solidFill>
                <a:effectLst/>
                <a:uFillTx/>
                <a:latin typeface="Arial"/>
                <a:ea typeface="Arial"/>
              </a:rPr>
              <a:t>(2/2)</a:t>
            </a:r>
            <a:endParaRPr lang="en-US" sz="1800" b="0" u="none" strike="noStrike">
              <a:solidFill>
                <a:srgbClr val="000000"/>
              </a:solidFill>
              <a:effectLst/>
              <a:uFillTx/>
              <a:latin typeface="Arial"/>
            </a:endParaRPr>
          </a:p>
        </p:txBody>
      </p:sp>
      <p:sp>
        <p:nvSpPr>
          <p:cNvPr id="370" name="PlaceHolder 2"/>
          <p:cNvSpPr>
            <a:spLocks noGrp="1"/>
          </p:cNvSpPr>
          <p:nvPr>
            <p:ph type="sldNum" idx="8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78AC962-8596-48E3-846E-7652CDFFC2CD}" type="slidenum">
              <a:rPr lang="en" sz="1000" b="0" u="none" strike="noStrike">
                <a:solidFill>
                  <a:schemeClr val="dk2"/>
                </a:solidFill>
                <a:effectLst/>
                <a:uFillTx/>
                <a:latin typeface="Arial"/>
                <a:ea typeface="Arial"/>
              </a:rPr>
              <a:t>73</a:t>
            </a:fld>
            <a:endParaRPr lang="en-US" sz="1000" b="0" u="none" strike="noStrike">
              <a:solidFill>
                <a:srgbClr val="000000"/>
              </a:solidFill>
              <a:effectLst/>
              <a:uFillTx/>
              <a:latin typeface="Times New Roman"/>
            </a:endParaRPr>
          </a:p>
        </p:txBody>
      </p:sp>
      <p:sp>
        <p:nvSpPr>
          <p:cNvPr id="371" name="TextBox 13"/>
          <p:cNvSpPr/>
          <p:nvPr/>
        </p:nvSpPr>
        <p:spPr>
          <a:xfrm>
            <a:off x="91800" y="858600"/>
            <a:ext cx="8874000" cy="349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stallDetect</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await</a:t>
            </a:r>
            <a:r>
              <a:rPr lang="en-US" sz="1050" b="1" u="none" strike="noStrike">
                <a:solidFill>
                  <a:srgbClr val="3B3B3B"/>
                </a:solidFill>
                <a:effectLst/>
                <a:uFillTx/>
                <a:latin typeface="Menlo"/>
                <a:ea typeface="Arial"/>
              </a:rPr>
              <a:t> multitask(</a:t>
            </a:r>
            <a:r>
              <a:rPr lang="en-US" sz="1050" b="1" u="none" strike="noStrike">
                <a:solidFill>
                  <a:srgbClr val="001080"/>
                </a:solidFill>
                <a:effectLst/>
                <a:uFillTx/>
                <a:latin typeface="Menlo"/>
                <a:ea typeface="Arial"/>
              </a:rPr>
              <a:t>attachment</a:t>
            </a:r>
            <a:r>
              <a:rPr lang="en-US" sz="1050" b="1" u="none" strike="noStrike">
                <a:solidFill>
                  <a:srgbClr val="3B3B3B"/>
                </a:solidFill>
                <a:effectLst/>
                <a:uFillTx/>
                <a:latin typeface="Menlo"/>
                <a:ea typeface="Arial"/>
              </a:rPr>
              <a:t>.run_target(</a:t>
            </a:r>
            <a:r>
              <a:rPr lang="en-US" sz="1050" b="1" u="none" strike="noStrike">
                <a:solidFill>
                  <a:srgbClr val="001080"/>
                </a:solidFill>
                <a:effectLst/>
                <a:uFillTx/>
                <a:latin typeface="Menlo"/>
                <a:ea typeface="Arial"/>
              </a:rPr>
              <a:t>speed</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degrees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then</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Stop.HOLD), </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isStalled(</a:t>
            </a:r>
            <a:r>
              <a:rPr lang="en-US" sz="1050" b="1" u="none" strike="noStrike">
                <a:solidFill>
                  <a:srgbClr val="001080"/>
                </a:solidFill>
                <a:effectLst/>
                <a:uFillTx/>
                <a:latin typeface="Menlo"/>
                <a:ea typeface="Arial"/>
              </a:rPr>
              <a:t>attachment</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race</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else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await</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attachment</a:t>
            </a:r>
            <a:r>
              <a:rPr lang="en-US" sz="1050" b="1" u="none" strike="noStrike">
                <a:solidFill>
                  <a:srgbClr val="3B3B3B"/>
                </a:solidFill>
                <a:effectLst/>
                <a:uFillTx/>
                <a:latin typeface="Menlo"/>
                <a:ea typeface="Arial"/>
              </a:rPr>
              <a:t>.run_target(</a:t>
            </a:r>
            <a:r>
              <a:rPr lang="en-US" sz="1050" b="1" u="none" strike="noStrike">
                <a:solidFill>
                  <a:srgbClr val="001080"/>
                </a:solidFill>
                <a:effectLst/>
                <a:uFillTx/>
                <a:latin typeface="Menlo"/>
                <a:ea typeface="Arial"/>
              </a:rPr>
              <a:t>speed</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degrees</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then</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stopMode</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wait</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debugL2: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End moveAttachmentFC() final angle="</a:t>
            </a:r>
            <a:r>
              <a:rPr lang="en-US" sz="1050" b="1" u="none" strike="noStrike">
                <a:solidFill>
                  <a:srgbClr val="3B3B3B"/>
                </a:solidFill>
                <a:effectLst/>
                <a:uFillTx/>
                <a:latin typeface="Menlo"/>
                <a:ea typeface="Arial"/>
              </a:rPr>
              <a:t>,topAttachment.angle())</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return</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True</a:t>
            </a:r>
            <a:endParaRPr lang="en-US" sz="1050" b="0" u="none" strike="noStrike">
              <a:solidFill>
                <a:srgbClr val="000000"/>
              </a:solidFill>
              <a:effectLst/>
              <a:uFillTx/>
              <a:latin typeface="Arial"/>
            </a:endParaRPr>
          </a:p>
        </p:txBody>
      </p:sp>
      <p:sp>
        <p:nvSpPr>
          <p:cNvPr id="372" name="TextBox 2"/>
          <p:cNvSpPr/>
          <p:nvPr/>
        </p:nvSpPr>
        <p:spPr>
          <a:xfrm>
            <a:off x="6200280" y="918720"/>
            <a:ext cx="2793960" cy="19231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Move the attachment a specific number of degrees while also checking to see if the motor has </a:t>
            </a:r>
            <a:endParaRPr lang="en-US" sz="1400" b="0" u="none" strike="noStrike">
              <a:solidFill>
                <a:srgbClr val="000000"/>
              </a:solidFill>
              <a:effectLst/>
              <a:uFillTx/>
              <a:latin typeface="Arial"/>
            </a:endParaRPr>
          </a:p>
          <a:p>
            <a:pPr>
              <a:lnSpc>
                <a:spcPts val="1349"/>
              </a:lnSpc>
            </a:pPr>
            <a:r>
              <a:rPr lang="en-US" sz="1400" b="0" u="none" strike="noStrike">
                <a:solidFill>
                  <a:schemeClr val="dk1"/>
                </a:solidFill>
                <a:effectLst/>
                <a:uFillTx/>
                <a:latin typeface="Arial"/>
                <a:ea typeface="Arial"/>
              </a:rPr>
              <a:t>stalled using the </a:t>
            </a:r>
            <a:r>
              <a:rPr lang="en-US" sz="1400" b="1" u="none" strike="noStrike">
                <a:solidFill>
                  <a:schemeClr val="dk1"/>
                </a:solidFill>
                <a:effectLst/>
                <a:uFillTx/>
                <a:latin typeface="Courier New"/>
                <a:ea typeface="Arial"/>
              </a:rPr>
              <a:t>isStalled()</a:t>
            </a:r>
            <a:r>
              <a:rPr lang="en-US" sz="1400" b="0" u="none" strike="noStrike">
                <a:solidFill>
                  <a:schemeClr val="dk1"/>
                </a:solidFill>
                <a:effectLst/>
                <a:uFillTx/>
                <a:latin typeface="Arial"/>
                <a:ea typeface="Arial"/>
              </a:rPr>
              <a:t> function. When </a:t>
            </a:r>
            <a:r>
              <a:rPr lang="en-US" sz="1400" b="1" u="none" strike="noStrike">
                <a:solidFill>
                  <a:schemeClr val="dk1"/>
                </a:solidFill>
                <a:effectLst/>
                <a:uFillTx/>
                <a:latin typeface="Courier New"/>
                <a:ea typeface="Arial"/>
              </a:rPr>
              <a:t>race=True</a:t>
            </a:r>
            <a:r>
              <a:rPr lang="en-US" sz="1400" b="0" u="none" strike="noStrike">
                <a:solidFill>
                  <a:schemeClr val="dk1"/>
                </a:solidFill>
                <a:effectLst/>
                <a:uFillTx/>
                <a:latin typeface="Arial"/>
                <a:ea typeface="Arial"/>
              </a:rPr>
              <a:t> it will run both commands until one finishes then it kills the other one. So if the motor stalls it will  kill the </a:t>
            </a:r>
            <a:r>
              <a:rPr lang="en-US" sz="1400" b="1" u="none" strike="noStrike">
                <a:solidFill>
                  <a:schemeClr val="dk1"/>
                </a:solidFill>
                <a:effectLst/>
                <a:uFillTx/>
                <a:latin typeface="Courier New"/>
                <a:ea typeface="Arial"/>
              </a:rPr>
              <a:t>run_target() </a:t>
            </a:r>
            <a:r>
              <a:rPr lang="en-US" sz="1400" b="0" u="none" strike="noStrike">
                <a:solidFill>
                  <a:schemeClr val="dk1"/>
                </a:solidFill>
                <a:effectLst/>
                <a:uFillTx/>
                <a:latin typeface="Arial"/>
                <a:ea typeface="Arial"/>
              </a:rPr>
              <a:t>function</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cxnSp>
        <p:nvCxnSpPr>
          <p:cNvPr id="373" name="Straight Arrow Connector 4"/>
          <p:cNvCxnSpPr>
            <a:stCxn id="372" idx="1"/>
          </p:cNvCxnSpPr>
          <p:nvPr/>
        </p:nvCxnSpPr>
        <p:spPr>
          <a:xfrm flipH="1" flipV="1">
            <a:off x="4659480" y="1837800"/>
            <a:ext cx="1541160" cy="42840"/>
          </a:xfrm>
          <a:prstGeom prst="straightConnector1">
            <a:avLst/>
          </a:prstGeom>
          <a:ln w="73025">
            <a:solidFill>
              <a:srgbClr val="000000"/>
            </a:solidFill>
            <a:round/>
            <a:tailEnd type="triangle" w="med" len="med"/>
          </a:ln>
        </p:spPr>
      </p:cxnSp>
      <p:sp>
        <p:nvSpPr>
          <p:cNvPr id="374" name="TextBox 11"/>
          <p:cNvSpPr/>
          <p:nvPr/>
        </p:nvSpPr>
        <p:spPr>
          <a:xfrm>
            <a:off x="6248880" y="2914920"/>
            <a:ext cx="2748240" cy="81000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0" u="none" strike="noStrike">
                <a:solidFill>
                  <a:schemeClr val="dk1"/>
                </a:solidFill>
                <a:effectLst/>
                <a:uFillTx/>
                <a:latin typeface="Arial"/>
                <a:ea typeface="Arial"/>
              </a:rPr>
              <a:t>Move the attachment a specific number of degrees, then stop using </a:t>
            </a:r>
            <a:r>
              <a:rPr lang="en-US" sz="1400" b="1" u="none" strike="noStrike">
                <a:solidFill>
                  <a:schemeClr val="dk1"/>
                </a:solidFill>
                <a:effectLst/>
                <a:uFillTx/>
                <a:latin typeface="Arial"/>
                <a:ea typeface="Arial"/>
              </a:rPr>
              <a:t>stopMode</a:t>
            </a:r>
            <a:r>
              <a:rPr lang="en-US" sz="1400" b="0" u="none" strike="noStrike">
                <a:solidFill>
                  <a:schemeClr val="dk1"/>
                </a:solidFill>
                <a:effectLst/>
                <a:uFillTx/>
                <a:latin typeface="Arial"/>
                <a:ea typeface="Arial"/>
              </a:rPr>
              <a:t>, and wait for the command to complete</a:t>
            </a:r>
            <a:endParaRPr lang="en-US" sz="1400" b="0" u="none" strike="noStrike">
              <a:solidFill>
                <a:srgbClr val="000000"/>
              </a:solidFill>
              <a:effectLst/>
              <a:uFillTx/>
              <a:latin typeface="Arial"/>
            </a:endParaRPr>
          </a:p>
        </p:txBody>
      </p:sp>
      <p:cxnSp>
        <p:nvCxnSpPr>
          <p:cNvPr id="375" name="Straight Arrow Connector 16"/>
          <p:cNvCxnSpPr/>
          <p:nvPr/>
        </p:nvCxnSpPr>
        <p:spPr>
          <a:xfrm flipH="1" flipV="1">
            <a:off x="5025600" y="3015360"/>
            <a:ext cx="1223640" cy="319320"/>
          </a:xfrm>
          <a:prstGeom prst="straightConnector1">
            <a:avLst/>
          </a:prstGeom>
          <a:ln w="73025">
            <a:solidFill>
              <a:srgbClr val="000000"/>
            </a:solidFill>
            <a:round/>
            <a:tailEnd type="triangle" w="med" len="med"/>
          </a:ln>
        </p:spPr>
      </p:cxnSp>
      <p:sp>
        <p:nvSpPr>
          <p:cNvPr id="376" name="TextBox 20"/>
          <p:cNvSpPr/>
          <p:nvPr/>
        </p:nvSpPr>
        <p:spPr>
          <a:xfrm>
            <a:off x="1233360" y="4376520"/>
            <a:ext cx="695628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Move an attachment a specific number of degrees, with configurable stop mode, and optional stall detection. Degrees are relative to the start position of the attachment.</a:t>
            </a:r>
            <a:endParaRPr lang="en-US" sz="1400" b="0" u="none" strike="noStrike">
              <a:solidFill>
                <a:srgbClr val="000000"/>
              </a:solidFill>
              <a:effectLst/>
              <a:uFillTx/>
              <a:latin typeface="Arial"/>
            </a:endParaRPr>
          </a:p>
        </p:txBody>
      </p:sp>
      <p:sp>
        <p:nvSpPr>
          <p:cNvPr id="377" name="TextBox 6"/>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fontScale="55000" lnSpcReduction="19999"/>
          </a:bodyPr>
          <a:lstStyle/>
          <a:p>
            <a:pPr indent="0" algn="l">
              <a:lnSpc>
                <a:spcPct val="100000"/>
              </a:lnSpc>
              <a:buNone/>
            </a:pPr>
            <a:r>
              <a:rPr lang="en-US" sz="2500" b="1" u="none" strike="noStrike">
                <a:solidFill>
                  <a:schemeClr val="lt1"/>
                </a:solidFill>
                <a:effectLst/>
                <a:uFillTx/>
                <a:latin typeface="Courier New"/>
                <a:ea typeface="Arial"/>
              </a:rPr>
              <a:t>driveRobot(dist, speed, accel)</a:t>
            </a:r>
            <a:br>
              <a:rPr sz="2500"/>
            </a:br>
            <a:endParaRPr lang="en-US" sz="2500" b="0" u="none" strike="noStrike">
              <a:solidFill>
                <a:srgbClr val="000000"/>
              </a:solidFill>
              <a:effectLst/>
              <a:uFillTx/>
              <a:latin typeface="Arial"/>
            </a:endParaRPr>
          </a:p>
        </p:txBody>
      </p:sp>
      <p:sp>
        <p:nvSpPr>
          <p:cNvPr id="379" name="PlaceHolder 2"/>
          <p:cNvSpPr>
            <a:spLocks noGrp="1"/>
          </p:cNvSpPr>
          <p:nvPr>
            <p:ph type="sldNum" idx="8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6F39363-0B11-4194-9F56-A5DC0E74F82E}" type="slidenum">
              <a:rPr lang="en" sz="1000" b="0" u="none" strike="noStrike">
                <a:solidFill>
                  <a:schemeClr val="dk2"/>
                </a:solidFill>
                <a:effectLst/>
                <a:uFillTx/>
                <a:latin typeface="Arial"/>
                <a:ea typeface="Arial"/>
              </a:rPr>
              <a:t>74</a:t>
            </a:fld>
            <a:endParaRPr lang="en-US" sz="1000" b="0" u="none" strike="noStrike">
              <a:solidFill>
                <a:srgbClr val="000000"/>
              </a:solidFill>
              <a:effectLst/>
              <a:uFillTx/>
              <a:latin typeface="Times New Roman"/>
            </a:endParaRPr>
          </a:p>
        </p:txBody>
      </p:sp>
      <p:sp>
        <p:nvSpPr>
          <p:cNvPr id="380" name="TextBox 19"/>
          <p:cNvSpPr/>
          <p:nvPr/>
        </p:nvSpPr>
        <p:spPr>
          <a:xfrm>
            <a:off x="146520" y="1032840"/>
            <a:ext cx="8745840" cy="349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100" b="1" u="none" strike="noStrike">
                <a:solidFill>
                  <a:srgbClr val="008000"/>
                </a:solidFill>
                <a:effectLst/>
                <a:uFillTx/>
                <a:latin typeface="Menlo"/>
                <a:ea typeface="Arial"/>
              </a:rPr>
              <a:t># drive robot forward or backward (-negative dist)</a:t>
            </a:r>
            <a:endParaRPr lang="en-US" sz="1100" b="0" u="none" strike="noStrike">
              <a:solidFill>
                <a:srgbClr val="000000"/>
              </a:solidFill>
              <a:effectLst/>
              <a:uFillTx/>
              <a:latin typeface="Arial"/>
            </a:endParaRPr>
          </a:p>
          <a:p>
            <a:pPr>
              <a:lnSpc>
                <a:spcPts val="1349"/>
              </a:lnSpc>
            </a:pPr>
            <a:r>
              <a:rPr lang="en-US" sz="1100" b="1" u="none" strike="noStrike">
                <a:solidFill>
                  <a:srgbClr val="0000FF"/>
                </a:solidFill>
                <a:effectLst/>
                <a:uFillTx/>
                <a:latin typeface="Menlo"/>
                <a:ea typeface="Arial"/>
              </a:rPr>
              <a:t>async</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def</a:t>
            </a:r>
            <a:r>
              <a:rPr lang="en-US" sz="1100" b="1" u="none" strike="noStrike">
                <a:solidFill>
                  <a:srgbClr val="3B3B3B"/>
                </a:solidFill>
                <a:effectLst/>
                <a:uFillTx/>
                <a:latin typeface="Menlo"/>
                <a:ea typeface="Arial"/>
              </a:rPr>
              <a:t> </a:t>
            </a:r>
            <a:r>
              <a:rPr lang="en-US" sz="1100" b="1" u="none" strike="noStrike">
                <a:solidFill>
                  <a:srgbClr val="795E26"/>
                </a:solidFill>
                <a:effectLst/>
                <a:uFillTx/>
                <a:latin typeface="Menlo"/>
                <a:ea typeface="Arial"/>
              </a:rPr>
              <a:t>driveRobot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dist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accel</a:t>
            </a:r>
            <a:r>
              <a:rPr lang="en-US" sz="1100" b="1" u="none" strike="noStrike">
                <a:solidFill>
                  <a:srgbClr val="3B3B3B"/>
                </a:solidFill>
                <a:effectLst/>
                <a:uFillTx/>
                <a:latin typeface="Menlo"/>
                <a:ea typeface="Arial"/>
              </a:rPr>
              <a:t>) -&gt; </a:t>
            </a:r>
            <a:r>
              <a:rPr lang="en-US" sz="1100" b="1" u="none" strike="noStrike">
                <a:solidFill>
                  <a:srgbClr val="267F99"/>
                </a:solidFill>
                <a:effectLst/>
                <a:uFillTx/>
                <a:latin typeface="Menlo"/>
                <a:ea typeface="Arial"/>
              </a:rPr>
              <a:t>bool</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AF00DB"/>
                </a:solidFill>
                <a:effectLst/>
                <a:uFillTx/>
                <a:latin typeface="Menlo"/>
                <a:ea typeface="Arial"/>
              </a:rPr>
              <a:t>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driveRobot() dist="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dist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speed</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accel="</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accel</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008000"/>
                </a:solidFill>
                <a:effectLst/>
                <a:uFillTx/>
                <a:latin typeface="Menlo"/>
                <a:ea typeface="Arial"/>
              </a:rPr>
              <a:t>   # configure the speed and acceleration values</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driveBase.settings(</a:t>
            </a:r>
            <a:r>
              <a:rPr lang="en-US" sz="1100" b="1" u="none" strike="noStrike">
                <a:solidFill>
                  <a:srgbClr val="001080"/>
                </a:solidFill>
                <a:effectLst/>
                <a:uFillTx/>
                <a:latin typeface="Menlo"/>
                <a:ea typeface="Arial"/>
              </a:rPr>
              <a:t>straight_speed</a:t>
            </a:r>
            <a:r>
              <a:rPr lang="en-US" sz="1100" b="1" u="none" strike="noStrike">
                <a:solidFill>
                  <a:srgbClr val="000000"/>
                </a:solidFill>
                <a:effectLst/>
                <a:uFillTx/>
                <a:latin typeface="Menlo"/>
                <a:ea typeface="Arial"/>
              </a:rPr>
              <a:t>=</a:t>
            </a:r>
            <a:r>
              <a:rPr lang="en-US" sz="1100" b="1" u="none" strike="noStrike">
                <a:solidFill>
                  <a:srgbClr val="001080"/>
                </a:solidFill>
                <a:effectLst/>
                <a:uFillTx/>
                <a:latin typeface="Menlo"/>
                <a:ea typeface="Arial"/>
              </a:rPr>
              <a:t>speed</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straight_acceleration</a:t>
            </a:r>
            <a:r>
              <a:rPr lang="en-US" sz="1100" b="1" u="none" strike="noStrike">
                <a:solidFill>
                  <a:srgbClr val="000000"/>
                </a:solidFill>
                <a:effectLst/>
                <a:uFillTx/>
                <a:latin typeface="Menlo"/>
                <a:ea typeface="Arial"/>
              </a:rPr>
              <a:t>=</a:t>
            </a:r>
            <a:r>
              <a:rPr lang="en-US" sz="1100" b="1" u="none" strike="noStrike">
                <a:solidFill>
                  <a:srgbClr val="001080"/>
                </a:solidFill>
                <a:effectLst/>
                <a:uFillTx/>
                <a:latin typeface="Menlo"/>
                <a:ea typeface="Arial"/>
              </a:rPr>
              <a:t>accel</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driveBase.straight(</a:t>
            </a:r>
            <a:r>
              <a:rPr lang="en-US" sz="1100" b="1" u="none" strike="noStrike">
                <a:solidFill>
                  <a:srgbClr val="001080"/>
                </a:solidFill>
                <a:effectLst/>
                <a:uFillTx/>
                <a:latin typeface="Menlo"/>
                <a:ea typeface="Arial"/>
              </a:rPr>
              <a:t>dist</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then</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Stop.HOLD, </a:t>
            </a:r>
            <a:r>
              <a:rPr lang="en-US" sz="1100" b="1" u="none" strike="noStrike">
                <a:solidFill>
                  <a:srgbClr val="001080"/>
                </a:solidFill>
                <a:effectLst/>
                <a:uFillTx/>
                <a:latin typeface="Menlo"/>
                <a:ea typeface="Arial"/>
              </a:rPr>
              <a:t>wait</a:t>
            </a:r>
            <a:r>
              <a:rPr lang="en-US" sz="1100" b="1" u="none" strike="noStrike">
                <a:solidFill>
                  <a:srgbClr val="000000"/>
                </a:solidFill>
                <a:effectLst/>
                <a:uFillTx/>
                <a:latin typeface="Menlo"/>
                <a:ea typeface="Arial"/>
              </a:rPr>
              <a:t>=</a:t>
            </a:r>
            <a:r>
              <a:rPr lang="en-US" sz="1100" b="1" u="none" strike="noStrike">
                <a:solidFill>
                  <a:srgbClr val="0000FF"/>
                </a:solidFill>
                <a:effectLst/>
                <a:uFillTx/>
                <a:latin typeface="Menlo"/>
                <a:ea typeface="Arial"/>
              </a:rPr>
              <a:t>True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driveRobot() done dist travelled="</a:t>
            </a:r>
            <a:r>
              <a:rPr lang="en-US" sz="1100" b="1" u="none" strike="noStrike">
                <a:solidFill>
                  <a:srgbClr val="3B3B3B"/>
                </a:solidFill>
                <a:effectLst/>
                <a:uFillTx/>
                <a:latin typeface="Menlo"/>
                <a:ea typeface="Arial"/>
              </a:rPr>
              <a:t>,driveBase.distance())</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True</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p:txBody>
      </p:sp>
      <p:sp>
        <p:nvSpPr>
          <p:cNvPr id="381" name="TextBox 20"/>
          <p:cNvSpPr/>
          <p:nvPr/>
        </p:nvSpPr>
        <p:spPr>
          <a:xfrm>
            <a:off x="6226920" y="2363400"/>
            <a:ext cx="279396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Drive forward or backward a specific distance in millimeters, then stop and hold position, and hub will wait till this is done</a:t>
            </a:r>
            <a:endParaRPr lang="en-US" sz="1400" b="0" u="none" strike="noStrike">
              <a:solidFill>
                <a:srgbClr val="000000"/>
              </a:solidFill>
              <a:effectLst/>
              <a:uFillTx/>
              <a:latin typeface="Arial"/>
            </a:endParaRPr>
          </a:p>
        </p:txBody>
      </p:sp>
      <p:cxnSp>
        <p:nvCxnSpPr>
          <p:cNvPr id="382" name="Straight Arrow Connector 21"/>
          <p:cNvCxnSpPr>
            <a:stCxn id="381" idx="1"/>
          </p:cNvCxnSpPr>
          <p:nvPr/>
        </p:nvCxnSpPr>
        <p:spPr>
          <a:xfrm flipH="1">
            <a:off x="5318640" y="2840400"/>
            <a:ext cx="908640" cy="303120"/>
          </a:xfrm>
          <a:prstGeom prst="straightConnector1">
            <a:avLst/>
          </a:prstGeom>
          <a:ln w="73025">
            <a:solidFill>
              <a:srgbClr val="000000"/>
            </a:solidFill>
            <a:round/>
            <a:tailEnd type="triangle" w="med" len="med"/>
          </a:ln>
        </p:spPr>
      </p:cxnSp>
      <p:sp>
        <p:nvSpPr>
          <p:cNvPr id="383" name="TextBox 22"/>
          <p:cNvSpPr/>
          <p:nvPr/>
        </p:nvSpPr>
        <p:spPr>
          <a:xfrm>
            <a:off x="1240200" y="4283280"/>
            <a:ext cx="695628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Drive forward or backward a specific speed and acceleration. Direction is based on if distance is negative. Normally a distance negative is backward but this would depend on how the robot is oriented.</a:t>
            </a:r>
            <a:endParaRPr lang="en-US" sz="1400" b="0" u="none" strike="noStrike">
              <a:solidFill>
                <a:srgbClr val="000000"/>
              </a:solidFill>
              <a:effectLst/>
              <a:uFillTx/>
              <a:latin typeface="Arial"/>
            </a:endParaRPr>
          </a:p>
        </p:txBody>
      </p:sp>
      <p:sp>
        <p:nvSpPr>
          <p:cNvPr id="384" name="TextBox 27"/>
          <p:cNvSpPr/>
          <p:nvPr/>
        </p:nvSpPr>
        <p:spPr>
          <a:xfrm>
            <a:off x="6226920" y="1641240"/>
            <a:ext cx="279396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 the straight speed and  acceleration for the drive motors</a:t>
            </a:r>
            <a:endParaRPr lang="en-US" sz="1400" b="0" u="none" strike="noStrike">
              <a:solidFill>
                <a:srgbClr val="000000"/>
              </a:solidFill>
              <a:effectLst/>
              <a:uFillTx/>
              <a:latin typeface="Arial"/>
            </a:endParaRPr>
          </a:p>
        </p:txBody>
      </p:sp>
      <p:cxnSp>
        <p:nvCxnSpPr>
          <p:cNvPr id="385" name="Straight Arrow Connector 28"/>
          <p:cNvCxnSpPr>
            <a:stCxn id="384" idx="1"/>
          </p:cNvCxnSpPr>
          <p:nvPr/>
        </p:nvCxnSpPr>
        <p:spPr>
          <a:xfrm flipH="1">
            <a:off x="4572000" y="1902600"/>
            <a:ext cx="1655280" cy="370800"/>
          </a:xfrm>
          <a:prstGeom prst="straightConnector1">
            <a:avLst/>
          </a:prstGeom>
          <a:ln w="73025">
            <a:solidFill>
              <a:srgbClr val="000000"/>
            </a:solidFill>
            <a:round/>
            <a:tailEnd type="triangle" w="med" len="med"/>
          </a:ln>
        </p:spPr>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600" b="1" u="none" strike="noStrike">
                <a:solidFill>
                  <a:schemeClr val="lt1"/>
                </a:solidFill>
                <a:effectLst/>
                <a:uFillTx/>
                <a:latin typeface="Courier New"/>
                <a:ea typeface="Arial"/>
              </a:rPr>
              <a:t>driveRobotAndLift(dist, accel, attachmentStr, degrees, aSpeed, stopMode, resetAngle, stallDetect)</a:t>
            </a:r>
            <a:endParaRPr lang="en-US" sz="1600" b="0" u="none" strike="noStrike">
              <a:solidFill>
                <a:srgbClr val="000000"/>
              </a:solidFill>
              <a:effectLst/>
              <a:uFillTx/>
              <a:latin typeface="Arial"/>
            </a:endParaRPr>
          </a:p>
        </p:txBody>
      </p:sp>
      <p:sp>
        <p:nvSpPr>
          <p:cNvPr id="387" name="PlaceHolder 2"/>
          <p:cNvSpPr>
            <a:spLocks noGrp="1"/>
          </p:cNvSpPr>
          <p:nvPr>
            <p:ph type="sldNum" idx="8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CCADFF8-D89C-4B90-B804-35A72E7F5A60}" type="slidenum">
              <a:rPr lang="en" sz="1000" b="0" u="none" strike="noStrike">
                <a:solidFill>
                  <a:schemeClr val="dk2"/>
                </a:solidFill>
                <a:effectLst/>
                <a:uFillTx/>
                <a:latin typeface="Arial"/>
                <a:ea typeface="Arial"/>
              </a:rPr>
              <a:t>75</a:t>
            </a:fld>
            <a:endParaRPr lang="en-US" sz="1000" b="0" u="none" strike="noStrike">
              <a:solidFill>
                <a:srgbClr val="000000"/>
              </a:solidFill>
              <a:effectLst/>
              <a:uFillTx/>
              <a:latin typeface="Times New Roman"/>
            </a:endParaRPr>
          </a:p>
        </p:txBody>
      </p:sp>
      <p:sp>
        <p:nvSpPr>
          <p:cNvPr id="388" name="TextBox 7"/>
          <p:cNvSpPr/>
          <p:nvPr/>
        </p:nvSpPr>
        <p:spPr>
          <a:xfrm>
            <a:off x="158400" y="916560"/>
            <a:ext cx="8520120" cy="31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00" b="1" u="none" strike="noStrike">
                <a:solidFill>
                  <a:srgbClr val="0000FF"/>
                </a:solidFill>
                <a:effectLst/>
                <a:uFillTx/>
                <a:latin typeface="Menlo"/>
                <a:ea typeface="Arial"/>
              </a:rPr>
              <a:t>async</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def</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driveRobotAndLift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dist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dSpeed</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accel</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degrees</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aSpeed</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resetAngle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stallDetect</a:t>
            </a:r>
            <a:r>
              <a:rPr lang="en-US" sz="1000" b="1" u="none" strike="noStrike">
                <a:solidFill>
                  <a:srgbClr val="3B3B3B"/>
                </a:solidFill>
                <a:effectLst/>
                <a:uFillTx/>
                <a:latin typeface="Menlo"/>
                <a:ea typeface="Arial"/>
              </a:rPr>
              <a:t>) -&gt; </a:t>
            </a:r>
            <a:r>
              <a:rPr lang="en-US" sz="1000" b="1" u="none" strike="noStrike">
                <a:solidFill>
                  <a:srgbClr val="267F99"/>
                </a:solidFill>
                <a:effectLst/>
                <a:uFillTx/>
                <a:latin typeface="Menlo"/>
                <a:ea typeface="Arial"/>
              </a:rPr>
              <a:t>bool</a:t>
            </a:r>
            <a:r>
              <a:rPr lang="en-US" sz="1000" b="1" u="none" strike="noStrike">
                <a:solidFill>
                  <a:srgbClr val="3B3B3B"/>
                </a:solidFill>
                <a:effectLst/>
                <a:uFillTx/>
                <a:latin typeface="Menlo"/>
                <a:ea typeface="Arial"/>
              </a:rPr>
              <a:t>: </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"left"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attachment</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leftAttachment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elif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"right"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attachment</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rightAttachment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else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795E26"/>
                </a:solidFill>
                <a:effectLst/>
                <a:uFillTx/>
                <a:latin typeface="Menlo"/>
                <a:ea typeface="Arial"/>
              </a:rPr>
              <a:t>      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"driveRobotAndLift() - illegal attachment name of "</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return</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False</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if</a:t>
            </a:r>
            <a:r>
              <a:rPr lang="en-US" sz="1000" b="1" u="none" strike="noStrike">
                <a:solidFill>
                  <a:srgbClr val="3B3B3B"/>
                </a:solidFill>
                <a:effectLst/>
                <a:uFillTx/>
                <a:latin typeface="Menlo"/>
                <a:ea typeface="Arial"/>
              </a:rPr>
              <a:t> debugL2: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"DEBUG-L2 - driveRobotAndLift() dist="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dist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dSpeed="</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dSpeed</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accel="</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accel</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31515"/>
                </a:solidFill>
                <a:effectLst/>
                <a:uFillTx/>
                <a:latin typeface="Menlo"/>
                <a:ea typeface="Arial"/>
              </a:rPr>
              <a:t>                     attach="</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degrees="</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degrees</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aSpeed="</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aSpeed</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resetAngle="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resetAngle</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 stallDetect="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stallDetect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await</a:t>
            </a:r>
            <a:r>
              <a:rPr lang="en-US" sz="1000" b="1" u="none" strike="noStrike">
                <a:solidFill>
                  <a:srgbClr val="3B3B3B"/>
                </a:solidFill>
                <a:effectLst/>
                <a:uFillTx/>
                <a:latin typeface="Menlo"/>
                <a:ea typeface="Arial"/>
              </a:rPr>
              <a:t> multitask(driveRobot(</a:t>
            </a:r>
            <a:r>
              <a:rPr lang="en-US" sz="1000" b="1" u="none" strike="noStrike">
                <a:solidFill>
                  <a:srgbClr val="001080"/>
                </a:solidFill>
                <a:effectLst/>
                <a:uFillTx/>
                <a:latin typeface="Menlo"/>
                <a:ea typeface="Arial"/>
              </a:rPr>
              <a:t>dist</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dSpeed</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accel</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False</a:t>
            </a:r>
            <a:r>
              <a:rPr lang="en-US" sz="1000" b="1" u="none" strike="noStrike">
                <a:solidFill>
                  <a:srgbClr val="3B3B3B"/>
                </a:solidFill>
                <a:effectLst/>
                <a:uFillTx/>
                <a:latin typeface="Menlo"/>
                <a:ea typeface="Arial"/>
              </a:rPr>
              <a:t>), </a:t>
            </a:r>
            <a:endParaRPr lang="en-US" sz="1000" b="0" u="none" strike="noStrike">
              <a:solidFill>
                <a:srgbClr val="000000"/>
              </a:solidFill>
              <a:effectLst/>
              <a:uFillTx/>
              <a:latin typeface="Arial"/>
            </a:endParaRPr>
          </a:p>
          <a:p>
            <a:pPr>
              <a:lnSpc>
                <a:spcPts val="1349"/>
              </a:lnSpc>
            </a:pPr>
            <a:r>
              <a:rPr lang="en-US" sz="1000" b="1" u="none" strike="noStrike">
                <a:solidFill>
                  <a:srgbClr val="3B3B3B"/>
                </a:solidFill>
                <a:effectLst/>
                <a:uFillTx/>
                <a:latin typeface="Menlo"/>
                <a:ea typeface="Arial"/>
              </a:rPr>
              <a:t>                   moveAttachment(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degrees</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aSpeed</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stopMode,resetAngle,stallDetect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if</a:t>
            </a:r>
            <a:r>
              <a:rPr lang="en-US" sz="1000" b="1" u="none" strike="noStrike">
                <a:solidFill>
                  <a:srgbClr val="3B3B3B"/>
                </a:solidFill>
                <a:effectLst/>
                <a:uFillTx/>
                <a:latin typeface="Menlo"/>
                <a:ea typeface="Arial"/>
              </a:rPr>
              <a:t> debugL2: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"DEBUG-L2 - driveRobotAndLift() done"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return</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True</a:t>
            </a:r>
            <a:endParaRPr lang="en-US" sz="1000" b="0" u="none" strike="noStrike">
              <a:solidFill>
                <a:srgbClr val="000000"/>
              </a:solidFill>
              <a:effectLst/>
              <a:uFillTx/>
              <a:latin typeface="Arial"/>
            </a:endParaRPr>
          </a:p>
        </p:txBody>
      </p:sp>
      <p:sp>
        <p:nvSpPr>
          <p:cNvPr id="389" name="TextBox 8"/>
          <p:cNvSpPr/>
          <p:nvPr/>
        </p:nvSpPr>
        <p:spPr>
          <a:xfrm>
            <a:off x="6226920" y="2837160"/>
            <a:ext cx="27939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Move forward or backward</a:t>
            </a:r>
            <a:endParaRPr lang="en-US" sz="1400" b="0" u="none" strike="noStrike">
              <a:solidFill>
                <a:srgbClr val="000000"/>
              </a:solidFill>
              <a:effectLst/>
              <a:uFillTx/>
              <a:latin typeface="Arial"/>
            </a:endParaRPr>
          </a:p>
        </p:txBody>
      </p:sp>
      <p:cxnSp>
        <p:nvCxnSpPr>
          <p:cNvPr id="390" name="Straight Arrow Connector 9"/>
          <p:cNvCxnSpPr>
            <a:stCxn id="389" idx="1"/>
          </p:cNvCxnSpPr>
          <p:nvPr/>
        </p:nvCxnSpPr>
        <p:spPr>
          <a:xfrm flipH="1">
            <a:off x="4732200" y="2990880"/>
            <a:ext cx="1495080" cy="154440"/>
          </a:xfrm>
          <a:prstGeom prst="straightConnector1">
            <a:avLst/>
          </a:prstGeom>
          <a:ln w="73025">
            <a:solidFill>
              <a:srgbClr val="000000"/>
            </a:solidFill>
            <a:round/>
            <a:tailEnd type="triangle" w="med" len="med"/>
          </a:ln>
        </p:spPr>
      </p:cxnSp>
      <p:sp>
        <p:nvSpPr>
          <p:cNvPr id="391" name="TextBox 10"/>
          <p:cNvSpPr/>
          <p:nvPr/>
        </p:nvSpPr>
        <p:spPr>
          <a:xfrm>
            <a:off x="1254240" y="4326840"/>
            <a:ext cx="695628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Purpose:  </a:t>
            </a:r>
            <a:r>
              <a:rPr lang="en-US" sz="1400" b="0" u="none" strike="noStrike">
                <a:solidFill>
                  <a:srgbClr val="000000"/>
                </a:solidFill>
                <a:effectLst/>
                <a:uFillTx/>
                <a:latin typeface="Arial"/>
                <a:ea typeface="Arial"/>
              </a:rPr>
              <a:t>Drive forward or backward a specific speed and acceleration while moving an attachment. Normally a negative distance is backward but this would depend on how the robot is oriented.</a:t>
            </a:r>
            <a:endParaRPr lang="en-US" sz="1400" b="0" u="none" strike="noStrike">
              <a:solidFill>
                <a:srgbClr val="000000"/>
              </a:solidFill>
              <a:effectLst/>
              <a:uFillTx/>
              <a:latin typeface="Arial"/>
            </a:endParaRPr>
          </a:p>
        </p:txBody>
      </p:sp>
      <p:sp>
        <p:nvSpPr>
          <p:cNvPr id="392" name="TextBox 12"/>
          <p:cNvSpPr/>
          <p:nvPr/>
        </p:nvSpPr>
        <p:spPr>
          <a:xfrm>
            <a:off x="6135120" y="3831120"/>
            <a:ext cx="279396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Move attachment</a:t>
            </a:r>
            <a:endParaRPr lang="en-US" sz="1400" b="0" u="none" strike="noStrike">
              <a:solidFill>
                <a:srgbClr val="000000"/>
              </a:solidFill>
              <a:effectLst/>
              <a:uFillTx/>
              <a:latin typeface="Arial"/>
            </a:endParaRPr>
          </a:p>
        </p:txBody>
      </p:sp>
      <p:cxnSp>
        <p:nvCxnSpPr>
          <p:cNvPr id="393" name="Straight Arrow Connector 13"/>
          <p:cNvCxnSpPr>
            <a:stCxn id="392" idx="1"/>
          </p:cNvCxnSpPr>
          <p:nvPr/>
        </p:nvCxnSpPr>
        <p:spPr>
          <a:xfrm flipH="1" flipV="1">
            <a:off x="4955760" y="3544200"/>
            <a:ext cx="1179720" cy="441000"/>
          </a:xfrm>
          <a:prstGeom prst="straightConnector1">
            <a:avLst/>
          </a:prstGeom>
          <a:ln w="73025">
            <a:solidFill>
              <a:srgbClr val="000000"/>
            </a:solidFill>
            <a:round/>
            <a:tailEnd type="triangle" w="med" len="med"/>
          </a:ln>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turnRobot(dir, turnAccel, turnRate)</a:t>
            </a:r>
            <a:endParaRPr lang="en-US" sz="2500" b="0" u="none" strike="noStrike">
              <a:solidFill>
                <a:srgbClr val="000000"/>
              </a:solidFill>
              <a:effectLst/>
              <a:uFillTx/>
              <a:latin typeface="Arial"/>
            </a:endParaRPr>
          </a:p>
        </p:txBody>
      </p:sp>
      <p:sp>
        <p:nvSpPr>
          <p:cNvPr id="395" name="PlaceHolder 2"/>
          <p:cNvSpPr>
            <a:spLocks noGrp="1"/>
          </p:cNvSpPr>
          <p:nvPr>
            <p:ph type="sldNum" idx="88"/>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479D9C5-BDD3-4C7D-ABE2-A84CD350EDAA}" type="slidenum">
              <a:rPr lang="en" sz="1000" b="0" u="none" strike="noStrike">
                <a:solidFill>
                  <a:schemeClr val="dk2"/>
                </a:solidFill>
                <a:effectLst/>
                <a:uFillTx/>
                <a:latin typeface="Arial"/>
                <a:ea typeface="Arial"/>
              </a:rPr>
              <a:t>76</a:t>
            </a:fld>
            <a:endParaRPr lang="en-US" sz="1000" b="0" u="none" strike="noStrike">
              <a:solidFill>
                <a:srgbClr val="000000"/>
              </a:solidFill>
              <a:effectLst/>
              <a:uFillTx/>
              <a:latin typeface="Times New Roman"/>
            </a:endParaRPr>
          </a:p>
        </p:txBody>
      </p:sp>
      <p:sp>
        <p:nvSpPr>
          <p:cNvPr id="396" name="TextBox 9"/>
          <p:cNvSpPr/>
          <p:nvPr/>
        </p:nvSpPr>
        <p:spPr>
          <a:xfrm>
            <a:off x="146520" y="1090440"/>
            <a:ext cx="8710920" cy="278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100" b="1" u="none" strike="noStrike">
                <a:solidFill>
                  <a:srgbClr val="008000"/>
                </a:solidFill>
                <a:effectLst/>
                <a:uFillTx/>
                <a:latin typeface="Menlo"/>
                <a:ea typeface="Arial"/>
              </a:rPr>
              <a:t># turn robot forward or backward (use negative number for</a:t>
            </a:r>
            <a:endParaRPr lang="en-US" sz="1100" b="0" u="none" strike="noStrike">
              <a:solidFill>
                <a:srgbClr val="000000"/>
              </a:solidFill>
              <a:effectLst/>
              <a:uFillTx/>
              <a:latin typeface="Arial"/>
            </a:endParaRPr>
          </a:p>
          <a:p>
            <a:pPr>
              <a:lnSpc>
                <a:spcPts val="1349"/>
              </a:lnSpc>
            </a:pPr>
            <a:r>
              <a:rPr lang="en-US" sz="1100" b="1" u="none" strike="noStrike">
                <a:solidFill>
                  <a:srgbClr val="008000"/>
                </a:solidFill>
                <a:effectLst/>
                <a:uFillTx/>
                <a:latin typeface="Menlo"/>
                <a:ea typeface="Arial"/>
              </a:rPr>
              <a:t># backward if robot facing forwards). if robot is facing </a:t>
            </a:r>
            <a:endParaRPr lang="en-US" sz="1100" b="0" u="none" strike="noStrike">
              <a:solidFill>
                <a:srgbClr val="000000"/>
              </a:solidFill>
              <a:effectLst/>
              <a:uFillTx/>
              <a:latin typeface="Arial"/>
            </a:endParaRPr>
          </a:p>
          <a:p>
            <a:pPr>
              <a:lnSpc>
                <a:spcPts val="1349"/>
              </a:lnSpc>
            </a:pPr>
            <a:r>
              <a:rPr lang="en-US" sz="1100" b="1" u="none" strike="noStrike">
                <a:solidFill>
                  <a:srgbClr val="008000"/>
                </a:solidFill>
                <a:effectLst/>
                <a:uFillTx/>
                <a:latin typeface="Menlo"/>
                <a:ea typeface="Arial"/>
              </a:rPr>
              <a:t># backwards, forward is then the negative number</a:t>
            </a:r>
            <a:endParaRPr lang="en-US" sz="1100" b="0" u="none" strike="noStrike">
              <a:solidFill>
                <a:srgbClr val="000000"/>
              </a:solidFill>
              <a:effectLst/>
              <a:uFillTx/>
              <a:latin typeface="Arial"/>
            </a:endParaRPr>
          </a:p>
          <a:p>
            <a:pPr>
              <a:lnSpc>
                <a:spcPts val="1349"/>
              </a:lnSpc>
            </a:pPr>
            <a:r>
              <a:rPr lang="en-US" sz="1100" b="1" u="none" strike="noStrike">
                <a:solidFill>
                  <a:srgbClr val="0000FF"/>
                </a:solidFill>
                <a:effectLst/>
                <a:uFillTx/>
                <a:latin typeface="Menlo"/>
                <a:ea typeface="Arial"/>
              </a:rPr>
              <a:t>async</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def</a:t>
            </a:r>
            <a:r>
              <a:rPr lang="en-US" sz="1100" b="1" u="none" strike="noStrike">
                <a:solidFill>
                  <a:srgbClr val="3B3B3B"/>
                </a:solidFill>
                <a:effectLst/>
                <a:uFillTx/>
                <a:latin typeface="Menlo"/>
                <a:ea typeface="Arial"/>
              </a:rPr>
              <a:t> </a:t>
            </a:r>
            <a:r>
              <a:rPr lang="en-US" sz="1100" b="1" u="none" strike="noStrike">
                <a:solidFill>
                  <a:srgbClr val="795E26"/>
                </a:solidFill>
                <a:effectLst/>
                <a:uFillTx/>
                <a:latin typeface="Menlo"/>
                <a:ea typeface="Arial"/>
              </a:rPr>
              <a:t>turnRobot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dir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turnAccel</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turnRate</a:t>
            </a:r>
            <a:r>
              <a:rPr lang="en-US" sz="1100" b="1" u="none" strike="noStrike">
                <a:solidFill>
                  <a:srgbClr val="3B3B3B"/>
                </a:solidFill>
                <a:effectLst/>
                <a:uFillTx/>
                <a:latin typeface="Menlo"/>
                <a:ea typeface="Arial"/>
              </a:rPr>
              <a:t>) -&gt; </a:t>
            </a:r>
            <a:r>
              <a:rPr lang="en-US" sz="1100" b="1" u="none" strike="noStrike">
                <a:solidFill>
                  <a:srgbClr val="267F99"/>
                </a:solidFill>
                <a:effectLst/>
                <a:uFillTx/>
                <a:latin typeface="Menlo"/>
                <a:ea typeface="Arial"/>
              </a:rPr>
              <a:t>bool</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turnRobot() dir="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dir</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turnAccel="</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turnAccel</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turnRate="</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turnRate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driveBase.settings(</a:t>
            </a:r>
            <a:r>
              <a:rPr lang="en-US" sz="1100" b="1" u="none" strike="noStrike">
                <a:solidFill>
                  <a:srgbClr val="001080"/>
                </a:solidFill>
                <a:effectLst/>
                <a:uFillTx/>
                <a:latin typeface="Menlo"/>
                <a:ea typeface="Arial"/>
              </a:rPr>
              <a:t>turn_acceleration</a:t>
            </a:r>
            <a:r>
              <a:rPr lang="en-US" sz="1100" b="1" u="none" strike="noStrike">
                <a:solidFill>
                  <a:srgbClr val="000000"/>
                </a:solidFill>
                <a:effectLst/>
                <a:uFillTx/>
                <a:latin typeface="Menlo"/>
                <a:ea typeface="Arial"/>
              </a:rPr>
              <a:t>=</a:t>
            </a:r>
            <a:r>
              <a:rPr lang="en-US" sz="1100" b="1" u="none" strike="noStrike">
                <a:solidFill>
                  <a:srgbClr val="001080"/>
                </a:solidFill>
                <a:effectLst/>
                <a:uFillTx/>
                <a:latin typeface="Menlo"/>
                <a:ea typeface="Arial"/>
              </a:rPr>
              <a:t>turnAccel</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turn_rate</a:t>
            </a:r>
            <a:r>
              <a:rPr lang="en-US" sz="1100" b="1" u="none" strike="noStrike">
                <a:solidFill>
                  <a:srgbClr val="000000"/>
                </a:solidFill>
                <a:effectLst/>
                <a:uFillTx/>
                <a:latin typeface="Menlo"/>
                <a:ea typeface="Arial"/>
              </a:rPr>
              <a:t>=</a:t>
            </a:r>
            <a:r>
              <a:rPr lang="en-US" sz="1100" b="1" u="none" strike="noStrike">
                <a:solidFill>
                  <a:srgbClr val="001080"/>
                </a:solidFill>
                <a:effectLst/>
                <a:uFillTx/>
                <a:latin typeface="Menlo"/>
                <a:ea typeface="Arial"/>
              </a:rPr>
              <a:t>turnRate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driveBase.turn(</a:t>
            </a:r>
            <a:r>
              <a:rPr lang="en-US" sz="1100" b="1" u="none" strike="noStrike">
                <a:solidFill>
                  <a:srgbClr val="001080"/>
                </a:solidFill>
                <a:effectLst/>
                <a:uFillTx/>
                <a:latin typeface="Menlo"/>
                <a:ea typeface="Arial"/>
              </a:rPr>
              <a:t>dir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then</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Stop.HOLD,</a:t>
            </a:r>
            <a:r>
              <a:rPr lang="en-US" sz="1100" b="1" u="none" strike="noStrike">
                <a:solidFill>
                  <a:srgbClr val="001080"/>
                </a:solidFill>
                <a:effectLst/>
                <a:uFillTx/>
                <a:latin typeface="Menlo"/>
                <a:ea typeface="Arial"/>
              </a:rPr>
              <a:t>wait</a:t>
            </a:r>
            <a:r>
              <a:rPr lang="en-US" sz="1100" b="1" u="none" strike="noStrike">
                <a:solidFill>
                  <a:srgbClr val="000000"/>
                </a:solidFill>
                <a:effectLst/>
                <a:uFillTx/>
                <a:latin typeface="Menlo"/>
                <a:ea typeface="Arial"/>
              </a:rPr>
              <a:t>=</a:t>
            </a:r>
            <a:r>
              <a:rPr lang="en-US" sz="1100" b="1" u="none" strike="noStrike">
                <a:solidFill>
                  <a:srgbClr val="0000FF"/>
                </a:solidFill>
                <a:effectLst/>
                <a:uFillTx/>
                <a:latin typeface="Menlo"/>
                <a:ea typeface="Arial"/>
              </a:rPr>
              <a:t>True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turnRobot() done"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True</a:t>
            </a:r>
            <a:endParaRPr lang="en-US" sz="110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p:txBody>
      </p:sp>
      <p:sp>
        <p:nvSpPr>
          <p:cNvPr id="397" name="TextBox 10"/>
          <p:cNvSpPr/>
          <p:nvPr/>
        </p:nvSpPr>
        <p:spPr>
          <a:xfrm>
            <a:off x="6203160" y="2483280"/>
            <a:ext cx="279396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 the turn acceleration and turn rate for the drive motors</a:t>
            </a:r>
            <a:endParaRPr lang="en-US" sz="1400" b="0" u="none" strike="noStrike">
              <a:solidFill>
                <a:srgbClr val="000000"/>
              </a:solidFill>
              <a:effectLst/>
              <a:uFillTx/>
              <a:latin typeface="Arial"/>
            </a:endParaRPr>
          </a:p>
        </p:txBody>
      </p:sp>
      <p:cxnSp>
        <p:nvCxnSpPr>
          <p:cNvPr id="398" name="Straight Arrow Connector 11"/>
          <p:cNvCxnSpPr>
            <a:stCxn id="397" idx="0"/>
          </p:cNvCxnSpPr>
          <p:nvPr/>
        </p:nvCxnSpPr>
        <p:spPr>
          <a:xfrm flipH="1" flipV="1">
            <a:off x="6142320" y="2275200"/>
            <a:ext cx="1458360" cy="208440"/>
          </a:xfrm>
          <a:prstGeom prst="straightConnector1">
            <a:avLst/>
          </a:prstGeom>
          <a:ln w="73025">
            <a:solidFill>
              <a:srgbClr val="000000"/>
            </a:solidFill>
            <a:round/>
            <a:tailEnd type="triangle" w="med" len="med"/>
          </a:ln>
        </p:spPr>
      </p:cxnSp>
      <p:sp>
        <p:nvSpPr>
          <p:cNvPr id="399" name="TextBox 15"/>
          <p:cNvSpPr/>
          <p:nvPr/>
        </p:nvSpPr>
        <p:spPr>
          <a:xfrm>
            <a:off x="6203160" y="3214080"/>
            <a:ext cx="279396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Turn the robot to a specific angle, hold position at end of turn, wait until the turn completes.</a:t>
            </a:r>
            <a:endParaRPr lang="en-US" sz="1400" b="0" u="none" strike="noStrike">
              <a:solidFill>
                <a:srgbClr val="000000"/>
              </a:solidFill>
              <a:effectLst/>
              <a:uFillTx/>
              <a:latin typeface="Arial"/>
            </a:endParaRPr>
          </a:p>
        </p:txBody>
      </p:sp>
      <p:cxnSp>
        <p:nvCxnSpPr>
          <p:cNvPr id="400" name="Straight Arrow Connector 16"/>
          <p:cNvCxnSpPr>
            <a:stCxn id="399" idx="1"/>
          </p:cNvCxnSpPr>
          <p:nvPr/>
        </p:nvCxnSpPr>
        <p:spPr>
          <a:xfrm flipH="1" flipV="1">
            <a:off x="4718520" y="2660040"/>
            <a:ext cx="1485000" cy="1031400"/>
          </a:xfrm>
          <a:prstGeom prst="straightConnector1">
            <a:avLst/>
          </a:prstGeom>
          <a:ln w="73025">
            <a:solidFill>
              <a:srgbClr val="000000"/>
            </a:solidFill>
            <a:round/>
            <a:tailEnd type="triangle" w="med" len="med"/>
          </a:ln>
        </p:spPr>
      </p:cxnSp>
      <p:sp>
        <p:nvSpPr>
          <p:cNvPr id="401" name="TextBox 24"/>
          <p:cNvSpPr/>
          <p:nvPr/>
        </p:nvSpPr>
        <p:spPr>
          <a:xfrm>
            <a:off x="1240200" y="4446720"/>
            <a:ext cx="695628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Turn the robot to a specific angle.</a:t>
            </a:r>
            <a:endParaRPr lang="en-US" sz="1400" b="0" u="none" strike="noStrike">
              <a:solidFill>
                <a:srgbClr val="000000"/>
              </a:solidFill>
              <a:effectLst/>
              <a:uFillTx/>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600" b="1" u="none" strike="noStrike">
                <a:solidFill>
                  <a:schemeClr val="lt1"/>
                </a:solidFill>
                <a:effectLst/>
                <a:uFillTx/>
                <a:latin typeface="Courier New"/>
                <a:ea typeface="Arial"/>
              </a:rPr>
              <a:t>turnRobotAndLift(dir, turnAccel, turnRate, attachmentStr, degrees, aSpeed, stopMode, resetAngle, stallDetect)</a:t>
            </a:r>
            <a:endParaRPr lang="en-US" sz="1600" b="0" u="none" strike="noStrike">
              <a:solidFill>
                <a:srgbClr val="000000"/>
              </a:solidFill>
              <a:effectLst/>
              <a:uFillTx/>
              <a:latin typeface="Arial"/>
            </a:endParaRPr>
          </a:p>
        </p:txBody>
      </p:sp>
      <p:sp>
        <p:nvSpPr>
          <p:cNvPr id="403" name="PlaceHolder 2"/>
          <p:cNvSpPr>
            <a:spLocks noGrp="1"/>
          </p:cNvSpPr>
          <p:nvPr>
            <p:ph type="sldNum" idx="89"/>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81D62EB-3264-472C-96CE-A3C47FFDB93D}" type="slidenum">
              <a:rPr lang="en" sz="1000" b="0" u="none" strike="noStrike">
                <a:solidFill>
                  <a:schemeClr val="dk2"/>
                </a:solidFill>
                <a:effectLst/>
                <a:uFillTx/>
                <a:latin typeface="Arial"/>
                <a:ea typeface="Arial"/>
              </a:rPr>
              <a:t>77</a:t>
            </a:fld>
            <a:endParaRPr lang="en-US" sz="1000" b="0" u="none" strike="noStrike">
              <a:solidFill>
                <a:srgbClr val="000000"/>
              </a:solidFill>
              <a:effectLst/>
              <a:uFillTx/>
              <a:latin typeface="Times New Roman"/>
            </a:endParaRPr>
          </a:p>
        </p:txBody>
      </p:sp>
      <p:sp>
        <p:nvSpPr>
          <p:cNvPr id="404" name="TextBox 7"/>
          <p:cNvSpPr/>
          <p:nvPr/>
        </p:nvSpPr>
        <p:spPr>
          <a:xfrm>
            <a:off x="122760" y="682920"/>
            <a:ext cx="8748720" cy="277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100" b="1" u="none" strike="noStrike">
                <a:solidFill>
                  <a:srgbClr val="0000FF"/>
                </a:solidFill>
                <a:effectLst/>
                <a:uFillTx/>
                <a:latin typeface="Menlo"/>
                <a:ea typeface="Arial"/>
              </a:rPr>
              <a:t>async</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def</a:t>
            </a:r>
            <a:r>
              <a:rPr lang="en-US" sz="1100" b="1" u="none" strike="noStrike">
                <a:solidFill>
                  <a:srgbClr val="3B3B3B"/>
                </a:solidFill>
                <a:effectLst/>
                <a:uFillTx/>
                <a:latin typeface="Menlo"/>
                <a:ea typeface="Arial"/>
              </a:rPr>
              <a:t> </a:t>
            </a:r>
            <a:r>
              <a:rPr lang="en-US" sz="1100" b="1" u="none" strike="noStrike">
                <a:solidFill>
                  <a:srgbClr val="795E26"/>
                </a:solidFill>
                <a:effectLst/>
                <a:uFillTx/>
                <a:latin typeface="Menlo"/>
                <a:ea typeface="Arial"/>
              </a:rPr>
              <a:t>turnRobotAndLift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dir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turnAccel</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turnRate</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 </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resetAngle</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stallDetect</a:t>
            </a:r>
            <a:r>
              <a:rPr lang="en-US" sz="1100" b="1" u="none" strike="noStrike">
                <a:solidFill>
                  <a:srgbClr val="3B3B3B"/>
                </a:solidFill>
                <a:effectLst/>
                <a:uFillTx/>
                <a:latin typeface="Menlo"/>
                <a:ea typeface="Arial"/>
              </a:rPr>
              <a:t>) -&gt; </a:t>
            </a:r>
            <a:r>
              <a:rPr lang="en-US" sz="1100" b="1" u="none" strike="noStrike">
                <a:solidFill>
                  <a:srgbClr val="267F99"/>
                </a:solidFill>
                <a:effectLst/>
                <a:uFillTx/>
                <a:latin typeface="Menlo"/>
                <a:ea typeface="Arial"/>
              </a:rPr>
              <a:t>bool</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"left"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001080"/>
                </a:solidFill>
                <a:effectLst/>
                <a:uFillTx/>
                <a:latin typeface="Menlo"/>
                <a:ea typeface="Arial"/>
              </a:rPr>
              <a:t>      attachment</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leftAttachment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elif</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"right"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001080"/>
                </a:solidFill>
                <a:effectLst/>
                <a:uFillTx/>
                <a:latin typeface="Menlo"/>
                <a:ea typeface="Arial"/>
              </a:rPr>
              <a:t>      attachment</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rightAttachment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else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795E26"/>
                </a:solidFill>
                <a:effectLst/>
                <a:uFillTx/>
                <a:latin typeface="Menlo"/>
                <a:ea typeface="Arial"/>
              </a:rPr>
              <a:t>      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"turnRobotAndLift() - illegal attachment name of "</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False</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multitask(turnRobot(</a:t>
            </a:r>
            <a:r>
              <a:rPr lang="en-US" sz="1100" b="1" u="none" strike="noStrike">
                <a:solidFill>
                  <a:srgbClr val="001080"/>
                </a:solidFill>
                <a:effectLst/>
                <a:uFillTx/>
                <a:latin typeface="Menlo"/>
                <a:ea typeface="Arial"/>
              </a:rPr>
              <a:t>dir</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turnAccel</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turnRate</a:t>
            </a:r>
            <a:r>
              <a:rPr lang="en-US" sz="1100" b="1" u="none" strike="noStrike">
                <a:solidFill>
                  <a:srgbClr val="3B3B3B"/>
                </a:solidFill>
                <a:effectLst/>
                <a:uFillTx/>
                <a:latin typeface="Menlo"/>
                <a:ea typeface="Arial"/>
              </a:rPr>
              <a:t>,</a:t>
            </a:r>
            <a:r>
              <a:rPr lang="en-US" sz="1100" b="1" u="none" strike="noStrike">
                <a:solidFill>
                  <a:srgbClr val="0000FF"/>
                </a:solidFill>
                <a:effectLst/>
                <a:uFillTx/>
                <a:latin typeface="Menlo"/>
                <a:ea typeface="Arial"/>
              </a:rPr>
              <a:t>False</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moveAttachment(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degrees</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stopMode,resetAngle,stallDetect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True</a:t>
            </a:r>
            <a:endParaRPr lang="en-US" sz="1100" b="0" u="none" strike="noStrike">
              <a:solidFill>
                <a:srgbClr val="000000"/>
              </a:solidFill>
              <a:effectLst/>
              <a:uFillTx/>
              <a:latin typeface="Arial"/>
            </a:endParaRPr>
          </a:p>
        </p:txBody>
      </p:sp>
      <p:sp>
        <p:nvSpPr>
          <p:cNvPr id="405" name="TextBox 8"/>
          <p:cNvSpPr/>
          <p:nvPr/>
        </p:nvSpPr>
        <p:spPr>
          <a:xfrm>
            <a:off x="1233360" y="4460400"/>
            <a:ext cx="695628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Turn robot while moving an attachment</a:t>
            </a:r>
            <a:endParaRPr lang="en-US" sz="1400" b="0" u="none" strike="noStrike">
              <a:solidFill>
                <a:srgbClr val="000000"/>
              </a:solidFill>
              <a:effectLst/>
              <a:uFillTx/>
              <a:latin typeface="Arial"/>
            </a:endParaRPr>
          </a:p>
        </p:txBody>
      </p:sp>
      <p:sp>
        <p:nvSpPr>
          <p:cNvPr id="406" name="TextBox 9"/>
          <p:cNvSpPr/>
          <p:nvPr/>
        </p:nvSpPr>
        <p:spPr>
          <a:xfrm>
            <a:off x="6864120" y="1706400"/>
            <a:ext cx="215640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Turn robot</a:t>
            </a:r>
            <a:endParaRPr lang="en-US" sz="1400" b="0" u="none" strike="noStrike">
              <a:solidFill>
                <a:srgbClr val="000000"/>
              </a:solidFill>
              <a:effectLst/>
              <a:uFillTx/>
              <a:latin typeface="Arial"/>
            </a:endParaRPr>
          </a:p>
        </p:txBody>
      </p:sp>
      <p:cxnSp>
        <p:nvCxnSpPr>
          <p:cNvPr id="407" name="Straight Arrow Connector 10"/>
          <p:cNvCxnSpPr>
            <a:stCxn id="406" idx="2"/>
          </p:cNvCxnSpPr>
          <p:nvPr/>
        </p:nvCxnSpPr>
        <p:spPr>
          <a:xfrm flipH="1">
            <a:off x="5306400" y="2013840"/>
            <a:ext cx="2636280" cy="768600"/>
          </a:xfrm>
          <a:prstGeom prst="straightConnector1">
            <a:avLst/>
          </a:prstGeom>
          <a:ln w="73025">
            <a:solidFill>
              <a:srgbClr val="000000"/>
            </a:solidFill>
            <a:round/>
            <a:tailEnd type="triangle" w="med" len="med"/>
          </a:ln>
        </p:spPr>
      </p:cxnSp>
      <p:sp>
        <p:nvSpPr>
          <p:cNvPr id="408" name="TextBox 11"/>
          <p:cNvSpPr/>
          <p:nvPr/>
        </p:nvSpPr>
        <p:spPr>
          <a:xfrm>
            <a:off x="1240200" y="4446720"/>
            <a:ext cx="695628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Turn the robot to a specific angle and move an attachment</a:t>
            </a:r>
            <a:endParaRPr lang="en-US" sz="1400" b="0" u="none" strike="noStrike">
              <a:solidFill>
                <a:srgbClr val="000000"/>
              </a:solidFill>
              <a:effectLst/>
              <a:uFillTx/>
              <a:latin typeface="Arial"/>
            </a:endParaRPr>
          </a:p>
        </p:txBody>
      </p:sp>
      <p:sp>
        <p:nvSpPr>
          <p:cNvPr id="409" name="TextBox 15"/>
          <p:cNvSpPr/>
          <p:nvPr/>
        </p:nvSpPr>
        <p:spPr>
          <a:xfrm>
            <a:off x="6715080" y="3610080"/>
            <a:ext cx="215640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Move attachment</a:t>
            </a:r>
            <a:endParaRPr lang="en-US" sz="1400" b="0" u="none" strike="noStrike">
              <a:solidFill>
                <a:srgbClr val="000000"/>
              </a:solidFill>
              <a:effectLst/>
              <a:uFillTx/>
              <a:latin typeface="Arial"/>
            </a:endParaRPr>
          </a:p>
        </p:txBody>
      </p:sp>
      <p:cxnSp>
        <p:nvCxnSpPr>
          <p:cNvPr id="410" name="Straight Arrow Connector 16"/>
          <p:cNvCxnSpPr>
            <a:stCxn id="409" idx="1"/>
          </p:cNvCxnSpPr>
          <p:nvPr/>
        </p:nvCxnSpPr>
        <p:spPr>
          <a:xfrm flipH="1" flipV="1">
            <a:off x="4474080" y="3220920"/>
            <a:ext cx="2241360" cy="543240"/>
          </a:xfrm>
          <a:prstGeom prst="straightConnector1">
            <a:avLst/>
          </a:prstGeom>
          <a:ln w="73025">
            <a:solidFill>
              <a:srgbClr val="000000"/>
            </a:solidFill>
            <a:round/>
            <a:tailEnd type="triangle" w="med" len="med"/>
          </a:ln>
        </p:spPr>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600" b="1" u="none" strike="noStrike">
                <a:solidFill>
                  <a:schemeClr val="lt1"/>
                </a:solidFill>
                <a:effectLst/>
                <a:uFillTx/>
                <a:latin typeface="Courier New"/>
                <a:ea typeface="Arial"/>
              </a:rPr>
              <a:t>driveRobotInArc(radius, mode, angleOrDist, speed, accel, turnAccel, turnRate)</a:t>
            </a:r>
            <a:endParaRPr lang="en-US" sz="1600" b="0" u="none" strike="noStrike">
              <a:solidFill>
                <a:srgbClr val="000000"/>
              </a:solidFill>
              <a:effectLst/>
              <a:uFillTx/>
              <a:latin typeface="Arial"/>
            </a:endParaRPr>
          </a:p>
        </p:txBody>
      </p:sp>
      <p:sp>
        <p:nvSpPr>
          <p:cNvPr id="412" name="PlaceHolder 2"/>
          <p:cNvSpPr>
            <a:spLocks noGrp="1"/>
          </p:cNvSpPr>
          <p:nvPr>
            <p:ph type="sldNum" idx="9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6FF6536-8335-463D-82B0-23447296FFC8}" type="slidenum">
              <a:rPr lang="en" sz="1000" b="0" u="none" strike="noStrike">
                <a:solidFill>
                  <a:schemeClr val="dk2"/>
                </a:solidFill>
                <a:effectLst/>
                <a:uFillTx/>
                <a:latin typeface="Arial"/>
                <a:ea typeface="Arial"/>
              </a:rPr>
              <a:t>78</a:t>
            </a:fld>
            <a:endParaRPr lang="en-US" sz="1000" b="0" u="none" strike="noStrike">
              <a:solidFill>
                <a:srgbClr val="000000"/>
              </a:solidFill>
              <a:effectLst/>
              <a:uFillTx/>
              <a:latin typeface="Times New Roman"/>
            </a:endParaRPr>
          </a:p>
        </p:txBody>
      </p:sp>
      <p:sp>
        <p:nvSpPr>
          <p:cNvPr id="413" name="TextBox 7"/>
          <p:cNvSpPr/>
          <p:nvPr/>
        </p:nvSpPr>
        <p:spPr>
          <a:xfrm>
            <a:off x="146520" y="786600"/>
            <a:ext cx="8151120" cy="349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50" b="1" u="none" strike="noStrike">
                <a:solidFill>
                  <a:srgbClr val="0000FF"/>
                </a:solidFill>
                <a:effectLst/>
                <a:uFillTx/>
                <a:latin typeface="Menlo"/>
                <a:ea typeface="Arial"/>
              </a:rPr>
              <a:t>async</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def</a:t>
            </a:r>
            <a:r>
              <a:rPr lang="en-US" sz="1050" b="1" u="none" strike="noStrike">
                <a:solidFill>
                  <a:srgbClr val="3B3B3B"/>
                </a:solidFill>
                <a:effectLst/>
                <a:uFillTx/>
                <a:latin typeface="Menlo"/>
                <a:ea typeface="Arial"/>
              </a:rPr>
              <a:t> </a:t>
            </a:r>
            <a:r>
              <a:rPr lang="en-US" sz="1050" b="1" u="none" strike="noStrike">
                <a:solidFill>
                  <a:srgbClr val="795E26"/>
                </a:solidFill>
                <a:effectLst/>
                <a:uFillTx/>
                <a:latin typeface="Menlo"/>
                <a:ea typeface="Arial"/>
              </a:rPr>
              <a:t>driveRobotInArc</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radius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mode</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angleOrDist</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speed</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accel</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turnAccel</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turnRate</a:t>
            </a:r>
            <a:r>
              <a:rPr lang="en-US" sz="1050" b="1" u="none" strike="noStrike">
                <a:solidFill>
                  <a:srgbClr val="3B3B3B"/>
                </a:solidFill>
                <a:effectLst/>
                <a:uFillTx/>
                <a:latin typeface="Menlo"/>
                <a:ea typeface="Arial"/>
              </a:rPr>
              <a:t>) -&gt; </a:t>
            </a:r>
            <a:r>
              <a:rPr lang="en-US" sz="1050" b="1" u="none" strike="noStrike">
                <a:solidFill>
                  <a:srgbClr val="267F99"/>
                </a:solidFill>
                <a:effectLst/>
                <a:uFillTx/>
                <a:latin typeface="Menlo"/>
                <a:ea typeface="Arial"/>
              </a:rPr>
              <a:t>bool</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a:p>
            <a:pPr>
              <a:lnSpc>
                <a:spcPts val="1349"/>
              </a:lnSpc>
            </a:pPr>
            <a:br>
              <a:rPr sz="1050"/>
            </a:br>
            <a:r>
              <a:rPr lang="en-US" sz="1050" b="1" u="none" strike="noStrike">
                <a:solidFill>
                  <a:srgbClr val="3B3B3B"/>
                </a:solidFill>
                <a:effectLst/>
                <a:uFillTx/>
                <a:latin typeface="Menlo"/>
                <a:ea typeface="Arial"/>
              </a:rPr>
              <a:t>   driveBase.settings(</a:t>
            </a:r>
            <a:r>
              <a:rPr lang="en-US" sz="1050" b="1" u="none" strike="noStrike">
                <a:solidFill>
                  <a:srgbClr val="001080"/>
                </a:solidFill>
                <a:effectLst/>
                <a:uFillTx/>
                <a:latin typeface="Menlo"/>
                <a:ea typeface="Arial"/>
              </a:rPr>
              <a:t>straight_speed</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speed</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straight_acceleration</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accel</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turn_acceleration</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turnAccel</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turn_rate</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turnRate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mode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"arc"</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debugL2: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turnRobotInArc() radius="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radius</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 mode=arc degrees="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angleOrDist</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await</a:t>
            </a:r>
            <a:r>
              <a:rPr lang="en-US" sz="1050" b="1" u="none" strike="noStrike">
                <a:solidFill>
                  <a:srgbClr val="3B3B3B"/>
                </a:solidFill>
                <a:effectLst/>
                <a:uFillTx/>
                <a:latin typeface="Menlo"/>
                <a:ea typeface="Arial"/>
              </a:rPr>
              <a:t> driveBase.arc(</a:t>
            </a:r>
            <a:r>
              <a:rPr lang="en-US" sz="1050" b="1" u="none" strike="noStrike">
                <a:solidFill>
                  <a:srgbClr val="001080"/>
                </a:solidFill>
                <a:effectLst/>
                <a:uFillTx/>
                <a:latin typeface="Menlo"/>
                <a:ea typeface="Arial"/>
              </a:rPr>
              <a:t>radius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angle</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angleOrDist</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then</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Stop.HOLD,</a:t>
            </a:r>
            <a:r>
              <a:rPr lang="en-US" sz="1050" b="1" u="none" strike="noStrike">
                <a:solidFill>
                  <a:srgbClr val="001080"/>
                </a:solidFill>
                <a:effectLst/>
                <a:uFillTx/>
                <a:latin typeface="Menlo"/>
                <a:ea typeface="Arial"/>
              </a:rPr>
              <a:t>wait</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mode</a:t>
            </a:r>
            <a:r>
              <a:rPr lang="en-US" sz="1050" b="1" u="none" strike="noStrike">
                <a:solidFill>
                  <a:srgbClr val="3B3B3B"/>
                </a:solidFill>
                <a:effectLst/>
                <a:uFillTx/>
                <a:latin typeface="Menlo"/>
                <a:ea typeface="Arial"/>
              </a:rPr>
              <a:t> </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"distance"</a:t>
            </a:r>
            <a:r>
              <a:rPr lang="en-US" sz="1050" b="1" u="none" strike="noStrike">
                <a:solidFill>
                  <a:srgbClr val="3B3B3B"/>
                </a:solidFill>
                <a:effectLst/>
                <a:uFillTx/>
                <a:latin typeface="Menlo"/>
                <a:ea typeface="Arial"/>
              </a:rPr>
              <a:t>: </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debugL2: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turnRobotInArc() radius="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radius</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 mode=distance distance="</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angleOrDist</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F00DB"/>
                </a:solidFill>
                <a:effectLst/>
                <a:uFillTx/>
                <a:latin typeface="Menlo"/>
                <a:ea typeface="Arial"/>
              </a:rPr>
              <a:t>await</a:t>
            </a:r>
            <a:r>
              <a:rPr lang="en-US" sz="1050" b="1" u="none" strike="noStrike">
                <a:solidFill>
                  <a:srgbClr val="3B3B3B"/>
                </a:solidFill>
                <a:effectLst/>
                <a:uFillTx/>
                <a:latin typeface="Menlo"/>
                <a:ea typeface="Arial"/>
              </a:rPr>
              <a:t> driveBase.arc(</a:t>
            </a:r>
            <a:r>
              <a:rPr lang="en-US" sz="1050" b="1" u="none" strike="noStrike">
                <a:solidFill>
                  <a:srgbClr val="001080"/>
                </a:solidFill>
                <a:effectLst/>
                <a:uFillTx/>
                <a:latin typeface="Menlo"/>
                <a:ea typeface="Arial"/>
              </a:rPr>
              <a:t>radius</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distance</a:t>
            </a:r>
            <a:r>
              <a:rPr lang="en-US" sz="1050" b="1" u="none" strike="noStrike">
                <a:solidFill>
                  <a:srgbClr val="000000"/>
                </a:solidFill>
                <a:effectLst/>
                <a:uFillTx/>
                <a:latin typeface="Menlo"/>
                <a:ea typeface="Arial"/>
              </a:rPr>
              <a:t>=</a:t>
            </a:r>
            <a:r>
              <a:rPr lang="en-US" sz="1050" b="1" u="none" strike="noStrike">
                <a:solidFill>
                  <a:srgbClr val="001080"/>
                </a:solidFill>
                <a:effectLst/>
                <a:uFillTx/>
                <a:latin typeface="Menlo"/>
                <a:ea typeface="Arial"/>
              </a:rPr>
              <a:t>angleOrDist</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then</a:t>
            </a:r>
            <a:r>
              <a:rPr lang="en-US" sz="1050" b="1" u="none" strike="noStrike">
                <a:solidFill>
                  <a:srgbClr val="000000"/>
                </a:solidFill>
                <a:effectLst/>
                <a:uFillTx/>
                <a:latin typeface="Menlo"/>
                <a:ea typeface="Arial"/>
              </a:rPr>
              <a:t>=</a:t>
            </a:r>
            <a:r>
              <a:rPr lang="en-US" sz="1050" b="1" u="none" strike="noStrike">
                <a:solidFill>
                  <a:srgbClr val="3B3B3B"/>
                </a:solidFill>
                <a:effectLst/>
                <a:uFillTx/>
                <a:latin typeface="Menlo"/>
                <a:ea typeface="Arial"/>
              </a:rPr>
              <a:t>Stop.HOLD,</a:t>
            </a:r>
            <a:r>
              <a:rPr lang="en-US" sz="1050" b="1" u="none" strike="noStrike">
                <a:solidFill>
                  <a:srgbClr val="001080"/>
                </a:solidFill>
                <a:effectLst/>
                <a:uFillTx/>
                <a:latin typeface="Menlo"/>
                <a:ea typeface="Arial"/>
              </a:rPr>
              <a:t>wait</a:t>
            </a:r>
            <a:r>
              <a:rPr lang="en-US" sz="1050" b="1" u="none" strike="noStrike">
                <a:solidFill>
                  <a:srgbClr val="000000"/>
                </a:solidFill>
                <a:effectLst/>
                <a:uFillTx/>
                <a:latin typeface="Menlo"/>
                <a:ea typeface="Arial"/>
              </a:rPr>
              <a:t>=</a:t>
            </a:r>
            <a:r>
              <a:rPr lang="en-US" sz="1050" b="1" u="none" strike="noStrike">
                <a:solidFill>
                  <a:srgbClr val="0000FF"/>
                </a:solidFill>
                <a:effectLst/>
                <a:uFillTx/>
                <a:latin typeface="Menlo"/>
                <a:ea typeface="Arial"/>
              </a:rPr>
              <a:t>True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   if</a:t>
            </a:r>
            <a:r>
              <a:rPr lang="en-US" sz="1050" b="1" u="none" strike="noStrike">
                <a:solidFill>
                  <a:srgbClr val="3B3B3B"/>
                </a:solidFill>
                <a:effectLst/>
                <a:uFillTx/>
                <a:latin typeface="Menlo"/>
                <a:ea typeface="Arial"/>
              </a:rPr>
              <a:t> debugL2: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turnRobotInArc() done"</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endParaRPr lang="en-US" sz="1050" b="0" u="none" strike="noStrike">
              <a:solidFill>
                <a:srgbClr val="000000"/>
              </a:solidFill>
              <a:effectLst/>
              <a:uFillTx/>
              <a:latin typeface="Arial"/>
            </a:endParaRPr>
          </a:p>
          <a:p>
            <a:pPr>
              <a:lnSpc>
                <a:spcPts val="1349"/>
              </a:lnSpc>
            </a:pPr>
            <a:r>
              <a:rPr lang="en-US" sz="1050" b="1" u="none" strike="noStrike">
                <a:solidFill>
                  <a:srgbClr val="AF00DB"/>
                </a:solidFill>
                <a:effectLst/>
                <a:uFillTx/>
                <a:latin typeface="Menlo"/>
                <a:ea typeface="Arial"/>
              </a:rPr>
              <a:t>return</a:t>
            </a:r>
            <a:r>
              <a:rPr lang="en-US" sz="1050" b="1" u="none" strike="noStrike">
                <a:solidFill>
                  <a:srgbClr val="3B3B3B"/>
                </a:solidFill>
                <a:effectLst/>
                <a:uFillTx/>
                <a:latin typeface="Menlo"/>
                <a:ea typeface="Arial"/>
              </a:rPr>
              <a:t> </a:t>
            </a:r>
            <a:r>
              <a:rPr lang="en-US" sz="1050" b="1" u="none" strike="noStrike">
                <a:solidFill>
                  <a:srgbClr val="0000FF"/>
                </a:solidFill>
                <a:effectLst/>
                <a:uFillTx/>
                <a:latin typeface="Menlo"/>
                <a:ea typeface="Arial"/>
              </a:rPr>
              <a:t>True</a:t>
            </a:r>
            <a:endParaRPr lang="en-US" sz="1050" b="0" u="none" strike="noStrike">
              <a:solidFill>
                <a:srgbClr val="000000"/>
              </a:solidFill>
              <a:effectLst/>
              <a:uFillTx/>
              <a:latin typeface="Arial"/>
            </a:endParaRPr>
          </a:p>
        </p:txBody>
      </p:sp>
      <p:sp>
        <p:nvSpPr>
          <p:cNvPr id="414" name="TextBox 8"/>
          <p:cNvSpPr/>
          <p:nvPr/>
        </p:nvSpPr>
        <p:spPr>
          <a:xfrm>
            <a:off x="6203160" y="3618360"/>
            <a:ext cx="279396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Drive the robot in arc by specific number of millimeters then stop and hold position</a:t>
            </a:r>
            <a:endParaRPr lang="en-US" sz="1400" b="0" u="none" strike="noStrike">
              <a:solidFill>
                <a:srgbClr val="000000"/>
              </a:solidFill>
              <a:effectLst/>
              <a:uFillTx/>
              <a:latin typeface="Arial"/>
            </a:endParaRPr>
          </a:p>
        </p:txBody>
      </p:sp>
      <p:cxnSp>
        <p:nvCxnSpPr>
          <p:cNvPr id="415" name="Straight Arrow Connector 9"/>
          <p:cNvCxnSpPr>
            <a:stCxn id="414" idx="1"/>
          </p:cNvCxnSpPr>
          <p:nvPr/>
        </p:nvCxnSpPr>
        <p:spPr>
          <a:xfrm flipH="1" flipV="1">
            <a:off x="5253480" y="3618000"/>
            <a:ext cx="950040" cy="370080"/>
          </a:xfrm>
          <a:prstGeom prst="straightConnector1">
            <a:avLst/>
          </a:prstGeom>
          <a:ln w="73025">
            <a:solidFill>
              <a:srgbClr val="000000"/>
            </a:solidFill>
            <a:round/>
            <a:tailEnd type="triangle" w="med" len="med"/>
          </a:ln>
        </p:spPr>
      </p:cxnSp>
      <p:sp>
        <p:nvSpPr>
          <p:cNvPr id="416" name="TextBox 10"/>
          <p:cNvSpPr/>
          <p:nvPr/>
        </p:nvSpPr>
        <p:spPr>
          <a:xfrm>
            <a:off x="1168200" y="4493160"/>
            <a:ext cx="712944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Drive robot in an Arc based on degrees or distance (mm). Normally a negative angle/distance is backward but this would depend on how the robot is oriented.</a:t>
            </a:r>
            <a:endParaRPr lang="en-US" sz="1400" b="0" u="none" strike="noStrike">
              <a:solidFill>
                <a:srgbClr val="000000"/>
              </a:solidFill>
              <a:effectLst/>
              <a:uFillTx/>
              <a:latin typeface="Arial"/>
            </a:endParaRPr>
          </a:p>
        </p:txBody>
      </p:sp>
      <p:sp>
        <p:nvSpPr>
          <p:cNvPr id="417" name="TextBox 14"/>
          <p:cNvSpPr/>
          <p:nvPr/>
        </p:nvSpPr>
        <p:spPr>
          <a:xfrm>
            <a:off x="6475680" y="1152720"/>
            <a:ext cx="254520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Drive the robot in arc by specific number of degrees then stop and hold position</a:t>
            </a:r>
            <a:endParaRPr lang="en-US" sz="1400" b="0" u="none" strike="noStrike">
              <a:solidFill>
                <a:srgbClr val="000000"/>
              </a:solidFill>
              <a:effectLst/>
              <a:uFillTx/>
              <a:latin typeface="Arial"/>
            </a:endParaRPr>
          </a:p>
        </p:txBody>
      </p:sp>
      <p:cxnSp>
        <p:nvCxnSpPr>
          <p:cNvPr id="418" name="Straight Arrow Connector 17"/>
          <p:cNvCxnSpPr>
            <a:stCxn id="417" idx="2"/>
          </p:cNvCxnSpPr>
          <p:nvPr/>
        </p:nvCxnSpPr>
        <p:spPr>
          <a:xfrm flipH="1">
            <a:off x="6475320" y="1891080"/>
            <a:ext cx="1273320" cy="440640"/>
          </a:xfrm>
          <a:prstGeom prst="straightConnector1">
            <a:avLst/>
          </a:prstGeom>
          <a:ln w="73025">
            <a:solidFill>
              <a:srgbClr val="000000"/>
            </a:solidFill>
            <a:round/>
            <a:tailEnd type="triangle" w="med" len="med"/>
          </a:ln>
        </p:spPr>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600" b="1" u="none" strike="noStrike">
                <a:solidFill>
                  <a:schemeClr val="lt1"/>
                </a:solidFill>
                <a:effectLst/>
                <a:uFillTx/>
                <a:latin typeface="Courier New"/>
                <a:ea typeface="Arial"/>
              </a:rPr>
              <a:t>driveRobotInArcAndLift(radius,mode, angleOrDist, attachmentStr, degrees, aSpeed, stopMode, resetAngle, stallDetect)</a:t>
            </a:r>
            <a:r>
              <a:rPr lang="en-US" sz="1600" b="1" u="none" strike="noStrike">
                <a:solidFill>
                  <a:schemeClr val="lt1"/>
                </a:solidFill>
                <a:effectLst/>
                <a:uFillTx/>
                <a:latin typeface="Arial"/>
                <a:ea typeface="Arial"/>
              </a:rPr>
              <a:t> (1/2)</a:t>
            </a:r>
            <a:endParaRPr lang="en-US" sz="1600" b="0" u="none" strike="noStrike">
              <a:solidFill>
                <a:srgbClr val="000000"/>
              </a:solidFill>
              <a:effectLst/>
              <a:uFillTx/>
              <a:latin typeface="Arial"/>
            </a:endParaRPr>
          </a:p>
        </p:txBody>
      </p:sp>
      <p:sp>
        <p:nvSpPr>
          <p:cNvPr id="420" name="PlaceHolder 2"/>
          <p:cNvSpPr>
            <a:spLocks noGrp="1"/>
          </p:cNvSpPr>
          <p:nvPr>
            <p:ph type="sldNum" idx="9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B30440D-2CF6-431C-A151-A1BB14DAA8EC}" type="slidenum">
              <a:rPr lang="en" sz="1000" b="0" u="none" strike="noStrike">
                <a:solidFill>
                  <a:schemeClr val="dk2"/>
                </a:solidFill>
                <a:effectLst/>
                <a:uFillTx/>
                <a:latin typeface="Arial"/>
                <a:ea typeface="Arial"/>
              </a:rPr>
              <a:t>79</a:t>
            </a:fld>
            <a:endParaRPr lang="en-US" sz="1000" b="0" u="none" strike="noStrike">
              <a:solidFill>
                <a:srgbClr val="000000"/>
              </a:solidFill>
              <a:effectLst/>
              <a:uFillTx/>
              <a:latin typeface="Times New Roman"/>
            </a:endParaRPr>
          </a:p>
        </p:txBody>
      </p:sp>
      <p:sp>
        <p:nvSpPr>
          <p:cNvPr id="421" name="TextBox 7"/>
          <p:cNvSpPr/>
          <p:nvPr/>
        </p:nvSpPr>
        <p:spPr>
          <a:xfrm>
            <a:off x="122760" y="802800"/>
            <a:ext cx="8898120" cy="277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00" b="1" u="none" strike="noStrike">
                <a:solidFill>
                  <a:srgbClr val="0000FF"/>
                </a:solidFill>
                <a:effectLst/>
                <a:uFillTx/>
                <a:latin typeface="Menlo"/>
                <a:ea typeface="Arial"/>
              </a:rPr>
              <a:t>async</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def</a:t>
            </a:r>
            <a:r>
              <a:rPr lang="en-US" sz="1000" b="1" u="none" strike="noStrike">
                <a:solidFill>
                  <a:srgbClr val="3B3B3B"/>
                </a:solidFill>
                <a:effectLst/>
                <a:uFillTx/>
                <a:latin typeface="Menlo"/>
                <a:ea typeface="Arial"/>
              </a:rPr>
              <a:t> </a:t>
            </a:r>
            <a:r>
              <a:rPr lang="en-US" sz="1000" b="1" u="none" strike="noStrike">
                <a:solidFill>
                  <a:srgbClr val="795E26"/>
                </a:solidFill>
                <a:effectLst/>
                <a:uFillTx/>
                <a:latin typeface="Menlo"/>
                <a:ea typeface="Arial"/>
              </a:rPr>
              <a:t>driveRobotInArcAndLift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radius</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mode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angleOrDist</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degrees</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aSpeed</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resetAngle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stallDetect</a:t>
            </a:r>
            <a:r>
              <a:rPr lang="en-US" sz="1000" b="1" u="none" strike="noStrike">
                <a:solidFill>
                  <a:srgbClr val="3B3B3B"/>
                </a:solidFill>
                <a:effectLst/>
                <a:uFillTx/>
                <a:latin typeface="Menlo"/>
                <a:ea typeface="Arial"/>
              </a:rPr>
              <a:t>) -&gt; </a:t>
            </a:r>
            <a:r>
              <a:rPr lang="en-US" sz="1000" b="1" u="none" strike="noStrike">
                <a:solidFill>
                  <a:srgbClr val="267F99"/>
                </a:solidFill>
                <a:effectLst/>
                <a:uFillTx/>
                <a:latin typeface="Menlo"/>
                <a:ea typeface="Arial"/>
              </a:rPr>
              <a:t>bool</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br>
              <a:rPr sz="1000"/>
            </a:br>
            <a:r>
              <a:rPr lang="en-US" sz="1000" b="1" u="none" strike="noStrike">
                <a:solidFill>
                  <a:srgbClr val="3B3B3B"/>
                </a:solidFill>
                <a:effectLst/>
                <a:uFillTx/>
                <a:latin typeface="Menlo"/>
                <a:ea typeface="Arial"/>
              </a:rPr>
              <a:t>   </a:t>
            </a: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"left"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attachment</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leftAttachment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elif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"right"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001080"/>
                </a:solidFill>
                <a:effectLst/>
                <a:uFillTx/>
                <a:latin typeface="Menlo"/>
                <a:ea typeface="Arial"/>
              </a:rPr>
              <a:t>      attachment</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rightAttachment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else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795E26"/>
                </a:solidFill>
                <a:effectLst/>
                <a:uFillTx/>
                <a:latin typeface="Menlo"/>
                <a:ea typeface="Arial"/>
              </a:rPr>
              <a:t>      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"driveRobotInArcAndLift() - illegal attachment name of "</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return</a:t>
            </a:r>
            <a:r>
              <a:rPr lang="en-US" sz="1000" b="1" u="none" strike="noStrike">
                <a:solidFill>
                  <a:srgbClr val="3B3B3B"/>
                </a:solidFill>
                <a:effectLst/>
                <a:uFillTx/>
                <a:latin typeface="Menlo"/>
                <a:ea typeface="Arial"/>
              </a:rPr>
              <a:t> </a:t>
            </a:r>
            <a:r>
              <a:rPr lang="en-US" sz="1000" b="1" u="none" strike="noStrike">
                <a:solidFill>
                  <a:srgbClr val="0000FF"/>
                </a:solidFill>
                <a:effectLst/>
                <a:uFillTx/>
                <a:latin typeface="Menlo"/>
                <a:ea typeface="Arial"/>
              </a:rPr>
              <a:t>False</a:t>
            </a:r>
            <a:endParaRPr lang="en-US" sz="1000" b="0" u="none" strike="noStrike">
              <a:solidFill>
                <a:srgbClr val="000000"/>
              </a:solidFill>
              <a:effectLst/>
              <a:uFillTx/>
              <a:latin typeface="Arial"/>
            </a:endParaRPr>
          </a:p>
          <a:p>
            <a:pPr>
              <a:lnSpc>
                <a:spcPts val="1349"/>
              </a:lnSpc>
            </a:pPr>
            <a:br>
              <a:rPr sz="1000"/>
            </a:br>
            <a:r>
              <a:rPr lang="en-US" sz="1000" b="1" u="none" strike="noStrike">
                <a:solidFill>
                  <a:srgbClr val="3B3B3B"/>
                </a:solidFill>
                <a:effectLst/>
                <a:uFillTx/>
                <a:latin typeface="Menlo"/>
                <a:ea typeface="Arial"/>
              </a:rPr>
              <a:t>    </a:t>
            </a: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mode</a:t>
            </a:r>
            <a:r>
              <a:rPr lang="en-US" sz="1000" b="1" u="none" strike="noStrike">
                <a:solidFill>
                  <a:srgbClr val="3B3B3B"/>
                </a:solidFill>
                <a:effectLst/>
                <a:uFillTx/>
                <a:latin typeface="Menlo"/>
                <a:ea typeface="Arial"/>
              </a:rPr>
              <a:t> </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”angle"</a:t>
            </a:r>
            <a:r>
              <a:rPr lang="en-US" sz="1000" b="1" u="none" strike="noStrike">
                <a:solidFill>
                  <a:srgbClr val="3B3B3B"/>
                </a:solidFill>
                <a:effectLst/>
                <a:uFillTx/>
                <a:latin typeface="Menlo"/>
                <a:ea typeface="Arial"/>
              </a:rPr>
              <a:t>: </a:t>
            </a:r>
            <a:endParaRPr lang="en-US" sz="1000" b="0" u="none" strike="noStrike">
              <a:solidFill>
                <a:srgbClr val="000000"/>
              </a:solidFill>
              <a:effectLst/>
              <a:uFillTx/>
              <a:latin typeface="Arial"/>
            </a:endParaRPr>
          </a:p>
          <a:p>
            <a:pPr>
              <a:lnSpc>
                <a:spcPts val="1349"/>
              </a:lnSpc>
            </a:pPr>
            <a:endParaRPr lang="en-US" sz="1000" b="0" u="none" strike="noStrike">
              <a:solidFill>
                <a:srgbClr val="000000"/>
              </a:solidFill>
              <a:effectLst/>
              <a:uFillTx/>
              <a:latin typeface="Arial"/>
            </a:endParaRPr>
          </a:p>
          <a:p>
            <a:pPr>
              <a:lnSpc>
                <a:spcPts val="1349"/>
              </a:lnSpc>
            </a:pPr>
            <a:r>
              <a:rPr lang="en-US" sz="1000" b="1" u="none" strike="noStrike">
                <a:solidFill>
                  <a:srgbClr val="AF00DB"/>
                </a:solidFill>
                <a:effectLst/>
                <a:uFillTx/>
                <a:latin typeface="Menlo"/>
                <a:ea typeface="Arial"/>
              </a:rPr>
              <a:t>       await</a:t>
            </a:r>
            <a:r>
              <a:rPr lang="en-US" sz="1000" b="1" u="none" strike="noStrike">
                <a:solidFill>
                  <a:srgbClr val="3B3B3B"/>
                </a:solidFill>
                <a:effectLst/>
                <a:uFillTx/>
                <a:latin typeface="Menlo"/>
                <a:ea typeface="Arial"/>
              </a:rPr>
              <a:t> multitask(driveBase.arc(</a:t>
            </a:r>
            <a:r>
              <a:rPr lang="en-US" sz="1000" b="1" u="none" strike="noStrike">
                <a:solidFill>
                  <a:srgbClr val="001080"/>
                </a:solidFill>
                <a:effectLst/>
                <a:uFillTx/>
                <a:latin typeface="Menlo"/>
                <a:ea typeface="Arial"/>
              </a:rPr>
              <a:t>radius</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angle</a:t>
            </a:r>
            <a:r>
              <a:rPr lang="en-US" sz="1000" b="1" u="none" strike="noStrike">
                <a:solidFill>
                  <a:srgbClr val="000000"/>
                </a:solidFill>
                <a:effectLst/>
                <a:uFillTx/>
                <a:latin typeface="Menlo"/>
                <a:ea typeface="Arial"/>
              </a:rPr>
              <a:t>=</a:t>
            </a:r>
            <a:r>
              <a:rPr lang="en-US" sz="1000" b="1" u="none" strike="noStrike">
                <a:solidFill>
                  <a:srgbClr val="001080"/>
                </a:solidFill>
                <a:effectLst/>
                <a:uFillTx/>
                <a:latin typeface="Menlo"/>
                <a:ea typeface="Arial"/>
              </a:rPr>
              <a:t>angleOrDist</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then</a:t>
            </a:r>
            <a:r>
              <a:rPr lang="en-US" sz="1000" b="1" u="none" strike="noStrike">
                <a:solidFill>
                  <a:srgbClr val="000000"/>
                </a:solidFill>
                <a:effectLst/>
                <a:uFillTx/>
                <a:latin typeface="Menlo"/>
                <a:ea typeface="Arial"/>
              </a:rPr>
              <a:t>=</a:t>
            </a:r>
            <a:r>
              <a:rPr lang="en-US" sz="1000" b="1" u="none" strike="noStrike">
                <a:solidFill>
                  <a:srgbClr val="3B3B3B"/>
                </a:solidFill>
                <a:effectLst/>
                <a:uFillTx/>
                <a:latin typeface="Menlo"/>
                <a:ea typeface="Arial"/>
              </a:rPr>
              <a:t>Stop.HOLD, </a:t>
            </a:r>
            <a:r>
              <a:rPr lang="en-US" sz="1000" b="1" u="none" strike="noStrike">
                <a:solidFill>
                  <a:srgbClr val="001080"/>
                </a:solidFill>
                <a:effectLst/>
                <a:uFillTx/>
                <a:latin typeface="Menlo"/>
                <a:ea typeface="Arial"/>
              </a:rPr>
              <a:t>wait</a:t>
            </a:r>
            <a:r>
              <a:rPr lang="en-US" sz="1000" b="1" u="none" strike="noStrike">
                <a:solidFill>
                  <a:srgbClr val="000000"/>
                </a:solidFill>
                <a:effectLst/>
                <a:uFillTx/>
                <a:latin typeface="Menlo"/>
                <a:ea typeface="Arial"/>
              </a:rPr>
              <a:t>=</a:t>
            </a:r>
            <a:r>
              <a:rPr lang="en-US" sz="1000" b="1" u="none" strike="noStrike">
                <a:solidFill>
                  <a:srgbClr val="0000FF"/>
                </a:solidFill>
                <a:effectLst/>
                <a:uFillTx/>
                <a:latin typeface="Menlo"/>
                <a:ea typeface="Arial"/>
              </a:rPr>
              <a:t>True</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a:p>
            <a:pPr>
              <a:lnSpc>
                <a:spcPts val="1349"/>
              </a:lnSpc>
            </a:pPr>
            <a:r>
              <a:rPr lang="en-US" sz="1000" b="1" u="none" strike="noStrike">
                <a:solidFill>
                  <a:srgbClr val="3B3B3B"/>
                </a:solidFill>
                <a:effectLst/>
                <a:uFillTx/>
                <a:latin typeface="Menlo"/>
                <a:ea typeface="Arial"/>
              </a:rPr>
              <a:t>                       moveAttachment(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degrees</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aSpeed</a:t>
            </a:r>
            <a:r>
              <a:rPr lang="en-US" sz="1000" b="1" u="none" strike="noStrike">
                <a:solidFill>
                  <a:srgbClr val="3B3B3B"/>
                </a:solidFill>
                <a:effectLst/>
                <a:uFillTx/>
                <a:latin typeface="Menlo"/>
                <a:ea typeface="Arial"/>
              </a:rPr>
              <a:t>, </a:t>
            </a:r>
            <a:r>
              <a:rPr lang="en-US" sz="1000" b="1" u="none" strike="noStrike">
                <a:solidFill>
                  <a:srgbClr val="001080"/>
                </a:solidFill>
                <a:effectLst/>
                <a:uFillTx/>
                <a:latin typeface="Menlo"/>
                <a:ea typeface="Arial"/>
              </a:rPr>
              <a:t>stopMode,resetAngle,stallDetect</a:t>
            </a:r>
            <a:r>
              <a:rPr lang="en-US" sz="1000" b="1" u="none" strike="noStrike">
                <a:solidFill>
                  <a:srgbClr val="3B3B3B"/>
                </a:solidFill>
                <a:effectLst/>
                <a:uFillTx/>
                <a:latin typeface="Menlo"/>
                <a:ea typeface="Arial"/>
              </a:rPr>
              <a:t>))</a:t>
            </a:r>
            <a:endParaRPr lang="en-US" sz="1000" b="0" u="none" strike="noStrike">
              <a:solidFill>
                <a:srgbClr val="000000"/>
              </a:solidFill>
              <a:effectLst/>
              <a:uFillTx/>
              <a:latin typeface="Arial"/>
            </a:endParaRPr>
          </a:p>
        </p:txBody>
      </p:sp>
      <p:cxnSp>
        <p:nvCxnSpPr>
          <p:cNvPr id="422" name="Straight Arrow Connector 13"/>
          <p:cNvCxnSpPr>
            <a:stCxn id="423" idx="2"/>
          </p:cNvCxnSpPr>
          <p:nvPr/>
        </p:nvCxnSpPr>
        <p:spPr>
          <a:xfrm flipH="1">
            <a:off x="6201000" y="2306880"/>
            <a:ext cx="1592640" cy="766800"/>
          </a:xfrm>
          <a:prstGeom prst="straightConnector1">
            <a:avLst/>
          </a:prstGeom>
          <a:ln w="73025">
            <a:solidFill>
              <a:srgbClr val="000000"/>
            </a:solidFill>
            <a:round/>
            <a:tailEnd type="triangle" w="med" len="med"/>
          </a:ln>
        </p:spPr>
      </p:cxnSp>
      <p:sp>
        <p:nvSpPr>
          <p:cNvPr id="423" name="TextBox 16"/>
          <p:cNvSpPr/>
          <p:nvPr/>
        </p:nvSpPr>
        <p:spPr>
          <a:xfrm>
            <a:off x="6715080" y="1784160"/>
            <a:ext cx="215640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Drive robot in an Arc based on degrees</a:t>
            </a:r>
            <a:endParaRPr lang="en-US" sz="1400" b="0" u="none" strike="noStrike">
              <a:solidFill>
                <a:srgbClr val="000000"/>
              </a:solidFill>
              <a:effectLst/>
              <a:uFillTx/>
              <a:latin typeface="Arial"/>
            </a:endParaRPr>
          </a:p>
        </p:txBody>
      </p:sp>
      <p:sp>
        <p:nvSpPr>
          <p:cNvPr id="424" name="TextBox 18"/>
          <p:cNvSpPr/>
          <p:nvPr/>
        </p:nvSpPr>
        <p:spPr>
          <a:xfrm>
            <a:off x="6715080" y="3869640"/>
            <a:ext cx="215640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Move attachment</a:t>
            </a:r>
            <a:endParaRPr lang="en-US" sz="1400" b="0" u="none" strike="noStrike">
              <a:solidFill>
                <a:srgbClr val="000000"/>
              </a:solidFill>
              <a:effectLst/>
              <a:uFillTx/>
              <a:latin typeface="Arial"/>
            </a:endParaRPr>
          </a:p>
        </p:txBody>
      </p:sp>
      <p:cxnSp>
        <p:nvCxnSpPr>
          <p:cNvPr id="425" name="Straight Arrow Connector 19"/>
          <p:cNvCxnSpPr>
            <a:stCxn id="424" idx="1"/>
          </p:cNvCxnSpPr>
          <p:nvPr/>
        </p:nvCxnSpPr>
        <p:spPr>
          <a:xfrm flipH="1" flipV="1">
            <a:off x="5004000" y="3600360"/>
            <a:ext cx="1711440" cy="423360"/>
          </a:xfrm>
          <a:prstGeom prst="straightConnector1">
            <a:avLst/>
          </a:prstGeom>
          <a:ln w="73025">
            <a:solidFill>
              <a:srgbClr val="000000"/>
            </a:solidFill>
            <a:round/>
            <a:tailEnd type="triangle" w="med" len="med"/>
          </a:ln>
        </p:spPr>
      </p:cxnSp>
      <p:sp>
        <p:nvSpPr>
          <p:cNvPr id="426" name="TextBox 2"/>
          <p:cNvSpPr/>
          <p:nvPr/>
        </p:nvSpPr>
        <p:spPr>
          <a:xfrm>
            <a:off x="1240200" y="4446720"/>
            <a:ext cx="695628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Drive robot in an arc (by degrees or distance) and move an attachment</a:t>
            </a:r>
            <a:endParaRPr lang="en-US" sz="1400" b="0" u="none" strike="noStrike">
              <a:solidFill>
                <a:srgbClr val="000000"/>
              </a:solidFill>
              <a:effectLst/>
              <a:uFillTx/>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1600" b="1" u="none" strike="noStrike">
                <a:solidFill>
                  <a:schemeClr val="lt1"/>
                </a:solidFill>
                <a:effectLst/>
                <a:uFillTx/>
                <a:latin typeface="Courier New"/>
                <a:ea typeface="Arial"/>
              </a:rPr>
              <a:t>driveRobotInArcAndLift(radius,mode, angleOrDist, attachmentStr, degrees, aSpeed, stopMode, resetAngle, stallDetect)</a:t>
            </a:r>
            <a:r>
              <a:rPr lang="en-US" sz="1600" b="1" u="none" strike="noStrike">
                <a:solidFill>
                  <a:schemeClr val="lt1"/>
                </a:solidFill>
                <a:effectLst/>
                <a:uFillTx/>
                <a:latin typeface="Arial"/>
                <a:ea typeface="Arial"/>
              </a:rPr>
              <a:t> (2/2)</a:t>
            </a:r>
            <a:endParaRPr lang="en-US" sz="1600" b="0" u="none" strike="noStrike">
              <a:solidFill>
                <a:srgbClr val="000000"/>
              </a:solidFill>
              <a:effectLst/>
              <a:uFillTx/>
              <a:latin typeface="Arial"/>
            </a:endParaRPr>
          </a:p>
        </p:txBody>
      </p:sp>
      <p:sp>
        <p:nvSpPr>
          <p:cNvPr id="428" name="PlaceHolder 2"/>
          <p:cNvSpPr>
            <a:spLocks noGrp="1"/>
          </p:cNvSpPr>
          <p:nvPr>
            <p:ph type="sldNum" idx="9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A4DE8CA-6C37-4CFE-9423-63FC6E3E5C50}" type="slidenum">
              <a:rPr lang="en" sz="1000" b="0" u="none" strike="noStrike">
                <a:solidFill>
                  <a:schemeClr val="dk2"/>
                </a:solidFill>
                <a:effectLst/>
                <a:uFillTx/>
                <a:latin typeface="Arial"/>
                <a:ea typeface="Arial"/>
              </a:rPr>
              <a:t>80</a:t>
            </a:fld>
            <a:endParaRPr lang="en-US" sz="1000" b="0" u="none" strike="noStrike">
              <a:solidFill>
                <a:srgbClr val="000000"/>
              </a:solidFill>
              <a:effectLst/>
              <a:uFillTx/>
              <a:latin typeface="Times New Roman"/>
            </a:endParaRPr>
          </a:p>
        </p:txBody>
      </p:sp>
      <p:sp>
        <p:nvSpPr>
          <p:cNvPr id="429" name="TextBox 7"/>
          <p:cNvSpPr/>
          <p:nvPr/>
        </p:nvSpPr>
        <p:spPr>
          <a:xfrm>
            <a:off x="122760" y="802800"/>
            <a:ext cx="8734680" cy="313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mode</a:t>
            </a:r>
            <a:r>
              <a:rPr lang="en-US" sz="1100" b="1" u="none" strike="noStrike">
                <a:solidFill>
                  <a:srgbClr val="3B3B3B"/>
                </a:solidFill>
                <a:effectLst/>
                <a:uFillTx/>
                <a:latin typeface="Menlo"/>
                <a:ea typeface="Arial"/>
              </a:rPr>
              <a: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"distance"</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br>
              <a:rPr sz="1100"/>
            </a:br>
            <a:r>
              <a:rPr lang="en-US" sz="1100" b="1" u="none" strike="noStrike">
                <a:solidFill>
                  <a:srgbClr val="3B3B3B"/>
                </a:solidFill>
                <a:effectLst/>
                <a:uFillTx/>
                <a:latin typeface="Menlo"/>
                <a:ea typeface="Arial"/>
              </a:rPr>
              <a:t>      </a:t>
            </a:r>
            <a:r>
              <a:rPr lang="en-US" sz="1100" b="1" u="none" strike="noStrike">
                <a:solidFill>
                  <a:srgbClr val="AF00DB"/>
                </a:solidFill>
                <a:effectLst/>
                <a:uFillTx/>
                <a:latin typeface="Menlo"/>
                <a:ea typeface="Arial"/>
              </a:rPr>
              <a:t>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driveRobotInArcAndLift() radius="</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radius</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 mode=distance distance="</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angleOrDist</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A31515"/>
                </a:solidFill>
                <a:effectLst/>
                <a:uFillTx/>
                <a:latin typeface="Menlo"/>
                <a:ea typeface="Arial"/>
              </a:rPr>
              <a:t>                        " attach="</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degrees="</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degrees</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aSpeed="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aSpeed</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 resetAngle="</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resetAngle</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 stallDetect="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stallDetect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multitask(driveBase.arc(</a:t>
            </a:r>
            <a:r>
              <a:rPr lang="en-US" sz="1100" b="1" u="none" strike="noStrike">
                <a:solidFill>
                  <a:srgbClr val="001080"/>
                </a:solidFill>
                <a:effectLst/>
                <a:uFillTx/>
                <a:latin typeface="Menlo"/>
                <a:ea typeface="Arial"/>
              </a:rPr>
              <a:t>radius</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distance</a:t>
            </a:r>
            <a:r>
              <a:rPr lang="en-US" sz="1100" b="1" u="none" strike="noStrike">
                <a:solidFill>
                  <a:srgbClr val="000000"/>
                </a:solidFill>
                <a:effectLst/>
                <a:uFillTx/>
                <a:latin typeface="Menlo"/>
                <a:ea typeface="Arial"/>
              </a:rPr>
              <a:t>=</a:t>
            </a:r>
            <a:r>
              <a:rPr lang="en-US" sz="1100" b="1" u="none" strike="noStrike">
                <a:solidFill>
                  <a:srgbClr val="001080"/>
                </a:solidFill>
                <a:effectLst/>
                <a:uFillTx/>
                <a:latin typeface="Menlo"/>
                <a:ea typeface="Arial"/>
              </a:rPr>
              <a:t>angleOrDist</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then</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Stop.HOLD, </a:t>
            </a:r>
            <a:r>
              <a:rPr lang="en-US" sz="1100" b="1" u="none" strike="noStrike">
                <a:solidFill>
                  <a:srgbClr val="001080"/>
                </a:solidFill>
                <a:effectLst/>
                <a:uFillTx/>
                <a:latin typeface="Menlo"/>
                <a:ea typeface="Arial"/>
              </a:rPr>
              <a:t>wait</a:t>
            </a:r>
            <a:r>
              <a:rPr lang="en-US" sz="1100" b="1" u="none" strike="noStrike">
                <a:solidFill>
                  <a:srgbClr val="000000"/>
                </a:solidFill>
                <a:effectLst/>
                <a:uFillTx/>
                <a:latin typeface="Menlo"/>
                <a:ea typeface="Arial"/>
              </a:rPr>
              <a:t>=</a:t>
            </a:r>
            <a:r>
              <a:rPr lang="en-US" sz="1100" b="1" u="none" strike="noStrike">
                <a:solidFill>
                  <a:srgbClr val="0000FF"/>
                </a:solidFill>
                <a:effectLst/>
                <a:uFillTx/>
                <a:latin typeface="Menlo"/>
                <a:ea typeface="Arial"/>
              </a:rPr>
              <a:t>True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moveAttachment(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degrees</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aSpeed</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stopMode, resetAngle,</a:t>
            </a:r>
            <a:endParaRPr lang="en-US" sz="1100" b="0" u="none" strike="noStrike">
              <a:solidFill>
                <a:srgbClr val="000000"/>
              </a:solidFill>
              <a:effectLst/>
              <a:uFillTx/>
              <a:latin typeface="Arial"/>
            </a:endParaRPr>
          </a:p>
          <a:p>
            <a:pPr>
              <a:lnSpc>
                <a:spcPts val="1349"/>
              </a:lnSpc>
            </a:pPr>
            <a:r>
              <a:rPr lang="en-US" sz="1100" b="1" u="none" strike="noStrike">
                <a:solidFill>
                  <a:srgbClr val="001080"/>
                </a:solidFill>
                <a:effectLst/>
                <a:uFillTx/>
                <a:latin typeface="Menlo"/>
                <a:ea typeface="Arial"/>
              </a:rPr>
              <a:t>	                          stallDetect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debugL2: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"DEBUG-L2 - driveRobotInArcAndLift() done"</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AF00DB"/>
                </a:solidFill>
                <a:effectLst/>
                <a:uFillTx/>
                <a:latin typeface="Menlo"/>
                <a:ea typeface="Arial"/>
              </a:rPr>
              <a:t>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True</a:t>
            </a:r>
            <a:endParaRPr lang="en-US" sz="1100" b="0" u="none" strike="noStrike">
              <a:solidFill>
                <a:srgbClr val="000000"/>
              </a:solidFill>
              <a:effectLst/>
              <a:uFillTx/>
              <a:latin typeface="Arial"/>
            </a:endParaRPr>
          </a:p>
        </p:txBody>
      </p:sp>
      <p:sp>
        <p:nvSpPr>
          <p:cNvPr id="430" name="TextBox 5"/>
          <p:cNvSpPr/>
          <p:nvPr/>
        </p:nvSpPr>
        <p:spPr>
          <a:xfrm>
            <a:off x="1240200" y="4446720"/>
            <a:ext cx="695628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Drive robot in an arc (by degrees or distance) and move an attachment</a:t>
            </a:r>
            <a:endParaRPr lang="en-US" sz="1400" b="0" u="none" strike="noStrike">
              <a:solidFill>
                <a:srgbClr val="000000"/>
              </a:solidFill>
              <a:effectLst/>
              <a:uFillTx/>
              <a:latin typeface="Arial"/>
            </a:endParaRPr>
          </a:p>
        </p:txBody>
      </p:sp>
      <p:cxnSp>
        <p:nvCxnSpPr>
          <p:cNvPr id="431" name="Straight Arrow Connector 10"/>
          <p:cNvCxnSpPr>
            <a:stCxn id="432" idx="1"/>
          </p:cNvCxnSpPr>
          <p:nvPr/>
        </p:nvCxnSpPr>
        <p:spPr>
          <a:xfrm flipH="1">
            <a:off x="5727240" y="2203920"/>
            <a:ext cx="1137240" cy="345600"/>
          </a:xfrm>
          <a:prstGeom prst="straightConnector1">
            <a:avLst/>
          </a:prstGeom>
          <a:ln w="73025">
            <a:solidFill>
              <a:srgbClr val="000000"/>
            </a:solidFill>
            <a:round/>
            <a:tailEnd type="triangle" w="med" len="med"/>
          </a:ln>
        </p:spPr>
      </p:cxnSp>
      <p:sp>
        <p:nvSpPr>
          <p:cNvPr id="432" name="TextBox 11"/>
          <p:cNvSpPr/>
          <p:nvPr/>
        </p:nvSpPr>
        <p:spPr>
          <a:xfrm>
            <a:off x="6864120" y="1942560"/>
            <a:ext cx="215640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Drive robot in an Arc based on distance</a:t>
            </a:r>
            <a:endParaRPr lang="en-US" sz="1400" b="0" u="none" strike="noStrike">
              <a:solidFill>
                <a:srgbClr val="000000"/>
              </a:solidFill>
              <a:effectLst/>
              <a:uFillTx/>
              <a:latin typeface="Arial"/>
            </a:endParaRPr>
          </a:p>
        </p:txBody>
      </p:sp>
      <p:sp>
        <p:nvSpPr>
          <p:cNvPr id="433" name="TextBox 12"/>
          <p:cNvSpPr/>
          <p:nvPr/>
        </p:nvSpPr>
        <p:spPr>
          <a:xfrm>
            <a:off x="6864120" y="3605400"/>
            <a:ext cx="215640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Move attachment</a:t>
            </a:r>
            <a:endParaRPr lang="en-US" sz="1400" b="0" u="none" strike="noStrike">
              <a:solidFill>
                <a:srgbClr val="000000"/>
              </a:solidFill>
              <a:effectLst/>
              <a:uFillTx/>
              <a:latin typeface="Arial"/>
            </a:endParaRPr>
          </a:p>
        </p:txBody>
      </p:sp>
      <p:cxnSp>
        <p:nvCxnSpPr>
          <p:cNvPr id="434" name="Straight Arrow Connector 13"/>
          <p:cNvCxnSpPr>
            <a:stCxn id="433" idx="1"/>
          </p:cNvCxnSpPr>
          <p:nvPr/>
        </p:nvCxnSpPr>
        <p:spPr>
          <a:xfrm flipH="1" flipV="1">
            <a:off x="5137200" y="3127320"/>
            <a:ext cx="1727280" cy="632160"/>
          </a:xfrm>
          <a:prstGeom prst="straightConnector1">
            <a:avLst/>
          </a:prstGeom>
          <a:ln w="73025">
            <a:solidFill>
              <a:srgbClr val="000000"/>
            </a:solidFill>
            <a:round/>
            <a:tailEnd type="triangle" w="med" len="med"/>
          </a:ln>
        </p:spPr>
      </p:cxnSp>
      <p:sp>
        <p:nvSpPr>
          <p:cNvPr id="435" name="TextBox 2"/>
          <p:cNvSpPr/>
          <p:nvPr/>
        </p:nvSpPr>
        <p:spPr>
          <a:xfrm>
            <a:off x="6394680" y="71964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fontScale="55000" lnSpcReduction="19999"/>
          </a:bodyPr>
          <a:lstStyle/>
          <a:p>
            <a:pPr indent="0" algn="l">
              <a:lnSpc>
                <a:spcPct val="100000"/>
              </a:lnSpc>
              <a:buNone/>
            </a:pPr>
            <a:r>
              <a:rPr lang="en-US" sz="2500" b="1" u="none" strike="noStrike">
                <a:solidFill>
                  <a:schemeClr val="lt1"/>
                </a:solidFill>
                <a:effectLst/>
                <a:uFillTx/>
                <a:latin typeface="Courier New"/>
                <a:ea typeface="Arial"/>
              </a:rPr>
              <a:t>isStalled()</a:t>
            </a:r>
            <a:br>
              <a:rPr sz="2500"/>
            </a:br>
            <a:endParaRPr lang="en-US" sz="2500" b="0" u="none" strike="noStrike">
              <a:solidFill>
                <a:srgbClr val="000000"/>
              </a:solidFill>
              <a:effectLst/>
              <a:uFillTx/>
              <a:latin typeface="Arial"/>
            </a:endParaRPr>
          </a:p>
        </p:txBody>
      </p:sp>
      <p:sp>
        <p:nvSpPr>
          <p:cNvPr id="437" name="PlaceHolder 2"/>
          <p:cNvSpPr>
            <a:spLocks noGrp="1"/>
          </p:cNvSpPr>
          <p:nvPr>
            <p:ph type="sldNum" idx="9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2846B0D-06C5-4091-9AE5-30E0AE57CEDF}" type="slidenum">
              <a:rPr lang="en" sz="1000" b="0" u="none" strike="noStrike">
                <a:solidFill>
                  <a:schemeClr val="dk2"/>
                </a:solidFill>
                <a:effectLst/>
                <a:uFillTx/>
                <a:latin typeface="Arial"/>
                <a:ea typeface="Arial"/>
              </a:rPr>
              <a:t>81</a:t>
            </a:fld>
            <a:endParaRPr lang="en-US" sz="1000" b="0" u="none" strike="noStrike">
              <a:solidFill>
                <a:srgbClr val="000000"/>
              </a:solidFill>
              <a:effectLst/>
              <a:uFillTx/>
              <a:latin typeface="Times New Roman"/>
            </a:endParaRPr>
          </a:p>
        </p:txBody>
      </p:sp>
      <p:sp>
        <p:nvSpPr>
          <p:cNvPr id="438" name="TextBox 9"/>
          <p:cNvSpPr/>
          <p:nvPr/>
        </p:nvSpPr>
        <p:spPr>
          <a:xfrm>
            <a:off x="146520" y="921960"/>
            <a:ext cx="5349960" cy="242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200" b="1" u="none" strike="noStrike">
                <a:solidFill>
                  <a:srgbClr val="008000"/>
                </a:solidFill>
                <a:effectLst/>
                <a:uFillTx/>
                <a:latin typeface="Menlo"/>
                <a:ea typeface="Arial"/>
              </a:rPr>
              <a:t># detect if a specific attachment is stalled</a:t>
            </a:r>
            <a:endParaRPr lang="en-US" sz="1200" b="0" u="none" strike="noStrike">
              <a:solidFill>
                <a:srgbClr val="000000"/>
              </a:solidFill>
              <a:effectLst/>
              <a:uFillTx/>
              <a:latin typeface="Arial"/>
            </a:endParaRPr>
          </a:p>
          <a:p>
            <a:pPr>
              <a:lnSpc>
                <a:spcPts val="1349"/>
              </a:lnSpc>
            </a:pPr>
            <a:r>
              <a:rPr lang="en-US" sz="1200" b="1" u="none" strike="noStrike">
                <a:solidFill>
                  <a:srgbClr val="008000"/>
                </a:solidFill>
                <a:effectLst/>
                <a:uFillTx/>
                <a:latin typeface="Menlo"/>
                <a:ea typeface="Arial"/>
              </a:rPr>
              <a:t># used with multitask() in moveAttachment functions</a:t>
            </a:r>
            <a:endParaRPr lang="en-US" sz="1200" b="0" u="none" strike="noStrike">
              <a:solidFill>
                <a:srgbClr val="000000"/>
              </a:solidFill>
              <a:effectLst/>
              <a:uFillTx/>
              <a:latin typeface="Arial"/>
            </a:endParaRPr>
          </a:p>
          <a:p>
            <a:pPr>
              <a:lnSpc>
                <a:spcPts val="1349"/>
              </a:lnSpc>
            </a:pPr>
            <a:r>
              <a:rPr lang="en-US" sz="1200" b="1" u="none" strike="noStrike">
                <a:solidFill>
                  <a:srgbClr val="0000FF"/>
                </a:solidFill>
                <a:effectLst/>
                <a:uFillTx/>
                <a:latin typeface="Menlo"/>
                <a:ea typeface="Arial"/>
              </a:rPr>
              <a:t>async</a:t>
            </a:r>
            <a:r>
              <a:rPr lang="en-US" sz="1200" b="1" u="none" strike="noStrike">
                <a:solidFill>
                  <a:srgbClr val="3B3B3B"/>
                </a:solidFill>
                <a:effectLst/>
                <a:uFillTx/>
                <a:latin typeface="Menlo"/>
                <a:ea typeface="Arial"/>
              </a:rPr>
              <a:t> </a:t>
            </a:r>
            <a:r>
              <a:rPr lang="en-US" sz="1200" b="1" u="none" strike="noStrike">
                <a:solidFill>
                  <a:srgbClr val="0000FF"/>
                </a:solidFill>
                <a:effectLst/>
                <a:uFillTx/>
                <a:latin typeface="Menlo"/>
                <a:ea typeface="Arial"/>
              </a:rPr>
              <a:t>def</a:t>
            </a:r>
            <a:r>
              <a:rPr lang="en-US" sz="1200" b="1" u="none" strike="noStrike">
                <a:solidFill>
                  <a:srgbClr val="3B3B3B"/>
                </a:solidFill>
                <a:effectLst/>
                <a:uFillTx/>
                <a:latin typeface="Menlo"/>
                <a:ea typeface="Arial"/>
              </a:rPr>
              <a:t> </a:t>
            </a:r>
            <a:r>
              <a:rPr lang="en-US" sz="1200" b="1" u="none" strike="noStrike">
                <a:solidFill>
                  <a:srgbClr val="795E26"/>
                </a:solidFill>
                <a:effectLst/>
                <a:uFillTx/>
                <a:latin typeface="Menlo"/>
                <a:ea typeface="Arial"/>
              </a:rPr>
              <a:t>isStalled</a:t>
            </a:r>
            <a:r>
              <a:rPr lang="en-US" sz="1200" b="1" u="none" strike="noStrike">
                <a:solidFill>
                  <a:srgbClr val="3B3B3B"/>
                </a:solidFill>
                <a:effectLst/>
                <a:uFillTx/>
                <a:latin typeface="Menlo"/>
                <a:ea typeface="Arial"/>
              </a:rPr>
              <a:t>(</a:t>
            </a:r>
            <a:r>
              <a:rPr lang="en-US" sz="1200" b="1" u="none" strike="noStrike">
                <a:solidFill>
                  <a:srgbClr val="001080"/>
                </a:solidFill>
                <a:effectLst/>
                <a:uFillTx/>
                <a:latin typeface="Menlo"/>
                <a:ea typeface="Arial"/>
              </a:rPr>
              <a:t>attachment</a:t>
            </a:r>
            <a:r>
              <a:rPr lang="en-US" sz="1200" b="1" u="none" strike="noStrike">
                <a:solidFill>
                  <a:srgbClr val="3B3B3B"/>
                </a:solidFill>
                <a:effectLst/>
                <a:uFillTx/>
                <a:latin typeface="Menlo"/>
                <a:ea typeface="Arial"/>
              </a:rPr>
              <a:t>) -&gt; </a:t>
            </a:r>
            <a:r>
              <a:rPr lang="en-US" sz="1200" b="1" u="none" strike="noStrike">
                <a:solidFill>
                  <a:srgbClr val="267F99"/>
                </a:solidFill>
                <a:effectLst/>
                <a:uFillTx/>
                <a:latin typeface="Menlo"/>
                <a:ea typeface="Arial"/>
              </a:rPr>
              <a:t>bool</a:t>
            </a:r>
            <a:r>
              <a:rPr lang="en-US" sz="1200" b="1" u="none" strike="noStrike">
                <a:solidFill>
                  <a:srgbClr val="3B3B3B"/>
                </a:solidFill>
                <a:effectLst/>
                <a:uFillTx/>
                <a:latin typeface="Menlo"/>
                <a:ea typeface="Arial"/>
              </a:rPr>
              <a:t> :</a:t>
            </a:r>
            <a:endParaRPr lang="en-US" sz="1200" b="0" u="none" strike="noStrike">
              <a:solidFill>
                <a:srgbClr val="000000"/>
              </a:solidFill>
              <a:effectLst/>
              <a:uFillTx/>
              <a:latin typeface="Arial"/>
            </a:endParaRPr>
          </a:p>
          <a:p>
            <a:pPr>
              <a:lnSpc>
                <a:spcPts val="1349"/>
              </a:lnSpc>
            </a:pP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if</a:t>
            </a:r>
            <a:r>
              <a:rPr lang="en-US" sz="1200" b="1" u="none" strike="noStrike">
                <a:solidFill>
                  <a:srgbClr val="3B3B3B"/>
                </a:solidFill>
                <a:effectLst/>
                <a:uFillTx/>
                <a:latin typeface="Menlo"/>
                <a:ea typeface="Arial"/>
              </a:rPr>
              <a:t> debugL2: </a:t>
            </a:r>
            <a:r>
              <a:rPr lang="en-US" sz="1200" b="1" u="none" strike="noStrike">
                <a:solidFill>
                  <a:srgbClr val="795E26"/>
                </a:solidFill>
                <a:effectLst/>
                <a:uFillTx/>
                <a:latin typeface="Menlo"/>
                <a:ea typeface="Arial"/>
              </a:rPr>
              <a:t>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"isStalled()"</a:t>
            </a:r>
            <a:r>
              <a:rPr lang="en-US" sz="1200" b="1" u="none" strike="noStrike">
                <a:solidFill>
                  <a:srgbClr val="3B3B3B"/>
                </a:solidFill>
                <a:effectLst/>
                <a:uFillTx/>
                <a:latin typeface="Menlo"/>
                <a:ea typeface="Arial"/>
              </a:rPr>
              <a:t>,</a:t>
            </a:r>
            <a:r>
              <a:rPr lang="en-US" sz="1200" b="1" u="none" strike="noStrike">
                <a:solidFill>
                  <a:srgbClr val="001080"/>
                </a:solidFill>
                <a:effectLst/>
                <a:uFillTx/>
                <a:latin typeface="Menlo"/>
                <a:ea typeface="Arial"/>
              </a:rPr>
              <a:t>attachment</a:t>
            </a:r>
            <a:r>
              <a:rPr lang="en-US" sz="1200" b="1" u="none" strike="noStrike">
                <a:solidFill>
                  <a:srgbClr val="3B3B3B"/>
                </a:solidFill>
                <a:effectLst/>
                <a:uFillTx/>
                <a:latin typeface="Menlo"/>
                <a:ea typeface="Arial"/>
              </a:rPr>
              <a:t>.stalled())</a:t>
            </a:r>
            <a:endParaRPr lang="en-US" sz="1200" b="0" u="none" strike="noStrike">
              <a:solidFill>
                <a:srgbClr val="000000"/>
              </a:solidFill>
              <a:effectLst/>
              <a:uFillTx/>
              <a:latin typeface="Arial"/>
            </a:endParaRPr>
          </a:p>
          <a:p>
            <a:pPr>
              <a:lnSpc>
                <a:spcPts val="1349"/>
              </a:lnSpc>
            </a:pP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while</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attachment</a:t>
            </a:r>
            <a:r>
              <a:rPr lang="en-US" sz="1200" b="1" u="none" strike="noStrike">
                <a:solidFill>
                  <a:srgbClr val="3B3B3B"/>
                </a:solidFill>
                <a:effectLst/>
                <a:uFillTx/>
                <a:latin typeface="Menlo"/>
                <a:ea typeface="Arial"/>
              </a:rPr>
              <a:t>.stalled() </a:t>
            </a:r>
            <a:r>
              <a:rPr lang="en-US" sz="1200" b="1" u="none" strike="noStrike">
                <a:solidFill>
                  <a:srgbClr val="000000"/>
                </a:solidFill>
                <a:effectLst/>
                <a:uFillTx/>
                <a:latin typeface="Menlo"/>
                <a:ea typeface="Arial"/>
              </a:rPr>
              <a:t>==</a:t>
            </a:r>
            <a:r>
              <a:rPr lang="en-US" sz="1200" b="1" u="none" strike="noStrike">
                <a:solidFill>
                  <a:srgbClr val="3B3B3B"/>
                </a:solidFill>
                <a:effectLst/>
                <a:uFillTx/>
                <a:latin typeface="Menlo"/>
                <a:ea typeface="Arial"/>
              </a:rPr>
              <a:t> </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 </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wait(</a:t>
            </a:r>
            <a:r>
              <a:rPr lang="en-US" sz="1200" b="1" u="none" strike="noStrike">
                <a:solidFill>
                  <a:srgbClr val="098658"/>
                </a:solidFill>
                <a:effectLst/>
                <a:uFillTx/>
                <a:latin typeface="Menlo"/>
                <a:ea typeface="Arial"/>
              </a:rPr>
              <a:t>1</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br>
              <a:rPr sz="1200"/>
            </a:b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if</a:t>
            </a:r>
            <a:r>
              <a:rPr lang="en-US" sz="1200" b="1" u="none" strike="noStrike">
                <a:solidFill>
                  <a:srgbClr val="3B3B3B"/>
                </a:solidFill>
                <a:effectLst/>
                <a:uFillTx/>
                <a:latin typeface="Menlo"/>
                <a:ea typeface="Arial"/>
              </a:rPr>
              <a:t> debugL1: </a:t>
            </a:r>
            <a:r>
              <a:rPr lang="en-US" sz="1200" b="1" u="none" strike="noStrike">
                <a:solidFill>
                  <a:srgbClr val="795E26"/>
                </a:solidFill>
                <a:effectLst/>
                <a:uFillTx/>
                <a:latin typeface="Menlo"/>
                <a:ea typeface="Arial"/>
              </a:rPr>
              <a:t>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"stalled"</a:t>
            </a:r>
            <a:r>
              <a:rPr lang="en-US" sz="1200" b="1" u="none" strike="noStrike">
                <a:solidFill>
                  <a:srgbClr val="3B3B3B"/>
                </a:solidFill>
                <a:effectLst/>
                <a:uFillTx/>
                <a:latin typeface="Menlo"/>
                <a:ea typeface="Arial"/>
              </a:rPr>
              <a:t>)</a:t>
            </a:r>
            <a:br>
              <a:rPr sz="1200"/>
            </a:b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return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attachment</a:t>
            </a:r>
            <a:r>
              <a:rPr lang="en-US" sz="1200" b="1" u="none" strike="noStrike">
                <a:solidFill>
                  <a:srgbClr val="3B3B3B"/>
                </a:solidFill>
                <a:effectLst/>
                <a:uFillTx/>
                <a:latin typeface="Menlo"/>
                <a:ea typeface="Arial"/>
              </a:rPr>
              <a:t>.stalled()</a:t>
            </a:r>
            <a:endParaRPr lang="en-US" sz="1200" b="0" u="none" strike="noStrike">
              <a:solidFill>
                <a:srgbClr val="000000"/>
              </a:solidFill>
              <a:effectLst/>
              <a:uFillTx/>
              <a:latin typeface="Arial"/>
            </a:endParaRPr>
          </a:p>
        </p:txBody>
      </p:sp>
      <p:sp>
        <p:nvSpPr>
          <p:cNvPr id="439" name="TextBox 11"/>
          <p:cNvSpPr/>
          <p:nvPr/>
        </p:nvSpPr>
        <p:spPr>
          <a:xfrm>
            <a:off x="6189120" y="920160"/>
            <a:ext cx="279396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Courier New"/>
                <a:ea typeface="Arial"/>
              </a:rPr>
              <a:t>-&gt; Bool  </a:t>
            </a:r>
            <a:r>
              <a:rPr lang="en-US" sz="1400" b="0" u="none" strike="noStrike">
                <a:solidFill>
                  <a:srgbClr val="000000"/>
                </a:solidFill>
                <a:effectLst/>
                <a:uFillTx/>
                <a:latin typeface="Arial"/>
                <a:ea typeface="Arial"/>
              </a:rPr>
              <a:t>- This is used to indicate that this function returns a Boolean value (True/False) . </a:t>
            </a:r>
            <a:endParaRPr lang="en-US" sz="1400" b="0" u="none" strike="noStrike">
              <a:solidFill>
                <a:srgbClr val="000000"/>
              </a:solidFill>
              <a:effectLst/>
              <a:uFillTx/>
              <a:latin typeface="Arial"/>
            </a:endParaRPr>
          </a:p>
        </p:txBody>
      </p:sp>
      <p:cxnSp>
        <p:nvCxnSpPr>
          <p:cNvPr id="440" name="Straight Arrow Connector 12"/>
          <p:cNvCxnSpPr>
            <a:stCxn id="439" idx="1"/>
          </p:cNvCxnSpPr>
          <p:nvPr/>
        </p:nvCxnSpPr>
        <p:spPr>
          <a:xfrm flipH="1">
            <a:off x="4152960" y="1289520"/>
            <a:ext cx="2036520" cy="171360"/>
          </a:xfrm>
          <a:prstGeom prst="straightConnector1">
            <a:avLst/>
          </a:prstGeom>
          <a:ln w="73025">
            <a:solidFill>
              <a:srgbClr val="000000"/>
            </a:solidFill>
            <a:round/>
            <a:tailEnd type="triangle" w="med" len="med"/>
          </a:ln>
        </p:spPr>
      </p:cxnSp>
      <p:sp>
        <p:nvSpPr>
          <p:cNvPr id="441" name="TextBox 16"/>
          <p:cNvSpPr/>
          <p:nvPr/>
        </p:nvSpPr>
        <p:spPr>
          <a:xfrm>
            <a:off x="5496840" y="1979280"/>
            <a:ext cx="348624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Run a loop checking to see if the attachment is stalled. Wait one millisecond between checks. You might need to adjust this for your robot.</a:t>
            </a:r>
            <a:endParaRPr lang="en-US" sz="1400" b="0" u="none" strike="noStrike">
              <a:solidFill>
                <a:srgbClr val="000000"/>
              </a:solidFill>
              <a:effectLst/>
              <a:uFillTx/>
              <a:latin typeface="Arial"/>
            </a:endParaRPr>
          </a:p>
        </p:txBody>
      </p:sp>
      <p:cxnSp>
        <p:nvCxnSpPr>
          <p:cNvPr id="442" name="Straight Arrow Connector 17"/>
          <p:cNvCxnSpPr>
            <a:stCxn id="441" idx="1"/>
          </p:cNvCxnSpPr>
          <p:nvPr/>
        </p:nvCxnSpPr>
        <p:spPr>
          <a:xfrm flipH="1" flipV="1">
            <a:off x="3898440" y="2143440"/>
            <a:ext cx="1598760" cy="313200"/>
          </a:xfrm>
          <a:prstGeom prst="straightConnector1">
            <a:avLst/>
          </a:prstGeom>
          <a:ln w="73025">
            <a:solidFill>
              <a:srgbClr val="000000"/>
            </a:solidFill>
            <a:round/>
            <a:tailEnd type="triangle" w="med" len="med"/>
          </a:ln>
        </p:spPr>
      </p:cxnSp>
      <p:sp>
        <p:nvSpPr>
          <p:cNvPr id="443" name="TextBox 20"/>
          <p:cNvSpPr/>
          <p:nvPr/>
        </p:nvSpPr>
        <p:spPr>
          <a:xfrm>
            <a:off x="6234120" y="3127680"/>
            <a:ext cx="272664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Returns a Boolean value, in reality this will only ever return a True because the function loops until it is stalled.</a:t>
            </a:r>
            <a:endParaRPr lang="en-US" sz="1400" b="0" u="none" strike="noStrike">
              <a:solidFill>
                <a:srgbClr val="000000"/>
              </a:solidFill>
              <a:effectLst/>
              <a:uFillTx/>
              <a:latin typeface="Arial"/>
            </a:endParaRPr>
          </a:p>
        </p:txBody>
      </p:sp>
      <p:cxnSp>
        <p:nvCxnSpPr>
          <p:cNvPr id="444" name="Straight Arrow Connector 21"/>
          <p:cNvCxnSpPr>
            <a:stCxn id="443" idx="1"/>
          </p:cNvCxnSpPr>
          <p:nvPr/>
        </p:nvCxnSpPr>
        <p:spPr>
          <a:xfrm flipH="1" flipV="1">
            <a:off x="2909520" y="3205080"/>
            <a:ext cx="3324960" cy="399960"/>
          </a:xfrm>
          <a:prstGeom prst="straightConnector1">
            <a:avLst/>
          </a:prstGeom>
          <a:ln w="73025">
            <a:solidFill>
              <a:srgbClr val="000000"/>
            </a:solidFill>
            <a:round/>
            <a:tailEnd type="triangle" w="med" len="med"/>
          </a:ln>
        </p:spPr>
      </p:cxnSp>
      <p:sp>
        <p:nvSpPr>
          <p:cNvPr id="445" name="TextBox 30"/>
          <p:cNvSpPr/>
          <p:nvPr/>
        </p:nvSpPr>
        <p:spPr>
          <a:xfrm>
            <a:off x="1221840" y="4477680"/>
            <a:ext cx="695196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This function is used to detect if an attachment is stalled (stuck) in position. It is called from the </a:t>
            </a:r>
            <a:r>
              <a:rPr lang="en-US" sz="1400" b="1" u="none" strike="noStrike">
                <a:solidFill>
                  <a:srgbClr val="000000"/>
                </a:solidFill>
                <a:effectLst/>
                <a:uFillTx/>
                <a:latin typeface="Courier New"/>
                <a:ea typeface="Arial"/>
              </a:rPr>
              <a:t>multitask() </a:t>
            </a:r>
            <a:r>
              <a:rPr lang="en-US" sz="1400" b="0" u="none" strike="noStrike">
                <a:solidFill>
                  <a:srgbClr val="000000"/>
                </a:solidFill>
                <a:effectLst/>
                <a:uFillTx/>
                <a:latin typeface="Arial"/>
                <a:ea typeface="Arial"/>
              </a:rPr>
              <a:t>function used in other functions above. </a:t>
            </a:r>
            <a:endParaRPr lang="en-US" sz="1400" b="0" u="none" strike="noStrike">
              <a:solidFill>
                <a:srgbClr val="000000"/>
              </a:solidFill>
              <a:effectLst/>
              <a:uFillTx/>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resetAttachment(attachmentStr)</a:t>
            </a:r>
            <a:endParaRPr lang="en-US" sz="2500" b="0" u="none" strike="noStrike">
              <a:solidFill>
                <a:srgbClr val="000000"/>
              </a:solidFill>
              <a:effectLst/>
              <a:uFillTx/>
              <a:latin typeface="Arial"/>
            </a:endParaRPr>
          </a:p>
        </p:txBody>
      </p:sp>
      <p:sp>
        <p:nvSpPr>
          <p:cNvPr id="447" name="PlaceHolder 2"/>
          <p:cNvSpPr>
            <a:spLocks noGrp="1"/>
          </p:cNvSpPr>
          <p:nvPr>
            <p:ph type="sldNum" idx="9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E8887BF-C239-4DCD-BAB5-0C2AD17666F6}" type="slidenum">
              <a:rPr lang="en" sz="1000" b="0" u="none" strike="noStrike">
                <a:solidFill>
                  <a:schemeClr val="dk2"/>
                </a:solidFill>
                <a:effectLst/>
                <a:uFillTx/>
                <a:latin typeface="Arial"/>
                <a:ea typeface="Arial"/>
              </a:rPr>
              <a:t>82</a:t>
            </a:fld>
            <a:endParaRPr lang="en-US" sz="1000" b="0" u="none" strike="noStrike">
              <a:solidFill>
                <a:srgbClr val="000000"/>
              </a:solidFill>
              <a:effectLst/>
              <a:uFillTx/>
              <a:latin typeface="Times New Roman"/>
            </a:endParaRPr>
          </a:p>
        </p:txBody>
      </p:sp>
      <p:sp>
        <p:nvSpPr>
          <p:cNvPr id="448" name="TextBox 7"/>
          <p:cNvSpPr/>
          <p:nvPr/>
        </p:nvSpPr>
        <p:spPr>
          <a:xfrm>
            <a:off x="153360" y="790560"/>
            <a:ext cx="8679240" cy="386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100" b="1" u="none" strike="noStrike">
                <a:solidFill>
                  <a:srgbClr val="0000FF"/>
                </a:solidFill>
                <a:effectLst/>
                <a:uFillTx/>
                <a:latin typeface="Menlo"/>
                <a:ea typeface="Arial"/>
              </a:rPr>
              <a:t>async</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def</a:t>
            </a:r>
            <a:r>
              <a:rPr lang="en-US" sz="1100" b="1" u="none" strike="noStrike">
                <a:solidFill>
                  <a:srgbClr val="3B3B3B"/>
                </a:solidFill>
                <a:effectLst/>
                <a:uFillTx/>
                <a:latin typeface="Menlo"/>
                <a:ea typeface="Arial"/>
              </a:rPr>
              <a:t> </a:t>
            </a:r>
            <a:r>
              <a:rPr lang="en-US" sz="1100" b="1" u="none" strike="noStrike">
                <a:solidFill>
                  <a:srgbClr val="795E26"/>
                </a:solidFill>
                <a:effectLst/>
                <a:uFillTx/>
                <a:latin typeface="Menlo"/>
                <a:ea typeface="Arial"/>
              </a:rPr>
              <a:t>resetAttachment</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attachmentsPresent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False</a:t>
            </a:r>
            <a:r>
              <a:rPr lang="en-US" sz="1100" b="1" u="none" strike="noStrike">
                <a:solidFill>
                  <a:srgbClr val="3B3B3B"/>
                </a:solidFill>
                <a:effectLst/>
                <a:uFillTx/>
                <a:latin typeface="Menlo"/>
                <a:ea typeface="Arial"/>
              </a:rPr>
              <a:t>: </a:t>
            </a:r>
            <a:r>
              <a:rPr lang="en-US" sz="1100" b="1" u="none" strike="noStrike">
                <a:solidFill>
                  <a:srgbClr val="AF00DB"/>
                </a:solidFill>
                <a:effectLst/>
                <a:uFillTx/>
                <a:latin typeface="Menlo"/>
                <a:ea typeface="Arial"/>
              </a:rPr>
              <a:t>return</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"left"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001080"/>
                </a:solidFill>
                <a:effectLst/>
                <a:uFillTx/>
                <a:latin typeface="Menlo"/>
                <a:ea typeface="Arial"/>
              </a:rPr>
              <a:t>      attachment</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leftAttachment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elif</a:t>
            </a:r>
            <a:r>
              <a:rPr lang="en-US" sz="1100" b="1" u="none" strike="noStrike">
                <a:solidFill>
                  <a:srgbClr val="3B3B3B"/>
                </a:solidFill>
                <a:effectLst/>
                <a:uFillTx/>
                <a:latin typeface="Menlo"/>
                <a:ea typeface="Arial"/>
              </a:rPr>
              <a:t> </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 </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 </a:t>
            </a:r>
            <a:r>
              <a:rPr lang="en-US" sz="1100" b="1" u="none" strike="noStrike">
                <a:solidFill>
                  <a:srgbClr val="A31515"/>
                </a:solidFill>
                <a:effectLst/>
                <a:uFillTx/>
                <a:latin typeface="Menlo"/>
                <a:ea typeface="Arial"/>
              </a:rPr>
              <a:t>"right"</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001080"/>
                </a:solidFill>
                <a:effectLst/>
                <a:uFillTx/>
                <a:latin typeface="Menlo"/>
                <a:ea typeface="Arial"/>
              </a:rPr>
              <a:t>      attachment</a:t>
            </a:r>
            <a:r>
              <a:rPr lang="en-US" sz="1100" b="1" u="none" strike="noStrike">
                <a:solidFill>
                  <a:srgbClr val="000000"/>
                </a:solidFill>
                <a:effectLst/>
                <a:uFillTx/>
                <a:latin typeface="Menlo"/>
                <a:ea typeface="Arial"/>
              </a:rPr>
              <a:t>=</a:t>
            </a:r>
            <a:r>
              <a:rPr lang="en-US" sz="1100" b="1" u="none" strike="noStrike">
                <a:solidFill>
                  <a:srgbClr val="3B3B3B"/>
                </a:solidFill>
                <a:effectLst/>
                <a:uFillTx/>
                <a:latin typeface="Menlo"/>
                <a:ea typeface="Arial"/>
              </a:rPr>
              <a:t>rightAttachment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else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795E26"/>
                </a:solidFill>
                <a:effectLst/>
                <a:uFillTx/>
                <a:latin typeface="Menlo"/>
                <a:ea typeface="Arial"/>
              </a:rPr>
              <a:t>       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"resetAttachment() - illegal attachment name of "</a:t>
            </a:r>
            <a:r>
              <a:rPr lang="en-US" sz="1100" b="1" u="none" strike="noStrike">
                <a:solidFill>
                  <a:srgbClr val="3B3B3B"/>
                </a:solidFill>
                <a:effectLst/>
                <a:uFillTx/>
                <a:latin typeface="Menlo"/>
                <a:ea typeface="Arial"/>
              </a:rPr>
              <a:t>,</a:t>
            </a:r>
            <a:r>
              <a:rPr lang="en-US" sz="1100" b="1" u="none" strike="noStrike">
                <a:solidFill>
                  <a:srgbClr val="001080"/>
                </a:solidFill>
                <a:effectLst/>
                <a:uFillTx/>
                <a:latin typeface="Menlo"/>
                <a:ea typeface="Arial"/>
              </a:rPr>
              <a:t>attachmentStr</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return</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False</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   </a:t>
            </a:r>
            <a:r>
              <a:rPr lang="en-US" sz="1000" b="1" u="none" strike="noStrike">
                <a:solidFill>
                  <a:srgbClr val="AF00DB"/>
                </a:solidFill>
                <a:effectLst/>
                <a:uFillTx/>
                <a:latin typeface="Menlo"/>
                <a:ea typeface="Arial"/>
              </a:rPr>
              <a:t>if</a:t>
            </a:r>
            <a:r>
              <a:rPr lang="en-US" sz="1000" b="1" u="none" strike="noStrike">
                <a:solidFill>
                  <a:srgbClr val="3B3B3B"/>
                </a:solidFill>
                <a:effectLst/>
                <a:uFillTx/>
                <a:latin typeface="Menlo"/>
                <a:ea typeface="Arial"/>
              </a:rPr>
              <a:t> debugL2: </a:t>
            </a:r>
            <a:r>
              <a:rPr lang="en-US" sz="1000" b="1" u="none" strike="noStrike">
                <a:solidFill>
                  <a:srgbClr val="795E26"/>
                </a:solidFill>
                <a:effectLst/>
                <a:uFillTx/>
                <a:latin typeface="Menlo"/>
                <a:ea typeface="Arial"/>
              </a:rPr>
              <a:t>print</a:t>
            </a:r>
            <a:r>
              <a:rPr lang="en-US" sz="1000" b="1" u="none" strike="noStrike">
                <a:solidFill>
                  <a:srgbClr val="3B3B3B"/>
                </a:solidFill>
                <a:effectLst/>
                <a:uFillTx/>
                <a:latin typeface="Menlo"/>
                <a:ea typeface="Arial"/>
              </a:rPr>
              <a:t>(</a:t>
            </a:r>
            <a:r>
              <a:rPr lang="en-US" sz="1000" b="1" u="none" strike="noStrike">
                <a:solidFill>
                  <a:srgbClr val="A31515"/>
                </a:solidFill>
                <a:effectLst/>
                <a:uFillTx/>
                <a:latin typeface="Menlo"/>
                <a:ea typeface="Arial"/>
              </a:rPr>
              <a:t>"DEBUG-L2 - Start resetAttachment() attachment= "</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attachmentStr</a:t>
            </a:r>
            <a:r>
              <a:rPr lang="en-US" sz="1000" b="1" u="none" strike="noStrike">
                <a:solidFill>
                  <a:srgbClr val="3B3B3B"/>
                </a:solidFill>
                <a:effectLst/>
                <a:uFillTx/>
                <a:latin typeface="Menlo"/>
                <a:ea typeface="Arial"/>
              </a:rPr>
              <a:t>, </a:t>
            </a:r>
            <a:endParaRPr lang="en-US" sz="1000" b="0" u="none" strike="noStrike">
              <a:solidFill>
                <a:srgbClr val="000000"/>
              </a:solidFill>
              <a:effectLst/>
              <a:uFillTx/>
              <a:latin typeface="Arial"/>
            </a:endParaRPr>
          </a:p>
          <a:p>
            <a:pPr>
              <a:lnSpc>
                <a:spcPts val="1349"/>
              </a:lnSpc>
            </a:pPr>
            <a:r>
              <a:rPr lang="en-US" sz="1000" b="1" u="none" strike="noStrike">
                <a:solidFill>
                  <a:srgbClr val="3B3B3B"/>
                </a:solidFill>
                <a:effectLst/>
                <a:uFillTx/>
                <a:latin typeface="Menlo"/>
                <a:ea typeface="Arial"/>
              </a:rPr>
              <a:t>                       </a:t>
            </a:r>
            <a:r>
              <a:rPr lang="en-US" sz="1000" b="1" u="none" strike="noStrike">
                <a:solidFill>
                  <a:srgbClr val="A31515"/>
                </a:solidFill>
                <a:effectLst/>
                <a:uFillTx/>
                <a:latin typeface="Menlo"/>
                <a:ea typeface="Arial"/>
              </a:rPr>
              <a:t>" previous angle="</a:t>
            </a:r>
            <a:r>
              <a:rPr lang="en-US" sz="1000" b="1" u="none" strike="noStrike">
                <a:solidFill>
                  <a:srgbClr val="3B3B3B"/>
                </a:solidFill>
                <a:effectLst/>
                <a:uFillTx/>
                <a:latin typeface="Menlo"/>
                <a:ea typeface="Arial"/>
              </a:rPr>
              <a:t>,</a:t>
            </a:r>
            <a:r>
              <a:rPr lang="en-US" sz="1000" b="1" u="none" strike="noStrike">
                <a:solidFill>
                  <a:srgbClr val="001080"/>
                </a:solidFill>
                <a:effectLst/>
                <a:uFillTx/>
                <a:latin typeface="Menlo"/>
                <a:ea typeface="Arial"/>
              </a:rPr>
              <a:t>attachment</a:t>
            </a:r>
            <a:r>
              <a:rPr lang="en-US" sz="1000" b="1" u="none" strike="noStrike">
                <a:solidFill>
                  <a:srgbClr val="3B3B3B"/>
                </a:solidFill>
                <a:effectLst/>
                <a:uFillTx/>
                <a:latin typeface="Menlo"/>
                <a:ea typeface="Arial"/>
              </a:rPr>
              <a:t>.angle())</a:t>
            </a:r>
            <a:endParaRPr lang="en-US" sz="1000" b="0" u="none" strike="noStrike">
              <a:solidFill>
                <a:srgbClr val="000000"/>
              </a:solidFill>
              <a:effectLst/>
              <a:uFillTx/>
              <a:latin typeface="Arial"/>
            </a:endParaRPr>
          </a:p>
          <a:p>
            <a:pPr>
              <a:lnSpc>
                <a:spcPts val="1349"/>
              </a:lnSpc>
            </a:pPr>
            <a:endParaRPr lang="en-US" sz="8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31515"/>
                </a:solidFill>
                <a:effectLst/>
                <a:uFillTx/>
                <a:latin typeface="Menlo"/>
                <a:ea typeface="Arial"/>
              </a:rPr>
              <a:t>    </a:t>
            </a:r>
            <a:r>
              <a:rPr lang="en-US" sz="1100" b="1" u="none" strike="noStrike">
                <a:solidFill>
                  <a:srgbClr val="001080"/>
                </a:solidFill>
                <a:effectLst/>
                <a:uFillTx/>
                <a:latin typeface="Menlo"/>
                <a:ea typeface="Arial"/>
              </a:rPr>
              <a:t>attachment</a:t>
            </a:r>
            <a:r>
              <a:rPr lang="en-US" sz="1100" b="1" u="none" strike="noStrike">
                <a:solidFill>
                  <a:srgbClr val="3B3B3B"/>
                </a:solidFill>
                <a:effectLst/>
                <a:uFillTx/>
                <a:latin typeface="Menlo"/>
                <a:ea typeface="Arial"/>
              </a:rPr>
              <a:t>.reset_angle(</a:t>
            </a:r>
            <a:r>
              <a:rPr lang="en-US" sz="1100" b="1" u="none" strike="noStrike">
                <a:solidFill>
                  <a:srgbClr val="098658"/>
                </a:solidFill>
                <a:effectLst/>
                <a:uFillTx/>
                <a:latin typeface="Menlo"/>
                <a:ea typeface="Arial"/>
              </a:rPr>
              <a:t>0</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   </a:t>
            </a:r>
            <a:r>
              <a:rPr lang="en-US" sz="1050" b="1" u="none" strike="noStrike">
                <a:solidFill>
                  <a:srgbClr val="AF00DB"/>
                </a:solidFill>
                <a:effectLst/>
                <a:uFillTx/>
                <a:latin typeface="Menlo"/>
                <a:ea typeface="Arial"/>
              </a:rPr>
              <a:t>if</a:t>
            </a:r>
            <a:r>
              <a:rPr lang="en-US" sz="1050" b="1" u="none" strike="noStrike">
                <a:solidFill>
                  <a:srgbClr val="3B3B3B"/>
                </a:solidFill>
                <a:effectLst/>
                <a:uFillTx/>
                <a:latin typeface="Menlo"/>
                <a:ea typeface="Arial"/>
              </a:rPr>
              <a:t> debugL2: </a:t>
            </a:r>
            <a:r>
              <a:rPr lang="en-US" sz="1050" b="1" u="none" strike="noStrike">
                <a:solidFill>
                  <a:srgbClr val="795E26"/>
                </a:solidFill>
                <a:effectLst/>
                <a:uFillTx/>
                <a:latin typeface="Menlo"/>
                <a:ea typeface="Arial"/>
              </a:rPr>
              <a:t>print</a:t>
            </a:r>
            <a:r>
              <a:rPr lang="en-US" sz="1050" b="1" u="none" strike="noStrike">
                <a:solidFill>
                  <a:srgbClr val="3B3B3B"/>
                </a:solidFill>
                <a:effectLst/>
                <a:uFillTx/>
                <a:latin typeface="Menlo"/>
                <a:ea typeface="Arial"/>
              </a:rPr>
              <a:t>(</a:t>
            </a:r>
            <a:r>
              <a:rPr lang="en-US" sz="1050" b="1" u="none" strike="noStrike">
                <a:solidFill>
                  <a:srgbClr val="A31515"/>
                </a:solidFill>
                <a:effectLst/>
                <a:uFillTx/>
                <a:latin typeface="Menlo"/>
                <a:ea typeface="Arial"/>
              </a:rPr>
              <a:t>"DEBUG-L2 - End resetAttachment() attachment= "</a:t>
            </a:r>
            <a:r>
              <a:rPr lang="en-US" sz="1050" b="1" u="none" strike="noStrike">
                <a:solidFill>
                  <a:srgbClr val="3B3B3B"/>
                </a:solidFill>
                <a:effectLst/>
                <a:uFillTx/>
                <a:latin typeface="Menlo"/>
                <a:ea typeface="Arial"/>
              </a:rPr>
              <a:t>, </a:t>
            </a:r>
            <a:r>
              <a:rPr lang="en-US" sz="1050" b="1" u="none" strike="noStrike">
                <a:solidFill>
                  <a:srgbClr val="001080"/>
                </a:solidFill>
                <a:effectLst/>
                <a:uFillTx/>
                <a:latin typeface="Menlo"/>
                <a:ea typeface="Arial"/>
              </a:rPr>
              <a:t>attachmentStr</a:t>
            </a:r>
            <a:r>
              <a:rPr lang="en-US" sz="1050" b="1" u="none" strike="noStrike">
                <a:solidFill>
                  <a:srgbClr val="3B3B3B"/>
                </a:solidFill>
                <a:effectLst/>
                <a:uFillTx/>
                <a:latin typeface="Menlo"/>
                <a:ea typeface="Arial"/>
              </a:rPr>
              <a:t>,</a:t>
            </a:r>
            <a:endParaRPr lang="en-US" sz="1050" b="0" u="none" strike="noStrike">
              <a:solidFill>
                <a:srgbClr val="000000"/>
              </a:solidFill>
              <a:effectLst/>
              <a:uFillTx/>
              <a:latin typeface="Arial"/>
            </a:endParaRPr>
          </a:p>
          <a:p>
            <a:pPr>
              <a:lnSpc>
                <a:spcPts val="1349"/>
              </a:lnSpc>
            </a:pPr>
            <a:r>
              <a:rPr lang="en-US" sz="1050" b="1" u="none" strike="noStrike">
                <a:solidFill>
                  <a:srgbClr val="3B3B3B"/>
                </a:solidFill>
                <a:effectLst/>
                <a:uFillTx/>
                <a:latin typeface="Menlo"/>
                <a:ea typeface="Arial"/>
              </a:rPr>
              <a:t>                      </a:t>
            </a:r>
            <a:r>
              <a:rPr lang="en-US" sz="1050" b="1" u="none" strike="noStrike">
                <a:solidFill>
                  <a:srgbClr val="A31515"/>
                </a:solidFill>
                <a:effectLst/>
                <a:uFillTx/>
                <a:latin typeface="Menlo"/>
                <a:ea typeface="Arial"/>
              </a:rPr>
              <a:t>" new angle="</a:t>
            </a:r>
            <a:r>
              <a:rPr lang="en-US" sz="1050" b="1" u="none" strike="noStrike">
                <a:solidFill>
                  <a:srgbClr val="3B3B3B"/>
                </a:solidFill>
                <a:effectLst/>
                <a:uFillTx/>
                <a:latin typeface="Menlo"/>
                <a:ea typeface="Arial"/>
              </a:rPr>
              <a:t>,</a:t>
            </a:r>
            <a:r>
              <a:rPr lang="en-US" sz="1050" b="1" u="none" strike="noStrike">
                <a:solidFill>
                  <a:srgbClr val="001080"/>
                </a:solidFill>
                <a:effectLst/>
                <a:uFillTx/>
                <a:latin typeface="Menlo"/>
                <a:ea typeface="Arial"/>
              </a:rPr>
              <a:t>attachment</a:t>
            </a:r>
            <a:r>
              <a:rPr lang="en-US" sz="1050" b="1" u="none" strike="noStrike">
                <a:solidFill>
                  <a:srgbClr val="3B3B3B"/>
                </a:solidFill>
                <a:effectLst/>
                <a:uFillTx/>
                <a:latin typeface="Menlo"/>
                <a:ea typeface="Arial"/>
              </a:rPr>
              <a:t>.angle())</a:t>
            </a:r>
            <a:endParaRPr lang="en-US" sz="105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p:txBody>
      </p:sp>
      <p:sp>
        <p:nvSpPr>
          <p:cNvPr id="449" name="TextBox 10"/>
          <p:cNvSpPr/>
          <p:nvPr/>
        </p:nvSpPr>
        <p:spPr>
          <a:xfrm>
            <a:off x="6213600" y="790560"/>
            <a:ext cx="261252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Checks to see if a valid attachment name was provided.</a:t>
            </a:r>
            <a:endParaRPr lang="en-US" sz="1400" b="0" u="none" strike="noStrike">
              <a:solidFill>
                <a:srgbClr val="000000"/>
              </a:solidFill>
              <a:effectLst/>
              <a:uFillTx/>
              <a:latin typeface="Arial"/>
            </a:endParaRPr>
          </a:p>
        </p:txBody>
      </p:sp>
      <p:cxnSp>
        <p:nvCxnSpPr>
          <p:cNvPr id="450" name="Straight Arrow Connector 11"/>
          <p:cNvCxnSpPr>
            <a:stCxn id="449" idx="1"/>
          </p:cNvCxnSpPr>
          <p:nvPr/>
        </p:nvCxnSpPr>
        <p:spPr>
          <a:xfrm flipH="1">
            <a:off x="3402720" y="1159920"/>
            <a:ext cx="2811240" cy="265680"/>
          </a:xfrm>
          <a:prstGeom prst="straightConnector1">
            <a:avLst/>
          </a:prstGeom>
          <a:ln w="73025">
            <a:solidFill>
              <a:srgbClr val="000000"/>
            </a:solidFill>
            <a:round/>
            <a:tailEnd type="triangle" w="med" len="med"/>
          </a:ln>
        </p:spPr>
      </p:cxnSp>
      <p:sp>
        <p:nvSpPr>
          <p:cNvPr id="451" name="TextBox 12"/>
          <p:cNvSpPr/>
          <p:nvPr/>
        </p:nvSpPr>
        <p:spPr>
          <a:xfrm>
            <a:off x="6158520" y="3279240"/>
            <a:ext cx="261252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Resets the current angle of the attachment</a:t>
            </a:r>
            <a:endParaRPr lang="en-US" sz="1400" b="0" u="none" strike="noStrike">
              <a:solidFill>
                <a:srgbClr val="000000"/>
              </a:solidFill>
              <a:effectLst/>
              <a:uFillTx/>
              <a:latin typeface="Arial"/>
            </a:endParaRPr>
          </a:p>
        </p:txBody>
      </p:sp>
      <p:cxnSp>
        <p:nvCxnSpPr>
          <p:cNvPr id="452" name="Straight Arrow Connector 13"/>
          <p:cNvCxnSpPr>
            <a:stCxn id="451" idx="1"/>
          </p:cNvCxnSpPr>
          <p:nvPr/>
        </p:nvCxnSpPr>
        <p:spPr>
          <a:xfrm flipH="1">
            <a:off x="2911680" y="3540600"/>
            <a:ext cx="3247200" cy="360"/>
          </a:xfrm>
          <a:prstGeom prst="straightConnector1">
            <a:avLst/>
          </a:prstGeom>
          <a:ln w="73025">
            <a:solidFill>
              <a:srgbClr val="000000"/>
            </a:solidFill>
            <a:round/>
            <a:tailEnd type="triangle" w="med" len="med"/>
          </a:ln>
        </p:spPr>
      </p:cxnSp>
      <p:sp>
        <p:nvSpPr>
          <p:cNvPr id="453" name="TextBox 17"/>
          <p:cNvSpPr/>
          <p:nvPr/>
        </p:nvSpPr>
        <p:spPr>
          <a:xfrm>
            <a:off x="6213600" y="1550520"/>
            <a:ext cx="261252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Example of a debugging statement</a:t>
            </a:r>
            <a:endParaRPr lang="en-US" sz="1400" b="0" u="none" strike="noStrike">
              <a:solidFill>
                <a:srgbClr val="000000"/>
              </a:solidFill>
              <a:effectLst/>
              <a:uFillTx/>
              <a:latin typeface="Arial"/>
            </a:endParaRPr>
          </a:p>
        </p:txBody>
      </p:sp>
      <p:cxnSp>
        <p:nvCxnSpPr>
          <p:cNvPr id="454" name="Straight Arrow Connector 18"/>
          <p:cNvCxnSpPr>
            <a:stCxn id="453" idx="2"/>
          </p:cNvCxnSpPr>
          <p:nvPr/>
        </p:nvCxnSpPr>
        <p:spPr>
          <a:xfrm flipH="1">
            <a:off x="6858000" y="2073240"/>
            <a:ext cx="662400" cy="728280"/>
          </a:xfrm>
          <a:prstGeom prst="straightConnector1">
            <a:avLst/>
          </a:prstGeom>
          <a:ln w="73025">
            <a:solidFill>
              <a:srgbClr val="000000"/>
            </a:solidFill>
            <a:round/>
            <a:tailEnd type="triangle" w="med" len="med"/>
          </a:ln>
        </p:spPr>
      </p:cxnSp>
      <p:sp>
        <p:nvSpPr>
          <p:cNvPr id="455" name="TextBox 21"/>
          <p:cNvSpPr/>
          <p:nvPr/>
        </p:nvSpPr>
        <p:spPr>
          <a:xfrm>
            <a:off x="1372680" y="4318200"/>
            <a:ext cx="699948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This function is used to reset the current angle of an attachment to a zero position. Primarily used in functions that need to make sure the angle provided is from a zero position not relative to previous angle.</a:t>
            </a:r>
            <a:endParaRPr lang="en-US" sz="1400" b="0" u="none" strike="noStrike">
              <a:solidFill>
                <a:srgbClr val="000000"/>
              </a:solidFill>
              <a:effectLst/>
              <a:uFillTx/>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initializeRobotForTask()</a:t>
            </a:r>
            <a:endParaRPr lang="en-US" sz="2500" b="0" u="none" strike="noStrike">
              <a:solidFill>
                <a:srgbClr val="000000"/>
              </a:solidFill>
              <a:effectLst/>
              <a:uFillTx/>
              <a:latin typeface="Arial"/>
            </a:endParaRPr>
          </a:p>
        </p:txBody>
      </p:sp>
      <p:sp>
        <p:nvSpPr>
          <p:cNvPr id="457" name="PlaceHolder 2"/>
          <p:cNvSpPr>
            <a:spLocks noGrp="1"/>
          </p:cNvSpPr>
          <p:nvPr>
            <p:ph type="sldNum" idx="9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77D6ED6-00E9-47D2-83FC-10236612F793}" type="slidenum">
              <a:rPr lang="en" sz="1000" b="0" u="none" strike="noStrike">
                <a:solidFill>
                  <a:schemeClr val="dk2"/>
                </a:solidFill>
                <a:effectLst/>
                <a:uFillTx/>
                <a:latin typeface="Arial"/>
                <a:ea typeface="Arial"/>
              </a:rPr>
              <a:t>83</a:t>
            </a:fld>
            <a:endParaRPr lang="en-US" sz="1000" b="0" u="none" strike="noStrike">
              <a:solidFill>
                <a:srgbClr val="000000"/>
              </a:solidFill>
              <a:effectLst/>
              <a:uFillTx/>
              <a:latin typeface="Times New Roman"/>
            </a:endParaRPr>
          </a:p>
        </p:txBody>
      </p:sp>
      <p:sp>
        <p:nvSpPr>
          <p:cNvPr id="458" name="TextBox 9"/>
          <p:cNvSpPr/>
          <p:nvPr/>
        </p:nvSpPr>
        <p:spPr>
          <a:xfrm>
            <a:off x="69480" y="682920"/>
            <a:ext cx="5946120" cy="353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FF"/>
                </a:solidFill>
                <a:effectLst/>
                <a:uFillTx/>
                <a:latin typeface="Menlo"/>
                <a:ea typeface="Arial"/>
              </a:rPr>
              <a:t>async</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def</a:t>
            </a:r>
            <a:r>
              <a:rPr lang="en-US" sz="1400" b="1" u="none" strike="noStrike">
                <a:solidFill>
                  <a:srgbClr val="3B3B3B"/>
                </a:solidFill>
                <a:effectLst/>
                <a:uFillTx/>
                <a:latin typeface="Menlo"/>
                <a:ea typeface="Arial"/>
              </a:rPr>
              <a:t> </a:t>
            </a:r>
            <a:r>
              <a:rPr lang="en-US" sz="1400" b="1" u="none" strike="noStrike">
                <a:solidFill>
                  <a:srgbClr val="795E26"/>
                </a:solidFill>
                <a:effectLst/>
                <a:uFillTx/>
                <a:latin typeface="Menlo"/>
                <a:ea typeface="Arial"/>
              </a:rPr>
              <a:t>initializeRobotForTask</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if</a:t>
            </a:r>
            <a:r>
              <a:rPr lang="en-US" sz="1400" b="1" u="none" strike="noStrike">
                <a:solidFill>
                  <a:srgbClr val="3B3B3B"/>
                </a:solidFill>
                <a:effectLst/>
                <a:uFillTx/>
                <a:latin typeface="Menlo"/>
                <a:ea typeface="Arial"/>
              </a:rPr>
              <a:t> debugL1: </a:t>
            </a: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 Initializing Robot for Task"</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while</a:t>
            </a:r>
            <a:r>
              <a:rPr lang="en-US" sz="1400" b="1" u="none" strike="noStrike">
                <a:solidFill>
                  <a:srgbClr val="3B3B3B"/>
                </a:solidFill>
                <a:effectLst/>
                <a:uFillTx/>
                <a:latin typeface="Menlo"/>
                <a:ea typeface="Arial"/>
              </a:rPr>
              <a:t> hub.imu.ready()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True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await</a:t>
            </a:r>
            <a:r>
              <a:rPr lang="en-US" sz="1400" b="1" u="none" strike="noStrike">
                <a:solidFill>
                  <a:srgbClr val="3B3B3B"/>
                </a:solidFill>
                <a:effectLst/>
                <a:uFillTx/>
                <a:latin typeface="Menlo"/>
                <a:ea typeface="Arial"/>
              </a:rPr>
              <a:t> wait(</a:t>
            </a:r>
            <a:r>
              <a:rPr lang="en-US" sz="1400" b="1" u="none" strike="noStrike">
                <a:solidFill>
                  <a:srgbClr val="098658"/>
                </a:solidFill>
                <a:effectLst/>
                <a:uFillTx/>
                <a:latin typeface="Menlo"/>
                <a:ea typeface="Arial"/>
              </a:rPr>
              <a:t>250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if</a:t>
            </a:r>
            <a:r>
              <a:rPr lang="en-US" sz="1400" b="1" u="none" strike="noStrike">
                <a:solidFill>
                  <a:srgbClr val="3B3B3B"/>
                </a:solidFill>
                <a:effectLst/>
                <a:uFillTx/>
                <a:latin typeface="Menlo"/>
                <a:ea typeface="Arial"/>
              </a:rPr>
              <a:t> attachmentsPresent: </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await</a:t>
            </a:r>
            <a:r>
              <a:rPr lang="en-US" sz="1400" b="1" u="none" strike="noStrike">
                <a:solidFill>
                  <a:srgbClr val="3B3B3B"/>
                </a:solidFill>
                <a:effectLst/>
                <a:uFillTx/>
                <a:latin typeface="Menlo"/>
                <a:ea typeface="Arial"/>
              </a:rPr>
              <a:t> resetAttachment(</a:t>
            </a:r>
            <a:r>
              <a:rPr lang="en-US" sz="1400" b="1" u="none" strike="noStrike">
                <a:solidFill>
                  <a:srgbClr val="A31515"/>
                </a:solidFill>
                <a:effectLst/>
                <a:uFillTx/>
                <a:latin typeface="Menlo"/>
                <a:ea typeface="Arial"/>
              </a:rPr>
              <a:t>"left"</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await</a:t>
            </a:r>
            <a:r>
              <a:rPr lang="en-US" sz="1400" b="1" u="none" strike="noStrike">
                <a:solidFill>
                  <a:srgbClr val="3B3B3B"/>
                </a:solidFill>
                <a:effectLst/>
                <a:uFillTx/>
                <a:latin typeface="Menlo"/>
                <a:ea typeface="Arial"/>
              </a:rPr>
              <a:t> resetAttachment(</a:t>
            </a:r>
            <a:r>
              <a:rPr lang="en-US" sz="1400" b="1" u="none" strike="noStrike">
                <a:solidFill>
                  <a:srgbClr val="A31515"/>
                </a:solidFill>
                <a:effectLst/>
                <a:uFillTx/>
                <a:latin typeface="Menlo"/>
                <a:ea typeface="Arial"/>
              </a:rPr>
              <a:t>"right"</a:t>
            </a:r>
            <a:r>
              <a:rPr lang="en-US" sz="1400" b="1" u="none" strike="noStrike">
                <a:solidFill>
                  <a:srgbClr val="3B3B3B"/>
                </a:solidFill>
                <a:effectLst/>
                <a:uFillTx/>
                <a:latin typeface="Menlo"/>
                <a:ea typeface="Arial"/>
              </a:rPr>
              <a:t>)</a:t>
            </a:r>
            <a:br>
              <a:rPr sz="1400"/>
            </a:br>
            <a:r>
              <a:rPr lang="en-US" sz="1400" b="1" u="none" strike="noStrike">
                <a:solidFill>
                  <a:srgbClr val="3B3B3B"/>
                </a:solidFill>
                <a:effectLst/>
                <a:uFillTx/>
                <a:latin typeface="Menlo"/>
                <a:ea typeface="Arial"/>
              </a:rPr>
              <a:t> </a:t>
            </a:r>
            <a:endParaRPr lang="en-US" sz="1400" b="0" u="none" strike="noStrike">
              <a:solidFill>
                <a:srgbClr val="000000"/>
              </a:solidFill>
              <a:effectLst/>
              <a:uFillTx/>
              <a:latin typeface="Arial"/>
            </a:endParaRPr>
          </a:p>
          <a:p>
            <a:pPr>
              <a:lnSpc>
                <a:spcPct val="100000"/>
              </a:lnSpc>
            </a:pPr>
            <a:r>
              <a:rPr lang="en-US" sz="1400" b="1" u="none" strike="noStrike">
                <a:solidFill>
                  <a:srgbClr val="3B3B3B"/>
                </a:solidFill>
                <a:effectLst/>
                <a:uFillTx/>
                <a:latin typeface="Menlo"/>
                <a:ea typeface="Arial"/>
              </a:rPr>
              <a:t>   driveBase.use_gyro(</a:t>
            </a:r>
            <a:r>
              <a:rPr lang="en-US" sz="1400" b="1" u="none" strike="noStrike">
                <a:solidFill>
                  <a:srgbClr val="0000FF"/>
                </a:solidFill>
                <a:effectLst/>
                <a:uFillTx/>
                <a:latin typeface="Menlo"/>
                <a:ea typeface="Arial"/>
              </a:rPr>
              <a:t>False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3B3B3B"/>
                </a:solidFill>
                <a:effectLst/>
                <a:uFillTx/>
                <a:latin typeface="Menlo"/>
                <a:ea typeface="Arial"/>
              </a:rPr>
              <a:t>   driveBase.reset(</a:t>
            </a:r>
            <a:r>
              <a:rPr lang="en-US" sz="1400" b="1" u="none" strike="noStrike">
                <a:solidFill>
                  <a:srgbClr val="001080"/>
                </a:solidFill>
                <a:effectLst/>
                <a:uFillTx/>
                <a:latin typeface="Menlo"/>
                <a:ea typeface="Arial"/>
              </a:rPr>
              <a:t>angle</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distance</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3B3B3B"/>
                </a:solidFill>
                <a:effectLst/>
                <a:uFillTx/>
                <a:latin typeface="Menlo"/>
                <a:ea typeface="Arial"/>
              </a:rPr>
              <a:t>   hub.imu.reset_heading(</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3B3B3B"/>
                </a:solidFill>
                <a:effectLst/>
                <a:uFillTx/>
                <a:latin typeface="Menlo"/>
                <a:ea typeface="Arial"/>
              </a:rPr>
              <a:t>   driveBase.use_gyro(</a:t>
            </a:r>
            <a:r>
              <a:rPr lang="en-US" sz="1400" b="1" u="none" strike="noStrike">
                <a:solidFill>
                  <a:srgbClr val="0000FF"/>
                </a:solidFill>
                <a:effectLst/>
                <a:uFillTx/>
                <a:latin typeface="Menlo"/>
                <a:ea typeface="Arial"/>
              </a:rPr>
              <a:t>True)</a:t>
            </a:r>
            <a:br>
              <a:rPr sz="1400"/>
            </a:b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if</a:t>
            </a:r>
            <a:r>
              <a:rPr lang="en-US" sz="1400" b="1" u="none" strike="noStrike">
                <a:solidFill>
                  <a:srgbClr val="3B3B3B"/>
                </a:solidFill>
                <a:effectLst/>
                <a:uFillTx/>
                <a:latin typeface="Menlo"/>
                <a:ea typeface="Arial"/>
              </a:rPr>
              <a:t> debugL1: </a:t>
            </a: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 Completed Robot Initialization"</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p:txBody>
      </p:sp>
      <p:sp>
        <p:nvSpPr>
          <p:cNvPr id="459" name="TextBox 10"/>
          <p:cNvSpPr/>
          <p:nvPr/>
        </p:nvSpPr>
        <p:spPr>
          <a:xfrm>
            <a:off x="6121800" y="1089720"/>
            <a:ext cx="289908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Is the Hub’s Inertial Measurement Unit stable.</a:t>
            </a:r>
            <a:endParaRPr lang="en-US" sz="1400" b="0" u="none" strike="noStrike">
              <a:solidFill>
                <a:srgbClr val="000000"/>
              </a:solidFill>
              <a:effectLst/>
              <a:uFillTx/>
              <a:latin typeface="Arial"/>
            </a:endParaRPr>
          </a:p>
        </p:txBody>
      </p:sp>
      <p:cxnSp>
        <p:nvCxnSpPr>
          <p:cNvPr id="460" name="Straight Arrow Connector 11"/>
          <p:cNvCxnSpPr>
            <a:stCxn id="459" idx="1"/>
          </p:cNvCxnSpPr>
          <p:nvPr/>
        </p:nvCxnSpPr>
        <p:spPr>
          <a:xfrm flipH="1">
            <a:off x="4030560" y="1351080"/>
            <a:ext cx="2091600" cy="108000"/>
          </a:xfrm>
          <a:prstGeom prst="straightConnector1">
            <a:avLst/>
          </a:prstGeom>
          <a:ln w="73025">
            <a:solidFill>
              <a:srgbClr val="000000"/>
            </a:solidFill>
            <a:round/>
            <a:tailEnd type="triangle" w="med" len="med"/>
          </a:ln>
        </p:spPr>
      </p:cxnSp>
      <p:sp>
        <p:nvSpPr>
          <p:cNvPr id="461" name="TextBox 13"/>
          <p:cNvSpPr/>
          <p:nvPr/>
        </p:nvSpPr>
        <p:spPr>
          <a:xfrm>
            <a:off x="6408360" y="1731240"/>
            <a:ext cx="261252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Reset attachment to zero position</a:t>
            </a:r>
            <a:endParaRPr lang="en-US" sz="1400" b="0" u="none" strike="noStrike">
              <a:solidFill>
                <a:srgbClr val="000000"/>
              </a:solidFill>
              <a:effectLst/>
              <a:uFillTx/>
              <a:latin typeface="Arial"/>
            </a:endParaRPr>
          </a:p>
        </p:txBody>
      </p:sp>
      <p:cxnSp>
        <p:nvCxnSpPr>
          <p:cNvPr id="462" name="Straight Arrow Connector 14"/>
          <p:cNvCxnSpPr>
            <a:stCxn id="461" idx="1"/>
          </p:cNvCxnSpPr>
          <p:nvPr/>
        </p:nvCxnSpPr>
        <p:spPr>
          <a:xfrm flipH="1">
            <a:off x="4030560" y="1992600"/>
            <a:ext cx="2378160" cy="339120"/>
          </a:xfrm>
          <a:prstGeom prst="straightConnector1">
            <a:avLst/>
          </a:prstGeom>
          <a:ln w="73025">
            <a:solidFill>
              <a:srgbClr val="000000"/>
            </a:solidFill>
            <a:round/>
            <a:tailEnd type="triangle" w="med" len="med"/>
          </a:ln>
        </p:spPr>
      </p:cxnSp>
      <p:sp>
        <p:nvSpPr>
          <p:cNvPr id="463" name="TextBox 15"/>
          <p:cNvSpPr/>
          <p:nvPr/>
        </p:nvSpPr>
        <p:spPr>
          <a:xfrm>
            <a:off x="6408360" y="2421000"/>
            <a:ext cx="2612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Disable Gyro temporarily</a:t>
            </a:r>
            <a:endParaRPr lang="en-US" sz="1400" b="0" u="none" strike="noStrike">
              <a:solidFill>
                <a:srgbClr val="000000"/>
              </a:solidFill>
              <a:effectLst/>
              <a:uFillTx/>
              <a:latin typeface="Arial"/>
            </a:endParaRPr>
          </a:p>
        </p:txBody>
      </p:sp>
      <p:cxnSp>
        <p:nvCxnSpPr>
          <p:cNvPr id="464" name="Straight Arrow Connector 16"/>
          <p:cNvCxnSpPr>
            <a:stCxn id="463" idx="1"/>
          </p:cNvCxnSpPr>
          <p:nvPr/>
        </p:nvCxnSpPr>
        <p:spPr>
          <a:xfrm flipH="1">
            <a:off x="3589920" y="2574720"/>
            <a:ext cx="2818800" cy="397080"/>
          </a:xfrm>
          <a:prstGeom prst="straightConnector1">
            <a:avLst/>
          </a:prstGeom>
          <a:ln w="73025">
            <a:solidFill>
              <a:srgbClr val="000000"/>
            </a:solidFill>
            <a:round/>
            <a:tailEnd type="triangle" w="med" len="med"/>
          </a:ln>
        </p:spPr>
      </p:cxnSp>
      <p:sp>
        <p:nvSpPr>
          <p:cNvPr id="465" name="TextBox 17"/>
          <p:cNvSpPr/>
          <p:nvPr/>
        </p:nvSpPr>
        <p:spPr>
          <a:xfrm>
            <a:off x="6408360" y="2788200"/>
            <a:ext cx="2612520" cy="9536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Reset driveBase and IMU to a known good position. Gyro must be disabled for the imu to do this</a:t>
            </a:r>
            <a:endParaRPr lang="en-US" sz="1400" b="0" u="none" strike="noStrike">
              <a:solidFill>
                <a:srgbClr val="000000"/>
              </a:solidFill>
              <a:effectLst/>
              <a:uFillTx/>
              <a:latin typeface="Arial"/>
            </a:endParaRPr>
          </a:p>
        </p:txBody>
      </p:sp>
      <p:cxnSp>
        <p:nvCxnSpPr>
          <p:cNvPr id="466" name="Straight Arrow Connector 18"/>
          <p:cNvCxnSpPr>
            <a:stCxn id="465" idx="1"/>
          </p:cNvCxnSpPr>
          <p:nvPr/>
        </p:nvCxnSpPr>
        <p:spPr>
          <a:xfrm flipH="1">
            <a:off x="4177080" y="3265200"/>
            <a:ext cx="2231640" cy="60120"/>
          </a:xfrm>
          <a:prstGeom prst="straightConnector1">
            <a:avLst/>
          </a:prstGeom>
          <a:ln w="73025">
            <a:solidFill>
              <a:srgbClr val="000000"/>
            </a:solidFill>
            <a:round/>
            <a:tailEnd type="triangle" w="med" len="med"/>
          </a:ln>
        </p:spPr>
      </p:cxnSp>
      <p:sp>
        <p:nvSpPr>
          <p:cNvPr id="467" name="TextBox 22"/>
          <p:cNvSpPr/>
          <p:nvPr/>
        </p:nvSpPr>
        <p:spPr>
          <a:xfrm>
            <a:off x="6408360" y="3778920"/>
            <a:ext cx="2612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Enable Gryo </a:t>
            </a:r>
            <a:endParaRPr lang="en-US" sz="1400" b="0" u="none" strike="noStrike">
              <a:solidFill>
                <a:srgbClr val="000000"/>
              </a:solidFill>
              <a:effectLst/>
              <a:uFillTx/>
              <a:latin typeface="Arial"/>
            </a:endParaRPr>
          </a:p>
        </p:txBody>
      </p:sp>
      <p:cxnSp>
        <p:nvCxnSpPr>
          <p:cNvPr id="468" name="Straight Arrow Connector 23"/>
          <p:cNvCxnSpPr>
            <a:stCxn id="467" idx="1"/>
          </p:cNvCxnSpPr>
          <p:nvPr/>
        </p:nvCxnSpPr>
        <p:spPr>
          <a:xfrm flipH="1" flipV="1">
            <a:off x="3562920" y="3641400"/>
            <a:ext cx="2845800" cy="291600"/>
          </a:xfrm>
          <a:prstGeom prst="straightConnector1">
            <a:avLst/>
          </a:prstGeom>
          <a:ln w="73025">
            <a:solidFill>
              <a:srgbClr val="000000"/>
            </a:solidFill>
            <a:round/>
            <a:tailEnd type="triangle" w="med" len="med"/>
          </a:ln>
        </p:spPr>
      </p:cxnSp>
      <p:sp>
        <p:nvSpPr>
          <p:cNvPr id="469" name="TextBox 33"/>
          <p:cNvSpPr/>
          <p:nvPr/>
        </p:nvSpPr>
        <p:spPr>
          <a:xfrm>
            <a:off x="1556280" y="4412520"/>
            <a:ext cx="646344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This function is used to set the robot to a zero position and ensure everything that needs to be enabled or disabled at the beginning of a mission.</a:t>
            </a:r>
            <a:endParaRPr lang="en-US" sz="1400" b="0" u="none" strike="noStrike">
              <a:solidFill>
                <a:srgbClr val="000000"/>
              </a:solidFill>
              <a:effectLst/>
              <a:uFillTx/>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stopEverything()</a:t>
            </a:r>
            <a:endParaRPr lang="en-US" sz="2500" b="0" u="none" strike="noStrike">
              <a:solidFill>
                <a:srgbClr val="000000"/>
              </a:solidFill>
              <a:effectLst/>
              <a:uFillTx/>
              <a:latin typeface="Arial"/>
            </a:endParaRPr>
          </a:p>
        </p:txBody>
      </p:sp>
      <p:sp>
        <p:nvSpPr>
          <p:cNvPr id="471" name="PlaceHolder 2"/>
          <p:cNvSpPr>
            <a:spLocks noGrp="1"/>
          </p:cNvSpPr>
          <p:nvPr>
            <p:ph type="sldNum" idx="9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BE4F4FB-B175-49B9-B4E2-E6CA6E498DE8}" type="slidenum">
              <a:rPr lang="en" sz="1000" b="0" u="none" strike="noStrike">
                <a:solidFill>
                  <a:schemeClr val="dk2"/>
                </a:solidFill>
                <a:effectLst/>
                <a:uFillTx/>
                <a:latin typeface="Arial"/>
                <a:ea typeface="Arial"/>
              </a:rPr>
              <a:t>84</a:t>
            </a:fld>
            <a:endParaRPr lang="en-US" sz="1000" b="0" u="none" strike="noStrike">
              <a:solidFill>
                <a:srgbClr val="000000"/>
              </a:solidFill>
              <a:effectLst/>
              <a:uFillTx/>
              <a:latin typeface="Times New Roman"/>
            </a:endParaRPr>
          </a:p>
        </p:txBody>
      </p:sp>
      <p:sp>
        <p:nvSpPr>
          <p:cNvPr id="472" name="TextBox 7"/>
          <p:cNvSpPr/>
          <p:nvPr/>
        </p:nvSpPr>
        <p:spPr>
          <a:xfrm>
            <a:off x="146520" y="730800"/>
            <a:ext cx="4816080" cy="361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050" b="1" u="none" strike="noStrike">
                <a:solidFill>
                  <a:srgbClr val="009051"/>
                </a:solidFill>
                <a:effectLst/>
                <a:uFillTx/>
                <a:latin typeface="Courier New"/>
                <a:ea typeface="Arial"/>
              </a:rPr>
              <a:t># stops the motors and disables the gyroscope (if</a:t>
            </a:r>
            <a:endParaRPr lang="en-US" sz="1050" b="0" u="none" strike="noStrike">
              <a:solidFill>
                <a:srgbClr val="000000"/>
              </a:solidFill>
              <a:effectLst/>
              <a:uFillTx/>
              <a:latin typeface="Arial"/>
            </a:endParaRPr>
          </a:p>
          <a:p>
            <a:pPr>
              <a:lnSpc>
                <a:spcPct val="100000"/>
              </a:lnSpc>
            </a:pPr>
            <a:r>
              <a:rPr lang="en-US" sz="1050" b="1" u="none" strike="noStrike">
                <a:solidFill>
                  <a:srgbClr val="009051"/>
                </a:solidFill>
                <a:effectLst/>
                <a:uFillTx/>
                <a:latin typeface="Courier New"/>
                <a:ea typeface="Arial"/>
              </a:rPr>
              <a:t># you lift it off the table) this should be run at</a:t>
            </a:r>
            <a:endParaRPr lang="en-US" sz="1050" b="0" u="none" strike="noStrike">
              <a:solidFill>
                <a:srgbClr val="000000"/>
              </a:solidFill>
              <a:effectLst/>
              <a:uFillTx/>
              <a:latin typeface="Arial"/>
            </a:endParaRPr>
          </a:p>
          <a:p>
            <a:pPr>
              <a:lnSpc>
                <a:spcPct val="100000"/>
              </a:lnSpc>
            </a:pPr>
            <a:r>
              <a:rPr lang="en-US" sz="1050" b="1" u="none" strike="noStrike">
                <a:solidFill>
                  <a:srgbClr val="009051"/>
                </a:solidFill>
                <a:effectLst/>
                <a:uFillTx/>
                <a:latin typeface="Courier New"/>
                <a:ea typeface="Arial"/>
              </a:rPr>
              <a:t># the end of every task in the task and in menu </a:t>
            </a:r>
            <a:endParaRPr lang="en-US" sz="1050" b="0" u="none" strike="noStrike">
              <a:solidFill>
                <a:srgbClr val="000000"/>
              </a:solidFill>
              <a:effectLst/>
              <a:uFillTx/>
              <a:latin typeface="Arial"/>
            </a:endParaRPr>
          </a:p>
          <a:p>
            <a:pPr>
              <a:lnSpc>
                <a:spcPct val="100000"/>
              </a:lnSpc>
            </a:pPr>
            <a:r>
              <a:rPr lang="en-US" sz="1050" b="1" u="none" strike="noStrike">
                <a:solidFill>
                  <a:srgbClr val="009051"/>
                </a:solidFill>
                <a:effectLst/>
                <a:uFillTx/>
                <a:latin typeface="Courier New"/>
                <a:ea typeface="Arial"/>
              </a:rPr>
              <a:t># after each task</a:t>
            </a:r>
            <a:endParaRPr lang="en-US" sz="1050" b="0" u="none" strike="noStrike">
              <a:solidFill>
                <a:srgbClr val="000000"/>
              </a:solidFill>
              <a:effectLst/>
              <a:uFillTx/>
              <a:latin typeface="Arial"/>
            </a:endParaRPr>
          </a:p>
          <a:p>
            <a:pPr>
              <a:lnSpc>
                <a:spcPts val="1349"/>
              </a:lnSpc>
            </a:pPr>
            <a:r>
              <a:rPr lang="en-US" sz="1100" b="1" u="none" strike="noStrike">
                <a:solidFill>
                  <a:srgbClr val="0000FF"/>
                </a:solidFill>
                <a:effectLst/>
                <a:uFillTx/>
                <a:latin typeface="Menlo"/>
                <a:ea typeface="Arial"/>
              </a:rPr>
              <a:t>async</a:t>
            </a:r>
            <a:r>
              <a:rPr lang="en-US" sz="1100" b="1" u="none" strike="noStrike">
                <a:solidFill>
                  <a:srgbClr val="3B3B3B"/>
                </a:solidFill>
                <a:effectLst/>
                <a:uFillTx/>
                <a:latin typeface="Menlo"/>
                <a:ea typeface="Arial"/>
              </a:rPr>
              <a:t> </a:t>
            </a:r>
            <a:r>
              <a:rPr lang="en-US" sz="1100" b="1" u="none" strike="noStrike">
                <a:solidFill>
                  <a:srgbClr val="0000FF"/>
                </a:solidFill>
                <a:effectLst/>
                <a:uFillTx/>
                <a:latin typeface="Menlo"/>
                <a:ea typeface="Arial"/>
              </a:rPr>
              <a:t>def</a:t>
            </a:r>
            <a:r>
              <a:rPr lang="en-US" sz="1100" b="1" u="none" strike="noStrike">
                <a:solidFill>
                  <a:srgbClr val="3B3B3B"/>
                </a:solidFill>
                <a:effectLst/>
                <a:uFillTx/>
                <a:latin typeface="Menlo"/>
                <a:ea typeface="Arial"/>
              </a:rPr>
              <a:t> </a:t>
            </a:r>
            <a:r>
              <a:rPr lang="en-US" sz="1100" b="1" u="none" strike="noStrike">
                <a:solidFill>
                  <a:srgbClr val="795E26"/>
                </a:solidFill>
                <a:effectLst/>
                <a:uFillTx/>
                <a:latin typeface="Menlo"/>
                <a:ea typeface="Arial"/>
              </a:rPr>
              <a:t>stopEverything</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a:t>
            </a:r>
            <a:r>
              <a:rPr lang="en-US" sz="1100" b="1" u="none" strike="noStrike">
                <a:solidFill>
                  <a:srgbClr val="AF00DB"/>
                </a:solidFill>
                <a:effectLst/>
                <a:uFillTx/>
                <a:latin typeface="Menlo"/>
                <a:ea typeface="Arial"/>
              </a:rPr>
              <a:t>if</a:t>
            </a:r>
            <a:r>
              <a:rPr lang="en-US" sz="1100" b="1" u="none" strike="noStrike">
                <a:solidFill>
                  <a:srgbClr val="3B3B3B"/>
                </a:solidFill>
                <a:effectLst/>
                <a:uFillTx/>
                <a:latin typeface="Menlo"/>
                <a:ea typeface="Arial"/>
              </a:rPr>
              <a:t> debugL1: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"Stop All Motors &amp; Gyro"</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driveBase.use_gyro(</a:t>
            </a:r>
            <a:r>
              <a:rPr lang="en-US" sz="1100" b="1" u="none" strike="noStrike">
                <a:solidFill>
                  <a:srgbClr val="0000FF"/>
                </a:solidFill>
                <a:effectLst/>
                <a:uFillTx/>
                <a:latin typeface="Menlo"/>
                <a:ea typeface="Arial"/>
              </a:rPr>
              <a:t>False</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wait(</a:t>
            </a:r>
            <a:r>
              <a:rPr lang="en-US" sz="1100" b="1" u="none" strike="noStrike">
                <a:solidFill>
                  <a:srgbClr val="098658"/>
                </a:solidFill>
                <a:effectLst/>
                <a:uFillTx/>
                <a:latin typeface="Menlo"/>
                <a:ea typeface="Arial"/>
              </a:rPr>
              <a:t>100</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leftMotor.stop()</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wait(</a:t>
            </a:r>
            <a:r>
              <a:rPr lang="en-US" sz="1100" b="1" u="none" strike="noStrike">
                <a:solidFill>
                  <a:srgbClr val="098658"/>
                </a:solidFill>
                <a:effectLst/>
                <a:uFillTx/>
                <a:latin typeface="Menlo"/>
                <a:ea typeface="Arial"/>
              </a:rPr>
              <a:t>100</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rightMotor.stop()</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wait(</a:t>
            </a:r>
            <a:r>
              <a:rPr lang="en-US" sz="1100" b="1" u="none" strike="noStrike">
                <a:solidFill>
                  <a:srgbClr val="098658"/>
                </a:solidFill>
                <a:effectLst/>
                <a:uFillTx/>
                <a:latin typeface="Menlo"/>
                <a:ea typeface="Arial"/>
              </a:rPr>
              <a:t>100</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attachmentsPresent: </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leftAttachment.stop()</a:t>
            </a:r>
            <a:endParaRPr lang="en-US" sz="1100" b="0" u="none" strike="noStrike">
              <a:solidFill>
                <a:srgbClr val="000000"/>
              </a:solidFill>
              <a:effectLst/>
              <a:uFillTx/>
              <a:latin typeface="Arial"/>
            </a:endParaRPr>
          </a:p>
          <a:p>
            <a:pPr>
              <a:lnSpc>
                <a:spcPts val="1349"/>
              </a:lnSpc>
            </a:pPr>
            <a:r>
              <a:rPr lang="en-US" sz="1100" b="1" u="none" strike="noStrike">
                <a:solidFill>
                  <a:srgbClr val="3B3B3B"/>
                </a:solidFill>
                <a:effectLst/>
                <a:uFillTx/>
                <a:latin typeface="Menlo"/>
                <a:ea typeface="Arial"/>
              </a:rPr>
              <a:t>      rightAttachment.stop()</a:t>
            </a:r>
            <a:endParaRPr lang="en-US" sz="1100" b="0" u="none" strike="noStrike">
              <a:solidFill>
                <a:srgbClr val="000000"/>
              </a:solidFill>
              <a:effectLst/>
              <a:uFillTx/>
              <a:latin typeface="Arial"/>
            </a:endParaRPr>
          </a:p>
          <a:p>
            <a:pPr>
              <a:lnSpc>
                <a:spcPts val="1349"/>
              </a:lnSpc>
            </a:pP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await</a:t>
            </a:r>
            <a:r>
              <a:rPr lang="en-US" sz="1100" b="1" u="none" strike="noStrike">
                <a:solidFill>
                  <a:srgbClr val="3B3B3B"/>
                </a:solidFill>
                <a:effectLst/>
                <a:uFillTx/>
                <a:latin typeface="Menlo"/>
                <a:ea typeface="Arial"/>
              </a:rPr>
              <a:t> wait(</a:t>
            </a:r>
            <a:r>
              <a:rPr lang="en-US" sz="1100" b="1" u="none" strike="noStrike">
                <a:solidFill>
                  <a:srgbClr val="098658"/>
                </a:solidFill>
                <a:effectLst/>
                <a:uFillTx/>
                <a:latin typeface="Menlo"/>
                <a:ea typeface="Arial"/>
              </a:rPr>
              <a:t>100</a:t>
            </a:r>
            <a:r>
              <a:rPr lang="en-US" sz="1100" b="1" u="none" strike="noStrike">
                <a:solidFill>
                  <a:srgbClr val="3B3B3B"/>
                </a:solidFill>
                <a:effectLst/>
                <a:uFillTx/>
                <a:latin typeface="Menlo"/>
                <a:ea typeface="Arial"/>
              </a:rPr>
              <a:t>)</a:t>
            </a:r>
            <a:endParaRPr lang="en-US" sz="1100" b="0" u="none" strike="noStrike">
              <a:solidFill>
                <a:srgbClr val="000000"/>
              </a:solidFill>
              <a:effectLst/>
              <a:uFillTx/>
              <a:latin typeface="Arial"/>
            </a:endParaRPr>
          </a:p>
          <a:p>
            <a:pPr>
              <a:lnSpc>
                <a:spcPts val="1349"/>
              </a:lnSpc>
            </a:pPr>
            <a:r>
              <a:rPr lang="en-US" sz="1100" b="1" u="none" strike="noStrike">
                <a:solidFill>
                  <a:srgbClr val="AF00DB"/>
                </a:solidFill>
                <a:effectLst/>
                <a:uFillTx/>
                <a:latin typeface="Menlo"/>
                <a:ea typeface="Arial"/>
              </a:rPr>
              <a:t>   if</a:t>
            </a:r>
            <a:r>
              <a:rPr lang="en-US" sz="1100" b="1" u="none" strike="noStrike">
                <a:solidFill>
                  <a:srgbClr val="3B3B3B"/>
                </a:solidFill>
                <a:effectLst/>
                <a:uFillTx/>
                <a:latin typeface="Menlo"/>
                <a:ea typeface="Arial"/>
              </a:rPr>
              <a:t> debugL1: </a:t>
            </a:r>
            <a:r>
              <a:rPr lang="en-US" sz="1100" b="1" u="none" strike="noStrike">
                <a:solidFill>
                  <a:srgbClr val="795E26"/>
                </a:solidFill>
                <a:effectLst/>
                <a:uFillTx/>
                <a:latin typeface="Menlo"/>
                <a:ea typeface="Arial"/>
              </a:rPr>
              <a:t>print</a:t>
            </a:r>
            <a:r>
              <a:rPr lang="en-US" sz="1100" b="1" u="none" strike="noStrike">
                <a:solidFill>
                  <a:srgbClr val="3B3B3B"/>
                </a:solidFill>
                <a:effectLst/>
                <a:uFillTx/>
                <a:latin typeface="Menlo"/>
                <a:ea typeface="Arial"/>
              </a:rPr>
              <a:t>(</a:t>
            </a:r>
            <a:r>
              <a:rPr lang="en-US" sz="1100" b="1" u="none" strike="noStrike">
                <a:solidFill>
                  <a:srgbClr val="A31515"/>
                </a:solidFill>
                <a:effectLst/>
                <a:uFillTx/>
                <a:latin typeface="Menlo"/>
                <a:ea typeface="Arial"/>
              </a:rPr>
              <a:t>"All motors should be stopped"</a:t>
            </a:r>
            <a:r>
              <a:rPr lang="en-US" sz="1100" b="1" u="none" strike="noStrike">
                <a:solidFill>
                  <a:srgbClr val="3B3B3B"/>
                </a:solidFill>
                <a:effectLst/>
                <a:uFillTx/>
                <a:latin typeface="Menlo"/>
                <a:ea typeface="Arial"/>
              </a:rPr>
              <a:t>) </a:t>
            </a:r>
            <a:endParaRPr lang="en-US" sz="1100" b="0" u="none" strike="noStrike">
              <a:solidFill>
                <a:srgbClr val="000000"/>
              </a:solidFill>
              <a:effectLst/>
              <a:uFillTx/>
              <a:latin typeface="Arial"/>
            </a:endParaRPr>
          </a:p>
        </p:txBody>
      </p:sp>
      <p:sp>
        <p:nvSpPr>
          <p:cNvPr id="473" name="TextBox 8"/>
          <p:cNvSpPr/>
          <p:nvPr/>
        </p:nvSpPr>
        <p:spPr>
          <a:xfrm>
            <a:off x="6387480" y="896400"/>
            <a:ext cx="2612520" cy="73836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Disable the gyro so that if you pick up the robot it doesn’t go nuts</a:t>
            </a:r>
            <a:endParaRPr lang="en-US" sz="1400" b="0" u="none" strike="noStrike">
              <a:solidFill>
                <a:srgbClr val="000000"/>
              </a:solidFill>
              <a:effectLst/>
              <a:uFillTx/>
              <a:latin typeface="Arial"/>
            </a:endParaRPr>
          </a:p>
        </p:txBody>
      </p:sp>
      <p:cxnSp>
        <p:nvCxnSpPr>
          <p:cNvPr id="474" name="Straight Arrow Connector 9"/>
          <p:cNvCxnSpPr>
            <a:stCxn id="473" idx="1"/>
          </p:cNvCxnSpPr>
          <p:nvPr/>
        </p:nvCxnSpPr>
        <p:spPr>
          <a:xfrm flipH="1">
            <a:off x="2759040" y="1265760"/>
            <a:ext cx="3628800" cy="814680"/>
          </a:xfrm>
          <a:prstGeom prst="straightConnector1">
            <a:avLst/>
          </a:prstGeom>
          <a:ln w="73025">
            <a:solidFill>
              <a:srgbClr val="000000"/>
            </a:solidFill>
            <a:round/>
            <a:tailEnd type="triangle" w="med" len="med"/>
          </a:ln>
        </p:spPr>
      </p:cxnSp>
      <p:sp>
        <p:nvSpPr>
          <p:cNvPr id="475" name="TextBox 12"/>
          <p:cNvSpPr/>
          <p:nvPr/>
        </p:nvSpPr>
        <p:spPr>
          <a:xfrm>
            <a:off x="6387480" y="1848600"/>
            <a:ext cx="2612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Stop the drive motors</a:t>
            </a:r>
            <a:endParaRPr lang="en-US" sz="1400" b="0" u="none" strike="noStrike">
              <a:solidFill>
                <a:srgbClr val="000000"/>
              </a:solidFill>
              <a:effectLst/>
              <a:uFillTx/>
              <a:latin typeface="Arial"/>
            </a:endParaRPr>
          </a:p>
        </p:txBody>
      </p:sp>
      <p:cxnSp>
        <p:nvCxnSpPr>
          <p:cNvPr id="476" name="Straight Arrow Connector 13"/>
          <p:cNvCxnSpPr>
            <a:stCxn id="475" idx="1"/>
          </p:cNvCxnSpPr>
          <p:nvPr/>
        </p:nvCxnSpPr>
        <p:spPr>
          <a:xfrm flipH="1">
            <a:off x="2107800" y="2002320"/>
            <a:ext cx="4280040" cy="537480"/>
          </a:xfrm>
          <a:prstGeom prst="straightConnector1">
            <a:avLst/>
          </a:prstGeom>
          <a:ln w="73025">
            <a:solidFill>
              <a:srgbClr val="000000"/>
            </a:solidFill>
            <a:round/>
            <a:tailEnd type="triangle" w="med" len="med"/>
          </a:ln>
        </p:spPr>
      </p:cxnSp>
      <p:sp>
        <p:nvSpPr>
          <p:cNvPr id="477" name="TextBox 17"/>
          <p:cNvSpPr/>
          <p:nvPr/>
        </p:nvSpPr>
        <p:spPr>
          <a:xfrm>
            <a:off x="6387480" y="2907000"/>
            <a:ext cx="2612520" cy="30744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Stop the attachment motors</a:t>
            </a:r>
            <a:endParaRPr lang="en-US" sz="1400" b="0" u="none" strike="noStrike">
              <a:solidFill>
                <a:srgbClr val="000000"/>
              </a:solidFill>
              <a:effectLst/>
              <a:uFillTx/>
              <a:latin typeface="Arial"/>
            </a:endParaRPr>
          </a:p>
        </p:txBody>
      </p:sp>
      <p:cxnSp>
        <p:nvCxnSpPr>
          <p:cNvPr id="478" name="Straight Arrow Connector 18"/>
          <p:cNvCxnSpPr>
            <a:stCxn id="477" idx="1"/>
          </p:cNvCxnSpPr>
          <p:nvPr/>
        </p:nvCxnSpPr>
        <p:spPr>
          <a:xfrm flipH="1">
            <a:off x="2666520" y="3060720"/>
            <a:ext cx="3721320" cy="476640"/>
          </a:xfrm>
          <a:prstGeom prst="straightConnector1">
            <a:avLst/>
          </a:prstGeom>
          <a:ln w="73025">
            <a:solidFill>
              <a:srgbClr val="000000"/>
            </a:solidFill>
            <a:round/>
            <a:tailEnd type="triangle" w="med" len="med"/>
          </a:ln>
        </p:spPr>
      </p:cxnSp>
      <p:sp>
        <p:nvSpPr>
          <p:cNvPr id="479" name="TextBox 21"/>
          <p:cNvSpPr/>
          <p:nvPr/>
        </p:nvSpPr>
        <p:spPr>
          <a:xfrm>
            <a:off x="1556280" y="4412520"/>
            <a:ext cx="646344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00"/>
                </a:solidFill>
                <a:effectLst/>
                <a:uFillTx/>
                <a:latin typeface="Arial"/>
                <a:ea typeface="Arial"/>
              </a:rPr>
              <a:t>Purpose: </a:t>
            </a:r>
            <a:r>
              <a:rPr lang="en-US" sz="1400" b="0" u="none" strike="noStrike">
                <a:solidFill>
                  <a:srgbClr val="000000"/>
                </a:solidFill>
                <a:effectLst/>
                <a:uFillTx/>
                <a:latin typeface="Arial"/>
                <a:ea typeface="Arial"/>
              </a:rPr>
              <a:t>Shuts down the motors and gyroscope so that robot can be safely picked and moved to a new position.</a:t>
            </a:r>
            <a:endParaRPr lang="en-US" sz="1400" b="0" u="none" strike="noStrike">
              <a:solidFill>
                <a:srgbClr val="000000"/>
              </a:solidFill>
              <a:effectLst/>
              <a:uFillTx/>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Using RobotLib</a:t>
            </a:r>
            <a:endParaRPr lang="en-US" sz="2500" b="0" u="none" strike="noStrike">
              <a:solidFill>
                <a:srgbClr val="000000"/>
              </a:solidFill>
              <a:effectLst/>
              <a:uFillTx/>
              <a:latin typeface="Arial"/>
            </a:endParaRPr>
          </a:p>
        </p:txBody>
      </p:sp>
      <p:sp>
        <p:nvSpPr>
          <p:cNvPr id="48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Put the following line (updated for the correct revision) at the top of your hub_menu() and task/mission files. It imports the robot library, Pybricks libraries, and various variables that you will use in your programs</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300" b="1" u="none" strike="noStrike">
                <a:solidFill>
                  <a:srgbClr val="AF00DB"/>
                </a:solidFill>
                <a:effectLst/>
                <a:uFillTx/>
                <a:latin typeface="Courier New"/>
                <a:ea typeface="Arial"/>
              </a:rPr>
              <a:t>import</a:t>
            </a:r>
            <a:r>
              <a:rPr lang="en-US" sz="1300" b="1" u="none" strike="noStrike">
                <a:solidFill>
                  <a:srgbClr val="3B3B3B"/>
                </a:solidFill>
                <a:effectLst/>
                <a:uFillTx/>
                <a:latin typeface="Courier New"/>
                <a:ea typeface="Arial"/>
              </a:rPr>
              <a:t> pybricks_class_library_rev4 </a:t>
            </a:r>
            <a:r>
              <a:rPr lang="en-US" sz="1300" b="1" u="none" strike="noStrike">
                <a:solidFill>
                  <a:srgbClr val="AF00DB"/>
                </a:solidFill>
                <a:effectLst/>
                <a:uFillTx/>
                <a:latin typeface="Courier New"/>
                <a:ea typeface="Arial"/>
              </a:rPr>
              <a:t>as</a:t>
            </a:r>
            <a:r>
              <a:rPr lang="en-US" sz="1300" b="1" u="none" strike="noStrike">
                <a:solidFill>
                  <a:srgbClr val="3B3B3B"/>
                </a:solidFill>
                <a:effectLst/>
                <a:uFillTx/>
                <a:latin typeface="Courier New"/>
                <a:ea typeface="Arial"/>
              </a:rPr>
              <a:t> </a:t>
            </a:r>
            <a:r>
              <a:rPr lang="en-US" sz="1300" b="1" u="none" strike="noStrike">
                <a:solidFill>
                  <a:srgbClr val="267F99"/>
                </a:solidFill>
                <a:effectLst/>
                <a:uFillTx/>
                <a:latin typeface="Courier New"/>
                <a:ea typeface="Arial"/>
              </a:rPr>
              <a:t>RobotLib</a:t>
            </a:r>
            <a:endParaRPr lang="en-US" sz="1300" b="0" u="none" strike="noStrike">
              <a:solidFill>
                <a:srgbClr val="000000"/>
              </a:solidFill>
              <a:effectLst/>
              <a:uFillTx/>
              <a:latin typeface="Arial"/>
            </a:endParaRPr>
          </a:p>
          <a:p>
            <a:pPr indent="0" algn="l">
              <a:lnSpc>
                <a:spcPct val="115000"/>
              </a:lnSpc>
              <a:buNone/>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To use/access RobotLib </a:t>
            </a:r>
            <a:r>
              <a:rPr lang="en-US" sz="1800" b="1" u="sng" strike="noStrike">
                <a:solidFill>
                  <a:schemeClr val="dk1"/>
                </a:solidFill>
                <a:effectLst/>
                <a:uFillTx/>
                <a:latin typeface="Arial"/>
                <a:ea typeface="Arial"/>
              </a:rPr>
              <a:t>or</a:t>
            </a:r>
            <a:r>
              <a:rPr lang="en-US" sz="1800" b="0" u="none" strike="noStrike">
                <a:solidFill>
                  <a:schemeClr val="dk1"/>
                </a:solidFill>
                <a:effectLst/>
                <a:uFillTx/>
                <a:latin typeface="Arial"/>
                <a:ea typeface="Arial"/>
              </a:rPr>
              <a:t> Pybricks variables and functions you have to use the </a:t>
            </a:r>
            <a:r>
              <a:rPr lang="en-US" sz="1800" b="1" u="none" strike="noStrike">
                <a:solidFill>
                  <a:schemeClr val="dk1"/>
                </a:solidFill>
                <a:effectLst/>
                <a:uFillTx/>
                <a:latin typeface="Courier New"/>
                <a:ea typeface="Arial"/>
              </a:rPr>
              <a:t>RobotLib.</a:t>
            </a:r>
            <a:r>
              <a:rPr lang="en-US" sz="1800" b="0" u="none" strike="noStrike">
                <a:solidFill>
                  <a:schemeClr val="dk1"/>
                </a:solidFill>
                <a:effectLst/>
                <a:uFillTx/>
                <a:latin typeface="Arial"/>
                <a:ea typeface="Arial"/>
              </a:rPr>
              <a:t> prefix. Some examples:</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1" u="none" strike="noStrike">
                <a:solidFill>
                  <a:srgbClr val="267F99"/>
                </a:solidFill>
                <a:effectLst/>
                <a:uFillTx/>
                <a:latin typeface="Courier New"/>
                <a:ea typeface="Arial"/>
              </a:rPr>
              <a:t>RobotLib</a:t>
            </a:r>
            <a:r>
              <a:rPr lang="en-US" sz="1400" b="1" u="none" strike="noStrike">
                <a:solidFill>
                  <a:srgbClr val="000000"/>
                </a:solidFill>
                <a:effectLst/>
                <a:uFillTx/>
                <a:latin typeface="Courier New"/>
                <a:ea typeface="Arial"/>
              </a:rPr>
              <a:t>.driveBase.settings(straight_speed=</a:t>
            </a:r>
            <a:r>
              <a:rPr lang="en-US" sz="1400" b="1" u="none" strike="noStrike">
                <a:solidFill>
                  <a:srgbClr val="009051"/>
                </a:solidFill>
                <a:effectLst/>
                <a:uFillTx/>
                <a:latin typeface="Courier New"/>
                <a:ea typeface="Arial"/>
              </a:rPr>
              <a:t>400</a:t>
            </a:r>
            <a:r>
              <a:rPr lang="en-US" sz="1400" b="1" u="none" strike="noStrike">
                <a:solidFill>
                  <a:srgbClr val="000000"/>
                </a:solidFill>
                <a:effectLst/>
                <a:uFillTx/>
                <a:latin typeface="Courier New"/>
                <a:ea typeface="Arial"/>
              </a:rPr>
              <a:t>,straight_acceleration=</a:t>
            </a:r>
            <a:r>
              <a:rPr lang="en-US" sz="1400" b="1" u="none" strike="noStrike">
                <a:solidFill>
                  <a:srgbClr val="009051"/>
                </a:solidFill>
                <a:effectLst/>
                <a:uFillTx/>
                <a:latin typeface="Courier New"/>
                <a:ea typeface="Arial"/>
              </a:rPr>
              <a:t>950</a:t>
            </a:r>
            <a:r>
              <a:rPr lang="en-US" sz="1400" b="1" u="none" strike="noStrike">
                <a:solidFill>
                  <a:srgbClr val="000000"/>
                </a:solidFill>
                <a:effectLst/>
                <a:uFillTx/>
                <a:latin typeface="Courier New"/>
                <a:ea typeface="Arial"/>
              </a:rPr>
              <a:t>)</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1" u="none" strike="noStrike">
                <a:solidFill>
                  <a:srgbClr val="AF00DB"/>
                </a:solidFill>
                <a:effectLst/>
                <a:uFillTx/>
                <a:latin typeface="Courier New"/>
                <a:ea typeface="Arial"/>
              </a:rPr>
              <a:t>await</a:t>
            </a:r>
            <a:r>
              <a:rPr lang="en-US" sz="1400" b="1" u="none" strike="noStrike">
                <a:solidFill>
                  <a:srgbClr val="3B3B3B"/>
                </a:solidFill>
                <a:effectLst/>
                <a:uFillTx/>
                <a:latin typeface="Courier New"/>
                <a:ea typeface="Arial"/>
              </a:rPr>
              <a:t> </a:t>
            </a:r>
            <a:r>
              <a:rPr lang="en-US" sz="1400" b="1" u="none" strike="noStrike">
                <a:solidFill>
                  <a:srgbClr val="267F99"/>
                </a:solidFill>
                <a:effectLst/>
                <a:uFillTx/>
                <a:latin typeface="Courier New"/>
                <a:ea typeface="Arial"/>
              </a:rPr>
              <a:t>RobotLib.</a:t>
            </a:r>
            <a:r>
              <a:rPr lang="en-US" sz="1400" b="1" u="none" strike="noStrike">
                <a:solidFill>
                  <a:srgbClr val="3B3B3B"/>
                </a:solidFill>
                <a:effectLst/>
                <a:uFillTx/>
                <a:latin typeface="Courier New"/>
                <a:ea typeface="Arial"/>
              </a:rPr>
              <a:t>wait(</a:t>
            </a:r>
            <a:r>
              <a:rPr lang="en-US" sz="1400" b="1" u="none" strike="noStrike">
                <a:solidFill>
                  <a:srgbClr val="098658"/>
                </a:solidFill>
                <a:effectLst/>
                <a:uFillTx/>
                <a:latin typeface="Courier New"/>
                <a:ea typeface="Arial"/>
              </a:rPr>
              <a:t>1000</a:t>
            </a:r>
            <a:r>
              <a:rPr lang="en-US" sz="1400" b="1" u="none" strike="noStrike">
                <a:solidFill>
                  <a:srgbClr val="3B3B3B"/>
                </a:solidFill>
                <a:effectLst/>
                <a:uFillTx/>
                <a:latin typeface="Courier New"/>
                <a:ea typeface="Arial"/>
              </a:rPr>
              <a:t>)</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1" u="none" strike="noStrike">
                <a:solidFill>
                  <a:srgbClr val="AF00DB"/>
                </a:solidFill>
                <a:effectLst/>
                <a:uFillTx/>
                <a:latin typeface="Courier New"/>
                <a:ea typeface="Arial"/>
              </a:rPr>
              <a:t>await </a:t>
            </a:r>
            <a:r>
              <a:rPr lang="en-US" sz="1400" b="1" u="none" strike="noStrike">
                <a:solidFill>
                  <a:srgbClr val="267F99"/>
                </a:solidFill>
                <a:effectLst/>
                <a:uFillTx/>
                <a:latin typeface="Courier New"/>
                <a:ea typeface="Arial"/>
              </a:rPr>
              <a:t>RobotLib</a:t>
            </a:r>
            <a:r>
              <a:rPr lang="en-US" sz="1400" b="1" u="none" strike="noStrike">
                <a:solidFill>
                  <a:srgbClr val="000000"/>
                </a:solidFill>
                <a:effectLst/>
                <a:uFillTx/>
                <a:latin typeface="Courier New"/>
                <a:ea typeface="Arial"/>
              </a:rPr>
              <a:t>.driveBase.straight(</a:t>
            </a:r>
            <a:r>
              <a:rPr lang="en-US" sz="1400" b="1" u="none" strike="noStrike">
                <a:solidFill>
                  <a:srgbClr val="C800A4"/>
                </a:solidFill>
                <a:effectLst/>
                <a:uFillTx/>
                <a:latin typeface="Courier New"/>
                <a:ea typeface="Arial"/>
              </a:rPr>
              <a:t>-</a:t>
            </a:r>
            <a:r>
              <a:rPr lang="en-US" sz="1400" b="1" u="none" strike="noStrike">
                <a:solidFill>
                  <a:srgbClr val="009051"/>
                </a:solidFill>
                <a:effectLst/>
                <a:uFillTx/>
                <a:latin typeface="Courier New"/>
                <a:ea typeface="Arial"/>
              </a:rPr>
              <a:t>250</a:t>
            </a:r>
            <a:r>
              <a:rPr lang="en-US" sz="1400" b="1" u="none" strike="noStrike">
                <a:solidFill>
                  <a:srgbClr val="000000"/>
                </a:solidFill>
                <a:effectLst/>
                <a:uFillTx/>
                <a:latin typeface="Courier New"/>
                <a:ea typeface="Arial"/>
              </a:rPr>
              <a:t>)</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1" u="none" strike="noStrike">
                <a:solidFill>
                  <a:srgbClr val="AF00DB"/>
                </a:solidFill>
                <a:effectLst/>
                <a:uFillTx/>
                <a:latin typeface="Courier New"/>
                <a:ea typeface="Arial"/>
              </a:rPr>
              <a:t>await </a:t>
            </a:r>
            <a:r>
              <a:rPr lang="en-US" sz="1400" b="1" u="none" strike="noStrike">
                <a:solidFill>
                  <a:srgbClr val="267F99"/>
                </a:solidFill>
                <a:effectLst/>
                <a:uFillTx/>
                <a:latin typeface="Courier New"/>
                <a:ea typeface="Arial"/>
              </a:rPr>
              <a:t>RobotLib</a:t>
            </a:r>
            <a:r>
              <a:rPr lang="en-US" sz="1400" b="1" u="none" strike="noStrike">
                <a:solidFill>
                  <a:srgbClr val="000000"/>
                </a:solidFill>
                <a:effectLst/>
                <a:uFillTx/>
                <a:latin typeface="Courier New"/>
                <a:ea typeface="Arial"/>
              </a:rPr>
              <a:t>.rightAttachment.run_angle(</a:t>
            </a:r>
            <a:r>
              <a:rPr lang="en-US" sz="1400" b="1" u="none" strike="noStrike">
                <a:solidFill>
                  <a:srgbClr val="009051"/>
                </a:solidFill>
                <a:effectLst/>
                <a:uFillTx/>
                <a:latin typeface="Courier New"/>
                <a:ea typeface="Arial"/>
              </a:rPr>
              <a:t>150</a:t>
            </a:r>
            <a:r>
              <a:rPr lang="en-US" sz="1400" b="1" u="none" strike="noStrike">
                <a:solidFill>
                  <a:srgbClr val="000000"/>
                </a:solidFill>
                <a:effectLst/>
                <a:uFillTx/>
                <a:latin typeface="Courier New"/>
                <a:ea typeface="Arial"/>
              </a:rPr>
              <a:t>, </a:t>
            </a:r>
            <a:r>
              <a:rPr lang="en-US" sz="1400" b="1" u="none" strike="noStrike">
                <a:solidFill>
                  <a:srgbClr val="009051"/>
                </a:solidFill>
                <a:effectLst/>
                <a:uFillTx/>
                <a:latin typeface="Courier New"/>
                <a:ea typeface="Arial"/>
              </a:rPr>
              <a:t>210</a:t>
            </a:r>
            <a:r>
              <a:rPr lang="en-US" sz="1400" b="1" u="none" strike="noStrike">
                <a:solidFill>
                  <a:srgbClr val="000000"/>
                </a:solidFill>
                <a:effectLst/>
                <a:uFillTx/>
                <a:latin typeface="Courier New"/>
                <a:ea typeface="Arial"/>
              </a:rPr>
              <a:t>)</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1" u="none" strike="noStrike">
                <a:solidFill>
                  <a:srgbClr val="AF00DB"/>
                </a:solidFill>
                <a:effectLst/>
                <a:uFillTx/>
                <a:latin typeface="Courier New"/>
                <a:ea typeface="Arial"/>
              </a:rPr>
              <a:t>await</a:t>
            </a:r>
            <a:r>
              <a:rPr lang="en-US" sz="1400" b="1" u="none" strike="noStrike">
                <a:solidFill>
                  <a:srgbClr val="3B3B3B"/>
                </a:solidFill>
                <a:effectLst/>
                <a:uFillTx/>
                <a:latin typeface="Courier New"/>
                <a:ea typeface="Arial"/>
              </a:rPr>
              <a:t> </a:t>
            </a:r>
            <a:r>
              <a:rPr lang="en-US" sz="1400" b="1" u="none" strike="noStrike">
                <a:solidFill>
                  <a:srgbClr val="267F99"/>
                </a:solidFill>
                <a:effectLst/>
                <a:uFillTx/>
                <a:latin typeface="Courier New"/>
                <a:ea typeface="Arial"/>
              </a:rPr>
              <a:t>RobotLib</a:t>
            </a:r>
            <a:r>
              <a:rPr lang="en-US" sz="1400" b="1" u="none" strike="noStrike">
                <a:solidFill>
                  <a:srgbClr val="3B3B3B"/>
                </a:solidFill>
                <a:effectLst/>
                <a:uFillTx/>
                <a:latin typeface="Courier New"/>
                <a:ea typeface="Arial"/>
              </a:rPr>
              <a:t>.driveRobot(</a:t>
            </a:r>
            <a:r>
              <a:rPr lang="en-US" sz="1400" b="1" u="none" strike="noStrike">
                <a:solidFill>
                  <a:srgbClr val="000000"/>
                </a:solidFill>
                <a:effectLst/>
                <a:uFillTx/>
                <a:latin typeface="Courier New"/>
                <a:ea typeface="Arial"/>
              </a:rPr>
              <a:t>-</a:t>
            </a:r>
            <a:r>
              <a:rPr lang="en-US" sz="1400" b="1" u="none" strike="noStrike">
                <a:solidFill>
                  <a:srgbClr val="098658"/>
                </a:solidFill>
                <a:effectLst/>
                <a:uFillTx/>
                <a:latin typeface="Courier New"/>
                <a:ea typeface="Arial"/>
              </a:rPr>
              <a:t>105</a:t>
            </a:r>
            <a:r>
              <a:rPr lang="en-US" sz="1400" b="1" u="none" strike="noStrike">
                <a:solidFill>
                  <a:srgbClr val="3B3B3B"/>
                </a:solidFill>
                <a:effectLst/>
                <a:uFillTx/>
                <a:latin typeface="Courier New"/>
                <a:ea typeface="Arial"/>
              </a:rPr>
              <a:t>,</a:t>
            </a:r>
            <a:r>
              <a:rPr lang="en-US" sz="1400" b="1" u="none" strike="noStrike">
                <a:solidFill>
                  <a:srgbClr val="098658"/>
                </a:solidFill>
                <a:effectLst/>
                <a:uFillTx/>
                <a:latin typeface="Courier New"/>
                <a:ea typeface="Arial"/>
              </a:rPr>
              <a:t>400</a:t>
            </a:r>
            <a:r>
              <a:rPr lang="en-US" sz="1400" b="1" u="none" strike="noStrike">
                <a:solidFill>
                  <a:srgbClr val="3B3B3B"/>
                </a:solidFill>
                <a:effectLst/>
                <a:uFillTx/>
                <a:latin typeface="Courier New"/>
                <a:ea typeface="Arial"/>
              </a:rPr>
              <a:t>,</a:t>
            </a:r>
            <a:r>
              <a:rPr lang="en-US" sz="1400" b="1" u="none" strike="noStrike">
                <a:solidFill>
                  <a:srgbClr val="098658"/>
                </a:solidFill>
                <a:effectLst/>
                <a:uFillTx/>
                <a:latin typeface="Courier New"/>
                <a:ea typeface="Arial"/>
              </a:rPr>
              <a:t>100</a:t>
            </a:r>
            <a:r>
              <a:rPr lang="en-US" sz="1400" b="1" u="none" strike="noStrike">
                <a:solidFill>
                  <a:srgbClr val="3B3B3B"/>
                </a:solidFill>
                <a:effectLst/>
                <a:uFillTx/>
                <a:latin typeface="Courier New"/>
                <a:ea typeface="Arial"/>
              </a:rPr>
              <a:t>)</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tabLst>
                <a:tab pos="0" algn="l"/>
              </a:tabLst>
            </a:pPr>
            <a:r>
              <a:rPr lang="en-US" sz="1400" b="1" u="none" strike="noStrike">
                <a:solidFill>
                  <a:srgbClr val="AF00DB"/>
                </a:solidFill>
                <a:effectLst/>
                <a:uFillTx/>
                <a:latin typeface="Courier New"/>
                <a:ea typeface="Arial"/>
              </a:rPr>
              <a:t>await</a:t>
            </a:r>
            <a:r>
              <a:rPr lang="en-US" sz="1400" b="1" u="none" strike="noStrike">
                <a:solidFill>
                  <a:srgbClr val="3B3B3B"/>
                </a:solidFill>
                <a:effectLst/>
                <a:uFillTx/>
                <a:latin typeface="Courier New"/>
                <a:ea typeface="Arial"/>
              </a:rPr>
              <a:t> </a:t>
            </a:r>
            <a:r>
              <a:rPr lang="en-US" sz="1400" b="1" u="none" strike="noStrike">
                <a:solidFill>
                  <a:srgbClr val="267F99"/>
                </a:solidFill>
                <a:effectLst/>
                <a:uFillTx/>
                <a:latin typeface="Courier New"/>
                <a:ea typeface="Arial"/>
              </a:rPr>
              <a:t>RobotLib</a:t>
            </a:r>
            <a:r>
              <a:rPr lang="en-US" sz="1400" b="1" u="none" strike="noStrike">
                <a:solidFill>
                  <a:srgbClr val="3B3B3B"/>
                </a:solidFill>
                <a:effectLst/>
                <a:uFillTx/>
                <a:latin typeface="Courier New"/>
                <a:ea typeface="Arial"/>
              </a:rPr>
              <a:t>.turnRobot(</a:t>
            </a:r>
            <a:r>
              <a:rPr lang="en-US" sz="1400" b="1" u="none" strike="noStrike">
                <a:solidFill>
                  <a:srgbClr val="098658"/>
                </a:solidFill>
                <a:effectLst/>
                <a:uFillTx/>
                <a:latin typeface="Courier New"/>
                <a:ea typeface="Arial"/>
              </a:rPr>
              <a:t>76</a:t>
            </a:r>
            <a:r>
              <a:rPr lang="en-US" sz="1400" b="1" u="none" strike="noStrike">
                <a:solidFill>
                  <a:srgbClr val="3B3B3B"/>
                </a:solidFill>
                <a:effectLst/>
                <a:uFillTx/>
                <a:latin typeface="Courier New"/>
                <a:ea typeface="Arial"/>
              </a:rPr>
              <a:t>,</a:t>
            </a:r>
            <a:r>
              <a:rPr lang="en-US" sz="1400" b="1" u="none" strike="noStrike">
                <a:solidFill>
                  <a:srgbClr val="098658"/>
                </a:solidFill>
                <a:effectLst/>
                <a:uFillTx/>
                <a:latin typeface="Courier New"/>
                <a:ea typeface="Arial"/>
              </a:rPr>
              <a:t>200</a:t>
            </a:r>
            <a:r>
              <a:rPr lang="en-US" sz="1400" b="1" u="none" strike="noStrike">
                <a:solidFill>
                  <a:srgbClr val="3B3B3B"/>
                </a:solidFill>
                <a:effectLst/>
                <a:uFillTx/>
                <a:latin typeface="Courier New"/>
                <a:ea typeface="Arial"/>
              </a:rPr>
              <a:t>,</a:t>
            </a:r>
            <a:r>
              <a:rPr lang="en-US" sz="1400" b="1" u="none" strike="noStrike">
                <a:solidFill>
                  <a:srgbClr val="098658"/>
                </a:solidFill>
                <a:effectLst/>
                <a:uFillTx/>
                <a:latin typeface="Courier New"/>
                <a:ea typeface="Arial"/>
              </a:rPr>
              <a:t>200</a:t>
            </a:r>
            <a:r>
              <a:rPr lang="en-US" sz="1400" b="1" u="none" strike="noStrike">
                <a:solidFill>
                  <a:srgbClr val="3B3B3B"/>
                </a:solidFill>
                <a:effectLst/>
                <a:uFillTx/>
                <a:latin typeface="Courier New"/>
                <a:ea typeface="Arial"/>
              </a:rPr>
              <a:t>)</a:t>
            </a:r>
            <a:endParaRPr lang="en-US" sz="1400" b="0" u="none" strike="noStrike">
              <a:solidFill>
                <a:srgbClr val="000000"/>
              </a:solidFill>
              <a:effectLst/>
              <a:uFillTx/>
              <a:latin typeface="Arial"/>
            </a:endParaRPr>
          </a:p>
          <a:p>
            <a:pPr marL="596880" indent="0" algn="l">
              <a:lnSpc>
                <a:spcPct val="115000"/>
              </a:lnSpc>
              <a:buNone/>
              <a:tabLst>
                <a:tab pos="0" algn="l"/>
              </a:tabLst>
            </a:pP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tabLst>
                <a:tab pos="0" algn="l"/>
              </a:tabLst>
            </a:pPr>
            <a:r>
              <a:rPr lang="en-US" sz="1800" b="0" u="none" strike="noStrike">
                <a:solidFill>
                  <a:schemeClr val="dk1"/>
                </a:solidFill>
                <a:effectLst/>
                <a:uFillTx/>
                <a:latin typeface="Arial"/>
                <a:ea typeface="Arial"/>
              </a:rPr>
              <a:t>You can mix direct Pybricks commands with RobotLib commands if needed</a:t>
            </a:r>
            <a:endParaRPr lang="en-US" sz="1800" b="0" u="none" strike="noStrike">
              <a:solidFill>
                <a:srgbClr val="000000"/>
              </a:solidFill>
              <a:effectLst/>
              <a:uFillTx/>
              <a:latin typeface="Arial"/>
            </a:endParaRPr>
          </a:p>
          <a:p>
            <a:pPr indent="0" algn="l">
              <a:lnSpc>
                <a:spcPct val="115000"/>
              </a:lnSpc>
              <a:buNone/>
              <a:tabLst>
                <a:tab pos="0" algn="l"/>
              </a:tabLst>
            </a:pPr>
            <a:endParaRPr lang="en-US" sz="1800" b="0" u="none" strike="noStrike">
              <a:solidFill>
                <a:srgbClr val="000000"/>
              </a:solidFill>
              <a:effectLst/>
              <a:uFillTx/>
              <a:latin typeface="Arial"/>
            </a:endParaRPr>
          </a:p>
        </p:txBody>
      </p:sp>
      <p:sp>
        <p:nvSpPr>
          <p:cNvPr id="482" name="PlaceHolder 3"/>
          <p:cNvSpPr>
            <a:spLocks noGrp="1"/>
          </p:cNvSpPr>
          <p:nvPr>
            <p:ph type="sldNum" idx="9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459C456-FBF7-4F9D-B93F-1C1FC5461F1A}" type="slidenum">
              <a:rPr lang="en" sz="1000" b="0" u="none" strike="noStrike">
                <a:solidFill>
                  <a:schemeClr val="dk2"/>
                </a:solidFill>
                <a:effectLst/>
                <a:uFillTx/>
                <a:latin typeface="Arial"/>
                <a:ea typeface="Arial"/>
              </a:rPr>
              <a:t>85</a:t>
            </a:fld>
            <a:endParaRPr lang="en-US" sz="1000" b="0" u="none" strike="noStrike">
              <a:solidFill>
                <a:srgbClr val="000000"/>
              </a:solidFill>
              <a:effectLst/>
              <a:uFillTx/>
              <a:latin typeface="Times New Roman"/>
            </a:endParaRPr>
          </a:p>
        </p:txBody>
      </p:sp>
      <p:sp>
        <p:nvSpPr>
          <p:cNvPr id="483" name="TextBox 6"/>
          <p:cNvSpPr/>
          <p:nvPr/>
        </p:nvSpPr>
        <p:spPr>
          <a:xfrm>
            <a:off x="6687000" y="3451680"/>
            <a:ext cx="205164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Two robot library functions</a:t>
            </a:r>
            <a:endParaRPr lang="en-US" sz="1400" b="0" u="none" strike="noStrike">
              <a:solidFill>
                <a:srgbClr val="000000"/>
              </a:solidFill>
              <a:effectLst/>
              <a:uFillTx/>
              <a:latin typeface="Arial"/>
            </a:endParaRPr>
          </a:p>
        </p:txBody>
      </p:sp>
      <p:cxnSp>
        <p:nvCxnSpPr>
          <p:cNvPr id="484" name="Straight Arrow Connector 7"/>
          <p:cNvCxnSpPr>
            <a:stCxn id="483" idx="1"/>
          </p:cNvCxnSpPr>
          <p:nvPr/>
        </p:nvCxnSpPr>
        <p:spPr>
          <a:xfrm flipH="1" flipV="1">
            <a:off x="5165280" y="3657600"/>
            <a:ext cx="1522080" cy="55800"/>
          </a:xfrm>
          <a:prstGeom prst="straightConnector1">
            <a:avLst/>
          </a:prstGeom>
          <a:ln w="73025">
            <a:solidFill>
              <a:srgbClr val="000000"/>
            </a:solidFill>
            <a:round/>
            <a:tailEnd type="triangle" w="med" len="med"/>
          </a:ln>
        </p:spPr>
      </p:cxnSp>
      <p:sp>
        <p:nvSpPr>
          <p:cNvPr id="485" name="TextBox 9"/>
          <p:cNvSpPr/>
          <p:nvPr/>
        </p:nvSpPr>
        <p:spPr>
          <a:xfrm>
            <a:off x="6687000" y="2775240"/>
            <a:ext cx="2051640" cy="522720"/>
          </a:xfrm>
          <a:prstGeom prst="rect">
            <a:avLst/>
          </a:prstGeom>
          <a:solidFill>
            <a:schemeClr val="accent4">
              <a:lumMod val="60000"/>
              <a:lumOff val="4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Four Pybricks library functions</a:t>
            </a:r>
            <a:endParaRPr lang="en-US" sz="1400" b="0" u="none" strike="noStrike">
              <a:solidFill>
                <a:srgbClr val="000000"/>
              </a:solidFill>
              <a:effectLst/>
              <a:uFillTx/>
              <a:latin typeface="Arial"/>
            </a:endParaRPr>
          </a:p>
        </p:txBody>
      </p:sp>
      <p:cxnSp>
        <p:nvCxnSpPr>
          <p:cNvPr id="486" name="Straight Arrow Connector 12"/>
          <p:cNvCxnSpPr>
            <a:stCxn id="485" idx="1"/>
          </p:cNvCxnSpPr>
          <p:nvPr/>
        </p:nvCxnSpPr>
        <p:spPr>
          <a:xfrm flipH="1" flipV="1">
            <a:off x="5353560" y="2926080"/>
            <a:ext cx="1333800" cy="110880"/>
          </a:xfrm>
          <a:prstGeom prst="straightConnector1">
            <a:avLst/>
          </a:prstGeom>
          <a:ln w="73025">
            <a:solidFill>
              <a:srgbClr val="000000"/>
            </a:solidFill>
            <a:round/>
            <a:tailEnd type="triangle" w="med" len="med"/>
          </a:ln>
        </p:spPr>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Examples of Using the Robot Library </a:t>
            </a:r>
            <a:endParaRPr lang="en-US" sz="3600" b="0" u="none" strike="noStrike">
              <a:solidFill>
                <a:srgbClr val="000000"/>
              </a:solidFill>
              <a:effectLst/>
              <a:uFillTx/>
              <a:latin typeface="Arial"/>
            </a:endParaRPr>
          </a:p>
        </p:txBody>
      </p:sp>
      <p:sp>
        <p:nvSpPr>
          <p:cNvPr id="488" name="PlaceHolder 2"/>
          <p:cNvSpPr>
            <a:spLocks noGrp="1"/>
          </p:cNvSpPr>
          <p:nvPr>
            <p:ph type="sldNum" idx="9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FE19A85A-4C13-4F41-A8DF-6594E9B3B1BF}" type="slidenum">
              <a:rPr lang="en" sz="1000" b="0" u="none" strike="noStrike">
                <a:solidFill>
                  <a:schemeClr val="dk2"/>
                </a:solidFill>
                <a:effectLst/>
                <a:uFillTx/>
                <a:latin typeface="Arial"/>
                <a:ea typeface="Arial"/>
              </a:rPr>
              <a:t>86</a:t>
            </a:fld>
            <a:endParaRPr lang="en-US" sz="1000" b="0" u="none" strike="noStrike">
              <a:solidFill>
                <a:srgbClr val="000000"/>
              </a:solidFill>
              <a:effectLst/>
              <a:uFillTx/>
              <a:latin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Robot Lib Example (1/3)</a:t>
            </a:r>
            <a:endParaRPr lang="en-US" sz="2500" b="0" u="none" strike="noStrike">
              <a:solidFill>
                <a:srgbClr val="000000"/>
              </a:solidFill>
              <a:effectLst/>
              <a:uFillTx/>
              <a:latin typeface="Arial"/>
            </a:endParaRPr>
          </a:p>
        </p:txBody>
      </p:sp>
      <p:sp>
        <p:nvSpPr>
          <p:cNvPr id="490" name="PlaceHolder 2"/>
          <p:cNvSpPr>
            <a:spLocks noGrp="1"/>
          </p:cNvSpPr>
          <p:nvPr>
            <p:ph type="sldNum" idx="99"/>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313FA9F-10CC-4A18-B93E-9C44E7540431}" type="slidenum">
              <a:rPr lang="en" sz="1000" b="0" u="none" strike="noStrike">
                <a:solidFill>
                  <a:schemeClr val="dk2"/>
                </a:solidFill>
                <a:effectLst/>
                <a:uFillTx/>
                <a:latin typeface="Arial"/>
                <a:ea typeface="Arial"/>
              </a:rPr>
              <a:t>87</a:t>
            </a:fld>
            <a:endParaRPr lang="en-US" sz="1000" b="0" u="none" strike="noStrike">
              <a:solidFill>
                <a:srgbClr val="000000"/>
              </a:solidFill>
              <a:effectLst/>
              <a:uFillTx/>
              <a:latin typeface="Times New Roman"/>
            </a:endParaRPr>
          </a:p>
        </p:txBody>
      </p:sp>
      <p:sp>
        <p:nvSpPr>
          <p:cNvPr id="491" name="TextBox 4"/>
          <p:cNvSpPr/>
          <p:nvPr/>
        </p:nvSpPr>
        <p:spPr>
          <a:xfrm>
            <a:off x="223200" y="760680"/>
            <a:ext cx="8443440" cy="386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200" b="1" u="none" strike="noStrike">
                <a:solidFill>
                  <a:srgbClr val="008000"/>
                </a:solidFill>
                <a:effectLst/>
                <a:uFillTx/>
                <a:latin typeface="Menlo"/>
                <a:ea typeface="Arial"/>
              </a:rPr>
              <a:t># Robot Lib Demonstration</a:t>
            </a:r>
            <a:endParaRPr lang="en-US" sz="1200" b="0" u="none" strike="noStrike">
              <a:solidFill>
                <a:srgbClr val="000000"/>
              </a:solidFill>
              <a:effectLst/>
              <a:uFillTx/>
              <a:latin typeface="Arial"/>
            </a:endParaRPr>
          </a:p>
          <a:p>
            <a:pPr>
              <a:lnSpc>
                <a:spcPts val="1349"/>
              </a:lnSpc>
            </a:pPr>
            <a:r>
              <a:rPr lang="en-US" sz="1200" b="1" u="none" strike="noStrike">
                <a:solidFill>
                  <a:srgbClr val="008000"/>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008000"/>
                </a:solidFill>
                <a:effectLst/>
                <a:uFillTx/>
                <a:latin typeface="Menlo"/>
                <a:ea typeface="Arial"/>
              </a:rPr>
              <a:t># task revision number</a:t>
            </a:r>
            <a:endParaRPr lang="en-US" sz="1200" b="0" u="none" strike="noStrike">
              <a:solidFill>
                <a:srgbClr val="000000"/>
              </a:solidFill>
              <a:effectLst/>
              <a:uFillTx/>
              <a:latin typeface="Arial"/>
            </a:endParaRPr>
          </a:p>
          <a:p>
            <a:pPr>
              <a:lnSpc>
                <a:spcPts val="1349"/>
              </a:lnSpc>
            </a:pPr>
            <a:r>
              <a:rPr lang="en-US" sz="1200" b="1" u="none" strike="noStrike">
                <a:solidFill>
                  <a:srgbClr val="001080"/>
                </a:solidFill>
                <a:effectLst/>
                <a:uFillTx/>
                <a:latin typeface="Menlo"/>
                <a:ea typeface="Arial"/>
              </a:rPr>
              <a:t>t1_revision</a:t>
            </a:r>
            <a:r>
              <a:rPr lang="en-US" sz="1200" b="1" u="none" strike="noStrike">
                <a:solidFill>
                  <a:srgbClr val="000000"/>
                </a:solidFill>
                <a:effectLst/>
                <a:uFillTx/>
                <a:latin typeface="Menlo"/>
                <a:ea typeface="Arial"/>
              </a:rPr>
              <a:t>=</a:t>
            </a:r>
            <a:r>
              <a:rPr lang="en-US" sz="1200" b="1" u="none" strike="noStrike">
                <a:solidFill>
                  <a:srgbClr val="A31515"/>
                </a:solidFill>
                <a:effectLst/>
                <a:uFillTx/>
                <a:latin typeface="Menlo"/>
                <a:ea typeface="Arial"/>
              </a:rPr>
              <a:t>"2"</a:t>
            </a:r>
            <a:endParaRPr lang="en-US" sz="1200" b="0" u="none" strike="noStrike">
              <a:solidFill>
                <a:srgbClr val="000000"/>
              </a:solidFill>
              <a:effectLst/>
              <a:uFillTx/>
              <a:latin typeface="Arial"/>
            </a:endParaRPr>
          </a:p>
          <a:p>
            <a:pPr>
              <a:lnSpc>
                <a:spcPts val="1349"/>
              </a:lnSpc>
            </a:pPr>
            <a:r>
              <a:rPr lang="en-US" sz="1200" b="1" u="none" strike="noStrike">
                <a:solidFill>
                  <a:srgbClr val="008000"/>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import</a:t>
            </a:r>
            <a:r>
              <a:rPr lang="en-US" sz="1200" b="1" u="none" strike="noStrike">
                <a:solidFill>
                  <a:srgbClr val="3B3B3B"/>
                </a:solidFill>
                <a:effectLst/>
                <a:uFillTx/>
                <a:latin typeface="Menlo"/>
                <a:ea typeface="Arial"/>
              </a:rPr>
              <a:t> pybricks_class_library_rev4 </a:t>
            </a:r>
            <a:r>
              <a:rPr lang="en-US" sz="1200" b="1" u="none" strike="noStrike">
                <a:solidFill>
                  <a:srgbClr val="AF00DB"/>
                </a:solidFill>
                <a:effectLst/>
                <a:uFillTx/>
                <a:latin typeface="Menlo"/>
                <a:ea typeface="Arial"/>
              </a:rPr>
              <a:t>as</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endParaRPr lang="en-US" sz="1200" b="0" u="none" strike="noStrike">
              <a:solidFill>
                <a:srgbClr val="000000"/>
              </a:solidFill>
              <a:effectLst/>
              <a:uFillTx/>
              <a:latin typeface="Arial"/>
            </a:endParaRPr>
          </a:p>
          <a:p>
            <a:pPr>
              <a:lnSpc>
                <a:spcPts val="1349"/>
              </a:lnSpc>
            </a:pPr>
            <a:br>
              <a:rPr sz="1200"/>
            </a:br>
            <a:endParaRPr lang="en-US" sz="1200" b="0" u="none" strike="noStrike">
              <a:solidFill>
                <a:srgbClr val="000000"/>
              </a:solidFill>
              <a:effectLst/>
              <a:uFillTx/>
              <a:latin typeface="Arial"/>
            </a:endParaRPr>
          </a:p>
          <a:p>
            <a:pPr>
              <a:lnSpc>
                <a:spcPts val="1349"/>
              </a:lnSpc>
            </a:pPr>
            <a:r>
              <a:rPr lang="en-US" sz="1200" b="1" u="none" strike="noStrike">
                <a:solidFill>
                  <a:srgbClr val="0000FF"/>
                </a:solidFill>
                <a:effectLst/>
                <a:uFillTx/>
                <a:latin typeface="Menlo"/>
                <a:ea typeface="Arial"/>
              </a:rPr>
              <a:t>async</a:t>
            </a:r>
            <a:r>
              <a:rPr lang="en-US" sz="1200" b="1" u="none" strike="noStrike">
                <a:solidFill>
                  <a:srgbClr val="3B3B3B"/>
                </a:solidFill>
                <a:effectLst/>
                <a:uFillTx/>
                <a:latin typeface="Menlo"/>
                <a:ea typeface="Arial"/>
              </a:rPr>
              <a:t> </a:t>
            </a:r>
            <a:r>
              <a:rPr lang="en-US" sz="1200" b="1" u="none" strike="noStrike">
                <a:solidFill>
                  <a:srgbClr val="0000FF"/>
                </a:solidFill>
                <a:effectLst/>
                <a:uFillTx/>
                <a:latin typeface="Menlo"/>
                <a:ea typeface="Arial"/>
              </a:rPr>
              <a:t>def</a:t>
            </a:r>
            <a:r>
              <a:rPr lang="en-US" sz="1200" b="1" u="none" strike="noStrike">
                <a:solidFill>
                  <a:srgbClr val="3B3B3B"/>
                </a:solidFill>
                <a:effectLst/>
                <a:uFillTx/>
                <a:latin typeface="Menlo"/>
                <a:ea typeface="Arial"/>
              </a:rPr>
              <a:t> </a:t>
            </a:r>
            <a:r>
              <a:rPr lang="en-US" sz="1200" b="1" u="none" strike="noStrike">
                <a:solidFill>
                  <a:srgbClr val="795E26"/>
                </a:solidFill>
                <a:effectLst/>
                <a:uFillTx/>
                <a:latin typeface="Menlo"/>
                <a:ea typeface="Arial"/>
              </a:rPr>
              <a:t>pybricks_class_task4</a:t>
            </a:r>
            <a:r>
              <a:rPr lang="en-US" sz="1200" b="1" u="none" strike="noStrike">
                <a:solidFill>
                  <a:srgbClr val="3B3B3B"/>
                </a:solidFill>
                <a:effectLst/>
                <a:uFillTx/>
                <a:latin typeface="Menlo"/>
                <a:ea typeface="Arial"/>
              </a:rPr>
              <a:t>(): </a:t>
            </a:r>
            <a:endParaRPr lang="en-US" sz="1200" b="0" u="none" strike="noStrike">
              <a:solidFill>
                <a:srgbClr val="000000"/>
              </a:solidFill>
              <a:effectLst/>
              <a:uFillTx/>
              <a:latin typeface="Arial"/>
            </a:endParaRPr>
          </a:p>
          <a:p>
            <a:pPr>
              <a:lnSpc>
                <a:spcPts val="1349"/>
              </a:lnSpc>
            </a:pPr>
            <a:r>
              <a:rPr lang="en-US" sz="1200" b="1" u="none" strike="noStrike">
                <a:solidFill>
                  <a:srgbClr val="795E26"/>
                </a:solidFill>
                <a:effectLst/>
                <a:uFillTx/>
                <a:latin typeface="Menlo"/>
                <a:ea typeface="Arial"/>
              </a:rPr>
              <a:t>   print</a:t>
            </a:r>
            <a:r>
              <a:rPr lang="en-US" sz="1200" b="1" u="none" strike="noStrike">
                <a:solidFill>
                  <a:srgbClr val="3B3B3B"/>
                </a:solidFill>
                <a:effectLst/>
                <a:uFillTx/>
                <a:latin typeface="Menlo"/>
                <a:ea typeface="Arial"/>
              </a:rPr>
              <a:t> (</a:t>
            </a:r>
            <a:r>
              <a:rPr lang="en-US" sz="1200" b="1" u="none" strike="noStrike">
                <a:solidFill>
                  <a:srgbClr val="A31515"/>
                </a:solidFill>
                <a:effectLst/>
                <a:uFillTx/>
                <a:latin typeface="Menlo"/>
                <a:ea typeface="Arial"/>
              </a:rPr>
              <a:t>"Robot Library Demonstration, Suibmerged Demo rev="</a:t>
            </a:r>
            <a:r>
              <a:rPr lang="en-US" sz="1200" b="1" u="none" strike="noStrike">
                <a:solidFill>
                  <a:srgbClr val="3B3B3B"/>
                </a:solidFill>
                <a:effectLst/>
                <a:uFillTx/>
                <a:latin typeface="Menlo"/>
                <a:ea typeface="Arial"/>
              </a:rPr>
              <a:t>,</a:t>
            </a:r>
            <a:r>
              <a:rPr lang="en-US" sz="1200" b="1" u="none" strike="noStrike">
                <a:solidFill>
                  <a:srgbClr val="001080"/>
                </a:solidFill>
                <a:effectLst/>
                <a:uFillTx/>
                <a:latin typeface="Menlo"/>
                <a:ea typeface="Arial"/>
              </a:rPr>
              <a:t>t1_revision</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.initializeRobotForTask()</a:t>
            </a:r>
            <a:br>
              <a:rPr sz="1200"/>
            </a:b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.wait(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.debugL1: </a:t>
            </a:r>
            <a:r>
              <a:rPr lang="en-US" sz="1200" b="1" u="none" strike="noStrike">
                <a:solidFill>
                  <a:srgbClr val="795E26"/>
                </a:solidFill>
                <a:effectLst/>
                <a:uFillTx/>
                <a:latin typeface="Menlo"/>
                <a:ea typeface="Arial"/>
              </a:rPr>
              <a:t>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 get and place coral tree"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98658"/>
                </a:solidFill>
                <a:effectLst/>
                <a:uFillTx/>
                <a:latin typeface="Menlo"/>
                <a:ea typeface="Arial"/>
              </a:rPr>
              <a:t>285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750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500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.driveRobotAndLift(</a:t>
            </a:r>
            <a:r>
              <a:rPr lang="en-US" sz="1200" b="1" u="none" strike="noStrike">
                <a:solidFill>
                  <a:srgbClr val="098658"/>
                </a:solidFill>
                <a:effectLst/>
                <a:uFillTx/>
                <a:latin typeface="Menlo"/>
                <a:ea typeface="Arial"/>
              </a:rPr>
              <a:t>160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"left"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1750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.turnRobot(</a:t>
            </a:r>
            <a:r>
              <a:rPr lang="en-US" sz="1200" b="1" u="none" strike="noStrike">
                <a:solidFill>
                  <a:srgbClr val="098658"/>
                </a:solidFill>
                <a:effectLst/>
                <a:uFillTx/>
                <a:latin typeface="Menlo"/>
                <a:ea typeface="Arial"/>
              </a:rPr>
              <a:t>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.driveRobotAndLift(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230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300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150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"left"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r>
              <a:rPr lang="en-US" sz="1200" b="1" u="none" strike="noStrike">
                <a:solidFill>
                  <a:srgbClr val="AF00DB"/>
                </a:solidFill>
                <a:effectLst/>
                <a:uFillTx/>
                <a:latin typeface="Menlo"/>
                <a:ea typeface="Arial"/>
              </a:rPr>
              <a:t>   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.turnRobotAndLift(</a:t>
            </a:r>
            <a:r>
              <a:rPr lang="en-US" sz="1200" b="1" u="none" strike="noStrike">
                <a:solidFill>
                  <a:srgbClr val="098658"/>
                </a:solidFill>
                <a:effectLst/>
                <a:uFillTx/>
                <a:latin typeface="Menlo"/>
                <a:ea typeface="Arial"/>
              </a:rPr>
              <a:t>25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"left"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1850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pPr>
            <a:br>
              <a:rPr sz="1200"/>
            </a:br>
            <a:endParaRPr lang="en-US" sz="1200" b="0" u="none" strike="noStrike">
              <a:solidFill>
                <a:srgbClr val="000000"/>
              </a:solidFill>
              <a:effectLst/>
              <a:uFillTx/>
              <a:latin typeface="Arial"/>
            </a:endParaRPr>
          </a:p>
        </p:txBody>
      </p:sp>
      <p:sp>
        <p:nvSpPr>
          <p:cNvPr id="492" name="TextBox 5"/>
          <p:cNvSpPr/>
          <p:nvPr/>
        </p:nvSpPr>
        <p:spPr>
          <a:xfrm>
            <a:off x="5815440" y="706320"/>
            <a:ext cx="3104640" cy="160020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Imports the robot library which include the Pybricks libraries as </a:t>
            </a:r>
            <a:r>
              <a:rPr lang="en-US" sz="1400" b="1" u="none" strike="noStrike">
                <a:solidFill>
                  <a:srgbClr val="000000"/>
                </a:solidFill>
                <a:effectLst/>
                <a:uFillTx/>
                <a:latin typeface="Courier New"/>
                <a:ea typeface="Arial"/>
              </a:rPr>
              <a:t>RobotLib</a:t>
            </a:r>
            <a:r>
              <a:rPr lang="en-US" sz="1400" b="0" u="none" strike="noStrike">
                <a:solidFill>
                  <a:srgbClr val="000000"/>
                </a:solidFill>
                <a:effectLst/>
                <a:uFillTx/>
                <a:latin typeface="Courier New"/>
                <a:ea typeface="Arial"/>
              </a:rPr>
              <a:t>.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Courier New"/>
                <a:ea typeface="Arial"/>
              </a:rPr>
              <a:t>RobotLib</a:t>
            </a:r>
            <a:r>
              <a:rPr lang="en-US" sz="1400" b="0" u="none" strike="noStrike">
                <a:solidFill>
                  <a:srgbClr val="000000"/>
                </a:solidFill>
                <a:effectLst/>
                <a:uFillTx/>
                <a:latin typeface="Arial"/>
                <a:ea typeface="Arial"/>
              </a:rPr>
              <a:t> is used to reference those variables and functions in your code</a:t>
            </a:r>
            <a:endParaRPr lang="en-US" sz="1400" b="0" u="none" strike="noStrike">
              <a:solidFill>
                <a:srgbClr val="000000"/>
              </a:solidFill>
              <a:effectLst/>
              <a:uFillTx/>
              <a:latin typeface="Arial"/>
            </a:endParaRPr>
          </a:p>
        </p:txBody>
      </p:sp>
      <p:cxnSp>
        <p:nvCxnSpPr>
          <p:cNvPr id="493" name="Straight Arrow Connector 6"/>
          <p:cNvCxnSpPr>
            <a:stCxn id="492" idx="1"/>
          </p:cNvCxnSpPr>
          <p:nvPr/>
        </p:nvCxnSpPr>
        <p:spPr>
          <a:xfrm flipH="1">
            <a:off x="4727160" y="1506600"/>
            <a:ext cx="1088640" cy="154080"/>
          </a:xfrm>
          <a:prstGeom prst="straightConnector1">
            <a:avLst/>
          </a:prstGeom>
          <a:ln w="73025">
            <a:solidFill>
              <a:srgbClr val="000000"/>
            </a:solidFill>
            <a:round/>
            <a:tailEnd type="triangle" w="med" len="med"/>
          </a:ln>
        </p:spPr>
      </p:cxnSp>
      <p:sp>
        <p:nvSpPr>
          <p:cNvPr id="494" name="TextBox 9"/>
          <p:cNvSpPr/>
          <p:nvPr/>
        </p:nvSpPr>
        <p:spPr>
          <a:xfrm>
            <a:off x="6656760" y="2706840"/>
            <a:ext cx="2263320" cy="52272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Example of debug statement</a:t>
            </a:r>
            <a:endParaRPr lang="en-US" sz="1400" b="0" u="none" strike="noStrike">
              <a:solidFill>
                <a:srgbClr val="000000"/>
              </a:solidFill>
              <a:effectLst/>
              <a:uFillTx/>
              <a:latin typeface="Arial"/>
            </a:endParaRPr>
          </a:p>
        </p:txBody>
      </p:sp>
      <p:cxnSp>
        <p:nvCxnSpPr>
          <p:cNvPr id="495" name="Straight Arrow Connector 10"/>
          <p:cNvCxnSpPr>
            <a:stCxn id="494" idx="1"/>
          </p:cNvCxnSpPr>
          <p:nvPr/>
        </p:nvCxnSpPr>
        <p:spPr>
          <a:xfrm flipH="1">
            <a:off x="5715000" y="2968200"/>
            <a:ext cx="942120" cy="180720"/>
          </a:xfrm>
          <a:prstGeom prst="straightConnector1">
            <a:avLst/>
          </a:prstGeom>
          <a:ln w="73025">
            <a:solidFill>
              <a:srgbClr val="000000"/>
            </a:solidFill>
            <a:round/>
            <a:tailEnd type="triangle" w="med" len="med"/>
          </a:ln>
        </p:spPr>
      </p:cxnSp>
      <p:sp>
        <p:nvSpPr>
          <p:cNvPr id="496" name="TextBox 13"/>
          <p:cNvSpPr/>
          <p:nvPr/>
        </p:nvSpPr>
        <p:spPr>
          <a:xfrm>
            <a:off x="2827080" y="4382640"/>
            <a:ext cx="3748680" cy="73836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All library functions, variables, and Pybricks functions need to prefixed with “</a:t>
            </a:r>
            <a:r>
              <a:rPr lang="en-US" sz="1400" b="1" u="none" strike="noStrike">
                <a:solidFill>
                  <a:srgbClr val="000000"/>
                </a:solidFill>
                <a:effectLst/>
                <a:uFillTx/>
                <a:latin typeface="Courier New"/>
                <a:ea typeface="Arial"/>
              </a:rPr>
              <a:t>RoboLib.” </a:t>
            </a:r>
            <a:r>
              <a:rPr lang="en-US" sz="1400" b="0" u="none" strike="noStrike">
                <a:solidFill>
                  <a:srgbClr val="000000"/>
                </a:solidFill>
                <a:effectLst/>
                <a:uFillTx/>
                <a:latin typeface="Arial"/>
                <a:ea typeface="Arial"/>
              </a:rPr>
              <a:t>including the period after Lib</a:t>
            </a:r>
            <a:endParaRPr lang="en-US" sz="1400" b="0" u="none" strike="noStrike">
              <a:solidFill>
                <a:srgbClr val="000000"/>
              </a:solidFill>
              <a:effectLst/>
              <a:uFillTx/>
              <a:latin typeface="Arial"/>
            </a:endParaRPr>
          </a:p>
        </p:txBody>
      </p:sp>
      <p:cxnSp>
        <p:nvCxnSpPr>
          <p:cNvPr id="497" name="Straight Arrow Connector 14"/>
          <p:cNvCxnSpPr>
            <a:stCxn id="496" idx="1"/>
          </p:cNvCxnSpPr>
          <p:nvPr/>
        </p:nvCxnSpPr>
        <p:spPr>
          <a:xfrm flipH="1" flipV="1">
            <a:off x="1545120" y="4304880"/>
            <a:ext cx="1282320" cy="447480"/>
          </a:xfrm>
          <a:prstGeom prst="straightConnector1">
            <a:avLst/>
          </a:prstGeom>
          <a:ln w="73025">
            <a:solidFill>
              <a:srgbClr val="000000"/>
            </a:solidFill>
            <a:round/>
            <a:tailEnd type="triangle" w="med" len="med"/>
          </a:ln>
        </p:spPr>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pPr>
            <a:r>
              <a:rPr lang="en-US" sz="2500" b="1" u="none" strike="noStrike">
                <a:solidFill>
                  <a:schemeClr val="lt1"/>
                </a:solidFill>
                <a:effectLst/>
                <a:uFillTx/>
                <a:latin typeface="Courier New"/>
                <a:ea typeface="Arial"/>
              </a:rPr>
              <a:t>Robot Lib Example (2/3)</a:t>
            </a:r>
            <a:endParaRPr lang="en-US" sz="2500" b="0" u="none" strike="noStrike">
              <a:solidFill>
                <a:srgbClr val="000000"/>
              </a:solidFill>
              <a:effectLst/>
              <a:uFillTx/>
              <a:latin typeface="Arial"/>
            </a:endParaRPr>
          </a:p>
        </p:txBody>
      </p:sp>
      <p:sp>
        <p:nvSpPr>
          <p:cNvPr id="499" name="PlaceHolder 2"/>
          <p:cNvSpPr>
            <a:spLocks noGrp="1"/>
          </p:cNvSpPr>
          <p:nvPr>
            <p:ph type="sldNum" idx="100"/>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2760D5DC-08CA-4084-9C6C-4F17A60B2879}" type="slidenum">
              <a:rPr lang="en" sz="1000" b="0" u="none" strike="noStrike">
                <a:solidFill>
                  <a:schemeClr val="dk2"/>
                </a:solidFill>
                <a:effectLst/>
                <a:uFillTx/>
                <a:latin typeface="Arial"/>
                <a:ea typeface="Arial"/>
              </a:rPr>
              <a:t>88</a:t>
            </a:fld>
            <a:endParaRPr lang="en-US" sz="1000" b="0" u="none" strike="noStrike">
              <a:solidFill>
                <a:srgbClr val="000000"/>
              </a:solidFill>
              <a:effectLst/>
              <a:uFillTx/>
              <a:latin typeface="Times New Roman"/>
            </a:endParaRPr>
          </a:p>
        </p:txBody>
      </p:sp>
      <p:sp>
        <p:nvSpPr>
          <p:cNvPr id="500" name="TextBox 5"/>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
        <p:nvSpPr>
          <p:cNvPr id="501" name="TextBox 6"/>
          <p:cNvSpPr/>
          <p:nvPr/>
        </p:nvSpPr>
        <p:spPr>
          <a:xfrm>
            <a:off x="587520" y="738360"/>
            <a:ext cx="7889040" cy="373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spcAft>
                <a:spcPts val="201"/>
              </a:spcAft>
            </a:pPr>
            <a:r>
              <a:rPr lang="en-US" sz="1200" b="1" u="none" strike="noStrike">
                <a:solidFill>
                  <a:srgbClr val="AF00DB"/>
                </a:solidFill>
                <a:effectLst/>
                <a:uFillTx/>
                <a:latin typeface="Menlo"/>
                <a:ea typeface="Arial"/>
              </a:rPr>
              <a:t>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.debugL1: </a:t>
            </a:r>
            <a:r>
              <a:rPr lang="en-US" sz="1200" b="1" u="none" strike="noStrike">
                <a:solidFill>
                  <a:srgbClr val="795E26"/>
                </a:solidFill>
                <a:effectLst/>
                <a:uFillTx/>
                <a:latin typeface="Menlo"/>
                <a:ea typeface="Arial"/>
              </a:rPr>
              <a:t>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 smash coral nursery"</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98658"/>
                </a:solidFill>
                <a:effectLst/>
                <a:uFillTx/>
                <a:latin typeface="Menlo"/>
                <a:ea typeface="Arial"/>
              </a:rPr>
              <a:t>580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850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500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.turnRobot(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15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.moveAttachment(</a:t>
            </a:r>
            <a:r>
              <a:rPr lang="en-US" sz="1200" b="1" u="none" strike="noStrike">
                <a:solidFill>
                  <a:srgbClr val="A31515"/>
                </a:solidFill>
                <a:effectLst/>
                <a:uFillTx/>
                <a:latin typeface="Menlo"/>
                <a:ea typeface="Arial"/>
              </a:rPr>
              <a:t>"right"</a:t>
            </a:r>
            <a:r>
              <a:rPr lang="en-US" sz="1200" b="1" u="none" strike="noStrike">
                <a:solidFill>
                  <a:srgbClr val="3B3B3B"/>
                </a:solidFill>
                <a:effectLst/>
                <a:uFillTx/>
                <a:latin typeface="Menlo"/>
                <a:ea typeface="Arial"/>
              </a:rPr>
              <a: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175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.moveAttachment(</a:t>
            </a:r>
            <a:r>
              <a:rPr lang="en-US" sz="1200" b="1" u="none" strike="noStrike">
                <a:solidFill>
                  <a:srgbClr val="A31515"/>
                </a:solidFill>
                <a:effectLst/>
                <a:uFillTx/>
                <a:latin typeface="Menlo"/>
                <a:ea typeface="Arial"/>
              </a:rPr>
              <a:t>"right"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105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400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.turnRobot(</a:t>
            </a:r>
            <a:r>
              <a:rPr lang="en-US" sz="1200" b="1" u="none" strike="noStrike">
                <a:solidFill>
                  <a:srgbClr val="098658"/>
                </a:solidFill>
                <a:effectLst/>
                <a:uFillTx/>
                <a:latin typeface="Menlo"/>
                <a:ea typeface="Arial"/>
              </a:rPr>
              <a:t>76</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br>
              <a:rPr sz="1200"/>
            </a:b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.debugL1: </a:t>
            </a:r>
            <a:r>
              <a:rPr lang="en-US" sz="1200" b="1" u="none" strike="noStrike">
                <a:solidFill>
                  <a:srgbClr val="795E26"/>
                </a:solidFill>
                <a:effectLst/>
                <a:uFillTx/>
                <a:latin typeface="Menlo"/>
                <a:ea typeface="Arial"/>
              </a:rPr>
              <a:t>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 lift mast"</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.driveRobotAndLift(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80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"right"</a:t>
            </a:r>
            <a:r>
              <a:rPr lang="en-US" sz="1200" b="1" u="none" strike="noStrike">
                <a:solidFill>
                  <a:srgbClr val="3B3B3B"/>
                </a:solidFill>
                <a:effectLst/>
                <a:uFillTx/>
                <a:latin typeface="Menlo"/>
                <a:ea typeface="Arial"/>
              </a:rPr>
              <a: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170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300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008000"/>
                </a:solidFill>
                <a:effectLst/>
                <a:uFillTx/>
                <a:latin typeface="Menlo"/>
                <a:ea typeface="Arial"/>
              </a:rPr>
              <a:t># drive slowly to light mast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.turnRobot(</a:t>
            </a:r>
            <a:r>
              <a:rPr lang="en-US" sz="1200" b="1" u="none" strike="noStrike">
                <a:solidFill>
                  <a:srgbClr val="098658"/>
                </a:solidFill>
                <a:effectLst/>
                <a:uFillTx/>
                <a:latin typeface="Menlo"/>
                <a:ea typeface="Arial"/>
              </a:rPr>
              <a:t>5</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98658"/>
                </a:solidFill>
                <a:effectLst/>
                <a:uFillTx/>
                <a:latin typeface="Menlo"/>
                <a:ea typeface="Arial"/>
              </a:rPr>
              <a:t>260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200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400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008000"/>
                </a:solidFill>
                <a:effectLst/>
                <a:uFillTx/>
                <a:latin typeface="Menlo"/>
                <a:ea typeface="Arial"/>
              </a:rPr>
              <a:t># drive away from ship and lift robot arm out of the way</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210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400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.moveAttachment(</a:t>
            </a:r>
            <a:r>
              <a:rPr lang="en-US" sz="1200" b="1" u="none" strike="noStrike">
                <a:solidFill>
                  <a:srgbClr val="A31515"/>
                </a:solidFill>
                <a:effectLst/>
                <a:uFillTx/>
                <a:latin typeface="Menlo"/>
                <a:ea typeface="Arial"/>
              </a:rPr>
              <a:t>"right"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"hold"</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False</a:t>
            </a:r>
            <a:r>
              <a:rPr lang="en-US" sz="1200" b="1" u="none" strike="noStrike">
                <a:solidFill>
                  <a:srgbClr val="3B3B3B"/>
                </a:solidFill>
                <a:effectLst/>
                <a:uFillTx/>
                <a:latin typeface="Menlo"/>
                <a:ea typeface="Arial"/>
              </a:rPr>
              <a:t>,</a:t>
            </a:r>
            <a:r>
              <a:rPr lang="en-US" sz="1200" b="1" u="none" strike="noStrike">
                <a:solidFill>
                  <a:srgbClr val="0000FF"/>
                </a:solidFill>
                <a:effectLst/>
                <a:uFillTx/>
                <a:latin typeface="Menlo"/>
                <a:ea typeface="Arial"/>
              </a:rPr>
              <a:t>True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ts val="1349"/>
              </a:lnSpc>
              <a:spcAft>
                <a:spcPts val="201"/>
              </a:spcAft>
            </a:pPr>
            <a:r>
              <a:rPr lang="en-US" sz="1200" b="1" u="none" strike="noStrike">
                <a:solidFill>
                  <a:srgbClr val="AF00DB"/>
                </a:solidFill>
                <a:effectLst/>
                <a:uFillTx/>
                <a:latin typeface="Menlo"/>
                <a:ea typeface="Arial"/>
              </a:rPr>
              <a:t>await</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RobotLib</a:t>
            </a:r>
            <a:r>
              <a:rPr lang="en-US" sz="1200" b="1" u="none" strike="noStrike">
                <a:solidFill>
                  <a:srgbClr val="3B3B3B"/>
                </a:solidFill>
                <a:effectLst/>
                <a:uFillTx/>
                <a:latin typeface="Menlo"/>
                <a:ea typeface="Arial"/>
              </a:rPr>
              <a:t>.driveRobot(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400</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1" u="none" strike="noStrike">
                <a:solidFill>
                  <a:schemeClr val="lt1"/>
                </a:solidFill>
                <a:effectLst/>
                <a:uFillTx/>
                <a:latin typeface="Courier New"/>
                <a:ea typeface="Arial"/>
              </a:rPr>
              <a:t>Robot Lib Example (3/3)</a:t>
            </a:r>
            <a:endParaRPr lang="en-US" sz="2500" b="0" u="none" strike="noStrike">
              <a:solidFill>
                <a:srgbClr val="000000"/>
              </a:solidFill>
              <a:effectLst/>
              <a:uFillTx/>
              <a:latin typeface="Arial"/>
            </a:endParaRPr>
          </a:p>
        </p:txBody>
      </p:sp>
      <p:sp>
        <p:nvSpPr>
          <p:cNvPr id="503" name="PlaceHolder 2"/>
          <p:cNvSpPr>
            <a:spLocks noGrp="1"/>
          </p:cNvSpPr>
          <p:nvPr>
            <p:ph type="sldNum" idx="101"/>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C0D5E8C-8171-41E8-BD13-6A189F962EFA}" type="slidenum">
              <a:rPr lang="en" sz="1000" b="0" u="none" strike="noStrike">
                <a:solidFill>
                  <a:schemeClr val="dk2"/>
                </a:solidFill>
                <a:effectLst/>
                <a:uFillTx/>
                <a:latin typeface="Arial"/>
                <a:ea typeface="Arial"/>
              </a:rPr>
              <a:t>89</a:t>
            </a:fld>
            <a:endParaRPr lang="en-US" sz="1000" b="0" u="none" strike="noStrike">
              <a:solidFill>
                <a:srgbClr val="000000"/>
              </a:solidFill>
              <a:effectLst/>
              <a:uFillTx/>
              <a:latin typeface="Times New Roman"/>
            </a:endParaRPr>
          </a:p>
        </p:txBody>
      </p:sp>
      <p:sp>
        <p:nvSpPr>
          <p:cNvPr id="504" name="TextBox 6"/>
          <p:cNvSpPr/>
          <p:nvPr/>
        </p:nvSpPr>
        <p:spPr>
          <a:xfrm>
            <a:off x="6417720" y="510480"/>
            <a:ext cx="2603160" cy="307440"/>
          </a:xfrm>
          <a:prstGeom prst="rect">
            <a:avLst/>
          </a:prstGeom>
          <a:solidFill>
            <a:srgbClr val="00FA00"/>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Continued from Previous Slide</a:t>
            </a:r>
            <a:endParaRPr lang="en-US" sz="1400" b="0" u="none" strike="noStrike">
              <a:solidFill>
                <a:srgbClr val="000000"/>
              </a:solidFill>
              <a:effectLst/>
              <a:uFillTx/>
              <a:latin typeface="Arial"/>
            </a:endParaRPr>
          </a:p>
        </p:txBody>
      </p:sp>
      <p:sp>
        <p:nvSpPr>
          <p:cNvPr id="505" name="TextBox 4"/>
          <p:cNvSpPr/>
          <p:nvPr/>
        </p:nvSpPr>
        <p:spPr>
          <a:xfrm>
            <a:off x="474120" y="1445040"/>
            <a:ext cx="6008400" cy="206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1" u="none" strike="noStrike">
                <a:solidFill>
                  <a:srgbClr val="AF00DB"/>
                </a:solidFill>
                <a:effectLst/>
                <a:uFillTx/>
                <a:latin typeface="Menlo"/>
                <a:ea typeface="Arial"/>
              </a:rPr>
              <a:t>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.debugL1: </a:t>
            </a: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 goto shark"</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await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.turnRobot(</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142</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200</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200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await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.driveRobot(</a:t>
            </a:r>
            <a:r>
              <a:rPr lang="en-US" sz="1400" b="1" u="none" strike="noStrike">
                <a:solidFill>
                  <a:srgbClr val="098658"/>
                </a:solidFill>
                <a:effectLst/>
                <a:uFillTx/>
                <a:latin typeface="Menlo"/>
                <a:ea typeface="Arial"/>
              </a:rPr>
              <a:t>300</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700</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500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.debugL1: </a:t>
            </a: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 move away from shark"</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await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.driveRobot(</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75</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500</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await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RobotLib</a:t>
            </a:r>
            <a:r>
              <a:rPr lang="en-US" sz="1400" b="1" u="none" strike="noStrike">
                <a:solidFill>
                  <a:srgbClr val="3B3B3B"/>
                </a:solidFill>
                <a:effectLst/>
                <a:uFillTx/>
                <a:latin typeface="Menlo"/>
                <a:ea typeface="Arial"/>
              </a:rPr>
              <a:t>.stopEverything()</a:t>
            </a:r>
            <a:endParaRPr lang="en-US" sz="1400" b="0" u="none" strike="noStrike">
              <a:solidFill>
                <a:srgbClr val="000000"/>
              </a:solidFill>
              <a:effectLst/>
              <a:uFillTx/>
              <a:latin typeface="Arial"/>
            </a:endParaRPr>
          </a:p>
          <a:p>
            <a:pPr>
              <a:lnSpc>
                <a:spcPts val="1349"/>
              </a:lnSpc>
            </a:pP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"Task 1 - Completed"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p:txBody>
      </p:sp>
      <p:sp>
        <p:nvSpPr>
          <p:cNvPr id="506" name="TextBox 8"/>
          <p:cNvSpPr/>
          <p:nvPr/>
        </p:nvSpPr>
        <p:spPr>
          <a:xfrm>
            <a:off x="6483240" y="2970720"/>
            <a:ext cx="2263320" cy="73836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run </a:t>
            </a:r>
            <a:r>
              <a:rPr lang="en-US" sz="1400" b="1" u="none" strike="noStrike">
                <a:solidFill>
                  <a:srgbClr val="000000"/>
                </a:solidFill>
                <a:effectLst/>
                <a:uFillTx/>
                <a:latin typeface="Courier New"/>
                <a:ea typeface="Arial"/>
              </a:rPr>
              <a:t>stopEverything()</a:t>
            </a:r>
            <a:r>
              <a:rPr lang="en-US" sz="1400" b="0" u="none" strike="noStrike">
                <a:solidFill>
                  <a:srgbClr val="000000"/>
                </a:solidFill>
                <a:effectLst/>
                <a:uFillTx/>
                <a:latin typeface="Arial"/>
                <a:ea typeface="Arial"/>
              </a:rPr>
              <a:t> to make sure robot is safe to pick at end of task</a:t>
            </a:r>
            <a:endParaRPr lang="en-US" sz="1400" b="0" u="none" strike="noStrike">
              <a:solidFill>
                <a:srgbClr val="000000"/>
              </a:solidFill>
              <a:effectLst/>
              <a:uFillTx/>
              <a:latin typeface="Arial"/>
            </a:endParaRPr>
          </a:p>
        </p:txBody>
      </p:sp>
      <p:cxnSp>
        <p:nvCxnSpPr>
          <p:cNvPr id="507" name="Straight Arrow Connector 9"/>
          <p:cNvCxnSpPr>
            <a:stCxn id="506" idx="1"/>
          </p:cNvCxnSpPr>
          <p:nvPr/>
        </p:nvCxnSpPr>
        <p:spPr>
          <a:xfrm flipH="1" flipV="1">
            <a:off x="3867840" y="3200400"/>
            <a:ext cx="2615760" cy="140040"/>
          </a:xfrm>
          <a:prstGeom prst="straightConnector1">
            <a:avLst/>
          </a:prstGeom>
          <a:ln w="73025">
            <a:solidFill>
              <a:srgbClr val="000000"/>
            </a:solidFill>
            <a:round/>
            <a:tailEnd type="triangle" w="med" len="med"/>
          </a:ln>
        </p:spPr>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Pybricks Library Menu (1/4)</a:t>
            </a:r>
            <a:endParaRPr lang="en-US" sz="2500" b="0" u="none" strike="noStrike">
              <a:solidFill>
                <a:srgbClr val="000000"/>
              </a:solidFill>
              <a:effectLst/>
              <a:uFillTx/>
              <a:latin typeface="Arial"/>
            </a:endParaRPr>
          </a:p>
        </p:txBody>
      </p:sp>
      <p:sp>
        <p:nvSpPr>
          <p:cNvPr id="509" name="PlaceHolder 2"/>
          <p:cNvSpPr>
            <a:spLocks noGrp="1"/>
          </p:cNvSpPr>
          <p:nvPr>
            <p:ph type="sldNum" idx="10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1E67481-8E73-4041-B1D1-F57B30C28B9E}" type="slidenum">
              <a:rPr lang="en" sz="1000" b="0" u="none" strike="noStrike">
                <a:solidFill>
                  <a:schemeClr val="dk2"/>
                </a:solidFill>
                <a:effectLst/>
                <a:uFillTx/>
                <a:latin typeface="Arial"/>
                <a:ea typeface="Arial"/>
              </a:rPr>
              <a:t>90</a:t>
            </a:fld>
            <a:endParaRPr lang="en-US" sz="1000" b="0" u="none" strike="noStrike">
              <a:solidFill>
                <a:srgbClr val="000000"/>
              </a:solidFill>
              <a:effectLst/>
              <a:uFillTx/>
              <a:latin typeface="Times New Roman"/>
            </a:endParaRPr>
          </a:p>
        </p:txBody>
      </p:sp>
      <p:sp>
        <p:nvSpPr>
          <p:cNvPr id="510" name="TextBox 5"/>
          <p:cNvSpPr/>
          <p:nvPr/>
        </p:nvSpPr>
        <p:spPr>
          <a:xfrm>
            <a:off x="286200" y="690840"/>
            <a:ext cx="8186040" cy="365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2024"/>
              </a:lnSpc>
            </a:pPr>
            <a:r>
              <a:rPr lang="en-US" sz="1200" b="1" u="none" strike="noStrike">
                <a:solidFill>
                  <a:srgbClr val="008E00"/>
                </a:solidFill>
                <a:effectLst/>
                <a:uFillTx/>
                <a:latin typeface="Menlo"/>
                <a:ea typeface="Arial"/>
              </a:rPr>
              <a:t># Pybricks Class Menu</a:t>
            </a:r>
            <a:endParaRPr lang="en-US" sz="1200" b="0" u="none" strike="noStrike">
              <a:solidFill>
                <a:srgbClr val="000000"/>
              </a:solidFill>
              <a:effectLst/>
              <a:uFillTx/>
              <a:latin typeface="Arial"/>
            </a:endParaRPr>
          </a:p>
          <a:p>
            <a:pPr>
              <a:lnSpc>
                <a:spcPts val="2024"/>
              </a:lnSpc>
            </a:pPr>
            <a:r>
              <a:rPr lang="en-US" sz="1200" b="1" u="none" strike="noStrike">
                <a:solidFill>
                  <a:srgbClr val="008E00"/>
                </a:solidFill>
                <a:effectLst/>
                <a:uFillTx/>
                <a:latin typeface="Menlo"/>
                <a:ea typeface="Arial"/>
              </a:rPr>
              <a:t># menu revision number</a:t>
            </a:r>
            <a:endParaRPr lang="en-US" sz="1200" b="0" u="none" strike="noStrike">
              <a:solidFill>
                <a:srgbClr val="000000"/>
              </a:solidFill>
              <a:effectLst/>
              <a:uFillTx/>
              <a:latin typeface="Arial"/>
            </a:endParaRPr>
          </a:p>
          <a:p>
            <a:pPr>
              <a:lnSpc>
                <a:spcPts val="2024"/>
              </a:lnSpc>
            </a:pPr>
            <a:r>
              <a:rPr lang="en-US" sz="1200" b="1" u="none" strike="noStrike">
                <a:solidFill>
                  <a:srgbClr val="000000"/>
                </a:solidFill>
                <a:effectLst/>
                <a:uFillTx/>
                <a:latin typeface="Menlo"/>
                <a:ea typeface="Arial"/>
              </a:rPr>
              <a:t>menu_revision=</a:t>
            </a:r>
            <a:r>
              <a:rPr lang="en-US" sz="1200" b="1" u="none" strike="noStrike">
                <a:solidFill>
                  <a:srgbClr val="DF0002"/>
                </a:solidFill>
                <a:effectLst/>
                <a:uFillTx/>
                <a:latin typeface="Menlo"/>
                <a:ea typeface="Arial"/>
              </a:rPr>
              <a:t>"4"</a:t>
            </a:r>
            <a:endParaRPr lang="en-US" sz="1200" b="0" u="none" strike="noStrike">
              <a:solidFill>
                <a:srgbClr val="000000"/>
              </a:solidFill>
              <a:effectLst/>
              <a:uFillTx/>
              <a:latin typeface="Arial"/>
            </a:endParaRPr>
          </a:p>
          <a:p>
            <a:pPr>
              <a:lnSpc>
                <a:spcPts val="2024"/>
              </a:lnSpc>
            </a:pPr>
            <a:r>
              <a:rPr lang="en-US" sz="1200" b="1" u="none" strike="noStrike">
                <a:solidFill>
                  <a:srgbClr val="008E00"/>
                </a:solidFill>
                <a:effectLst/>
                <a:uFillTx/>
                <a:latin typeface="Menlo"/>
                <a:ea typeface="Arial"/>
              </a:rPr>
              <a:t># import necessary libraries and functions</a:t>
            </a:r>
            <a:endParaRPr lang="en-US" sz="1200" b="0" u="none" strike="noStrike">
              <a:solidFill>
                <a:srgbClr val="000000"/>
              </a:solidFill>
              <a:effectLst/>
              <a:uFillTx/>
              <a:latin typeface="Arial"/>
            </a:endParaRPr>
          </a:p>
          <a:p>
            <a:pPr>
              <a:lnSpc>
                <a:spcPts val="2024"/>
              </a:lnSpc>
            </a:pPr>
            <a:r>
              <a:rPr lang="en-US" sz="1200" b="1" u="none" strike="noStrike">
                <a:solidFill>
                  <a:srgbClr val="C800A4"/>
                </a:solidFill>
                <a:effectLst/>
                <a:uFillTx/>
                <a:latin typeface="Menlo"/>
                <a:ea typeface="Arial"/>
              </a:rPr>
              <a:t>from</a:t>
            </a:r>
            <a:r>
              <a:rPr lang="en-US" sz="1200" b="1" u="none" strike="noStrike">
                <a:solidFill>
                  <a:srgbClr val="000000"/>
                </a:solidFill>
                <a:effectLst/>
                <a:uFillTx/>
                <a:latin typeface="Menlo"/>
                <a:ea typeface="Arial"/>
              </a:rPr>
              <a:t> pybricks_class_library_rev4 </a:t>
            </a:r>
            <a:r>
              <a:rPr lang="en-US" sz="1200" b="1" u="none" strike="noStrike">
                <a:solidFill>
                  <a:srgbClr val="C800A4"/>
                </a:solidFill>
                <a:effectLst/>
                <a:uFillTx/>
                <a:latin typeface="Menlo"/>
                <a:ea typeface="Arial"/>
              </a:rPr>
              <a:t>import</a:t>
            </a:r>
            <a:r>
              <a:rPr lang="en-US" sz="1200" b="1" u="none" strike="noStrike">
                <a:solidFill>
                  <a:srgbClr val="000000"/>
                </a:solidFill>
                <a:effectLst/>
                <a:uFillTx/>
                <a:latin typeface="Menlo"/>
                <a:ea typeface="Arial"/>
              </a:rPr>
              <a:t> </a:t>
            </a:r>
            <a:r>
              <a:rPr lang="en-US" sz="1200" b="1" u="none" strike="noStrike">
                <a:solidFill>
                  <a:srgbClr val="C800A4"/>
                </a:solidFill>
                <a:effectLst/>
                <a:uFillTx/>
                <a:latin typeface="Menlo"/>
                <a:ea typeface="Arial"/>
              </a:rPr>
              <a:t>*</a:t>
            </a:r>
            <a:endParaRPr lang="en-US" sz="1200" b="0" u="none" strike="noStrike">
              <a:solidFill>
                <a:srgbClr val="000000"/>
              </a:solidFill>
              <a:effectLst/>
              <a:uFillTx/>
              <a:latin typeface="Arial"/>
            </a:endParaRPr>
          </a:p>
          <a:p>
            <a:pPr>
              <a:lnSpc>
                <a:spcPts val="2024"/>
              </a:lnSpc>
            </a:pPr>
            <a:r>
              <a:rPr lang="en-US" sz="1200" b="1" u="none" strike="noStrike">
                <a:solidFill>
                  <a:srgbClr val="450084"/>
                </a:solidFill>
                <a:effectLst/>
                <a:uFillTx/>
                <a:latin typeface="Menlo"/>
                <a:ea typeface="Arial"/>
              </a:rPr>
              <a:t>print</a:t>
            </a:r>
            <a:r>
              <a:rPr lang="en-US" sz="1200" b="1" u="none" strike="noStrike">
                <a:solidFill>
                  <a:srgbClr val="000000"/>
                </a:solidFill>
                <a:effectLst/>
                <a:uFillTx/>
                <a:latin typeface="Menlo"/>
                <a:ea typeface="Arial"/>
              </a:rPr>
              <a:t>(</a:t>
            </a:r>
            <a:r>
              <a:rPr lang="en-US" sz="1200" b="1" u="none" strike="noStrike">
                <a:solidFill>
                  <a:srgbClr val="DF0002"/>
                </a:solidFill>
                <a:effectLst/>
                <a:uFillTx/>
                <a:latin typeface="Menlo"/>
                <a:ea typeface="Arial"/>
              </a:rPr>
              <a:t>"Robot Menu, rev#"</a:t>
            </a:r>
            <a:r>
              <a:rPr lang="en-US" sz="1200" b="1" u="none" strike="noStrike">
                <a:solidFill>
                  <a:srgbClr val="000000"/>
                </a:solidFill>
                <a:effectLst/>
                <a:uFillTx/>
                <a:latin typeface="Menlo"/>
                <a:ea typeface="Arial"/>
              </a:rPr>
              <a:t>,menu_revision)</a:t>
            </a:r>
            <a:endParaRPr lang="en-US" sz="1200" b="0" u="none" strike="noStrike">
              <a:solidFill>
                <a:srgbClr val="000000"/>
              </a:solidFill>
              <a:effectLst/>
              <a:uFillTx/>
              <a:latin typeface="Arial"/>
            </a:endParaRPr>
          </a:p>
          <a:p>
            <a:pPr>
              <a:lnSpc>
                <a:spcPts val="2024"/>
              </a:lnSpc>
            </a:pPr>
            <a:r>
              <a:rPr lang="en-US" sz="1200" b="1" u="none" strike="noStrike">
                <a:solidFill>
                  <a:srgbClr val="450084"/>
                </a:solidFill>
                <a:effectLst/>
                <a:uFillTx/>
                <a:latin typeface="Menlo"/>
                <a:ea typeface="Arial"/>
              </a:rPr>
              <a:t>print</a:t>
            </a:r>
            <a:r>
              <a:rPr lang="en-US" sz="1200" b="1" u="none" strike="noStrike">
                <a:solidFill>
                  <a:srgbClr val="000000"/>
                </a:solidFill>
                <a:effectLst/>
                <a:uFillTx/>
                <a:latin typeface="Menlo"/>
                <a:ea typeface="Arial"/>
              </a:rPr>
              <a:t>(</a:t>
            </a:r>
            <a:r>
              <a:rPr lang="en-US" sz="1200" b="1" u="none" strike="noStrike">
                <a:solidFill>
                  <a:srgbClr val="DF0002"/>
                </a:solidFill>
                <a:effectLst/>
                <a:uFillTx/>
                <a:latin typeface="Menlo"/>
                <a:ea typeface="Arial"/>
              </a:rPr>
              <a:t>"Load Task 1"</a:t>
            </a:r>
            <a:r>
              <a:rPr lang="en-US" sz="1200" b="1" u="none" strike="noStrike">
                <a:solidFill>
                  <a:srgbClr val="000000"/>
                </a:solidFill>
                <a:effectLst/>
                <a:uFillTx/>
                <a:latin typeface="Menlo"/>
                <a:ea typeface="Arial"/>
              </a:rPr>
              <a:t>)</a:t>
            </a:r>
            <a:endParaRPr lang="en-US" sz="1200" b="0" u="none" strike="noStrike">
              <a:solidFill>
                <a:srgbClr val="000000"/>
              </a:solidFill>
              <a:effectLst/>
              <a:uFillTx/>
              <a:latin typeface="Arial"/>
            </a:endParaRPr>
          </a:p>
          <a:p>
            <a:pPr>
              <a:lnSpc>
                <a:spcPts val="2024"/>
              </a:lnSpc>
            </a:pPr>
            <a:r>
              <a:rPr lang="en-US" sz="1200" b="1" u="none" strike="noStrike">
                <a:solidFill>
                  <a:srgbClr val="C800A4"/>
                </a:solidFill>
                <a:effectLst/>
                <a:uFillTx/>
                <a:latin typeface="Menlo"/>
                <a:ea typeface="Arial"/>
              </a:rPr>
              <a:t>from</a:t>
            </a:r>
            <a:r>
              <a:rPr lang="en-US" sz="1200" b="1" u="none" strike="noStrike">
                <a:solidFill>
                  <a:srgbClr val="000000"/>
                </a:solidFill>
                <a:effectLst/>
                <a:uFillTx/>
                <a:latin typeface="Menlo"/>
                <a:ea typeface="Arial"/>
              </a:rPr>
              <a:t> pybricks_class_task1_rev4 </a:t>
            </a:r>
            <a:r>
              <a:rPr lang="en-US" sz="1200" b="1" u="none" strike="noStrike">
                <a:solidFill>
                  <a:srgbClr val="C800A4"/>
                </a:solidFill>
                <a:effectLst/>
                <a:uFillTx/>
                <a:latin typeface="Menlo"/>
                <a:ea typeface="Arial"/>
              </a:rPr>
              <a:t>import</a:t>
            </a:r>
            <a:r>
              <a:rPr lang="en-US" sz="1200" b="1" u="none" strike="noStrike">
                <a:solidFill>
                  <a:srgbClr val="000000"/>
                </a:solidFill>
                <a:effectLst/>
                <a:uFillTx/>
                <a:latin typeface="Menlo"/>
                <a:ea typeface="Arial"/>
              </a:rPr>
              <a:t> pybricks_class_task1</a:t>
            </a:r>
            <a:endParaRPr lang="en-US" sz="1200" b="0" u="none" strike="noStrike">
              <a:solidFill>
                <a:srgbClr val="000000"/>
              </a:solidFill>
              <a:effectLst/>
              <a:uFillTx/>
              <a:latin typeface="Arial"/>
            </a:endParaRPr>
          </a:p>
          <a:p>
            <a:pPr>
              <a:lnSpc>
                <a:spcPts val="2024"/>
              </a:lnSpc>
            </a:pPr>
            <a:r>
              <a:rPr lang="en-US" sz="1200" b="1" u="none" strike="noStrike">
                <a:solidFill>
                  <a:srgbClr val="450084"/>
                </a:solidFill>
                <a:effectLst/>
                <a:uFillTx/>
                <a:latin typeface="Menlo"/>
                <a:ea typeface="Arial"/>
              </a:rPr>
              <a:t>print</a:t>
            </a:r>
            <a:r>
              <a:rPr lang="en-US" sz="1200" b="1" u="none" strike="noStrike">
                <a:solidFill>
                  <a:srgbClr val="000000"/>
                </a:solidFill>
                <a:effectLst/>
                <a:uFillTx/>
                <a:latin typeface="Menlo"/>
                <a:ea typeface="Arial"/>
              </a:rPr>
              <a:t>(</a:t>
            </a:r>
            <a:r>
              <a:rPr lang="en-US" sz="1200" b="1" u="none" strike="noStrike">
                <a:solidFill>
                  <a:srgbClr val="DF0002"/>
                </a:solidFill>
                <a:effectLst/>
                <a:uFillTx/>
                <a:latin typeface="Menlo"/>
                <a:ea typeface="Arial"/>
              </a:rPr>
              <a:t>"Load Task 2"</a:t>
            </a:r>
            <a:r>
              <a:rPr lang="en-US" sz="1200" b="1" u="none" strike="noStrike">
                <a:solidFill>
                  <a:srgbClr val="000000"/>
                </a:solidFill>
                <a:effectLst/>
                <a:uFillTx/>
                <a:latin typeface="Menlo"/>
                <a:ea typeface="Arial"/>
              </a:rPr>
              <a:t>)</a:t>
            </a:r>
            <a:endParaRPr lang="en-US" sz="1200" b="0" u="none" strike="noStrike">
              <a:solidFill>
                <a:srgbClr val="000000"/>
              </a:solidFill>
              <a:effectLst/>
              <a:uFillTx/>
              <a:latin typeface="Arial"/>
            </a:endParaRPr>
          </a:p>
          <a:p>
            <a:pPr>
              <a:lnSpc>
                <a:spcPts val="2024"/>
              </a:lnSpc>
            </a:pPr>
            <a:r>
              <a:rPr lang="en-US" sz="1200" b="1" u="none" strike="noStrike">
                <a:solidFill>
                  <a:srgbClr val="C800A4"/>
                </a:solidFill>
                <a:effectLst/>
                <a:uFillTx/>
                <a:latin typeface="Menlo"/>
                <a:ea typeface="Arial"/>
              </a:rPr>
              <a:t>from</a:t>
            </a:r>
            <a:r>
              <a:rPr lang="en-US" sz="1200" b="1" u="none" strike="noStrike">
                <a:solidFill>
                  <a:srgbClr val="000000"/>
                </a:solidFill>
                <a:effectLst/>
                <a:uFillTx/>
                <a:latin typeface="Menlo"/>
                <a:ea typeface="Arial"/>
              </a:rPr>
              <a:t> pybricks_class_task2_rev4 </a:t>
            </a:r>
            <a:r>
              <a:rPr lang="en-US" sz="1200" b="1" u="none" strike="noStrike">
                <a:solidFill>
                  <a:srgbClr val="C800A4"/>
                </a:solidFill>
                <a:effectLst/>
                <a:uFillTx/>
                <a:latin typeface="Menlo"/>
                <a:ea typeface="Arial"/>
              </a:rPr>
              <a:t>import</a:t>
            </a:r>
            <a:r>
              <a:rPr lang="en-US" sz="1200" b="1" u="none" strike="noStrike">
                <a:solidFill>
                  <a:srgbClr val="000000"/>
                </a:solidFill>
                <a:effectLst/>
                <a:uFillTx/>
                <a:latin typeface="Menlo"/>
                <a:ea typeface="Arial"/>
              </a:rPr>
              <a:t> pybricks_class_task2</a:t>
            </a:r>
            <a:endParaRPr lang="en-US" sz="1200" b="0" u="none" strike="noStrike">
              <a:solidFill>
                <a:srgbClr val="000000"/>
              </a:solidFill>
              <a:effectLst/>
              <a:uFillTx/>
              <a:latin typeface="Arial"/>
            </a:endParaRPr>
          </a:p>
          <a:p>
            <a:pPr>
              <a:lnSpc>
                <a:spcPts val="2024"/>
              </a:lnSpc>
            </a:pPr>
            <a:r>
              <a:rPr lang="en-US" sz="1200" b="1" u="none" strike="noStrike">
                <a:solidFill>
                  <a:srgbClr val="450084"/>
                </a:solidFill>
                <a:effectLst/>
                <a:uFillTx/>
                <a:latin typeface="Menlo"/>
                <a:ea typeface="Arial"/>
              </a:rPr>
              <a:t>print</a:t>
            </a:r>
            <a:r>
              <a:rPr lang="en-US" sz="1200" b="1" u="none" strike="noStrike">
                <a:solidFill>
                  <a:srgbClr val="000000"/>
                </a:solidFill>
                <a:effectLst/>
                <a:uFillTx/>
                <a:latin typeface="Menlo"/>
                <a:ea typeface="Arial"/>
              </a:rPr>
              <a:t>(</a:t>
            </a:r>
            <a:r>
              <a:rPr lang="en-US" sz="1200" b="1" u="none" strike="noStrike">
                <a:solidFill>
                  <a:srgbClr val="DF0002"/>
                </a:solidFill>
                <a:effectLst/>
                <a:uFillTx/>
                <a:latin typeface="Menlo"/>
                <a:ea typeface="Arial"/>
              </a:rPr>
              <a:t>"Load Task 3"</a:t>
            </a:r>
            <a:r>
              <a:rPr lang="en-US" sz="1200" b="1" u="none" strike="noStrike">
                <a:solidFill>
                  <a:srgbClr val="000000"/>
                </a:solidFill>
                <a:effectLst/>
                <a:uFillTx/>
                <a:latin typeface="Menlo"/>
                <a:ea typeface="Arial"/>
              </a:rPr>
              <a:t>)</a:t>
            </a:r>
            <a:endParaRPr lang="en-US" sz="1200" b="0" u="none" strike="noStrike">
              <a:solidFill>
                <a:srgbClr val="000000"/>
              </a:solidFill>
              <a:effectLst/>
              <a:uFillTx/>
              <a:latin typeface="Arial"/>
            </a:endParaRPr>
          </a:p>
          <a:p>
            <a:pPr>
              <a:lnSpc>
                <a:spcPts val="2024"/>
              </a:lnSpc>
            </a:pPr>
            <a:r>
              <a:rPr lang="en-US" sz="1200" b="1" u="none" strike="noStrike">
                <a:solidFill>
                  <a:srgbClr val="C800A4"/>
                </a:solidFill>
                <a:effectLst/>
                <a:uFillTx/>
                <a:latin typeface="Menlo"/>
                <a:ea typeface="Arial"/>
              </a:rPr>
              <a:t>from</a:t>
            </a:r>
            <a:r>
              <a:rPr lang="en-US" sz="1200" b="1" u="none" strike="noStrike">
                <a:solidFill>
                  <a:srgbClr val="000000"/>
                </a:solidFill>
                <a:effectLst/>
                <a:uFillTx/>
                <a:latin typeface="Menlo"/>
                <a:ea typeface="Arial"/>
              </a:rPr>
              <a:t> pybricks_class_task3_rev4 </a:t>
            </a:r>
            <a:r>
              <a:rPr lang="en-US" sz="1200" b="1" u="none" strike="noStrike">
                <a:solidFill>
                  <a:srgbClr val="C800A4"/>
                </a:solidFill>
                <a:effectLst/>
                <a:uFillTx/>
                <a:latin typeface="Menlo"/>
                <a:ea typeface="Arial"/>
              </a:rPr>
              <a:t>import</a:t>
            </a:r>
            <a:r>
              <a:rPr lang="en-US" sz="1200" b="1" u="none" strike="noStrike">
                <a:solidFill>
                  <a:srgbClr val="000000"/>
                </a:solidFill>
                <a:effectLst/>
                <a:uFillTx/>
                <a:latin typeface="Menlo"/>
                <a:ea typeface="Arial"/>
              </a:rPr>
              <a:t> pybricks_class_task3</a:t>
            </a:r>
            <a:endParaRPr lang="en-US" sz="1200" b="0" u="none" strike="noStrike">
              <a:solidFill>
                <a:srgbClr val="000000"/>
              </a:solidFill>
              <a:effectLst/>
              <a:uFillTx/>
              <a:latin typeface="Arial"/>
            </a:endParaRPr>
          </a:p>
          <a:p>
            <a:pPr>
              <a:lnSpc>
                <a:spcPts val="2024"/>
              </a:lnSpc>
            </a:pPr>
            <a:r>
              <a:rPr lang="en-US" sz="1200" b="1" u="none" strike="noStrike">
                <a:solidFill>
                  <a:srgbClr val="450084"/>
                </a:solidFill>
                <a:effectLst/>
                <a:uFillTx/>
                <a:latin typeface="Menlo"/>
                <a:ea typeface="Arial"/>
              </a:rPr>
              <a:t>print</a:t>
            </a:r>
            <a:r>
              <a:rPr lang="en-US" sz="1200" b="1" u="none" strike="noStrike">
                <a:solidFill>
                  <a:srgbClr val="000000"/>
                </a:solidFill>
                <a:effectLst/>
                <a:uFillTx/>
                <a:latin typeface="Menlo"/>
                <a:ea typeface="Arial"/>
              </a:rPr>
              <a:t>(</a:t>
            </a:r>
            <a:r>
              <a:rPr lang="en-US" sz="1200" b="1" u="none" strike="noStrike">
                <a:solidFill>
                  <a:srgbClr val="DF0002"/>
                </a:solidFill>
                <a:effectLst/>
                <a:uFillTx/>
                <a:latin typeface="Menlo"/>
                <a:ea typeface="Arial"/>
              </a:rPr>
              <a:t>"Load Task 4"</a:t>
            </a:r>
            <a:r>
              <a:rPr lang="en-US" sz="1200" b="1" u="none" strike="noStrike">
                <a:solidFill>
                  <a:srgbClr val="000000"/>
                </a:solidFill>
                <a:effectLst/>
                <a:uFillTx/>
                <a:latin typeface="Menlo"/>
                <a:ea typeface="Arial"/>
              </a:rPr>
              <a:t>)</a:t>
            </a:r>
            <a:endParaRPr lang="en-US" sz="1200" b="0" u="none" strike="noStrike">
              <a:solidFill>
                <a:srgbClr val="000000"/>
              </a:solidFill>
              <a:effectLst/>
              <a:uFillTx/>
              <a:latin typeface="Arial"/>
            </a:endParaRPr>
          </a:p>
          <a:p>
            <a:pPr>
              <a:lnSpc>
                <a:spcPts val="2024"/>
              </a:lnSpc>
            </a:pPr>
            <a:r>
              <a:rPr lang="en-US" sz="1200" b="1" u="none" strike="noStrike">
                <a:solidFill>
                  <a:srgbClr val="C800A4"/>
                </a:solidFill>
                <a:effectLst/>
                <a:uFillTx/>
                <a:latin typeface="Menlo"/>
                <a:ea typeface="Arial"/>
              </a:rPr>
              <a:t>from</a:t>
            </a:r>
            <a:r>
              <a:rPr lang="en-US" sz="1200" b="1" u="none" strike="noStrike">
                <a:solidFill>
                  <a:srgbClr val="000000"/>
                </a:solidFill>
                <a:effectLst/>
                <a:uFillTx/>
                <a:latin typeface="Menlo"/>
                <a:ea typeface="Arial"/>
              </a:rPr>
              <a:t> pybricks_class_task4_rev1 </a:t>
            </a:r>
            <a:r>
              <a:rPr lang="en-US" sz="1200" b="1" u="none" strike="noStrike">
                <a:solidFill>
                  <a:srgbClr val="C800A4"/>
                </a:solidFill>
                <a:effectLst/>
                <a:uFillTx/>
                <a:latin typeface="Menlo"/>
                <a:ea typeface="Arial"/>
              </a:rPr>
              <a:t>import</a:t>
            </a:r>
            <a:r>
              <a:rPr lang="en-US" sz="1200" b="1" u="none" strike="noStrike">
                <a:solidFill>
                  <a:srgbClr val="000000"/>
                </a:solidFill>
                <a:effectLst/>
                <a:uFillTx/>
                <a:latin typeface="Menlo"/>
                <a:ea typeface="Arial"/>
              </a:rPr>
              <a:t> pybricks_class_task4</a:t>
            </a:r>
            <a:endParaRPr lang="en-US" sz="1200" b="0" u="none" strike="noStrike">
              <a:solidFill>
                <a:srgbClr val="000000"/>
              </a:solidFill>
              <a:effectLst/>
              <a:uFillTx/>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Pybricks Library Menu (2/4)</a:t>
            </a:r>
            <a:endParaRPr lang="en-US" sz="2500" b="0" u="none" strike="noStrike">
              <a:solidFill>
                <a:srgbClr val="000000"/>
              </a:solidFill>
              <a:effectLst/>
              <a:uFillTx/>
              <a:latin typeface="Arial"/>
            </a:endParaRPr>
          </a:p>
        </p:txBody>
      </p:sp>
      <p:sp>
        <p:nvSpPr>
          <p:cNvPr id="512" name="PlaceHolder 2"/>
          <p:cNvSpPr>
            <a:spLocks noGrp="1"/>
          </p:cNvSpPr>
          <p:nvPr>
            <p:ph type="sldNum" idx="10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C1D84183-0327-43C6-8FF7-9C99F280B6A1}" type="slidenum">
              <a:rPr lang="en" sz="1000" b="0" u="none" strike="noStrike">
                <a:solidFill>
                  <a:schemeClr val="dk2"/>
                </a:solidFill>
                <a:effectLst/>
                <a:uFillTx/>
                <a:latin typeface="Arial"/>
                <a:ea typeface="Arial"/>
              </a:rPr>
              <a:t>91</a:t>
            </a:fld>
            <a:endParaRPr lang="en-US" sz="1000" b="0" u="none" strike="noStrike">
              <a:solidFill>
                <a:srgbClr val="000000"/>
              </a:solidFill>
              <a:effectLst/>
              <a:uFillTx/>
              <a:latin typeface="Times New Roman"/>
            </a:endParaRPr>
          </a:p>
        </p:txBody>
      </p:sp>
      <p:sp>
        <p:nvSpPr>
          <p:cNvPr id="513" name="TextBox 5"/>
          <p:cNvSpPr/>
          <p:nvPr/>
        </p:nvSpPr>
        <p:spPr>
          <a:xfrm>
            <a:off x="238320" y="744120"/>
            <a:ext cx="8233920" cy="417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2024"/>
              </a:lnSpc>
            </a:pPr>
            <a:r>
              <a:rPr lang="en-US" sz="1400" b="1" u="none" strike="noStrike">
                <a:solidFill>
                  <a:srgbClr val="450084"/>
                </a:solidFill>
                <a:effectLst/>
                <a:uFillTx/>
                <a:latin typeface="Menlo"/>
                <a:ea typeface="Arial"/>
              </a:rPr>
              <a:t>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"Initialize Robot"</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run_task(initiatizeRobot())</a:t>
            </a:r>
            <a:endParaRPr lang="en-US" sz="1400" b="0" u="none" strike="noStrike">
              <a:solidFill>
                <a:srgbClr val="000000"/>
              </a:solidFill>
              <a:effectLst/>
              <a:uFillTx/>
              <a:latin typeface="Arial"/>
            </a:endParaRPr>
          </a:p>
          <a:p>
            <a:pPr>
              <a:lnSpc>
                <a:spcPts val="2024"/>
              </a:lnSpc>
            </a:pP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"Running Hub Menu"</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while</a:t>
            </a:r>
            <a:r>
              <a:rPr lang="en-US" sz="1400" b="1" u="none" strike="noStrike">
                <a:solidFill>
                  <a:srgbClr val="000000"/>
                </a:solidFill>
                <a:effectLst/>
                <a:uFillTx/>
                <a:latin typeface="Menlo"/>
                <a:ea typeface="Arial"/>
              </a:rPr>
              <a:t> </a:t>
            </a:r>
            <a:r>
              <a:rPr lang="en-US" sz="1400" b="1" u="none" strike="noStrike">
                <a:solidFill>
                  <a:srgbClr val="C800A4"/>
                </a:solidFill>
                <a:effectLst/>
                <a:uFillTx/>
                <a:latin typeface="Menlo"/>
                <a:ea typeface="Arial"/>
              </a:rPr>
              <a:t>True</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selected = hub_menu(</a:t>
            </a:r>
            <a:r>
              <a:rPr lang="en-US" sz="1400" b="1" u="none" strike="noStrike">
                <a:solidFill>
                  <a:srgbClr val="DF0002"/>
                </a:solidFill>
                <a:effectLst/>
                <a:uFillTx/>
                <a:latin typeface="Menlo"/>
                <a:ea typeface="Arial"/>
              </a:rPr>
              <a:t>"M"</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"1"</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"2"</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"3"</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"4"</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"X"</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try</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"M"</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8E00"/>
                </a:solidFill>
                <a:effectLst/>
                <a:uFillTx/>
                <a:latin typeface="Menlo"/>
                <a:ea typeface="Arial"/>
              </a:rPr>
              <a:t>            # does nothing. used to show menu is active</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break</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elif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"1"</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"Task 1 Selected"</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wait(</a:t>
            </a:r>
            <a:r>
              <a:rPr lang="en-US" sz="1400" b="1" u="none" strike="noStrike">
                <a:solidFill>
                  <a:srgbClr val="3A00DC"/>
                </a:solidFill>
                <a:effectLst/>
                <a:uFillTx/>
                <a:latin typeface="Menlo"/>
                <a:ea typeface="Arial"/>
              </a:rPr>
              <a:t>1000</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run_task(pybricks_class_task1())</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run_task(stopEverything())</a:t>
            </a:r>
            <a:endParaRPr lang="en-US" sz="1400" b="0" u="none" strike="noStrike">
              <a:solidFill>
                <a:srgbClr val="000000"/>
              </a:solidFill>
              <a:effectLst/>
              <a:uFillTx/>
              <a:latin typeface="Arial"/>
            </a:endParaRPr>
          </a:p>
          <a:p>
            <a:pPr>
              <a:lnSpc>
                <a:spcPts val="2024"/>
              </a:lnSpc>
            </a:pPr>
            <a:endParaRPr lang="en-US" sz="1400" b="0" u="none" strike="noStrike">
              <a:solidFill>
                <a:srgbClr val="000000"/>
              </a:solidFill>
              <a:effectLst/>
              <a:uFillTx/>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Pybricks Library Menu (3/4)</a:t>
            </a:r>
            <a:endParaRPr lang="en-US" sz="2500" b="0" u="none" strike="noStrike">
              <a:solidFill>
                <a:srgbClr val="000000"/>
              </a:solidFill>
              <a:effectLst/>
              <a:uFillTx/>
              <a:latin typeface="Arial"/>
            </a:endParaRPr>
          </a:p>
        </p:txBody>
      </p:sp>
      <p:sp>
        <p:nvSpPr>
          <p:cNvPr id="515" name="PlaceHolder 2"/>
          <p:cNvSpPr>
            <a:spLocks noGrp="1"/>
          </p:cNvSpPr>
          <p:nvPr>
            <p:ph type="sldNum" idx="10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C9F82EF-0EDB-4EBC-84CD-A2CDA001E97F}" type="slidenum">
              <a:rPr lang="en" sz="1000" b="0" u="none" strike="noStrike">
                <a:solidFill>
                  <a:schemeClr val="dk2"/>
                </a:solidFill>
                <a:effectLst/>
                <a:uFillTx/>
                <a:latin typeface="Arial"/>
                <a:ea typeface="Arial"/>
              </a:rPr>
              <a:t>92</a:t>
            </a:fld>
            <a:endParaRPr lang="en-US" sz="1000" b="0" u="none" strike="noStrike">
              <a:solidFill>
                <a:srgbClr val="000000"/>
              </a:solidFill>
              <a:effectLst/>
              <a:uFillTx/>
              <a:latin typeface="Times New Roman"/>
            </a:endParaRPr>
          </a:p>
        </p:txBody>
      </p:sp>
      <p:sp>
        <p:nvSpPr>
          <p:cNvPr id="516" name="TextBox 5"/>
          <p:cNvSpPr/>
          <p:nvPr/>
        </p:nvSpPr>
        <p:spPr>
          <a:xfrm>
            <a:off x="280800" y="682920"/>
            <a:ext cx="6496920" cy="417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2024"/>
              </a:lnSpc>
            </a:pPr>
            <a:r>
              <a:rPr lang="en-US" sz="1400" b="1" u="none" strike="noStrike">
                <a:solidFill>
                  <a:srgbClr val="C800A4"/>
                </a:solidFill>
                <a:effectLst/>
                <a:uFillTx/>
                <a:latin typeface="Menlo"/>
                <a:ea typeface="Arial"/>
              </a:rPr>
              <a:t>     elif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"2"</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"Task 2 Selected"</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wait(</a:t>
            </a:r>
            <a:r>
              <a:rPr lang="en-US" sz="1400" b="1" u="none" strike="noStrike">
                <a:solidFill>
                  <a:srgbClr val="3A00DC"/>
                </a:solidFill>
                <a:effectLst/>
                <a:uFillTx/>
                <a:latin typeface="Menlo"/>
                <a:ea typeface="Arial"/>
              </a:rPr>
              <a:t>1000</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run_task(pybricks_class_task2())</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run_task(stopEverything())</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elif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"3"</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"Task 3 Selected"</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wait(</a:t>
            </a:r>
            <a:r>
              <a:rPr lang="en-US" sz="1400" b="1" u="none" strike="noStrike">
                <a:solidFill>
                  <a:srgbClr val="3A00DC"/>
                </a:solidFill>
                <a:effectLst/>
                <a:uFillTx/>
                <a:latin typeface="Menlo"/>
                <a:ea typeface="Arial"/>
              </a:rPr>
              <a:t>1000</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run_task(pybricks_class_task3())</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run_task(stopEverything())</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elif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"4"</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"Task 4 - Robot Library Demo Selected"</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wait(</a:t>
            </a:r>
            <a:r>
              <a:rPr lang="en-US" sz="1400" b="1" u="none" strike="noStrike">
                <a:solidFill>
                  <a:srgbClr val="3A00DC"/>
                </a:solidFill>
                <a:effectLst/>
                <a:uFillTx/>
                <a:latin typeface="Menlo"/>
                <a:ea typeface="Arial"/>
              </a:rPr>
              <a:t>1000</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run_task(pybricks_class_task4())</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run_task(stopEverything())</a:t>
            </a:r>
            <a:endParaRPr lang="en-US" sz="1400" b="0" u="none" strike="noStrike">
              <a:solidFill>
                <a:srgbClr val="000000"/>
              </a:solidFill>
              <a:effectLst/>
              <a:uFillTx/>
              <a:latin typeface="Arial"/>
            </a:endParaRPr>
          </a:p>
          <a:p>
            <a:pPr>
              <a:lnSpc>
                <a:spcPts val="2024"/>
              </a:lnSpc>
            </a:pPr>
            <a:endParaRPr lang="en-US" sz="1400" b="0" u="none" strike="noStrike">
              <a:solidFill>
                <a:srgbClr val="000000"/>
              </a:solidFill>
              <a:effectLst/>
              <a:uFillTx/>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Pybricks Library Menu (4/4)</a:t>
            </a:r>
            <a:endParaRPr lang="en-US" sz="2500" b="0" u="none" strike="noStrike">
              <a:solidFill>
                <a:srgbClr val="000000"/>
              </a:solidFill>
              <a:effectLst/>
              <a:uFillTx/>
              <a:latin typeface="Arial"/>
            </a:endParaRPr>
          </a:p>
        </p:txBody>
      </p:sp>
      <p:sp>
        <p:nvSpPr>
          <p:cNvPr id="518" name="PlaceHolder 2"/>
          <p:cNvSpPr>
            <a:spLocks noGrp="1"/>
          </p:cNvSpPr>
          <p:nvPr>
            <p:ph type="sldNum" idx="10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48C3D07-365A-4AB0-B32B-95C856C88278}" type="slidenum">
              <a:rPr lang="en" sz="1000" b="0" u="none" strike="noStrike">
                <a:solidFill>
                  <a:schemeClr val="dk2"/>
                </a:solidFill>
                <a:effectLst/>
                <a:uFillTx/>
                <a:latin typeface="Arial"/>
                <a:ea typeface="Arial"/>
              </a:rPr>
              <a:t>93</a:t>
            </a:fld>
            <a:endParaRPr lang="en-US" sz="1000" b="0" u="none" strike="noStrike">
              <a:solidFill>
                <a:srgbClr val="000000"/>
              </a:solidFill>
              <a:effectLst/>
              <a:uFillTx/>
              <a:latin typeface="Times New Roman"/>
            </a:endParaRPr>
          </a:p>
        </p:txBody>
      </p:sp>
      <p:sp>
        <p:nvSpPr>
          <p:cNvPr id="519" name="TextBox 5"/>
          <p:cNvSpPr/>
          <p:nvPr/>
        </p:nvSpPr>
        <p:spPr>
          <a:xfrm>
            <a:off x="297360" y="1000800"/>
            <a:ext cx="7250400" cy="263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2024"/>
              </a:lnSpc>
            </a:pPr>
            <a:r>
              <a:rPr lang="en-US" sz="1400" b="1" u="none" strike="noStrike">
                <a:solidFill>
                  <a:srgbClr val="C800A4"/>
                </a:solidFill>
                <a:effectLst/>
                <a:uFillTx/>
                <a:latin typeface="Menlo"/>
                <a:ea typeface="Arial"/>
              </a:rPr>
              <a:t>     elif</a:t>
            </a:r>
            <a:r>
              <a:rPr lang="en-US" sz="1400" b="1" u="none" strike="noStrike">
                <a:solidFill>
                  <a:srgbClr val="000000"/>
                </a:solidFill>
                <a:effectLst/>
                <a:uFillTx/>
                <a:latin typeface="Menlo"/>
                <a:ea typeface="Arial"/>
              </a:rPr>
              <a:t> selected </a:t>
            </a:r>
            <a:r>
              <a:rPr lang="en-US" sz="1400" b="1" u="none" strike="noStrike">
                <a:solidFill>
                  <a:srgbClr val="C800A4"/>
                </a:solidFill>
                <a:effectLst/>
                <a:uFillTx/>
                <a:latin typeface="Menlo"/>
                <a:ea typeface="Arial"/>
              </a:rPr>
              <a:t>==</a:t>
            </a:r>
            <a:r>
              <a:rPr lang="en-US" sz="1400" b="1" u="none" strike="noStrike">
                <a:solidFill>
                  <a:srgbClr val="000000"/>
                </a:solidFill>
                <a:effectLst/>
                <a:uFillTx/>
                <a:latin typeface="Menlo"/>
                <a:ea typeface="Arial"/>
              </a:rPr>
              <a:t> </a:t>
            </a:r>
            <a:r>
              <a:rPr lang="en-US" sz="1400" b="1" u="none" strike="noStrike">
                <a:solidFill>
                  <a:srgbClr val="DF0002"/>
                </a:solidFill>
                <a:effectLst/>
                <a:uFillTx/>
                <a:latin typeface="Menlo"/>
                <a:ea typeface="Arial"/>
              </a:rPr>
              <a:t>"X"</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"End of Menu"</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break</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except</a:t>
            </a:r>
            <a:r>
              <a:rPr lang="en-US" sz="1400" b="1" u="none" strike="noStrike">
                <a:solidFill>
                  <a:srgbClr val="000000"/>
                </a:solidFill>
                <a:effectLst/>
                <a:uFillTx/>
                <a:latin typeface="Menlo"/>
                <a:ea typeface="Arial"/>
              </a:rPr>
              <a:t> BaseException </a:t>
            </a:r>
            <a:r>
              <a:rPr lang="en-US" sz="1400" b="1" u="none" strike="noStrike">
                <a:solidFill>
                  <a:srgbClr val="C800A4"/>
                </a:solidFill>
                <a:effectLst/>
                <a:uFillTx/>
                <a:latin typeface="Menlo"/>
                <a:ea typeface="Arial"/>
              </a:rPr>
              <a:t>as</a:t>
            </a:r>
            <a:r>
              <a:rPr lang="en-US" sz="1400" b="1" u="none" strike="noStrike">
                <a:solidFill>
                  <a:srgbClr val="000000"/>
                </a:solidFill>
                <a:effectLst/>
                <a:uFillTx/>
                <a:latin typeface="Menlo"/>
                <a:ea typeface="Arial"/>
              </a:rPr>
              <a:t> menuException:</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a:t>
            </a:r>
            <a:r>
              <a:rPr lang="en-US" sz="1400" b="1" u="none" strike="noStrike">
                <a:solidFill>
                  <a:srgbClr val="DF0002"/>
                </a:solidFill>
                <a:effectLst/>
                <a:uFillTx/>
                <a:latin typeface="Menlo"/>
                <a:ea typeface="Arial"/>
              </a:rPr>
              <a:t>"Stop was Pressed or a Critical Error Occurred."</a:t>
            </a:r>
            <a:r>
              <a:rPr lang="en-US" sz="1400" b="1" u="none" strike="noStrike">
                <a:solidFill>
                  <a:srgbClr val="000000"/>
                </a:solidFill>
                <a:effectLst/>
                <a:uFillTx/>
                <a:latin typeface="Menlo"/>
                <a:ea typeface="Arial"/>
              </a:rPr>
              <a:t>)</a:t>
            </a:r>
            <a:endParaRPr lang="en-US" sz="1400" b="0" u="none" strike="noStrike">
              <a:solidFill>
                <a:srgbClr val="000000"/>
              </a:solidFill>
              <a:effectLst/>
              <a:uFillTx/>
              <a:latin typeface="Arial"/>
            </a:endParaRPr>
          </a:p>
          <a:p>
            <a:pPr>
              <a:lnSpc>
                <a:spcPts val="2024"/>
              </a:lnSpc>
            </a:pPr>
            <a:r>
              <a:rPr lang="en-US" sz="1400" b="1" u="none" strike="noStrike">
                <a:solidFill>
                  <a:srgbClr val="450084"/>
                </a:solidFill>
                <a:effectLst/>
                <a:uFillTx/>
                <a:latin typeface="Menlo"/>
                <a:ea typeface="Arial"/>
              </a:rPr>
              <a:t>   print</a:t>
            </a:r>
            <a:r>
              <a:rPr lang="en-US" sz="1400" b="1" u="none" strike="noStrike">
                <a:solidFill>
                  <a:srgbClr val="000000"/>
                </a:solidFill>
                <a:effectLst/>
                <a:uFillTx/>
                <a:latin typeface="Menlo"/>
                <a:ea typeface="Arial"/>
              </a:rPr>
              <a:t>(menuException)</a:t>
            </a:r>
            <a:endParaRPr lang="en-US" sz="1400" b="0" u="none" strike="noStrike">
              <a:solidFill>
                <a:srgbClr val="000000"/>
              </a:solidFill>
              <a:effectLst/>
              <a:uFillTx/>
              <a:latin typeface="Arial"/>
            </a:endParaRPr>
          </a:p>
          <a:p>
            <a:pPr>
              <a:lnSpc>
                <a:spcPts val="2024"/>
              </a:lnSpc>
            </a:pPr>
            <a:r>
              <a:rPr lang="en-US" sz="1400" b="1" u="none" strike="noStrike">
                <a:solidFill>
                  <a:srgbClr val="000000"/>
                </a:solidFill>
                <a:effectLst/>
                <a:uFillTx/>
                <a:latin typeface="Menlo"/>
                <a:ea typeface="Arial"/>
              </a:rPr>
              <a:t>   run_task(stopEverything())</a:t>
            </a:r>
            <a:endParaRPr lang="en-US" sz="1400" b="0" u="none" strike="noStrike">
              <a:solidFill>
                <a:srgbClr val="000000"/>
              </a:solidFill>
              <a:effectLst/>
              <a:uFillTx/>
              <a:latin typeface="Arial"/>
            </a:endParaRPr>
          </a:p>
          <a:p>
            <a:pPr>
              <a:lnSpc>
                <a:spcPts val="2024"/>
              </a:lnSpc>
            </a:pPr>
            <a:r>
              <a:rPr lang="en-US" sz="1400" b="1" u="none" strike="noStrike">
                <a:solidFill>
                  <a:srgbClr val="C800A4"/>
                </a:solidFill>
                <a:effectLst/>
                <a:uFillTx/>
                <a:latin typeface="Menlo"/>
                <a:ea typeface="Arial"/>
              </a:rPr>
              <a:t>   break</a:t>
            </a:r>
            <a:endParaRPr lang="en-US" sz="1400" b="0" u="none" strike="noStrike">
              <a:solidFill>
                <a:srgbClr val="000000"/>
              </a:solidFill>
              <a:effectLst/>
              <a:uFillTx/>
              <a:latin typeface="Arial"/>
            </a:endParaRPr>
          </a:p>
          <a:p>
            <a:pPr>
              <a:lnSpc>
                <a:spcPts val="2024"/>
              </a:lnSpc>
            </a:pPr>
            <a:br>
              <a:rPr sz="1400"/>
            </a:br>
            <a:endParaRPr lang="en-US" sz="1400" b="0" u="none" strike="noStrike">
              <a:solidFill>
                <a:srgbClr val="000000"/>
              </a:solidFill>
              <a:effectLst/>
              <a:uFillTx/>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Section 7 - Robot Game</a:t>
            </a:r>
            <a:endParaRPr lang="en-US" sz="3600" b="0" u="none" strike="noStrike">
              <a:solidFill>
                <a:srgbClr val="000000"/>
              </a:solidFill>
              <a:effectLst/>
              <a:uFillTx/>
              <a:latin typeface="Arial"/>
            </a:endParaRPr>
          </a:p>
        </p:txBody>
      </p:sp>
      <p:sp>
        <p:nvSpPr>
          <p:cNvPr id="524" name="PlaceHolder 2"/>
          <p:cNvSpPr>
            <a:spLocks noGrp="1"/>
          </p:cNvSpPr>
          <p:nvPr>
            <p:ph type="sldNum" idx="10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5A12509-0FBE-4829-B5F8-D2E861A23100}" type="slidenum">
              <a:rPr lang="en" sz="1000" b="0" u="none" strike="noStrike">
                <a:solidFill>
                  <a:schemeClr val="dk2"/>
                </a:solidFill>
                <a:effectLst/>
                <a:uFillTx/>
                <a:latin typeface="Arial"/>
                <a:ea typeface="Arial"/>
              </a:rPr>
              <a:t>94</a:t>
            </a:fld>
            <a:endParaRPr lang="en-US" sz="1000" b="0" u="none" strike="noStrike">
              <a:solidFill>
                <a:srgbClr val="000000"/>
              </a:solidFill>
              <a:effectLst/>
              <a:uFillTx/>
              <a:latin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Introduction</a:t>
            </a:r>
            <a:endParaRPr lang="en-US" sz="2500" b="0" u="none" strike="noStrike">
              <a:solidFill>
                <a:srgbClr val="000000"/>
              </a:solidFill>
              <a:effectLst/>
              <a:uFillTx/>
              <a:latin typeface="Arial"/>
            </a:endParaRPr>
          </a:p>
        </p:txBody>
      </p:sp>
      <p:sp>
        <p:nvSpPr>
          <p:cNvPr id="526"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58920" algn="l">
              <a:lnSpc>
                <a:spcPct val="115000"/>
              </a:lnSpc>
              <a:buClr>
                <a:srgbClr val="000000"/>
              </a:buClr>
              <a:buFont typeface="Arial"/>
              <a:buChar char="●"/>
            </a:pPr>
            <a:r>
              <a:rPr lang="en" sz="1900" b="0" u="none" strike="noStrike">
                <a:solidFill>
                  <a:schemeClr val="dk1"/>
                </a:solidFill>
                <a:effectLst/>
                <a:uFillTx/>
                <a:latin typeface="Arial"/>
                <a:ea typeface="Arial"/>
              </a:rPr>
              <a:t>Robot Game makes up only 25% of the team’s FLL tournament total score</a:t>
            </a:r>
            <a:endParaRPr lang="en-US" sz="1900" b="0" u="none" strike="noStrike">
              <a:solidFill>
                <a:srgbClr val="000000"/>
              </a:solidFill>
              <a:effectLst/>
              <a:uFillTx/>
              <a:latin typeface="Arial"/>
            </a:endParaRPr>
          </a:p>
          <a:p>
            <a:pPr marL="457200" indent="-358920" algn="l">
              <a:lnSpc>
                <a:spcPct val="115000"/>
              </a:lnSpc>
              <a:buClr>
                <a:srgbClr val="000000"/>
              </a:buClr>
              <a:buFont typeface="Arial"/>
              <a:buChar char="●"/>
            </a:pPr>
            <a:r>
              <a:rPr lang="en" sz="1900" b="0" u="none" strike="noStrike">
                <a:solidFill>
                  <a:schemeClr val="dk1"/>
                </a:solidFill>
                <a:effectLst/>
                <a:uFillTx/>
                <a:latin typeface="Arial"/>
                <a:ea typeface="Arial"/>
              </a:rPr>
              <a:t>The teams behavior during the robot game contributes to their Core Values score (which is another 25% of their score)</a:t>
            </a:r>
            <a:endParaRPr lang="en-US" sz="1900" b="0" u="none" strike="noStrike">
              <a:solidFill>
                <a:srgbClr val="000000"/>
              </a:solidFill>
              <a:effectLst/>
              <a:uFillTx/>
              <a:latin typeface="Arial"/>
            </a:endParaRPr>
          </a:p>
          <a:p>
            <a:pPr marL="457200" indent="-358920" algn="l">
              <a:lnSpc>
                <a:spcPct val="115000"/>
              </a:lnSpc>
              <a:buClr>
                <a:srgbClr val="000000"/>
              </a:buClr>
              <a:buFont typeface="Arial"/>
              <a:buChar char="●"/>
            </a:pPr>
            <a:r>
              <a:rPr lang="en" sz="1900" b="0" u="none" strike="noStrike">
                <a:solidFill>
                  <a:schemeClr val="dk1"/>
                </a:solidFill>
                <a:effectLst/>
                <a:uFillTx/>
                <a:latin typeface="Arial"/>
                <a:ea typeface="Arial"/>
              </a:rPr>
              <a:t>A team does not need to win or even place in the top 5 in the robot game to move from a qualifier to the State tournament</a:t>
            </a:r>
            <a:endParaRPr lang="en-US" sz="1900" b="0" u="none" strike="noStrike">
              <a:solidFill>
                <a:srgbClr val="000000"/>
              </a:solidFill>
              <a:effectLst/>
              <a:uFillTx/>
              <a:latin typeface="Arial"/>
            </a:endParaRPr>
          </a:p>
          <a:p>
            <a:pPr marL="457200" indent="-358920" algn="l">
              <a:lnSpc>
                <a:spcPct val="115000"/>
              </a:lnSpc>
              <a:buClr>
                <a:srgbClr val="000000"/>
              </a:buClr>
              <a:buFont typeface="Arial"/>
              <a:buChar char="●"/>
            </a:pPr>
            <a:r>
              <a:rPr lang="en" sz="1900" b="0" u="none" strike="noStrike">
                <a:solidFill>
                  <a:schemeClr val="dk1"/>
                </a:solidFill>
                <a:effectLst/>
                <a:uFillTx/>
                <a:latin typeface="Arial"/>
                <a:ea typeface="Arial"/>
              </a:rPr>
              <a:t>Teams focusing solely on the robot game will not advance out the qualifier or tournament</a:t>
            </a:r>
            <a:endParaRPr lang="en-US" sz="1900" b="0" u="none" strike="noStrike">
              <a:solidFill>
                <a:srgbClr val="000000"/>
              </a:solidFill>
              <a:effectLst/>
              <a:uFillTx/>
              <a:latin typeface="Arial"/>
            </a:endParaRPr>
          </a:p>
          <a:p>
            <a:pPr indent="0" algn="l">
              <a:lnSpc>
                <a:spcPct val="115000"/>
              </a:lnSpc>
              <a:buNone/>
              <a:tabLst>
                <a:tab pos="0" algn="l"/>
              </a:tabLst>
            </a:pPr>
            <a:endParaRPr lang="en-US" sz="1900" b="0" u="none" strike="noStrike">
              <a:solidFill>
                <a:srgbClr val="000000"/>
              </a:solidFill>
              <a:effectLst/>
              <a:uFillTx/>
              <a:latin typeface="Arial"/>
            </a:endParaRPr>
          </a:p>
        </p:txBody>
      </p:sp>
      <p:sp>
        <p:nvSpPr>
          <p:cNvPr id="527" name="PlaceHolder 3"/>
          <p:cNvSpPr>
            <a:spLocks noGrp="1"/>
          </p:cNvSpPr>
          <p:nvPr>
            <p:ph type="sldNum" idx="10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24AEC5E-9F7F-429B-A531-CE0F456AA06D}" type="slidenum">
              <a:rPr lang="en" sz="1000" b="0" u="none" strike="noStrike">
                <a:solidFill>
                  <a:schemeClr val="dk2"/>
                </a:solidFill>
                <a:effectLst/>
                <a:uFillTx/>
                <a:latin typeface="Arial"/>
                <a:ea typeface="Arial"/>
              </a:rPr>
              <a:t>95</a:t>
            </a:fld>
            <a:endParaRPr lang="en-US" sz="1000" b="0" u="none" strike="noStrike">
              <a:solidFill>
                <a:srgbClr val="000000"/>
              </a:solidFill>
              <a:effectLst/>
              <a:uFillTx/>
              <a:latin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Rulebook &amp; Videos</a:t>
            </a:r>
            <a:endParaRPr lang="en-US" sz="2500" b="0" u="none" strike="noStrike">
              <a:solidFill>
                <a:srgbClr val="000000"/>
              </a:solidFill>
              <a:effectLst/>
              <a:uFillTx/>
              <a:latin typeface="Arial"/>
            </a:endParaRPr>
          </a:p>
        </p:txBody>
      </p:sp>
      <p:sp>
        <p:nvSpPr>
          <p:cNvPr id="529"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lnSpcReduction="9999"/>
          </a:bodyPr>
          <a:lstStyle/>
          <a:p>
            <a:pPr marL="457200" indent="-330120" algn="l">
              <a:lnSpc>
                <a:spcPct val="115000"/>
              </a:lnSpc>
              <a:buClr>
                <a:srgbClr val="000000"/>
              </a:buClr>
              <a:buFont typeface="Arial"/>
              <a:buChar char="●"/>
            </a:pPr>
            <a:r>
              <a:rPr lang="en" sz="1600" b="0" u="none" strike="noStrike">
                <a:solidFill>
                  <a:schemeClr val="dk1"/>
                </a:solidFill>
                <a:effectLst/>
                <a:uFillTx/>
                <a:latin typeface="Arial"/>
                <a:ea typeface="Arial"/>
              </a:rPr>
              <a:t>All team members must read the Robot Game Rulebook (RGR)</a:t>
            </a:r>
            <a:endParaRPr lang="en-US" sz="1600" b="0" u="none" strike="noStrike">
              <a:solidFill>
                <a:srgbClr val="000000"/>
              </a:solidFill>
              <a:effectLst/>
              <a:uFillTx/>
              <a:latin typeface="Arial"/>
            </a:endParaRPr>
          </a:p>
          <a:p>
            <a:pPr marL="457200" indent="-330120" algn="l">
              <a:lnSpc>
                <a:spcPct val="115000"/>
              </a:lnSpc>
              <a:buClr>
                <a:srgbClr val="000000"/>
              </a:buClr>
              <a:buFont typeface="Arial"/>
              <a:buChar char="●"/>
            </a:pPr>
            <a:r>
              <a:rPr lang="en" sz="1600" b="0" u="none" strike="noStrike">
                <a:solidFill>
                  <a:schemeClr val="dk1"/>
                </a:solidFill>
                <a:effectLst/>
                <a:uFillTx/>
                <a:latin typeface="Arial"/>
                <a:ea typeface="Arial"/>
              </a:rPr>
              <a:t>Failure to understand the scoring rules will result in unnecessary frustration in developing attachments and programming the robot</a:t>
            </a:r>
            <a:endParaRPr lang="en-US" sz="1600" b="0" u="none" strike="noStrike">
              <a:solidFill>
                <a:srgbClr val="000000"/>
              </a:solidFill>
              <a:effectLst/>
              <a:uFillTx/>
              <a:latin typeface="Arial"/>
            </a:endParaRPr>
          </a:p>
          <a:p>
            <a:pPr marL="457200" indent="-330120" algn="l">
              <a:lnSpc>
                <a:spcPct val="115000"/>
              </a:lnSpc>
              <a:buClr>
                <a:srgbClr val="000000"/>
              </a:buClr>
              <a:buFont typeface="Arial"/>
              <a:buChar char="●"/>
            </a:pPr>
            <a:r>
              <a:rPr lang="en" sz="1600" b="1" u="none" strike="noStrike">
                <a:solidFill>
                  <a:schemeClr val="dk1"/>
                </a:solidFill>
                <a:effectLst/>
                <a:uFillTx/>
                <a:latin typeface="Arial"/>
                <a:ea typeface="Arial"/>
              </a:rPr>
              <a:t>Do NOT read into the wording. </a:t>
            </a:r>
            <a:r>
              <a:rPr lang="en" sz="1600" b="0" u="none" strike="noStrike">
                <a:solidFill>
                  <a:schemeClr val="dk1"/>
                </a:solidFill>
                <a:effectLst/>
                <a:uFillTx/>
                <a:latin typeface="Arial"/>
                <a:ea typeface="Arial"/>
              </a:rPr>
              <a:t> Take wording as literal. </a:t>
            </a:r>
            <a:endParaRPr lang="en-US" sz="16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If it doesn’t say you can’t, you likely can do it </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However, breaking or dislodging a mission model may result in no points for the mission </a:t>
            </a:r>
            <a:endParaRPr lang="en-US" sz="14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 sz="1640" b="0" u="none" strike="noStrike">
                <a:solidFill>
                  <a:schemeClr val="dk1"/>
                </a:solidFill>
                <a:effectLst/>
                <a:uFillTx/>
                <a:latin typeface="Arial"/>
                <a:ea typeface="Arial"/>
              </a:rPr>
              <a:t>Watch the Model Setup and Activation Mechanism video</a:t>
            </a:r>
            <a:endParaRPr lang="en-US" sz="1640" b="0" u="none" strike="noStrike">
              <a:solidFill>
                <a:srgbClr val="000000"/>
              </a:solidFill>
              <a:effectLst/>
              <a:uFillTx/>
              <a:latin typeface="Arial"/>
            </a:endParaRPr>
          </a:p>
          <a:p>
            <a:pPr marL="914400" lvl="1" indent="-320400" algn="l">
              <a:lnSpc>
                <a:spcPct val="115000"/>
              </a:lnSpc>
              <a:buClr>
                <a:srgbClr val="000000"/>
              </a:buClr>
              <a:buFont typeface="Arial"/>
              <a:buChar char="○"/>
            </a:pPr>
            <a:r>
              <a:rPr lang="en" sz="1450" b="0" u="none" strike="noStrike">
                <a:solidFill>
                  <a:schemeClr val="dk1"/>
                </a:solidFill>
                <a:effectLst/>
                <a:uFillTx/>
                <a:latin typeface="Arial"/>
                <a:ea typeface="Arial"/>
              </a:rPr>
              <a:t>Posted to the same FLL website as the assembly instructions</a:t>
            </a:r>
            <a:endParaRPr lang="en-US" sz="1450" b="0" u="none" strike="noStrike">
              <a:solidFill>
                <a:srgbClr val="000000"/>
              </a:solidFill>
              <a:effectLst/>
              <a:uFillTx/>
              <a:latin typeface="Arial"/>
            </a:endParaRPr>
          </a:p>
          <a:p>
            <a:pPr marL="457200" indent="-333000" algn="l">
              <a:lnSpc>
                <a:spcPct val="115000"/>
              </a:lnSpc>
              <a:buClr>
                <a:srgbClr val="000000"/>
              </a:buClr>
              <a:buFont typeface="Arial"/>
              <a:buChar char="●"/>
            </a:pPr>
            <a:r>
              <a:rPr lang="en" sz="1640" b="0" u="none" strike="noStrike">
                <a:solidFill>
                  <a:schemeClr val="dk1"/>
                </a:solidFill>
                <a:effectLst/>
                <a:uFillTx/>
                <a:latin typeface="Arial"/>
                <a:ea typeface="Arial"/>
              </a:rPr>
              <a:t>Watch Robot Game Missions video (usually on YouTube)</a:t>
            </a:r>
            <a:endParaRPr lang="en-US" sz="1640" b="0" u="none" strike="noStrike">
              <a:solidFill>
                <a:srgbClr val="000000"/>
              </a:solidFill>
              <a:effectLst/>
              <a:uFillTx/>
              <a:latin typeface="Arial"/>
            </a:endParaRPr>
          </a:p>
          <a:p>
            <a:pPr marL="914400" lvl="1" indent="-320400" algn="l">
              <a:lnSpc>
                <a:spcPct val="115000"/>
              </a:lnSpc>
              <a:buClr>
                <a:srgbClr val="000000"/>
              </a:buClr>
              <a:buFont typeface="Arial"/>
              <a:buChar char="○"/>
            </a:pPr>
            <a:r>
              <a:rPr lang="en" sz="1450" b="0" u="none" strike="noStrike">
                <a:solidFill>
                  <a:schemeClr val="dk1"/>
                </a:solidFill>
                <a:effectLst/>
                <a:uFillTx/>
                <a:latin typeface="Arial"/>
                <a:ea typeface="Arial"/>
              </a:rPr>
              <a:t>There are applications for Mac and Windows that will let you download the video so you can watch when an Internet connection is not available. Youtube is blocked at many schools.</a:t>
            </a:r>
            <a:endParaRPr lang="en-US" sz="1450" b="0" u="none" strike="noStrike">
              <a:solidFill>
                <a:srgbClr val="000000"/>
              </a:solidFill>
              <a:effectLst/>
              <a:uFillTx/>
              <a:latin typeface="Arial"/>
            </a:endParaRPr>
          </a:p>
          <a:p>
            <a:pPr marL="1371600" lvl="2" indent="-298440" algn="l">
              <a:lnSpc>
                <a:spcPct val="115000"/>
              </a:lnSpc>
              <a:buClr>
                <a:srgbClr val="000000"/>
              </a:buClr>
              <a:buFont typeface="Arial"/>
              <a:buChar char="■"/>
            </a:pPr>
            <a:r>
              <a:rPr lang="en" sz="1100" b="0" u="none" strike="noStrike">
                <a:solidFill>
                  <a:schemeClr val="dk1"/>
                </a:solidFill>
                <a:effectLst/>
                <a:uFillTx/>
                <a:latin typeface="Arial"/>
                <a:ea typeface="Arial"/>
              </a:rPr>
              <a:t>For Mac, the HomeBrew yt-dlp app is available at </a:t>
            </a:r>
            <a:r>
              <a:rPr lang="en" sz="1100" b="0" u="sng" strike="noStrike">
                <a:solidFill>
                  <a:schemeClr val="dk1"/>
                </a:solidFill>
                <a:effectLst/>
                <a:uFillTx/>
                <a:latin typeface="Arial"/>
                <a:ea typeface="Arial"/>
                <a:hlinkClick r:id="rId2"/>
              </a:rPr>
              <a:t>https://formulae.brew.sh/formula/yt-dlp</a:t>
            </a:r>
            <a:endParaRPr lang="en-US" sz="1100" b="0" u="none" strike="noStrike">
              <a:solidFill>
                <a:srgbClr val="000000"/>
              </a:solidFill>
              <a:effectLst/>
              <a:uFillTx/>
              <a:latin typeface="Arial"/>
            </a:endParaRPr>
          </a:p>
          <a:p>
            <a:pPr marL="1371600" lvl="2" indent="-298440" algn="l">
              <a:lnSpc>
                <a:spcPct val="115000"/>
              </a:lnSpc>
              <a:buClr>
                <a:srgbClr val="000000"/>
              </a:buClr>
              <a:buFont typeface="Arial"/>
              <a:buChar char="■"/>
            </a:pPr>
            <a:r>
              <a:rPr lang="en" sz="1100" b="0" u="none" strike="noStrike">
                <a:solidFill>
                  <a:schemeClr val="dk1"/>
                </a:solidFill>
                <a:effectLst/>
                <a:uFillTx/>
                <a:latin typeface="Arial"/>
                <a:ea typeface="Arial"/>
              </a:rPr>
              <a:t>For Windows/Linux/Mac, Anaconda youtube-dl app is available at </a:t>
            </a:r>
            <a:r>
              <a:rPr lang="en" sz="1100" b="0" u="sng" strike="noStrike">
                <a:solidFill>
                  <a:schemeClr val="dk1"/>
                </a:solidFill>
                <a:effectLst/>
                <a:uFillTx/>
                <a:latin typeface="Arial"/>
                <a:ea typeface="Arial"/>
                <a:hlinkClick r:id="rId3"/>
              </a:rPr>
              <a:t>https://anaconda.org/conda-forge/youtube-dl</a:t>
            </a:r>
            <a:r>
              <a:rPr lang="en" sz="1100" b="0" u="none" strike="noStrike">
                <a:solidFill>
                  <a:schemeClr val="dk1"/>
                </a:solidFill>
                <a:effectLst/>
                <a:uFillTx/>
                <a:latin typeface="Arial"/>
                <a:ea typeface="Arial"/>
              </a:rPr>
              <a:t> </a:t>
            </a:r>
            <a:endParaRPr lang="en-US" sz="1100" b="0" u="none" strike="noStrike">
              <a:solidFill>
                <a:srgbClr val="000000"/>
              </a:solidFill>
              <a:effectLst/>
              <a:uFillTx/>
              <a:latin typeface="Arial"/>
            </a:endParaRPr>
          </a:p>
        </p:txBody>
      </p:sp>
      <p:sp>
        <p:nvSpPr>
          <p:cNvPr id="530" name="PlaceHolder 3"/>
          <p:cNvSpPr>
            <a:spLocks noGrp="1"/>
          </p:cNvSpPr>
          <p:nvPr>
            <p:ph type="sldNum" idx="10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AA453A1-C655-4AC0-8361-810E8AE5C50C}" type="slidenum">
              <a:rPr lang="en" sz="1000" b="0" u="none" strike="noStrike">
                <a:solidFill>
                  <a:schemeClr val="dk2"/>
                </a:solidFill>
                <a:effectLst/>
                <a:uFillTx/>
                <a:latin typeface="Arial"/>
                <a:ea typeface="Arial"/>
              </a:rPr>
              <a:t>96</a:t>
            </a:fld>
            <a:endParaRPr lang="en-US" sz="1000" b="0" u="none" strike="noStrike">
              <a:solidFill>
                <a:srgbClr val="000000"/>
              </a:solidFill>
              <a:effectLst/>
              <a:uFillTx/>
              <a:latin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Missions vs. Tasks (1 of 2) </a:t>
            </a:r>
            <a:endParaRPr lang="en-US" sz="2500" b="0" u="none" strike="noStrike">
              <a:solidFill>
                <a:srgbClr val="000000"/>
              </a:solidFill>
              <a:effectLst/>
              <a:uFillTx/>
              <a:latin typeface="Arial"/>
            </a:endParaRPr>
          </a:p>
        </p:txBody>
      </p:sp>
      <p:sp>
        <p:nvSpPr>
          <p:cNvPr id="532"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77500" lnSpcReduction="19999"/>
          </a:bodyPr>
          <a:lstStyle/>
          <a:p>
            <a:pPr marL="457200" indent="-317880" algn="l">
              <a:lnSpc>
                <a:spcPct val="115000"/>
              </a:lnSpc>
              <a:spcBef>
                <a:spcPts val="1001"/>
              </a:spcBef>
              <a:buClr>
                <a:srgbClr val="000000"/>
              </a:buClr>
              <a:buFont typeface="Arial"/>
              <a:buChar char="●"/>
            </a:pPr>
            <a:r>
              <a:rPr lang="en" sz="2250" b="0" u="none" strike="noStrike">
                <a:solidFill>
                  <a:schemeClr val="dk1"/>
                </a:solidFill>
                <a:effectLst/>
                <a:uFillTx/>
                <a:latin typeface="Arial"/>
                <a:ea typeface="Arial"/>
              </a:rPr>
              <a:t>Robot game consists of solving missions</a:t>
            </a:r>
            <a:endParaRPr lang="en-US" sz="2250" b="0" u="none" strike="noStrike">
              <a:solidFill>
                <a:srgbClr val="000000"/>
              </a:solidFill>
              <a:effectLst/>
              <a:uFillTx/>
              <a:latin typeface="Arial"/>
            </a:endParaRPr>
          </a:p>
          <a:p>
            <a:pPr marL="457200" indent="-317880" algn="l">
              <a:lnSpc>
                <a:spcPct val="115000"/>
              </a:lnSpc>
              <a:spcBef>
                <a:spcPts val="1199"/>
              </a:spcBef>
              <a:buClr>
                <a:srgbClr val="000000"/>
              </a:buClr>
              <a:buFont typeface="Arial"/>
              <a:buChar char="●"/>
            </a:pPr>
            <a:r>
              <a:rPr lang="en" sz="2250" b="0" u="none" strike="noStrike">
                <a:solidFill>
                  <a:schemeClr val="dk1"/>
                </a:solidFill>
                <a:effectLst/>
                <a:uFillTx/>
                <a:latin typeface="Arial"/>
                <a:ea typeface="Arial"/>
              </a:rPr>
              <a:t>Missions usually are focused on a single mission model</a:t>
            </a:r>
            <a:endParaRPr lang="en-US" sz="2250" b="0" u="none" strike="noStrike">
              <a:solidFill>
                <a:srgbClr val="000000"/>
              </a:solidFill>
              <a:effectLst/>
              <a:uFillTx/>
              <a:latin typeface="Arial"/>
            </a:endParaRPr>
          </a:p>
          <a:p>
            <a:pPr marL="914400" lvl="1" indent="-295920" algn="l">
              <a:lnSpc>
                <a:spcPct val="115000"/>
              </a:lnSpc>
              <a:spcBef>
                <a:spcPts val="1001"/>
              </a:spcBef>
              <a:buClr>
                <a:srgbClr val="000000"/>
              </a:buClr>
              <a:buFont typeface="Arial"/>
              <a:buChar char="○"/>
            </a:pPr>
            <a:r>
              <a:rPr lang="en" sz="1700" b="0" u="none" strike="noStrike">
                <a:solidFill>
                  <a:schemeClr val="dk1"/>
                </a:solidFill>
                <a:effectLst/>
                <a:uFillTx/>
                <a:latin typeface="Arial"/>
                <a:ea typeface="Arial"/>
              </a:rPr>
              <a:t>However, there are usually a couple of missions that take pieces from one or more mission models (or locations on the board) and move them to another mission model or location</a:t>
            </a:r>
            <a:endParaRPr lang="en-US" sz="1700" b="0" u="none" strike="noStrike">
              <a:solidFill>
                <a:srgbClr val="000000"/>
              </a:solidFill>
              <a:effectLst/>
              <a:uFillTx/>
              <a:latin typeface="Arial"/>
            </a:endParaRPr>
          </a:p>
          <a:p>
            <a:pPr marL="457200" indent="-321480" algn="l">
              <a:lnSpc>
                <a:spcPct val="115000"/>
              </a:lnSpc>
              <a:spcBef>
                <a:spcPts val="1001"/>
              </a:spcBef>
              <a:buClr>
                <a:srgbClr val="000000"/>
              </a:buClr>
              <a:buFont typeface="Arial"/>
              <a:buChar char="●"/>
            </a:pPr>
            <a:r>
              <a:rPr lang="en" sz="2340" b="0" u="none" strike="noStrike">
                <a:solidFill>
                  <a:schemeClr val="dk1"/>
                </a:solidFill>
                <a:effectLst/>
                <a:uFillTx/>
                <a:latin typeface="Arial"/>
                <a:ea typeface="Arial"/>
              </a:rPr>
              <a:t>A common approach to the robot game is combining multiple missions (or parts of missions) into tasks</a:t>
            </a:r>
            <a:endParaRPr lang="en-US" sz="2340" b="0" u="none" strike="noStrike">
              <a:solidFill>
                <a:srgbClr val="000000"/>
              </a:solidFill>
              <a:effectLst/>
              <a:uFillTx/>
              <a:latin typeface="Arial"/>
            </a:endParaRPr>
          </a:p>
          <a:p>
            <a:pPr marL="914400" lvl="1" indent="-295920" algn="l">
              <a:lnSpc>
                <a:spcPct val="115000"/>
              </a:lnSpc>
              <a:spcBef>
                <a:spcPts val="1001"/>
              </a:spcBef>
              <a:buClr>
                <a:srgbClr val="000000"/>
              </a:buClr>
              <a:buFont typeface="Arial"/>
              <a:buChar char="○"/>
            </a:pPr>
            <a:r>
              <a:rPr lang="en" sz="1700" b="0" u="none" strike="noStrike">
                <a:solidFill>
                  <a:schemeClr val="dk1"/>
                </a:solidFill>
                <a:effectLst/>
                <a:uFillTx/>
                <a:latin typeface="Arial"/>
                <a:ea typeface="Arial"/>
              </a:rPr>
              <a:t>On Spike Prime robots, the hub menu is then used to run specific tasks</a:t>
            </a:r>
            <a:endParaRPr lang="en-US" sz="1700" b="0" u="none" strike="noStrike">
              <a:solidFill>
                <a:srgbClr val="000000"/>
              </a:solidFill>
              <a:effectLst/>
              <a:uFillTx/>
              <a:latin typeface="Arial"/>
            </a:endParaRPr>
          </a:p>
          <a:p>
            <a:pPr marL="457200" indent="-321840" algn="l">
              <a:lnSpc>
                <a:spcPct val="115000"/>
              </a:lnSpc>
              <a:spcBef>
                <a:spcPts val="1001"/>
              </a:spcBef>
              <a:buClr>
                <a:srgbClr val="000000"/>
              </a:buClr>
              <a:buFont typeface="Arial"/>
              <a:buChar char="●"/>
            </a:pPr>
            <a:r>
              <a:rPr lang="en" sz="2350" b="0" u="none" strike="noStrike">
                <a:solidFill>
                  <a:schemeClr val="dk1"/>
                </a:solidFill>
                <a:effectLst/>
                <a:uFillTx/>
                <a:latin typeface="Arial"/>
                <a:ea typeface="Arial"/>
              </a:rPr>
              <a:t>Tasks should be optimized for the limited time available </a:t>
            </a:r>
            <a:r>
              <a:rPr lang="en" sz="2350" b="1" u="none" strike="noStrike">
                <a:solidFill>
                  <a:schemeClr val="dk1"/>
                </a:solidFill>
                <a:effectLst/>
                <a:uFillTx/>
                <a:latin typeface="Arial"/>
                <a:ea typeface="Arial"/>
              </a:rPr>
              <a:t> (2 min 30 secs!)</a:t>
            </a:r>
            <a:endParaRPr lang="en-US" sz="2350" b="0" u="none" strike="noStrike">
              <a:solidFill>
                <a:srgbClr val="000000"/>
              </a:solidFill>
              <a:effectLst/>
              <a:uFillTx/>
              <a:latin typeface="Arial"/>
            </a:endParaRPr>
          </a:p>
          <a:p>
            <a:pPr marL="914400" lvl="1" indent="-294120" algn="l">
              <a:lnSpc>
                <a:spcPct val="115000"/>
              </a:lnSpc>
              <a:spcBef>
                <a:spcPts val="1001"/>
              </a:spcBef>
              <a:buClr>
                <a:srgbClr val="000000"/>
              </a:buClr>
              <a:buFont typeface="Arial"/>
              <a:buChar char="○"/>
            </a:pPr>
            <a:r>
              <a:rPr lang="en" sz="1650" b="0" u="none" strike="noStrike">
                <a:solidFill>
                  <a:schemeClr val="dk1"/>
                </a:solidFill>
                <a:effectLst/>
                <a:uFillTx/>
                <a:latin typeface="Arial"/>
                <a:ea typeface="Arial"/>
              </a:rPr>
              <a:t>Returning to a home base is expensive and should be visited sparingly to swap attachments and add/remove mission model components needed for other tasks</a:t>
            </a:r>
            <a:endParaRPr lang="en-US" sz="1650" b="0" u="none" strike="noStrike">
              <a:solidFill>
                <a:srgbClr val="000000"/>
              </a:solidFill>
              <a:effectLst/>
              <a:uFillTx/>
              <a:latin typeface="Arial"/>
            </a:endParaRPr>
          </a:p>
          <a:p>
            <a:pPr marL="914400" lvl="1" indent="-294120" algn="l">
              <a:lnSpc>
                <a:spcPct val="115000"/>
              </a:lnSpc>
              <a:spcBef>
                <a:spcPts val="1001"/>
              </a:spcBef>
              <a:buClr>
                <a:srgbClr val="000000"/>
              </a:buClr>
              <a:buFont typeface="Arial"/>
              <a:buChar char="○"/>
            </a:pPr>
            <a:r>
              <a:rPr lang="en" sz="1650" b="0" u="none" strike="noStrike">
                <a:solidFill>
                  <a:schemeClr val="dk1"/>
                </a:solidFill>
                <a:effectLst/>
                <a:uFillTx/>
                <a:latin typeface="Arial"/>
                <a:ea typeface="Arial"/>
              </a:rPr>
              <a:t>Consider grouping tasks based on the action (e.g., push, pull, lift, pickup, flip) required for the task which usually means which attachments are connected to the robot</a:t>
            </a:r>
            <a:endParaRPr lang="en-US" sz="1650" b="0" u="none" strike="noStrike">
              <a:solidFill>
                <a:srgbClr val="000000"/>
              </a:solidFill>
              <a:effectLst/>
              <a:uFillTx/>
              <a:latin typeface="Arial"/>
            </a:endParaRPr>
          </a:p>
        </p:txBody>
      </p:sp>
      <p:sp>
        <p:nvSpPr>
          <p:cNvPr id="533" name="PlaceHolder 3"/>
          <p:cNvSpPr>
            <a:spLocks noGrp="1"/>
          </p:cNvSpPr>
          <p:nvPr>
            <p:ph type="sldNum" idx="11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CAF39D9-CC3E-45FC-926E-E20ACE9FC1AF}" type="slidenum">
              <a:rPr lang="en" sz="1000" b="0" u="none" strike="noStrike">
                <a:solidFill>
                  <a:schemeClr val="dk2"/>
                </a:solidFill>
                <a:effectLst/>
                <a:uFillTx/>
                <a:latin typeface="Arial"/>
                <a:ea typeface="Arial"/>
              </a:rPr>
              <a:t>97</a:t>
            </a:fld>
            <a:endParaRPr lang="en-US" sz="1000" b="0" u="none" strike="noStrike">
              <a:solidFill>
                <a:srgbClr val="000000"/>
              </a:solidFill>
              <a:effectLst/>
              <a:uFillTx/>
              <a:latin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Missions vs. Tasks (2 of 2) </a:t>
            </a:r>
            <a:endParaRPr lang="en-US" sz="2500" b="0" u="none" strike="noStrike">
              <a:solidFill>
                <a:srgbClr val="000000"/>
              </a:solidFill>
              <a:effectLst/>
              <a:uFillTx/>
              <a:latin typeface="Arial"/>
            </a:endParaRPr>
          </a:p>
        </p:txBody>
      </p:sp>
      <p:sp>
        <p:nvSpPr>
          <p:cNvPr id="535"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92500" lnSpcReduction="9999"/>
          </a:bodyPr>
          <a:lstStyle/>
          <a:p>
            <a:pPr marL="457200" indent="-334440" algn="l">
              <a:lnSpc>
                <a:spcPct val="115000"/>
              </a:lnSpc>
              <a:spcBef>
                <a:spcPts val="1001"/>
              </a:spcBef>
              <a:buClr>
                <a:srgbClr val="000000"/>
              </a:buClr>
              <a:buFont typeface="Arial"/>
              <a:buChar char="●"/>
            </a:pPr>
            <a:r>
              <a:rPr lang="en" sz="1800" b="0" u="none" strike="noStrike">
                <a:solidFill>
                  <a:schemeClr val="dk1"/>
                </a:solidFill>
                <a:effectLst/>
                <a:uFillTx/>
                <a:latin typeface="Arial"/>
                <a:ea typeface="Arial"/>
              </a:rPr>
              <a:t>Teams should be careful about assigning too many missions to a single task</a:t>
            </a:r>
            <a:endParaRPr lang="en-US" sz="1800" b="0" u="none" strike="noStrike">
              <a:solidFill>
                <a:srgbClr val="000000"/>
              </a:solidFill>
              <a:effectLst/>
              <a:uFillTx/>
              <a:latin typeface="Arial"/>
            </a:endParaRPr>
          </a:p>
          <a:p>
            <a:pPr marL="914400" lvl="1" indent="-310680" algn="l">
              <a:lnSpc>
                <a:spcPct val="115000"/>
              </a:lnSpc>
              <a:spcBef>
                <a:spcPts val="1199"/>
              </a:spcBef>
              <a:buClr>
                <a:srgbClr val="000000"/>
              </a:buClr>
              <a:buFont typeface="Arial"/>
              <a:buChar char="○"/>
            </a:pPr>
            <a:r>
              <a:rPr lang="en" sz="1400" b="0" u="none" strike="noStrike">
                <a:solidFill>
                  <a:schemeClr val="dk1"/>
                </a:solidFill>
                <a:effectLst/>
                <a:uFillTx/>
                <a:latin typeface="Arial"/>
                <a:ea typeface="Arial"/>
              </a:rPr>
              <a:t>If the task fails, it is usually not practical to grab the robot off the table (and thus losing a precision token) and rerun the task</a:t>
            </a:r>
            <a:endParaRPr lang="en-US" sz="1400" b="0" u="none" strike="noStrike">
              <a:solidFill>
                <a:srgbClr val="000000"/>
              </a:solidFill>
              <a:effectLst/>
              <a:uFillTx/>
              <a:latin typeface="Arial"/>
            </a:endParaRPr>
          </a:p>
          <a:p>
            <a:pPr marL="914400" lvl="1" indent="-310680" algn="l">
              <a:lnSpc>
                <a:spcPct val="115000"/>
              </a:lnSpc>
              <a:spcBef>
                <a:spcPts val="1001"/>
              </a:spcBef>
              <a:buClr>
                <a:srgbClr val="000000"/>
              </a:buClr>
              <a:buFont typeface="Arial"/>
              <a:buChar char="○"/>
            </a:pPr>
            <a:r>
              <a:rPr lang="en" sz="1400" b="0" u="none" strike="noStrike">
                <a:solidFill>
                  <a:schemeClr val="dk1"/>
                </a:solidFill>
                <a:effectLst/>
                <a:uFillTx/>
                <a:latin typeface="Arial"/>
                <a:ea typeface="Arial"/>
              </a:rPr>
              <a:t>Programs tend to expect objects and/or models to be in specific positions</a:t>
            </a:r>
            <a:endParaRPr lang="en-US" sz="1400" b="0" u="none" strike="noStrike">
              <a:solidFill>
                <a:srgbClr val="000000"/>
              </a:solidFill>
              <a:effectLst/>
              <a:uFillTx/>
              <a:latin typeface="Arial"/>
            </a:endParaRPr>
          </a:p>
          <a:p>
            <a:pPr marL="914400" lvl="1" indent="-310680" algn="l">
              <a:lnSpc>
                <a:spcPct val="115000"/>
              </a:lnSpc>
              <a:spcBef>
                <a:spcPts val="1001"/>
              </a:spcBef>
              <a:buClr>
                <a:srgbClr val="000000"/>
              </a:buClr>
              <a:buFont typeface="Arial"/>
              <a:buChar char="○"/>
            </a:pPr>
            <a:r>
              <a:rPr lang="en" sz="1400" b="0" u="none" strike="noStrike">
                <a:solidFill>
                  <a:schemeClr val="dk1"/>
                </a:solidFill>
                <a:effectLst/>
                <a:uFillTx/>
                <a:latin typeface="Arial"/>
                <a:ea typeface="Arial"/>
              </a:rPr>
              <a:t>Rerunning the task will likely fail, because the positions of the models are different</a:t>
            </a:r>
            <a:endParaRPr lang="en-US" sz="1400" b="0" u="none" strike="noStrike">
              <a:solidFill>
                <a:srgbClr val="000000"/>
              </a:solidFill>
              <a:effectLst/>
              <a:uFillTx/>
              <a:latin typeface="Arial"/>
            </a:endParaRPr>
          </a:p>
          <a:p>
            <a:pPr marL="914400" lvl="1" indent="-310680" algn="l">
              <a:lnSpc>
                <a:spcPct val="115000"/>
              </a:lnSpc>
              <a:spcBef>
                <a:spcPts val="1001"/>
              </a:spcBef>
              <a:buClr>
                <a:srgbClr val="000000"/>
              </a:buClr>
              <a:buFont typeface="Arial"/>
              <a:buChar char="○"/>
            </a:pPr>
            <a:r>
              <a:rPr lang="en" sz="1400" b="0" u="none" strike="noStrike">
                <a:solidFill>
                  <a:schemeClr val="dk1"/>
                </a:solidFill>
                <a:effectLst/>
                <a:uFillTx/>
                <a:latin typeface="Arial"/>
                <a:ea typeface="Arial"/>
              </a:rPr>
              <a:t>This could result in another precision token being used if the robot gets stuck or is off course</a:t>
            </a:r>
            <a:endParaRPr lang="en-US" sz="1400" b="0" u="none" strike="noStrike">
              <a:solidFill>
                <a:srgbClr val="000000"/>
              </a:solidFill>
              <a:effectLst/>
              <a:uFillTx/>
              <a:latin typeface="Arial"/>
            </a:endParaRPr>
          </a:p>
          <a:p>
            <a:pPr marL="457200" indent="-334440" algn="l">
              <a:lnSpc>
                <a:spcPct val="115000"/>
              </a:lnSpc>
              <a:spcBef>
                <a:spcPts val="1001"/>
              </a:spcBef>
              <a:buClr>
                <a:srgbClr val="000000"/>
              </a:buClr>
              <a:buFont typeface="Arial"/>
              <a:buChar char="●"/>
            </a:pPr>
            <a:r>
              <a:rPr lang="en" sz="1800" b="0" u="none" strike="noStrike">
                <a:solidFill>
                  <a:schemeClr val="dk1"/>
                </a:solidFill>
                <a:effectLst/>
                <a:uFillTx/>
                <a:latin typeface="Arial"/>
                <a:ea typeface="Arial"/>
              </a:rPr>
              <a:t>Testing with multiple game boards is highly recommended </a:t>
            </a:r>
            <a:endParaRPr lang="en-US" sz="1800" b="0" u="none" strike="noStrike">
              <a:solidFill>
                <a:srgbClr val="000000"/>
              </a:solidFill>
              <a:effectLst/>
              <a:uFillTx/>
              <a:latin typeface="Arial"/>
            </a:endParaRPr>
          </a:p>
          <a:p>
            <a:pPr marL="914400" lvl="1" indent="-310680" algn="l">
              <a:lnSpc>
                <a:spcPct val="115000"/>
              </a:lnSpc>
              <a:spcBef>
                <a:spcPts val="1001"/>
              </a:spcBef>
              <a:buClr>
                <a:srgbClr val="000000"/>
              </a:buClr>
              <a:buFont typeface="Arial"/>
              <a:buChar char="○"/>
            </a:pPr>
            <a:r>
              <a:rPr lang="en" sz="1400" b="0" u="none" strike="noStrike">
                <a:solidFill>
                  <a:schemeClr val="dk1"/>
                </a:solidFill>
                <a:effectLst/>
                <a:uFillTx/>
                <a:latin typeface="Arial"/>
                <a:ea typeface="Arial"/>
              </a:rPr>
              <a:t>Competition boards are not perfect and do have imperfections including bumps, rises, and uneven surfaces that can through off the robot - this is also why using the gyroscope is important</a:t>
            </a:r>
            <a:endParaRPr lang="en-US" sz="1400" b="0" u="none" strike="noStrike">
              <a:solidFill>
                <a:srgbClr val="000000"/>
              </a:solidFill>
              <a:effectLst/>
              <a:uFillTx/>
              <a:latin typeface="Arial"/>
            </a:endParaRPr>
          </a:p>
          <a:p>
            <a:pPr marL="457200" indent="-334440" algn="l">
              <a:lnSpc>
                <a:spcPct val="115000"/>
              </a:lnSpc>
              <a:spcBef>
                <a:spcPts val="1199"/>
              </a:spcBef>
              <a:buClr>
                <a:srgbClr val="000000"/>
              </a:buClr>
              <a:buSzPct val="95000"/>
              <a:buFont typeface="Arial"/>
              <a:buChar char="●"/>
            </a:pPr>
            <a:r>
              <a:rPr lang="en" sz="1900" b="0" u="none" strike="noStrike">
                <a:solidFill>
                  <a:schemeClr val="dk1"/>
                </a:solidFill>
                <a:effectLst/>
                <a:uFillTx/>
                <a:latin typeface="Arial"/>
                <a:ea typeface="Arial"/>
              </a:rPr>
              <a:t>Teams should consider building positioning rigs to ensure the robot is always started in the right location for each task </a:t>
            </a:r>
            <a:endParaRPr lang="en-US" sz="1900" b="0" u="none" strike="noStrike">
              <a:solidFill>
                <a:srgbClr val="000000"/>
              </a:solidFill>
              <a:effectLst/>
              <a:uFillTx/>
              <a:latin typeface="Arial"/>
            </a:endParaRPr>
          </a:p>
        </p:txBody>
      </p:sp>
      <p:sp>
        <p:nvSpPr>
          <p:cNvPr id="536" name="PlaceHolder 3"/>
          <p:cNvSpPr>
            <a:spLocks noGrp="1"/>
          </p:cNvSpPr>
          <p:nvPr>
            <p:ph type="sldNum" idx="11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E2AD4AD-61E3-42AE-8090-08F8825E6626}" type="slidenum">
              <a:rPr lang="en" sz="1000" b="0" u="none" strike="noStrike">
                <a:solidFill>
                  <a:schemeClr val="dk2"/>
                </a:solidFill>
                <a:effectLst/>
                <a:uFillTx/>
                <a:latin typeface="Arial"/>
                <a:ea typeface="Arial"/>
              </a:rPr>
              <a:t>98</a:t>
            </a:fld>
            <a:endParaRPr lang="en-US" sz="1000" b="0" u="none" strike="noStrike">
              <a:solidFill>
                <a:srgbClr val="000000"/>
              </a:solidFill>
              <a:effectLst/>
              <a:uFillTx/>
              <a:latin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Approach to Missions  </a:t>
            </a:r>
            <a:endParaRPr lang="en-US" sz="2500" b="0" u="none" strike="noStrike">
              <a:solidFill>
                <a:srgbClr val="000000"/>
              </a:solidFill>
              <a:effectLst/>
              <a:uFillTx/>
              <a:latin typeface="Arial"/>
            </a:endParaRPr>
          </a:p>
        </p:txBody>
      </p:sp>
      <p:sp>
        <p:nvSpPr>
          <p:cNvPr id="538"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85000" lnSpcReduction="9999"/>
          </a:bodyPr>
          <a:lstStyle/>
          <a:p>
            <a:pPr marL="457200" indent="-336600" algn="l">
              <a:lnSpc>
                <a:spcPct val="115000"/>
              </a:lnSpc>
              <a:buClr>
                <a:srgbClr val="000000"/>
              </a:buClr>
              <a:buFont typeface="Arial"/>
              <a:buChar char="●"/>
            </a:pPr>
            <a:r>
              <a:rPr lang="en" sz="2000" b="0" u="none" strike="noStrike">
                <a:solidFill>
                  <a:schemeClr val="dk1"/>
                </a:solidFill>
                <a:effectLst/>
                <a:uFillTx/>
                <a:latin typeface="Arial"/>
                <a:ea typeface="Arial"/>
              </a:rPr>
              <a:t>There usually is more than one way to solve a mission </a:t>
            </a:r>
            <a:endParaRPr lang="en-US" sz="2000" b="0" u="none" strike="noStrike">
              <a:solidFill>
                <a:srgbClr val="000000"/>
              </a:solidFill>
              <a:effectLst/>
              <a:uFillTx/>
              <a:latin typeface="Arial"/>
            </a:endParaRPr>
          </a:p>
          <a:p>
            <a:pPr marL="914400" lvl="1" indent="-315000" algn="l">
              <a:lnSpc>
                <a:spcPct val="115000"/>
              </a:lnSpc>
              <a:buClr>
                <a:srgbClr val="000000"/>
              </a:buClr>
              <a:buFont typeface="Arial"/>
              <a:buChar char="○"/>
            </a:pPr>
            <a:r>
              <a:rPr lang="en" sz="1600" b="0" u="none" strike="noStrike">
                <a:solidFill>
                  <a:schemeClr val="dk1"/>
                </a:solidFill>
                <a:effectLst/>
                <a:uFillTx/>
                <a:latin typeface="Arial"/>
                <a:ea typeface="Arial"/>
              </a:rPr>
              <a:t>In most cases it is the end state that matters </a:t>
            </a:r>
            <a:endParaRPr lang="en-US" sz="1600" b="0" u="none" strike="noStrike">
              <a:solidFill>
                <a:srgbClr val="000000"/>
              </a:solidFill>
              <a:effectLst/>
              <a:uFillTx/>
              <a:latin typeface="Arial"/>
            </a:endParaRPr>
          </a:p>
          <a:p>
            <a:pPr marL="457200" indent="-336600" algn="l">
              <a:lnSpc>
                <a:spcPct val="115000"/>
              </a:lnSpc>
              <a:buClr>
                <a:srgbClr val="000000"/>
              </a:buClr>
              <a:buFont typeface="Arial"/>
              <a:buChar char="●"/>
            </a:pPr>
            <a:r>
              <a:rPr lang="en" sz="2000" b="0" u="none" strike="noStrike">
                <a:solidFill>
                  <a:schemeClr val="dk1"/>
                </a:solidFill>
                <a:effectLst/>
                <a:uFillTx/>
                <a:latin typeface="Arial"/>
                <a:ea typeface="Arial"/>
              </a:rPr>
              <a:t>Many missions have an “obvious” solution but that might not be the “best or optimal” solution</a:t>
            </a:r>
            <a:endParaRPr lang="en-US" sz="2000" b="0" u="none" strike="noStrike">
              <a:solidFill>
                <a:srgbClr val="000000"/>
              </a:solidFill>
              <a:effectLst/>
              <a:uFillTx/>
              <a:latin typeface="Arial"/>
            </a:endParaRPr>
          </a:p>
          <a:p>
            <a:pPr marL="914400" lvl="1" indent="-320400" algn="l">
              <a:lnSpc>
                <a:spcPct val="115000"/>
              </a:lnSpc>
              <a:buClr>
                <a:srgbClr val="000000"/>
              </a:buClr>
              <a:buFont typeface="Arial"/>
              <a:buChar char="○"/>
            </a:pPr>
            <a:r>
              <a:rPr lang="en" sz="1700" b="0" u="none" strike="noStrike">
                <a:solidFill>
                  <a:schemeClr val="dk1"/>
                </a:solidFill>
                <a:effectLst/>
                <a:uFillTx/>
                <a:latin typeface="Arial"/>
                <a:ea typeface="Arial"/>
              </a:rPr>
              <a:t>Thinking “out of the box” should be encouraged! Many “wild-n-crazy” ideas might actually be the best ones!</a:t>
            </a:r>
            <a:endParaRPr lang="en-US" sz="1700" b="0" u="none" strike="noStrike">
              <a:solidFill>
                <a:srgbClr val="000000"/>
              </a:solidFill>
              <a:effectLst/>
              <a:uFillTx/>
              <a:latin typeface="Arial"/>
            </a:endParaRPr>
          </a:p>
          <a:p>
            <a:pPr marL="457200" indent="-336600" algn="l">
              <a:lnSpc>
                <a:spcPct val="115000"/>
              </a:lnSpc>
              <a:buClr>
                <a:srgbClr val="000000"/>
              </a:buClr>
              <a:buFont typeface="Arial"/>
              <a:buChar char="●"/>
            </a:pPr>
            <a:r>
              <a:rPr lang="en" sz="2000" b="0" u="none" strike="noStrike">
                <a:solidFill>
                  <a:schemeClr val="dk1"/>
                </a:solidFill>
                <a:effectLst/>
                <a:uFillTx/>
                <a:latin typeface="Arial"/>
                <a:ea typeface="Arial"/>
              </a:rPr>
              <a:t>Look at the mission model from all angles</a:t>
            </a:r>
            <a:endParaRPr lang="en-US" sz="2000" b="0" u="none" strike="noStrike">
              <a:solidFill>
                <a:srgbClr val="000000"/>
              </a:solidFill>
              <a:effectLst/>
              <a:uFillTx/>
              <a:latin typeface="Arial"/>
            </a:endParaRPr>
          </a:p>
          <a:p>
            <a:pPr marL="914400" lvl="1" indent="-315000" algn="l">
              <a:lnSpc>
                <a:spcPct val="115000"/>
              </a:lnSpc>
              <a:buClr>
                <a:srgbClr val="000000"/>
              </a:buClr>
              <a:buFont typeface="Arial"/>
              <a:buChar char="○"/>
            </a:pPr>
            <a:r>
              <a:rPr lang="en" sz="1600" b="0" u="none" strike="noStrike">
                <a:solidFill>
                  <a:schemeClr val="dk1"/>
                </a:solidFill>
                <a:effectLst/>
                <a:uFillTx/>
                <a:latin typeface="Arial"/>
                <a:ea typeface="Arial"/>
              </a:rPr>
              <a:t>Are there other ways to flip, turn, or lift the mission?</a:t>
            </a:r>
            <a:endParaRPr lang="en-US" sz="1600" b="0" u="none" strike="noStrike">
              <a:solidFill>
                <a:srgbClr val="000000"/>
              </a:solidFill>
              <a:effectLst/>
              <a:uFillTx/>
              <a:latin typeface="Arial"/>
            </a:endParaRPr>
          </a:p>
          <a:p>
            <a:pPr marL="914400" lvl="1" indent="-315000" algn="l">
              <a:lnSpc>
                <a:spcPct val="115000"/>
              </a:lnSpc>
              <a:buClr>
                <a:srgbClr val="000000"/>
              </a:buClr>
              <a:buFont typeface="Arial"/>
              <a:buChar char="○"/>
            </a:pPr>
            <a:r>
              <a:rPr lang="en" sz="1600" b="0" u="none" strike="noStrike">
                <a:solidFill>
                  <a:schemeClr val="dk1"/>
                </a:solidFill>
                <a:effectLst/>
                <a:uFillTx/>
                <a:latin typeface="Arial"/>
                <a:ea typeface="Arial"/>
              </a:rPr>
              <a:t>Would a pull work better than a push?</a:t>
            </a:r>
            <a:endParaRPr lang="en-US" sz="1600" b="0" u="none" strike="noStrike">
              <a:solidFill>
                <a:srgbClr val="000000"/>
              </a:solidFill>
              <a:effectLst/>
              <a:uFillTx/>
              <a:latin typeface="Arial"/>
            </a:endParaRPr>
          </a:p>
          <a:p>
            <a:pPr marL="457200" indent="-336600" algn="l">
              <a:lnSpc>
                <a:spcPct val="115000"/>
              </a:lnSpc>
              <a:buClr>
                <a:srgbClr val="000000"/>
              </a:buClr>
              <a:buFont typeface="Arial"/>
              <a:buChar char="●"/>
            </a:pPr>
            <a:r>
              <a:rPr lang="en" sz="2000" b="0" u="none" strike="noStrike">
                <a:solidFill>
                  <a:schemeClr val="dk1"/>
                </a:solidFill>
                <a:effectLst/>
                <a:uFillTx/>
                <a:latin typeface="Arial"/>
                <a:ea typeface="Arial"/>
              </a:rPr>
              <a:t>Rarely does FLL dictate how the result must be obtained</a:t>
            </a:r>
            <a:endParaRPr lang="en-US" sz="2000" b="0" u="none" strike="noStrike">
              <a:solidFill>
                <a:srgbClr val="000000"/>
              </a:solidFill>
              <a:effectLst/>
              <a:uFillTx/>
              <a:latin typeface="Arial"/>
            </a:endParaRPr>
          </a:p>
          <a:p>
            <a:pPr marL="914400" lvl="1" indent="-315000" algn="l">
              <a:lnSpc>
                <a:spcPct val="115000"/>
              </a:lnSpc>
              <a:buClr>
                <a:srgbClr val="000000"/>
              </a:buClr>
              <a:buFont typeface="Arial"/>
              <a:buChar char="○"/>
            </a:pPr>
            <a:r>
              <a:rPr lang="en" sz="1600" b="0" u="none" strike="noStrike">
                <a:solidFill>
                  <a:schemeClr val="dk1"/>
                </a:solidFill>
                <a:effectLst/>
                <a:uFillTx/>
                <a:latin typeface="Arial"/>
                <a:ea typeface="Arial"/>
              </a:rPr>
              <a:t>Exceptions are usually related to mission models that have an interaction with the other table/team</a:t>
            </a:r>
            <a:endParaRPr lang="en-US" sz="1600" b="0" u="none" strike="noStrike">
              <a:solidFill>
                <a:srgbClr val="000000"/>
              </a:solidFill>
              <a:effectLst/>
              <a:uFillTx/>
              <a:latin typeface="Arial"/>
            </a:endParaRPr>
          </a:p>
          <a:p>
            <a:pPr marL="914400" lvl="1" indent="-315000" algn="l">
              <a:lnSpc>
                <a:spcPct val="115000"/>
              </a:lnSpc>
              <a:buClr>
                <a:srgbClr val="000000"/>
              </a:buClr>
              <a:buFont typeface="Arial"/>
              <a:buChar char="○"/>
            </a:pPr>
            <a:r>
              <a:rPr lang="en" sz="1600" b="0" u="none" strike="noStrike">
                <a:solidFill>
                  <a:schemeClr val="dk1"/>
                </a:solidFill>
                <a:effectLst/>
                <a:uFillTx/>
                <a:latin typeface="Arial"/>
                <a:ea typeface="Arial"/>
              </a:rPr>
              <a:t>There is usually a mission model that will require some “interaction” with the other table/team </a:t>
            </a:r>
            <a:endParaRPr lang="en-US" sz="1600" b="0" u="none" strike="noStrike">
              <a:solidFill>
                <a:srgbClr val="000000"/>
              </a:solidFill>
              <a:effectLst/>
              <a:uFillTx/>
              <a:latin typeface="Arial"/>
            </a:endParaRPr>
          </a:p>
          <a:p>
            <a:pPr indent="0" algn="l">
              <a:lnSpc>
                <a:spcPct val="115000"/>
              </a:lnSpc>
              <a:buNone/>
              <a:tabLst>
                <a:tab pos="0" algn="l"/>
              </a:tabLst>
            </a:pPr>
            <a:endParaRPr lang="en-US" sz="1600" b="0" u="none" strike="noStrike">
              <a:solidFill>
                <a:srgbClr val="000000"/>
              </a:solidFill>
              <a:effectLst/>
              <a:uFillTx/>
              <a:latin typeface="Arial"/>
            </a:endParaRPr>
          </a:p>
        </p:txBody>
      </p:sp>
      <p:sp>
        <p:nvSpPr>
          <p:cNvPr id="539" name="PlaceHolder 3"/>
          <p:cNvSpPr>
            <a:spLocks noGrp="1"/>
          </p:cNvSpPr>
          <p:nvPr>
            <p:ph type="sldNum" idx="11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BBC213C-22D2-4A8F-BF5B-71D5895ACB95}" type="slidenum">
              <a:rPr lang="en" sz="1000" b="0" u="none" strike="noStrike">
                <a:solidFill>
                  <a:schemeClr val="dk2"/>
                </a:solidFill>
                <a:effectLst/>
                <a:uFillTx/>
                <a:latin typeface="Arial"/>
                <a:ea typeface="Arial"/>
              </a:rPr>
              <a:t>99</a:t>
            </a:fld>
            <a:endParaRPr lang="en-US" sz="1000" b="0" u="none" strike="noStrike">
              <a:solidFill>
                <a:srgbClr val="000000"/>
              </a:solidFill>
              <a:effectLst/>
              <a:uFillTx/>
              <a:latin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Team Organization</a:t>
            </a:r>
            <a:endParaRPr lang="en-US" sz="2500" b="0" u="none" strike="noStrike">
              <a:solidFill>
                <a:srgbClr val="000000"/>
              </a:solidFill>
              <a:effectLst/>
              <a:uFillTx/>
              <a:latin typeface="Arial"/>
            </a:endParaRPr>
          </a:p>
        </p:txBody>
      </p:sp>
      <p:sp>
        <p:nvSpPr>
          <p:cNvPr id="541"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lnSpcReduction="9999"/>
          </a:bodyPr>
          <a:lstStyle/>
          <a:p>
            <a:pPr marL="457200" indent="-352080" algn="l">
              <a:lnSpc>
                <a:spcPct val="115000"/>
              </a:lnSpc>
              <a:buClr>
                <a:srgbClr val="000000"/>
              </a:buClr>
              <a:buFont typeface="Arial"/>
              <a:buChar char="●"/>
            </a:pPr>
            <a:r>
              <a:rPr lang="en" sz="1800" b="0" u="none" strike="noStrike">
                <a:solidFill>
                  <a:schemeClr val="dk1"/>
                </a:solidFill>
                <a:effectLst/>
                <a:uFillTx/>
                <a:latin typeface="Arial"/>
                <a:ea typeface="Arial"/>
              </a:rPr>
              <a:t>The robot game is the portion of FLL where assigning roles is most critical</a:t>
            </a:r>
            <a:endParaRPr lang="en-US" sz="1800" b="0" u="none" strike="noStrike">
              <a:solidFill>
                <a:srgbClr val="000000"/>
              </a:solidFill>
              <a:effectLst/>
              <a:uFillTx/>
              <a:latin typeface="Arial"/>
            </a:endParaRPr>
          </a:p>
          <a:p>
            <a:pPr marL="457200" indent="-352080" algn="l">
              <a:lnSpc>
                <a:spcPct val="115000"/>
              </a:lnSpc>
              <a:buClr>
                <a:srgbClr val="000000"/>
              </a:buClr>
              <a:buFont typeface="Arial"/>
              <a:buChar char="●"/>
            </a:pPr>
            <a:r>
              <a:rPr lang="en" sz="1800" b="0" u="none" strike="noStrike">
                <a:solidFill>
                  <a:schemeClr val="dk1"/>
                </a:solidFill>
                <a:effectLst/>
                <a:uFillTx/>
                <a:latin typeface="Arial"/>
                <a:ea typeface="Arial"/>
              </a:rPr>
              <a:t>The FLL teams have found there are typically three roles during the robot game</a:t>
            </a:r>
            <a:endParaRPr lang="en-US" sz="1800" b="0" u="none" strike="noStrike">
              <a:solidFill>
                <a:srgbClr val="000000"/>
              </a:solidFill>
              <a:effectLst/>
              <a:uFillTx/>
              <a:latin typeface="Arial"/>
            </a:endParaRPr>
          </a:p>
          <a:p>
            <a:pPr marL="914400" lvl="1" indent="-338400" algn="l">
              <a:lnSpc>
                <a:spcPct val="115000"/>
              </a:lnSpc>
              <a:buClr>
                <a:srgbClr val="000000"/>
              </a:buClr>
              <a:buFont typeface="Arial"/>
              <a:buChar char="○"/>
            </a:pPr>
            <a:r>
              <a:rPr lang="en" sz="1400" b="1" u="none" strike="noStrike">
                <a:solidFill>
                  <a:schemeClr val="dk1"/>
                </a:solidFill>
                <a:effectLst/>
                <a:uFillTx/>
                <a:latin typeface="Arial"/>
                <a:ea typeface="Arial"/>
              </a:rPr>
              <a:t>Driver</a:t>
            </a:r>
            <a:r>
              <a:rPr lang="en" sz="1400" b="0" u="none" strike="noStrike">
                <a:solidFill>
                  <a:schemeClr val="dk1"/>
                </a:solidFill>
                <a:effectLst/>
                <a:uFillTx/>
                <a:latin typeface="Arial"/>
                <a:ea typeface="Arial"/>
              </a:rPr>
              <a:t> (1 per side) - The team member responsible for initiating the robot for each task</a:t>
            </a:r>
            <a:endParaRPr lang="en-US" sz="1400" b="0" u="none" strike="noStrike">
              <a:solidFill>
                <a:srgbClr val="000000"/>
              </a:solidFill>
              <a:effectLst/>
              <a:uFillTx/>
              <a:latin typeface="Arial"/>
            </a:endParaRPr>
          </a:p>
          <a:p>
            <a:pPr marL="914400" lvl="1" indent="-338400" algn="l">
              <a:lnSpc>
                <a:spcPct val="115000"/>
              </a:lnSpc>
              <a:buClr>
                <a:srgbClr val="000000"/>
              </a:buClr>
              <a:buFont typeface="Arial"/>
              <a:buChar char="○"/>
            </a:pPr>
            <a:r>
              <a:rPr lang="en" sz="1400" b="1" u="none" strike="noStrike">
                <a:solidFill>
                  <a:schemeClr val="dk1"/>
                </a:solidFill>
                <a:effectLst/>
                <a:uFillTx/>
                <a:latin typeface="Arial"/>
                <a:ea typeface="Arial"/>
              </a:rPr>
              <a:t>Rigger</a:t>
            </a:r>
            <a:r>
              <a:rPr lang="en" sz="1400" b="0" u="none" strike="noStrike">
                <a:solidFill>
                  <a:schemeClr val="dk1"/>
                </a:solidFill>
                <a:effectLst/>
                <a:uFillTx/>
                <a:latin typeface="Arial"/>
                <a:ea typeface="Arial"/>
              </a:rPr>
              <a:t> (1 per side) - The team member responsible for assisting the driver with the robot</a:t>
            </a:r>
            <a:endParaRPr lang="en-US" sz="1400" b="0" u="none" strike="noStrike">
              <a:solidFill>
                <a:srgbClr val="000000"/>
              </a:solidFill>
              <a:effectLst/>
              <a:uFillTx/>
              <a:latin typeface="Arial"/>
            </a:endParaRPr>
          </a:p>
          <a:p>
            <a:pPr marL="1371600" lvl="2" indent="-338400" algn="l">
              <a:lnSpc>
                <a:spcPct val="115000"/>
              </a:lnSpc>
              <a:buClr>
                <a:srgbClr val="000000"/>
              </a:buClr>
              <a:buFont typeface="Arial"/>
              <a:buChar char="■"/>
            </a:pPr>
            <a:r>
              <a:rPr lang="en" sz="1400" b="0" u="none" strike="noStrike">
                <a:solidFill>
                  <a:schemeClr val="dk1"/>
                </a:solidFill>
                <a:effectLst/>
                <a:uFillTx/>
                <a:latin typeface="Arial"/>
                <a:ea typeface="Arial"/>
              </a:rPr>
              <a:t>Focused on securing the previous mission’s attachment and providing to driver the next attachment and any mission pieces needed for the next task</a:t>
            </a:r>
            <a:endParaRPr lang="en-US" sz="1400" b="0" u="none" strike="noStrike">
              <a:solidFill>
                <a:srgbClr val="000000"/>
              </a:solidFill>
              <a:effectLst/>
              <a:uFillTx/>
              <a:latin typeface="Arial"/>
            </a:endParaRPr>
          </a:p>
          <a:p>
            <a:pPr marL="914400" lvl="1" indent="-338400" algn="l">
              <a:lnSpc>
                <a:spcPct val="115000"/>
              </a:lnSpc>
              <a:buClr>
                <a:srgbClr val="000000"/>
              </a:buClr>
              <a:buFont typeface="Arial"/>
              <a:buChar char="○"/>
            </a:pPr>
            <a:r>
              <a:rPr lang="en" sz="1400" b="1" u="none" strike="noStrike">
                <a:solidFill>
                  <a:schemeClr val="dk1"/>
                </a:solidFill>
                <a:effectLst/>
                <a:uFillTx/>
                <a:latin typeface="Arial"/>
                <a:ea typeface="Arial"/>
              </a:rPr>
              <a:t>Signer</a:t>
            </a:r>
            <a:r>
              <a:rPr lang="en" sz="1400" b="0" u="none" strike="noStrike">
                <a:solidFill>
                  <a:schemeClr val="dk1"/>
                </a:solidFill>
                <a:effectLst/>
                <a:uFillTx/>
                <a:latin typeface="Arial"/>
                <a:ea typeface="Arial"/>
              </a:rPr>
              <a:t> (1 per team) - The team member responsible for signing the score sheet</a:t>
            </a:r>
            <a:endParaRPr lang="en-US" sz="1400" b="0" u="none" strike="noStrike">
              <a:solidFill>
                <a:srgbClr val="000000"/>
              </a:solidFill>
              <a:effectLst/>
              <a:uFillTx/>
              <a:latin typeface="Arial"/>
            </a:endParaRPr>
          </a:p>
          <a:p>
            <a:pPr marL="1371600" lvl="2" indent="-324720" algn="l">
              <a:lnSpc>
                <a:spcPct val="115000"/>
              </a:lnSpc>
              <a:buClr>
                <a:srgbClr val="000000"/>
              </a:buClr>
              <a:buFont typeface="Arial"/>
              <a:buChar char="■"/>
            </a:pPr>
            <a:r>
              <a:rPr lang="en" sz="1400" b="0" u="none" strike="noStrike">
                <a:solidFill>
                  <a:schemeClr val="dk1"/>
                </a:solidFill>
                <a:effectLst/>
                <a:uFillTx/>
                <a:latin typeface="Arial"/>
                <a:ea typeface="Arial"/>
              </a:rPr>
              <a:t>The signer should be able to “quote” the RGR</a:t>
            </a:r>
            <a:endParaRPr lang="en-US" sz="1400" b="0" u="none" strike="noStrike">
              <a:solidFill>
                <a:srgbClr val="000000"/>
              </a:solidFill>
              <a:effectLst/>
              <a:uFillTx/>
              <a:latin typeface="Arial"/>
            </a:endParaRPr>
          </a:p>
          <a:p>
            <a:pPr marL="457200" indent="-352080" algn="l">
              <a:lnSpc>
                <a:spcPct val="115000"/>
              </a:lnSpc>
              <a:buClr>
                <a:srgbClr val="000000"/>
              </a:buClr>
              <a:buFont typeface="Arial"/>
              <a:buChar char="●"/>
            </a:pPr>
            <a:r>
              <a:rPr lang="en" sz="1800" b="0" u="none" strike="noStrike">
                <a:solidFill>
                  <a:schemeClr val="dk1"/>
                </a:solidFill>
                <a:effectLst/>
                <a:uFillTx/>
                <a:latin typeface="Arial"/>
                <a:ea typeface="Arial"/>
              </a:rPr>
              <a:t>Teams with 5+ or members typically have two crews</a:t>
            </a:r>
            <a:endParaRPr lang="en-US" sz="1800" b="0" u="none" strike="noStrike">
              <a:solidFill>
                <a:srgbClr val="000000"/>
              </a:solidFill>
              <a:effectLst/>
              <a:uFillTx/>
              <a:latin typeface="Arial"/>
            </a:endParaRPr>
          </a:p>
          <a:p>
            <a:pPr marL="914400" lvl="1" indent="-324720" algn="l">
              <a:lnSpc>
                <a:spcPct val="115000"/>
              </a:lnSpc>
              <a:buClr>
                <a:srgbClr val="000000"/>
              </a:buClr>
              <a:buFont typeface="Arial"/>
              <a:buChar char="○"/>
            </a:pPr>
            <a:r>
              <a:rPr lang="en" sz="1400" b="0" u="none" strike="noStrike">
                <a:solidFill>
                  <a:schemeClr val="dk1"/>
                </a:solidFill>
                <a:effectLst/>
                <a:uFillTx/>
                <a:latin typeface="Arial"/>
                <a:ea typeface="Arial"/>
              </a:rPr>
              <a:t>Calling them the A and B teams might not be the best approach, try colors instead</a:t>
            </a:r>
            <a:endParaRPr lang="en-US" sz="1400" b="0" u="none" strike="noStrike">
              <a:solidFill>
                <a:srgbClr val="000000"/>
              </a:solidFill>
              <a:effectLst/>
              <a:uFillTx/>
              <a:latin typeface="Arial"/>
            </a:endParaRPr>
          </a:p>
          <a:p>
            <a:pPr marL="914400" lvl="1" indent="-324720" algn="l">
              <a:lnSpc>
                <a:spcPct val="115000"/>
              </a:lnSpc>
              <a:buClr>
                <a:srgbClr val="000000"/>
              </a:buClr>
              <a:buFont typeface="Arial"/>
              <a:buChar char="○"/>
            </a:pPr>
            <a:r>
              <a:rPr lang="en" sz="1400" b="0" u="none" strike="noStrike">
                <a:solidFill>
                  <a:schemeClr val="dk1"/>
                </a:solidFill>
                <a:effectLst/>
                <a:uFillTx/>
                <a:latin typeface="Arial"/>
                <a:ea typeface="Arial"/>
              </a:rPr>
              <a:t>Reality is there are team members that are more proficient at successfully running the Robot Game </a:t>
            </a:r>
            <a:endParaRPr lang="en-US" sz="1400" b="0" u="none" strike="noStrike">
              <a:solidFill>
                <a:srgbClr val="000000"/>
              </a:solidFill>
              <a:effectLst/>
              <a:uFillTx/>
              <a:latin typeface="Arial"/>
            </a:endParaRPr>
          </a:p>
        </p:txBody>
      </p:sp>
      <p:sp>
        <p:nvSpPr>
          <p:cNvPr id="542" name="PlaceHolder 3"/>
          <p:cNvSpPr>
            <a:spLocks noGrp="1"/>
          </p:cNvSpPr>
          <p:nvPr>
            <p:ph type="sldNum" idx="11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68C3D666-894F-4574-9D00-515094D5B974}" type="slidenum">
              <a:rPr lang="en" sz="1000" b="0" u="none" strike="noStrike">
                <a:solidFill>
                  <a:schemeClr val="dk2"/>
                </a:solidFill>
                <a:effectLst/>
                <a:uFillTx/>
                <a:latin typeface="Arial"/>
                <a:ea typeface="Arial"/>
              </a:rPr>
              <a:t>100</a:t>
            </a:fld>
            <a:endParaRPr lang="en-US" sz="1000" b="0" u="none" strike="noStrike">
              <a:solidFill>
                <a:srgbClr val="000000"/>
              </a:solidFill>
              <a:effectLst/>
              <a:uFillTx/>
              <a:latin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“The Grand Unification”</a:t>
            </a:r>
            <a:endParaRPr lang="en-US" sz="2500" b="0" u="none" strike="noStrike">
              <a:solidFill>
                <a:srgbClr val="000000"/>
              </a:solidFill>
              <a:effectLst/>
              <a:uFillTx/>
              <a:latin typeface="Arial"/>
            </a:endParaRPr>
          </a:p>
        </p:txBody>
      </p:sp>
      <p:sp>
        <p:nvSpPr>
          <p:cNvPr id="544" name="PlaceHolder 2"/>
          <p:cNvSpPr>
            <a:spLocks noGrp="1"/>
          </p:cNvSpPr>
          <p:nvPr>
            <p:ph/>
          </p:nvPr>
        </p:nvSpPr>
        <p:spPr>
          <a:xfrm>
            <a:off x="277920" y="779760"/>
            <a:ext cx="8520120" cy="3798720"/>
          </a:xfrm>
          <a:prstGeom prst="rect">
            <a:avLst/>
          </a:prstGeom>
          <a:noFill/>
          <a:ln w="0">
            <a:noFill/>
          </a:ln>
        </p:spPr>
        <p:txBody>
          <a:bodyPr lIns="91440" tIns="91440" rIns="91440" bIns="91440" anchor="t">
            <a:noAutofit/>
          </a:bodyPr>
          <a:lstStyle/>
          <a:p>
            <a:pPr marL="298800" indent="-171360" algn="l">
              <a:lnSpc>
                <a:spcPct val="100000"/>
              </a:lnSpc>
              <a:buClr>
                <a:srgbClr val="000000"/>
              </a:buClr>
              <a:buFont typeface="Arial"/>
              <a:buChar char="●"/>
            </a:pPr>
            <a:r>
              <a:rPr lang="en" sz="1200" b="0" u="none" strike="noStrike">
                <a:solidFill>
                  <a:schemeClr val="dk1"/>
                </a:solidFill>
                <a:effectLst/>
                <a:uFillTx/>
                <a:latin typeface="Arial"/>
                <a:ea typeface="Arial"/>
              </a:rPr>
              <a:t>Many teams approach the robot game by having small groups within the team develop solutions for each mission</a:t>
            </a:r>
            <a:endParaRPr lang="en-US" sz="12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Don’t wait until the last minute to integrate those solutions into a set of tasks</a:t>
            </a:r>
            <a:endParaRPr lang="en-US" sz="12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Teams should either consider:</a:t>
            </a:r>
            <a:endParaRPr lang="en-US" sz="1200" b="0" u="none" strike="noStrike">
              <a:solidFill>
                <a:srgbClr val="000000"/>
              </a:solidFill>
              <a:effectLst/>
              <a:uFillTx/>
              <a:latin typeface="Arial"/>
            </a:endParaRPr>
          </a:p>
          <a:p>
            <a:pPr marL="756000" lvl="1" indent="-171360" algn="l">
              <a:lnSpc>
                <a:spcPct val="100000"/>
              </a:lnSpc>
              <a:spcBef>
                <a:spcPts val="1001"/>
              </a:spcBef>
              <a:buClr>
                <a:srgbClr val="000000"/>
              </a:buClr>
              <a:buFont typeface="Arial"/>
              <a:buChar char="○"/>
            </a:pPr>
            <a:r>
              <a:rPr lang="en" sz="1000" b="0" u="none" strike="noStrike">
                <a:solidFill>
                  <a:schemeClr val="dk1"/>
                </a:solidFill>
                <a:effectLst/>
                <a:uFillTx/>
                <a:latin typeface="Arial"/>
                <a:ea typeface="Arial"/>
              </a:rPr>
              <a:t>Starting to integrate individual mission solutions into larger tasks at least 4 weeks out from competition</a:t>
            </a:r>
            <a:endParaRPr lang="en-US" sz="1000" b="0" u="none" strike="noStrike">
              <a:solidFill>
                <a:srgbClr val="000000"/>
              </a:solidFill>
              <a:effectLst/>
              <a:uFillTx/>
              <a:latin typeface="Arial"/>
            </a:endParaRPr>
          </a:p>
          <a:p>
            <a:pPr marL="756000" lvl="1" indent="-171360" algn="l">
              <a:lnSpc>
                <a:spcPct val="100000"/>
              </a:lnSpc>
              <a:spcBef>
                <a:spcPts val="1001"/>
              </a:spcBef>
              <a:buClr>
                <a:srgbClr val="000000"/>
              </a:buClr>
              <a:buFont typeface="Arial"/>
              <a:buChar char="○"/>
            </a:pPr>
            <a:r>
              <a:rPr lang="en" sz="1000" b="0" u="none" strike="noStrike">
                <a:solidFill>
                  <a:schemeClr val="dk1"/>
                </a:solidFill>
                <a:effectLst/>
                <a:uFillTx/>
                <a:latin typeface="Arial"/>
                <a:ea typeface="Arial"/>
              </a:rPr>
              <a:t>Have half the team working on integrating, testing, and turning completed missions while the other half develops code for new missions</a:t>
            </a:r>
            <a:endParaRPr lang="en-US" sz="10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Remember the robot game lasts 2.5 minutes. You do not have to return to home at the end!</a:t>
            </a:r>
            <a:endParaRPr lang="en-US" sz="12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It takes a lot of time to work out integration issues/bugs in the code and attachments </a:t>
            </a:r>
            <a:endParaRPr lang="en-US" sz="12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It takes lots of rehearsals to get the team to consistently “run” the robot without errors</a:t>
            </a:r>
            <a:endParaRPr lang="en-US" sz="1200" b="0" u="none" strike="noStrike">
              <a:solidFill>
                <a:srgbClr val="000000"/>
              </a:solidFill>
              <a:effectLst/>
              <a:uFillTx/>
              <a:latin typeface="Arial"/>
            </a:endParaRPr>
          </a:p>
          <a:p>
            <a:pPr marL="298800" indent="-171360" algn="l">
              <a:lnSpc>
                <a:spcPct val="100000"/>
              </a:lnSpc>
              <a:spcBef>
                <a:spcPts val="1001"/>
              </a:spcBef>
              <a:buClr>
                <a:srgbClr val="000000"/>
              </a:buClr>
              <a:buFont typeface="Arial"/>
              <a:buChar char="●"/>
            </a:pPr>
            <a:r>
              <a:rPr lang="en" sz="1200" b="0" u="none" strike="noStrike">
                <a:solidFill>
                  <a:schemeClr val="dk1"/>
                </a:solidFill>
                <a:effectLst/>
                <a:uFillTx/>
                <a:latin typeface="Arial"/>
                <a:ea typeface="Arial"/>
              </a:rPr>
              <a:t>Use a single robot for your integration testing</a:t>
            </a:r>
            <a:endParaRPr lang="en-US" sz="1200" b="0" u="none" strike="noStrike">
              <a:solidFill>
                <a:srgbClr val="000000"/>
              </a:solidFill>
              <a:effectLst/>
              <a:uFillTx/>
              <a:latin typeface="Arial"/>
            </a:endParaRPr>
          </a:p>
          <a:p>
            <a:pPr marL="769320" lvl="1" indent="-171360" algn="l">
              <a:lnSpc>
                <a:spcPct val="100000"/>
              </a:lnSpc>
              <a:spcBef>
                <a:spcPts val="1001"/>
              </a:spcBef>
              <a:buClr>
                <a:srgbClr val="000000"/>
              </a:buClr>
              <a:buFont typeface="Arial"/>
              <a:buChar char="○"/>
            </a:pPr>
            <a:r>
              <a:rPr lang="en" sz="1100" b="0" u="none" strike="noStrike">
                <a:solidFill>
                  <a:schemeClr val="dk1"/>
                </a:solidFill>
                <a:effectLst/>
                <a:uFillTx/>
                <a:latin typeface="Arial"/>
                <a:ea typeface="Arial"/>
              </a:rPr>
              <a:t>Switching between robots can increase testing complexity as the robots do have different “personalities” based on manufacturing differences and differences in “wear-n-tear” over the years</a:t>
            </a:r>
            <a:endParaRPr lang="en-US" sz="1100" b="0" u="none" strike="noStrike">
              <a:solidFill>
                <a:srgbClr val="000000"/>
              </a:solidFill>
              <a:effectLst/>
              <a:uFillTx/>
              <a:latin typeface="Arial"/>
            </a:endParaRPr>
          </a:p>
          <a:p>
            <a:pPr marL="769320" lvl="1" indent="-171360" algn="l">
              <a:lnSpc>
                <a:spcPct val="100000"/>
              </a:lnSpc>
              <a:spcBef>
                <a:spcPts val="1001"/>
              </a:spcBef>
              <a:spcAft>
                <a:spcPts val="1001"/>
              </a:spcAft>
              <a:buClr>
                <a:srgbClr val="000000"/>
              </a:buClr>
              <a:buFont typeface="Arial"/>
              <a:buChar char="○"/>
            </a:pPr>
            <a:r>
              <a:rPr lang="en" sz="1100" b="0" u="none" strike="noStrike">
                <a:solidFill>
                  <a:schemeClr val="dk1"/>
                </a:solidFill>
                <a:effectLst/>
                <a:uFillTx/>
                <a:latin typeface="Arial"/>
                <a:ea typeface="Arial"/>
              </a:rPr>
              <a:t>Once everything is working on one robot, duplicate the code and tweak (if necessary, usually is) for the second backup robot</a:t>
            </a:r>
            <a:endParaRPr lang="en-US" sz="1100" b="0" u="none" strike="noStrike">
              <a:solidFill>
                <a:srgbClr val="000000"/>
              </a:solidFill>
              <a:effectLst/>
              <a:uFillTx/>
              <a:latin typeface="Arial"/>
            </a:endParaRPr>
          </a:p>
        </p:txBody>
      </p:sp>
      <p:sp>
        <p:nvSpPr>
          <p:cNvPr id="545" name="PlaceHolder 3"/>
          <p:cNvSpPr>
            <a:spLocks noGrp="1"/>
          </p:cNvSpPr>
          <p:nvPr>
            <p:ph type="sldNum" idx="11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A607E07-F24F-43FB-A8C0-FE8FD021B0C2}" type="slidenum">
              <a:rPr lang="en" sz="1000" b="0" u="none" strike="noStrike">
                <a:solidFill>
                  <a:schemeClr val="dk2"/>
                </a:solidFill>
                <a:effectLst/>
                <a:uFillTx/>
                <a:latin typeface="Arial"/>
                <a:ea typeface="Arial"/>
              </a:rPr>
              <a:t>101</a:t>
            </a:fld>
            <a:endParaRPr lang="en-US" sz="1000" b="0" u="none" strike="noStrike">
              <a:solidFill>
                <a:srgbClr val="000000"/>
              </a:solidFill>
              <a:effectLst/>
              <a:uFillTx/>
              <a:latin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Game: At the Competition Table</a:t>
            </a:r>
            <a:endParaRPr lang="en-US" sz="2500" b="0" u="none" strike="noStrike">
              <a:solidFill>
                <a:srgbClr val="000000"/>
              </a:solidFill>
              <a:effectLst/>
              <a:uFillTx/>
              <a:latin typeface="Arial"/>
            </a:endParaRPr>
          </a:p>
        </p:txBody>
      </p:sp>
      <p:sp>
        <p:nvSpPr>
          <p:cNvPr id="547" name="PlaceHolder 2"/>
          <p:cNvSpPr>
            <a:spLocks noGrp="1"/>
          </p:cNvSpPr>
          <p:nvPr>
            <p:ph/>
          </p:nvPr>
        </p:nvSpPr>
        <p:spPr>
          <a:xfrm>
            <a:off x="235800" y="767520"/>
            <a:ext cx="8684280" cy="3749760"/>
          </a:xfrm>
          <a:prstGeom prst="rect">
            <a:avLst/>
          </a:prstGeom>
          <a:noFill/>
          <a:ln w="0">
            <a:noFill/>
          </a:ln>
        </p:spPr>
        <p:txBody>
          <a:bodyPr lIns="91440" tIns="91440" rIns="91440" bIns="91440" anchor="t">
            <a:normAutofit lnSpcReduction="9999"/>
          </a:bodyPr>
          <a:lstStyle/>
          <a:p>
            <a:pPr marL="457200" indent="-336600" algn="l">
              <a:lnSpc>
                <a:spcPct val="115000"/>
              </a:lnSpc>
              <a:buClr>
                <a:srgbClr val="000000"/>
              </a:buClr>
              <a:buFont typeface="Arial"/>
              <a:buChar char="●"/>
            </a:pPr>
            <a:r>
              <a:rPr lang="en" sz="1700" b="0" u="none" strike="noStrike">
                <a:solidFill>
                  <a:schemeClr val="dk1"/>
                </a:solidFill>
                <a:effectLst/>
                <a:uFillTx/>
                <a:latin typeface="Arial"/>
                <a:ea typeface="Arial"/>
              </a:rPr>
              <a:t>Before each game table match, it is critical for the students to review the board and ensure the table is setup correctly</a:t>
            </a:r>
            <a:endParaRPr lang="en-US" sz="17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Verify missions are not ”broken”, attached to the dual-lock, and are configured correctly</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It is the responsibility of each team to verify the configuration of the board</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Use the </a:t>
            </a:r>
            <a:r>
              <a:rPr lang="en" sz="1400" b="1" u="none" strike="noStrike">
                <a:solidFill>
                  <a:schemeClr val="dk1"/>
                </a:solidFill>
                <a:effectLst/>
                <a:uFillTx/>
                <a:latin typeface="Arial"/>
                <a:ea typeface="Arial"/>
              </a:rPr>
              <a:t>signer</a:t>
            </a:r>
            <a:r>
              <a:rPr lang="en" sz="1400" b="0" u="none" strike="noStrike">
                <a:solidFill>
                  <a:schemeClr val="dk1"/>
                </a:solidFill>
                <a:effectLst/>
                <a:uFillTx/>
                <a:latin typeface="Arial"/>
                <a:ea typeface="Arial"/>
              </a:rPr>
              <a:t> role as the person that notifies the referee the team is ok with the state of the board</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There are no “do-overs” if the board is wrong once the match has started</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1" u="none" strike="noStrike">
                <a:solidFill>
                  <a:schemeClr val="dk1"/>
                </a:solidFill>
                <a:effectLst/>
                <a:uFillTx/>
                <a:latin typeface="Arial"/>
                <a:ea typeface="Arial"/>
              </a:rPr>
              <a:t>The coach is not involved in this activity!</a:t>
            </a:r>
            <a:endParaRPr lang="en-US" sz="1400" b="0" u="none" strike="noStrike">
              <a:solidFill>
                <a:srgbClr val="000000"/>
              </a:solidFill>
              <a:effectLst/>
              <a:uFillTx/>
              <a:latin typeface="Arial"/>
            </a:endParaRPr>
          </a:p>
          <a:p>
            <a:pPr marL="457200" indent="-336600" algn="l">
              <a:lnSpc>
                <a:spcPct val="115000"/>
              </a:lnSpc>
              <a:buClr>
                <a:srgbClr val="000000"/>
              </a:buClr>
              <a:buFont typeface="Arial"/>
              <a:buChar char="●"/>
            </a:pPr>
            <a:r>
              <a:rPr lang="en" sz="1700" b="0" u="none" strike="noStrike">
                <a:solidFill>
                  <a:schemeClr val="dk1"/>
                </a:solidFill>
                <a:effectLst/>
                <a:uFillTx/>
                <a:latin typeface="Arial"/>
                <a:ea typeface="Arial"/>
              </a:rPr>
              <a:t>Team needs to greet the other team and wish them well and thank the referee for volunteering</a:t>
            </a:r>
            <a:endParaRPr lang="en-US" sz="1700" b="0" u="none" strike="noStrike">
              <a:solidFill>
                <a:srgbClr val="000000"/>
              </a:solidFill>
              <a:effectLst/>
              <a:uFillTx/>
              <a:latin typeface="Arial"/>
            </a:endParaRPr>
          </a:p>
          <a:p>
            <a:pPr marL="457200" indent="-336600" algn="l">
              <a:lnSpc>
                <a:spcPct val="115000"/>
              </a:lnSpc>
              <a:buClr>
                <a:srgbClr val="000000"/>
              </a:buClr>
              <a:buFont typeface="Arial"/>
              <a:buChar char="●"/>
            </a:pPr>
            <a:r>
              <a:rPr lang="en" sz="1700" b="0" u="none" strike="noStrike">
                <a:solidFill>
                  <a:schemeClr val="dk1"/>
                </a:solidFill>
                <a:effectLst/>
                <a:uFillTx/>
                <a:latin typeface="Arial"/>
                <a:ea typeface="Arial"/>
              </a:rPr>
              <a:t>Laptops/Tablets are NOT allowed at the robot game competition table </a:t>
            </a:r>
            <a:endParaRPr lang="en-US" sz="17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All tasks/missions must be loaded on the robot, the hub menu is used to change between tasks/missions</a:t>
            </a:r>
            <a:endParaRPr lang="en-US" sz="14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 sz="1400" b="0" u="none" strike="noStrike">
                <a:solidFill>
                  <a:schemeClr val="dk1"/>
                </a:solidFill>
                <a:effectLst/>
                <a:uFillTx/>
                <a:latin typeface="Arial"/>
                <a:ea typeface="Arial"/>
              </a:rPr>
              <a:t>Remote controllers for the robot are not allowed</a:t>
            </a:r>
            <a:endParaRPr lang="en-US" sz="1400" b="0" u="none" strike="noStrike">
              <a:solidFill>
                <a:srgbClr val="000000"/>
              </a:solidFill>
              <a:effectLst/>
              <a:uFillTx/>
              <a:latin typeface="Arial"/>
            </a:endParaRPr>
          </a:p>
        </p:txBody>
      </p:sp>
      <p:sp>
        <p:nvSpPr>
          <p:cNvPr id="548" name="PlaceHolder 3"/>
          <p:cNvSpPr>
            <a:spLocks noGrp="1"/>
          </p:cNvSpPr>
          <p:nvPr>
            <p:ph type="sldNum" idx="11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D0E1D16-293F-49C4-9011-FF9C1E72A7C6}" type="slidenum">
              <a:rPr lang="en" sz="1000" b="0" u="none" strike="noStrike">
                <a:solidFill>
                  <a:schemeClr val="dk2"/>
                </a:solidFill>
                <a:effectLst/>
                <a:uFillTx/>
                <a:latin typeface="Arial"/>
                <a:ea typeface="Arial"/>
              </a:rPr>
              <a:t>102</a:t>
            </a:fld>
            <a:endParaRPr lang="en-US" sz="1000" b="0" u="none" strike="noStrike">
              <a:solidFill>
                <a:srgbClr val="000000"/>
              </a:solidFill>
              <a:effectLst/>
              <a:uFillTx/>
              <a:latin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Parts….I need Parts!</a:t>
            </a:r>
            <a:endParaRPr lang="en-US" sz="2500" b="0" u="none" strike="noStrike">
              <a:solidFill>
                <a:srgbClr val="000000"/>
              </a:solidFill>
              <a:effectLst/>
              <a:uFillTx/>
              <a:latin typeface="Arial"/>
            </a:endParaRPr>
          </a:p>
        </p:txBody>
      </p:sp>
      <p:sp>
        <p:nvSpPr>
          <p:cNvPr id="550"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92500" lnSpcReduction="9999"/>
          </a:bodyPr>
          <a:lstStyle/>
          <a:p>
            <a:pPr marL="457200" indent="-343080" algn="l">
              <a:lnSpc>
                <a:spcPct val="115000"/>
              </a:lnSpc>
              <a:buClr>
                <a:srgbClr val="000000"/>
              </a:buClr>
              <a:buFont typeface="Arial"/>
              <a:buChar char="●"/>
            </a:pPr>
            <a:r>
              <a:rPr lang="en" sz="2000" b="0" u="none" strike="noStrike">
                <a:solidFill>
                  <a:schemeClr val="dk1"/>
                </a:solidFill>
                <a:effectLst/>
                <a:uFillTx/>
                <a:latin typeface="Arial"/>
                <a:ea typeface="Arial"/>
              </a:rPr>
              <a:t>The minimum viable Lego kits you need are:</a:t>
            </a:r>
            <a:endParaRPr lang="en-US" sz="2000" b="0" u="none" strike="noStrike">
              <a:solidFill>
                <a:srgbClr val="000000"/>
              </a:solidFill>
              <a:effectLst/>
              <a:uFillTx/>
              <a:latin typeface="Arial"/>
            </a:endParaRPr>
          </a:p>
          <a:p>
            <a:pPr marL="914400" lvl="1" indent="-336600" algn="l">
              <a:lnSpc>
                <a:spcPct val="115000"/>
              </a:lnSpc>
              <a:buClr>
                <a:srgbClr val="000000"/>
              </a:buClr>
              <a:buFont typeface="Arial"/>
              <a:buChar char="○"/>
            </a:pPr>
            <a:r>
              <a:rPr lang="en" sz="1600" b="0" u="none" strike="noStrike">
                <a:solidFill>
                  <a:schemeClr val="dk1"/>
                </a:solidFill>
                <a:effectLst/>
                <a:uFillTx/>
                <a:latin typeface="Arial"/>
                <a:ea typeface="Arial"/>
              </a:rPr>
              <a:t>LEGO® Education SPIKE™ Prime Set, </a:t>
            </a:r>
            <a:r>
              <a:rPr lang="en" sz="1600" b="0" u="none" strike="noStrike">
                <a:solidFill>
                  <a:schemeClr val="dk1"/>
                </a:solidFill>
                <a:effectLst/>
                <a:uFillTx/>
                <a:latin typeface="Verdana"/>
                <a:ea typeface="Verdana"/>
              </a:rPr>
              <a:t>45678</a:t>
            </a:r>
            <a:endParaRPr lang="en-US" sz="1600" b="0" u="none" strike="noStrike">
              <a:solidFill>
                <a:srgbClr val="000000"/>
              </a:solidFill>
              <a:effectLst/>
              <a:uFillTx/>
              <a:latin typeface="Arial"/>
            </a:endParaRPr>
          </a:p>
          <a:p>
            <a:pPr marL="914400" lvl="1" indent="-336600" algn="l">
              <a:lnSpc>
                <a:spcPct val="115000"/>
              </a:lnSpc>
              <a:buClr>
                <a:srgbClr val="000000"/>
              </a:buClr>
              <a:buFont typeface="Arial"/>
              <a:buChar char="○"/>
            </a:pPr>
            <a:r>
              <a:rPr lang="en" sz="1600" b="0" u="none" strike="noStrike">
                <a:solidFill>
                  <a:schemeClr val="dk1"/>
                </a:solidFill>
                <a:effectLst/>
                <a:uFillTx/>
                <a:latin typeface="Arial"/>
                <a:ea typeface="Arial"/>
              </a:rPr>
              <a:t>LEGO® Education SPIKE™ Prime Expansion Set, </a:t>
            </a:r>
            <a:r>
              <a:rPr lang="en" sz="1600" b="0" u="none" strike="noStrike">
                <a:solidFill>
                  <a:schemeClr val="dk1"/>
                </a:solidFill>
                <a:effectLst/>
                <a:uFillTx/>
                <a:latin typeface="Verdana"/>
                <a:ea typeface="Verdana"/>
              </a:rPr>
              <a:t>45681</a:t>
            </a:r>
            <a:endParaRPr lang="en-US" sz="1600" b="0" u="none" strike="noStrike">
              <a:solidFill>
                <a:srgbClr val="000000"/>
              </a:solidFill>
              <a:effectLst/>
              <a:uFillTx/>
              <a:latin typeface="Arial"/>
            </a:endParaRPr>
          </a:p>
          <a:p>
            <a:pPr marL="914400" lvl="1" indent="-336600" algn="l">
              <a:lnSpc>
                <a:spcPct val="115000"/>
              </a:lnSpc>
              <a:buClr>
                <a:srgbClr val="000000"/>
              </a:buClr>
              <a:buFont typeface="Arial"/>
              <a:buChar char="○"/>
            </a:pPr>
            <a:r>
              <a:rPr lang="en" sz="1600" b="0" u="none" strike="noStrike">
                <a:solidFill>
                  <a:schemeClr val="dk1"/>
                </a:solidFill>
                <a:effectLst/>
                <a:uFillTx/>
                <a:latin typeface="Verdana"/>
                <a:ea typeface="Verdana"/>
              </a:rPr>
              <a:t>NOTE: Older Lego robots including EV3 and NXT are legal. Robot Inventor is the same hub as SPIKE Prime</a:t>
            </a:r>
            <a:endParaRPr lang="en-US" sz="1600" b="0" u="none" strike="noStrike">
              <a:solidFill>
                <a:srgbClr val="000000"/>
              </a:solidFill>
              <a:effectLst/>
              <a:uFillTx/>
              <a:latin typeface="Arial"/>
            </a:endParaRPr>
          </a:p>
          <a:p>
            <a:pPr marL="457200" indent="-343080" algn="l">
              <a:lnSpc>
                <a:spcPct val="115000"/>
              </a:lnSpc>
              <a:buClr>
                <a:srgbClr val="000000"/>
              </a:buClr>
              <a:buFont typeface="Verdana"/>
              <a:buChar char="●"/>
            </a:pPr>
            <a:r>
              <a:rPr lang="en" sz="2000" b="0" u="none" strike="noStrike">
                <a:solidFill>
                  <a:schemeClr val="dk1"/>
                </a:solidFill>
                <a:effectLst/>
                <a:uFillTx/>
                <a:latin typeface="Verdana"/>
                <a:ea typeface="Verdana"/>
              </a:rPr>
              <a:t>However, for a competitive robot most teams need additional Technic pieces</a:t>
            </a:r>
            <a:endParaRPr lang="en-US" sz="2000" b="0" u="none" strike="noStrike">
              <a:solidFill>
                <a:srgbClr val="000000"/>
              </a:solidFill>
              <a:effectLst/>
              <a:uFillTx/>
              <a:latin typeface="Arial"/>
            </a:endParaRPr>
          </a:p>
          <a:p>
            <a:pPr marL="914400" lvl="1" indent="-291960" algn="l">
              <a:lnSpc>
                <a:spcPct val="115000"/>
              </a:lnSpc>
              <a:buClr>
                <a:srgbClr val="000000"/>
              </a:buClr>
              <a:buFont typeface="Verdana"/>
              <a:buChar char="○"/>
            </a:pPr>
            <a:r>
              <a:rPr lang="en" sz="1600" b="0" u="none" strike="noStrike">
                <a:solidFill>
                  <a:schemeClr val="dk1"/>
                </a:solidFill>
                <a:effectLst/>
                <a:uFillTx/>
                <a:latin typeface="Verdana"/>
                <a:ea typeface="Verdana"/>
              </a:rPr>
              <a:t>If you only have 2 large and 2 medium motors, use the large motors for the attachments - you need the torque!</a:t>
            </a:r>
            <a:endParaRPr lang="en-US" sz="1600" b="0" u="none" strike="noStrike">
              <a:solidFill>
                <a:srgbClr val="000000"/>
              </a:solidFill>
              <a:effectLst/>
              <a:uFillTx/>
              <a:latin typeface="Arial"/>
            </a:endParaRPr>
          </a:p>
          <a:p>
            <a:pPr marL="457200" indent="-343080" algn="l">
              <a:lnSpc>
                <a:spcPct val="115000"/>
              </a:lnSpc>
              <a:buClr>
                <a:srgbClr val="000000"/>
              </a:buClr>
              <a:buFont typeface="Verdana"/>
              <a:buChar char="●"/>
            </a:pPr>
            <a:r>
              <a:rPr lang="en" sz="2000" b="0" u="none" strike="noStrike">
                <a:solidFill>
                  <a:schemeClr val="dk1"/>
                </a:solidFill>
                <a:effectLst/>
                <a:uFillTx/>
                <a:latin typeface="Verdana"/>
                <a:ea typeface="Verdana"/>
              </a:rPr>
              <a:t>We have a extensive parts list and locations on where to buy them in our docs</a:t>
            </a:r>
            <a:endParaRPr lang="en-US" sz="2000" b="0" u="none" strike="noStrike">
              <a:solidFill>
                <a:srgbClr val="000000"/>
              </a:solidFill>
              <a:effectLst/>
              <a:uFillTx/>
              <a:latin typeface="Arial"/>
            </a:endParaRPr>
          </a:p>
          <a:p>
            <a:pPr marL="914400" lvl="1" indent="-343080" algn="l">
              <a:lnSpc>
                <a:spcPct val="115000"/>
              </a:lnSpc>
              <a:buClr>
                <a:srgbClr val="000000"/>
              </a:buClr>
              <a:buFont typeface="Verdana"/>
              <a:buChar char="○"/>
            </a:pPr>
            <a:r>
              <a:rPr lang="en" sz="1600" b="0" u="none" strike="noStrike">
                <a:solidFill>
                  <a:schemeClr val="dk1"/>
                </a:solidFill>
                <a:effectLst/>
                <a:uFillTx/>
                <a:latin typeface="Verdana"/>
                <a:ea typeface="Verdana"/>
              </a:rPr>
              <a:t>Be careful about buying parts on Amazon and Ebay - not everything they sell are authentic parts and officially only Lego parts are allowed in competition</a:t>
            </a:r>
            <a:endParaRPr lang="en-US" sz="1600" b="0" u="none" strike="noStrike">
              <a:solidFill>
                <a:srgbClr val="000000"/>
              </a:solidFill>
              <a:effectLst/>
              <a:uFillTx/>
              <a:latin typeface="Arial"/>
            </a:endParaRPr>
          </a:p>
        </p:txBody>
      </p:sp>
      <p:sp>
        <p:nvSpPr>
          <p:cNvPr id="551" name="PlaceHolder 3"/>
          <p:cNvSpPr>
            <a:spLocks noGrp="1"/>
          </p:cNvSpPr>
          <p:nvPr>
            <p:ph type="sldNum" idx="11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9D3BCDB-68FB-4CF4-9848-49A3C5A47F5E}" type="slidenum">
              <a:rPr lang="en" sz="1000" b="0" u="none" strike="noStrike">
                <a:solidFill>
                  <a:schemeClr val="dk2"/>
                </a:solidFill>
                <a:effectLst/>
                <a:uFillTx/>
                <a:latin typeface="Arial"/>
                <a:ea typeface="Arial"/>
              </a:rPr>
              <a:t>103</a:t>
            </a:fld>
            <a:endParaRPr lang="en-US" sz="1000" b="0" u="none" strike="noStrike">
              <a:solidFill>
                <a:srgbClr val="000000"/>
              </a:solidFill>
              <a:effectLst/>
              <a:uFillTx/>
              <a:latin typeface="Times New Roman"/>
            </a:endParaRPr>
          </a:p>
        </p:txBody>
      </p:sp>
      <p:pic>
        <p:nvPicPr>
          <p:cNvPr id="552" name="Google Shape;166;p26"/>
          <p:cNvPicPr/>
          <p:nvPr/>
        </p:nvPicPr>
        <p:blipFill>
          <a:blip r:embed="rId3"/>
          <a:stretch/>
        </p:blipFill>
        <p:spPr>
          <a:xfrm>
            <a:off x="5740560" y="211320"/>
            <a:ext cx="1483200" cy="1022400"/>
          </a:xfrm>
          <a:prstGeom prst="rect">
            <a:avLst/>
          </a:prstGeom>
          <a:noFill/>
          <a:ln w="0">
            <a:noFill/>
          </a:ln>
        </p:spPr>
      </p:pic>
      <p:pic>
        <p:nvPicPr>
          <p:cNvPr id="553" name="Google Shape;167;p26"/>
          <p:cNvPicPr/>
          <p:nvPr/>
        </p:nvPicPr>
        <p:blipFill>
          <a:blip r:embed="rId4"/>
          <a:stretch/>
        </p:blipFill>
        <p:spPr>
          <a:xfrm>
            <a:off x="7341840" y="624600"/>
            <a:ext cx="1559880" cy="1022400"/>
          </a:xfrm>
          <a:prstGeom prst="rect">
            <a:avLst/>
          </a:prstGeom>
          <a:noFill/>
          <a:ln w="0">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Robot Design Presentation</a:t>
            </a:r>
            <a:endParaRPr lang="en-US" sz="2500" b="0" u="none" strike="noStrike">
              <a:solidFill>
                <a:srgbClr val="000000"/>
              </a:solidFill>
              <a:effectLst/>
              <a:uFillTx/>
              <a:latin typeface="Arial"/>
            </a:endParaRPr>
          </a:p>
        </p:txBody>
      </p:sp>
      <p:sp>
        <p:nvSpPr>
          <p:cNvPr id="555" name="PlaceHolder 2"/>
          <p:cNvSpPr>
            <a:spLocks noGrp="1"/>
          </p:cNvSpPr>
          <p:nvPr>
            <p:ph/>
          </p:nvPr>
        </p:nvSpPr>
        <p:spPr>
          <a:xfrm>
            <a:off x="255960" y="774360"/>
            <a:ext cx="8670960" cy="3729240"/>
          </a:xfrm>
          <a:prstGeom prst="rect">
            <a:avLst/>
          </a:prstGeom>
          <a:noFill/>
          <a:ln w="0">
            <a:noFill/>
          </a:ln>
        </p:spPr>
        <p:txBody>
          <a:bodyPr lIns="91440" tIns="91440" rIns="91440" bIns="91440" anchor="t">
            <a:normAutofit fontScale="92500" lnSpcReduction="9999"/>
          </a:bodyPr>
          <a:lstStyle/>
          <a:p>
            <a:pPr marL="457200" indent="-352080" algn="l">
              <a:lnSpc>
                <a:spcPct val="115000"/>
              </a:lnSpc>
              <a:buClr>
                <a:srgbClr val="000000"/>
              </a:buClr>
              <a:buFont typeface="Arial"/>
              <a:buChar char="●"/>
            </a:pPr>
            <a:r>
              <a:rPr lang="en" sz="2000" b="0" u="none" strike="noStrike">
                <a:solidFill>
                  <a:schemeClr val="dk1"/>
                </a:solidFill>
                <a:effectLst/>
                <a:uFillTx/>
                <a:latin typeface="Arial"/>
                <a:ea typeface="Arial"/>
              </a:rPr>
              <a:t>Team is required to do a presentation on the design of the robot and attachments</a:t>
            </a:r>
            <a:endParaRPr lang="en-US" sz="2000" b="0" u="none" strike="noStrike">
              <a:solidFill>
                <a:srgbClr val="000000"/>
              </a:solidFill>
              <a:effectLst/>
              <a:uFillTx/>
              <a:latin typeface="Arial"/>
            </a:endParaRPr>
          </a:p>
          <a:p>
            <a:pPr marL="457200" indent="-352080" algn="l">
              <a:lnSpc>
                <a:spcPct val="115000"/>
              </a:lnSpc>
              <a:buClr>
                <a:srgbClr val="000000"/>
              </a:buClr>
              <a:buFont typeface="Arial"/>
              <a:buChar char="●"/>
            </a:pPr>
            <a:r>
              <a:rPr lang="en" sz="2000" b="0" u="none" strike="noStrike">
                <a:solidFill>
                  <a:schemeClr val="dk1"/>
                </a:solidFill>
                <a:effectLst/>
                <a:uFillTx/>
                <a:latin typeface="Arial"/>
                <a:ea typeface="Arial"/>
              </a:rPr>
              <a:t>It is recommended that there should be some visual (e.g., a trifold or poster) that shows which missions use which attachments</a:t>
            </a:r>
            <a:endParaRPr lang="en-US" sz="20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 sz="1600" b="0" u="none" strike="noStrike">
                <a:solidFill>
                  <a:schemeClr val="dk1"/>
                </a:solidFill>
                <a:effectLst/>
                <a:uFillTx/>
                <a:latin typeface="Arial"/>
                <a:ea typeface="Arial"/>
              </a:rPr>
              <a:t>Teams need to discuss why/how they selected the missions they did</a:t>
            </a:r>
            <a:endParaRPr lang="en-US" sz="16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 sz="1600" b="0" u="none" strike="noStrike">
                <a:solidFill>
                  <a:schemeClr val="dk1"/>
                </a:solidFill>
                <a:effectLst/>
                <a:uFillTx/>
                <a:latin typeface="Arial"/>
                <a:ea typeface="Arial"/>
              </a:rPr>
              <a:t>The task/mission approach should be discussed, the attachment(s) used</a:t>
            </a:r>
            <a:endParaRPr lang="en-US" sz="16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 sz="1600" b="0" u="none" strike="noStrike">
                <a:solidFill>
                  <a:schemeClr val="dk1"/>
                </a:solidFill>
                <a:effectLst/>
                <a:uFillTx/>
                <a:latin typeface="Arial"/>
                <a:ea typeface="Arial"/>
              </a:rPr>
              <a:t>Should provide a few of the coding examples</a:t>
            </a:r>
            <a:endParaRPr lang="en-US" sz="1600" b="0" u="none" strike="noStrike">
              <a:solidFill>
                <a:srgbClr val="000000"/>
              </a:solidFill>
              <a:effectLst/>
              <a:uFillTx/>
              <a:latin typeface="Arial"/>
            </a:endParaRPr>
          </a:p>
          <a:p>
            <a:pPr marL="457200" indent="-352080" algn="l">
              <a:lnSpc>
                <a:spcPct val="115000"/>
              </a:lnSpc>
              <a:buClr>
                <a:srgbClr val="000000"/>
              </a:buClr>
              <a:buFont typeface="Arial"/>
              <a:buChar char="●"/>
            </a:pPr>
            <a:r>
              <a:rPr lang="en" sz="2000" b="0" u="none" strike="noStrike">
                <a:solidFill>
                  <a:schemeClr val="dk1"/>
                </a:solidFill>
                <a:effectLst/>
                <a:uFillTx/>
                <a:latin typeface="Arial"/>
                <a:ea typeface="Arial"/>
              </a:rPr>
              <a:t>Team </a:t>
            </a:r>
            <a:r>
              <a:rPr lang="en" sz="2000" b="1" u="none" strike="noStrike">
                <a:solidFill>
                  <a:schemeClr val="dk1"/>
                </a:solidFill>
                <a:effectLst/>
                <a:uFillTx/>
                <a:latin typeface="Arial"/>
                <a:ea typeface="Arial"/>
              </a:rPr>
              <a:t>must</a:t>
            </a:r>
            <a:r>
              <a:rPr lang="en" sz="2000" b="0" u="none" strike="noStrike">
                <a:solidFill>
                  <a:schemeClr val="dk1"/>
                </a:solidFill>
                <a:effectLst/>
                <a:uFillTx/>
                <a:latin typeface="Arial"/>
                <a:ea typeface="Arial"/>
              </a:rPr>
              <a:t> clearly discuss how they were involved in the robot and attachment design, build, testing, refinement, and integration activities</a:t>
            </a:r>
            <a:endParaRPr lang="en-US" sz="20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 sz="1600" b="0" u="none" strike="noStrike">
                <a:solidFill>
                  <a:schemeClr val="dk1"/>
                </a:solidFill>
                <a:effectLst/>
                <a:uFillTx/>
                <a:latin typeface="Arial"/>
                <a:ea typeface="Arial"/>
              </a:rPr>
              <a:t>Use of previous season robots and attachments are ok, but the team needs to explain how they improved on it during the season to address the season’s unique challenges</a:t>
            </a:r>
            <a:endParaRPr lang="en-US" sz="1600" b="0" u="none" strike="noStrike">
              <a:solidFill>
                <a:srgbClr val="000000"/>
              </a:solidFill>
              <a:effectLst/>
              <a:uFillTx/>
              <a:latin typeface="Arial"/>
            </a:endParaRPr>
          </a:p>
          <a:p>
            <a:pPr marL="914400" lvl="1" indent="-352080" algn="l">
              <a:lnSpc>
                <a:spcPct val="115000"/>
              </a:lnSpc>
              <a:buClr>
                <a:srgbClr val="000000"/>
              </a:buClr>
              <a:buFont typeface="Arial"/>
              <a:buChar char="○"/>
            </a:pPr>
            <a:r>
              <a:rPr lang="en" sz="1600" b="0" u="none" strike="noStrike">
                <a:solidFill>
                  <a:schemeClr val="dk1"/>
                </a:solidFill>
                <a:effectLst/>
                <a:uFillTx/>
                <a:latin typeface="Arial"/>
                <a:ea typeface="Arial"/>
              </a:rPr>
              <a:t>Consider using Lego’s free BrickLink Studio ”CAD Program” to document the design of the Robot and Attachments</a:t>
            </a:r>
            <a:endParaRPr lang="en-US" sz="1600" b="0" u="none" strike="noStrike">
              <a:solidFill>
                <a:srgbClr val="000000"/>
              </a:solidFill>
              <a:effectLst/>
              <a:uFillTx/>
              <a:latin typeface="Arial"/>
            </a:endParaRPr>
          </a:p>
          <a:p>
            <a:pPr marL="457200" indent="0" algn="l">
              <a:lnSpc>
                <a:spcPct val="115000"/>
              </a:lnSpc>
              <a:buNone/>
              <a:tabLst>
                <a:tab pos="0" algn="l"/>
              </a:tabLst>
            </a:pPr>
            <a:endParaRPr lang="en-US" sz="1800" b="0" u="none" strike="noStrike">
              <a:solidFill>
                <a:srgbClr val="000000"/>
              </a:solidFill>
              <a:effectLst/>
              <a:uFillTx/>
              <a:latin typeface="Arial"/>
            </a:endParaRPr>
          </a:p>
        </p:txBody>
      </p:sp>
      <p:sp>
        <p:nvSpPr>
          <p:cNvPr id="556" name="PlaceHolder 3"/>
          <p:cNvSpPr>
            <a:spLocks noGrp="1"/>
          </p:cNvSpPr>
          <p:nvPr>
            <p:ph type="sldNum" idx="11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26725C1-D03A-4ACE-AF48-4F99A8EB4254}" type="slidenum">
              <a:rPr lang="en" sz="1000" b="0" u="none" strike="noStrike">
                <a:solidFill>
                  <a:schemeClr val="dk2"/>
                </a:solidFill>
                <a:effectLst/>
                <a:uFillTx/>
                <a:latin typeface="Arial"/>
                <a:ea typeface="Arial"/>
              </a:rPr>
              <a:t>104</a:t>
            </a:fld>
            <a:endParaRPr lang="en-US" sz="1000" b="0" u="none" strike="noStrike">
              <a:solidFill>
                <a:srgbClr val="000000"/>
              </a:solidFill>
              <a:effectLst/>
              <a:uFillTx/>
              <a:latin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Conclusion</a:t>
            </a:r>
            <a:endParaRPr lang="en-US" sz="3600" b="0" u="none" strike="noStrike">
              <a:solidFill>
                <a:srgbClr val="000000"/>
              </a:solidFill>
              <a:effectLst/>
              <a:uFillTx/>
              <a:latin typeface="Arial"/>
            </a:endParaRPr>
          </a:p>
        </p:txBody>
      </p:sp>
      <p:sp>
        <p:nvSpPr>
          <p:cNvPr id="558" name="PlaceHolder 2"/>
          <p:cNvSpPr>
            <a:spLocks noGrp="1"/>
          </p:cNvSpPr>
          <p:nvPr>
            <p:ph type="sldNum" idx="11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E489F7E3-4C7A-4C91-BB29-371C2ACA64D1}" type="slidenum">
              <a:rPr lang="en" sz="1000" b="0" u="none" strike="noStrike">
                <a:solidFill>
                  <a:schemeClr val="dk2"/>
                </a:solidFill>
                <a:effectLst/>
                <a:uFillTx/>
                <a:latin typeface="Arial"/>
                <a:ea typeface="Arial"/>
              </a:rPr>
              <a:t>105</a:t>
            </a:fld>
            <a:endParaRPr lang="en-US" sz="1000" b="0" u="none" strike="noStrike">
              <a:solidFill>
                <a:srgbClr val="000000"/>
              </a:solidFill>
              <a:effectLst/>
              <a:uFillTx/>
              <a:latin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Wait…. But I don’t know Python</a:t>
            </a:r>
            <a:endParaRPr lang="en-US" sz="2500" b="0" u="none" strike="noStrike">
              <a:solidFill>
                <a:srgbClr val="000000"/>
              </a:solidFill>
              <a:effectLst/>
              <a:uFillTx/>
              <a:latin typeface="Arial"/>
            </a:endParaRPr>
          </a:p>
        </p:txBody>
      </p:sp>
      <p:sp>
        <p:nvSpPr>
          <p:cNvPr id="560"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a:bodyPr>
          <a:lstStyle/>
          <a:p>
            <a:pPr marL="457200" indent="-368280" algn="l">
              <a:lnSpc>
                <a:spcPct val="115000"/>
              </a:lnSpc>
              <a:buClr>
                <a:srgbClr val="000000"/>
              </a:buClr>
              <a:buFont typeface="Arial"/>
              <a:buChar char="●"/>
            </a:pPr>
            <a:r>
              <a:rPr lang="en" sz="2200" b="0" u="none" strike="noStrike">
                <a:solidFill>
                  <a:schemeClr val="dk1"/>
                </a:solidFill>
                <a:effectLst/>
                <a:uFillTx/>
                <a:latin typeface="Arial"/>
                <a:ea typeface="Arial"/>
              </a:rPr>
              <a:t>There A LOT of free resources on the Internet to learn python</a:t>
            </a:r>
            <a:endParaRPr lang="en-US" sz="2200" b="0" u="none" strike="noStrike">
              <a:solidFill>
                <a:srgbClr val="000000"/>
              </a:solidFill>
              <a:effectLst/>
              <a:uFillTx/>
              <a:latin typeface="Arial"/>
            </a:endParaRPr>
          </a:p>
          <a:p>
            <a:pPr marL="457200" indent="0" algn="l">
              <a:lnSpc>
                <a:spcPct val="115000"/>
              </a:lnSpc>
              <a:buNone/>
              <a:tabLst>
                <a:tab pos="0" algn="l"/>
              </a:tabLst>
            </a:pPr>
            <a:endParaRPr lang="en-US" sz="2200" b="0" u="none" strike="noStrike">
              <a:solidFill>
                <a:srgbClr val="000000"/>
              </a:solidFill>
              <a:effectLst/>
              <a:uFillTx/>
              <a:latin typeface="Arial"/>
            </a:endParaRPr>
          </a:p>
          <a:p>
            <a:pPr marL="914400" lvl="1" indent="-343080" algn="l">
              <a:lnSpc>
                <a:spcPct val="115000"/>
              </a:lnSpc>
              <a:buClr>
                <a:srgbClr val="000000"/>
              </a:buClr>
              <a:buFont typeface="Arial"/>
              <a:buChar char="○"/>
              <a:tabLst>
                <a:tab pos="0" algn="l"/>
              </a:tabLst>
            </a:pPr>
            <a:r>
              <a:rPr lang="en" sz="1800" b="0" u="none" strike="noStrike">
                <a:solidFill>
                  <a:schemeClr val="dk1">
                    <a:lumMod val="95000"/>
                    <a:lumOff val="5000"/>
                  </a:schemeClr>
                </a:solidFill>
                <a:effectLst/>
                <a:uFillTx/>
                <a:latin typeface="Arial"/>
                <a:ea typeface="Arial"/>
              </a:rPr>
              <a:t>https://www.w3schools.com/python</a:t>
            </a:r>
            <a:endParaRPr lang="en-US" sz="1800" b="0" u="none" strike="noStrike">
              <a:solidFill>
                <a:srgbClr val="000000"/>
              </a:solidFill>
              <a:effectLst/>
              <a:uFillTx/>
              <a:latin typeface="Arial"/>
            </a:endParaRPr>
          </a:p>
          <a:p>
            <a:pPr marL="914400" lvl="1" indent="-343080" algn="l">
              <a:lnSpc>
                <a:spcPct val="115000"/>
              </a:lnSpc>
              <a:buClr>
                <a:srgbClr val="000000"/>
              </a:buClr>
              <a:buFont typeface="Arial"/>
              <a:buChar char="○"/>
              <a:tabLst>
                <a:tab pos="0" algn="l"/>
              </a:tabLst>
            </a:pPr>
            <a:r>
              <a:rPr lang="en" sz="1800" b="0" u="sng" strike="noStrike">
                <a:solidFill>
                  <a:schemeClr val="dk1">
                    <a:lumMod val="95000"/>
                    <a:lumOff val="5000"/>
                  </a:schemeClr>
                </a:solidFill>
                <a:effectLst/>
                <a:uFillTx/>
                <a:latin typeface="Arial"/>
                <a:ea typeface="Arial"/>
                <a:hlinkClick r:id="rId2"/>
              </a:rPr>
              <a:t>https://www.tutorialspoint.com/python</a:t>
            </a:r>
            <a:endParaRPr lang="en-US" sz="1800" b="0" u="none" strike="noStrike">
              <a:solidFill>
                <a:srgbClr val="000000"/>
              </a:solidFill>
              <a:effectLst/>
              <a:uFillTx/>
              <a:latin typeface="Arial"/>
            </a:endParaRPr>
          </a:p>
          <a:p>
            <a:pPr marL="914400" lvl="1" indent="-343080" algn="l">
              <a:lnSpc>
                <a:spcPct val="115000"/>
              </a:lnSpc>
              <a:buClr>
                <a:srgbClr val="0097A7"/>
              </a:buClr>
              <a:buFont typeface="Arial"/>
              <a:buChar char="○"/>
              <a:tabLst>
                <a:tab pos="0" algn="l"/>
              </a:tabLst>
            </a:pPr>
            <a:r>
              <a:rPr lang="en" sz="1800" b="0" u="sng" strike="noStrike">
                <a:solidFill>
                  <a:schemeClr val="dk1">
                    <a:lumMod val="95000"/>
                    <a:lumOff val="5000"/>
                  </a:schemeClr>
                </a:solidFill>
                <a:effectLst/>
                <a:uFillTx/>
                <a:latin typeface="Arial"/>
                <a:ea typeface="Arial"/>
                <a:hlinkClick r:id="rId3"/>
              </a:rPr>
              <a:t>www.python.org</a:t>
            </a:r>
            <a:endParaRPr lang="en-US" sz="1800" b="0" u="none" strike="noStrike">
              <a:solidFill>
                <a:srgbClr val="000000"/>
              </a:solidFill>
              <a:effectLst/>
              <a:uFillTx/>
              <a:latin typeface="Arial"/>
            </a:endParaRPr>
          </a:p>
          <a:p>
            <a:pPr marL="914400" lvl="1" indent="-343080" algn="l">
              <a:lnSpc>
                <a:spcPct val="115000"/>
              </a:lnSpc>
              <a:buClr>
                <a:srgbClr val="0097A7"/>
              </a:buClr>
              <a:buFont typeface="Arial"/>
              <a:buChar char="○"/>
              <a:tabLst>
                <a:tab pos="0" algn="l"/>
              </a:tabLst>
            </a:pPr>
            <a:r>
              <a:rPr lang="en" sz="1800" b="0" u="sng" strike="noStrike">
                <a:solidFill>
                  <a:schemeClr val="dk1">
                    <a:lumMod val="95000"/>
                    <a:lumOff val="5000"/>
                  </a:schemeClr>
                </a:solidFill>
                <a:effectLst/>
                <a:uFillTx/>
                <a:latin typeface="Arial"/>
                <a:ea typeface="Arial"/>
                <a:hlinkClick r:id="rId4"/>
              </a:rPr>
              <a:t>docs.pybricks.com</a:t>
            </a:r>
            <a:endParaRPr lang="en-US" sz="1800" b="0" u="none" strike="noStrike">
              <a:solidFill>
                <a:srgbClr val="000000"/>
              </a:solidFill>
              <a:effectLst/>
              <a:uFillTx/>
              <a:latin typeface="Arial"/>
            </a:endParaRPr>
          </a:p>
          <a:p>
            <a:pPr marL="914400" indent="0" algn="l">
              <a:lnSpc>
                <a:spcPct val="115000"/>
              </a:lnSpc>
              <a:buNone/>
              <a:tabLst>
                <a:tab pos="0" algn="l"/>
              </a:tabLst>
            </a:pPr>
            <a:endParaRPr lang="en-US" sz="2200" b="0" u="none" strike="noStrike">
              <a:solidFill>
                <a:srgbClr val="000000"/>
              </a:solidFill>
              <a:effectLst/>
              <a:uFillTx/>
              <a:latin typeface="Arial"/>
            </a:endParaRPr>
          </a:p>
          <a:p>
            <a:pPr marL="457200" indent="-314280" algn="l" defTabSz="914400">
              <a:lnSpc>
                <a:spcPct val="115000"/>
              </a:lnSpc>
              <a:buClr>
                <a:srgbClr val="595959"/>
              </a:buClr>
              <a:buFont typeface="Arial"/>
              <a:buChar char="○"/>
              <a:tabLst>
                <a:tab pos="0" algn="l"/>
              </a:tabLst>
            </a:pPr>
            <a:r>
              <a:rPr lang="en" sz="2200" b="0" u="none" strike="noStrike">
                <a:solidFill>
                  <a:schemeClr val="dk1"/>
                </a:solidFill>
                <a:effectLst/>
                <a:uFillTx/>
                <a:latin typeface="Arial"/>
                <a:ea typeface="Arial"/>
              </a:rPr>
              <a:t>This Presentation, my Python for FLL presentation, and the code examples are available at:</a:t>
            </a:r>
            <a:endParaRPr lang="en-US" sz="2200" b="0" u="none" strike="noStrike">
              <a:solidFill>
                <a:srgbClr val="000000"/>
              </a:solidFill>
              <a:effectLst/>
              <a:uFillTx/>
              <a:latin typeface="Arial"/>
            </a:endParaRPr>
          </a:p>
          <a:p>
            <a:pPr marL="914400" lvl="1" indent="-314280" algn="l" defTabSz="914400">
              <a:lnSpc>
                <a:spcPct val="115000"/>
              </a:lnSpc>
              <a:buClr>
                <a:srgbClr val="595959"/>
              </a:buClr>
              <a:buFont typeface="Arial"/>
              <a:buChar char="○"/>
              <a:tabLst>
                <a:tab pos="0" algn="l"/>
              </a:tabLst>
            </a:pPr>
            <a:r>
              <a:rPr lang="en-US" sz="1400" b="0" u="none" strike="noStrike">
                <a:solidFill>
                  <a:srgbClr val="000000"/>
                </a:solidFill>
                <a:effectLst/>
                <a:uFillTx/>
                <a:latin typeface="Arial"/>
                <a:ea typeface="Arial"/>
              </a:rPr>
              <a:t>https://github.com/bcfletcher/lego_projects/tree/main/FLL/2025_MD_FLL_Coaches_Conf</a:t>
            </a:r>
            <a:endParaRPr lang="en-US" sz="1400" b="0" u="none" strike="noStrike">
              <a:solidFill>
                <a:srgbClr val="000000"/>
              </a:solidFill>
              <a:effectLst/>
              <a:uFillTx/>
              <a:latin typeface="Arial"/>
            </a:endParaRPr>
          </a:p>
          <a:p>
            <a:pPr indent="0" algn="l" defTabSz="914400">
              <a:lnSpc>
                <a:spcPct val="115000"/>
              </a:lnSpc>
              <a:buNone/>
              <a:tabLst>
                <a:tab pos="0" algn="l"/>
              </a:tabLst>
            </a:pPr>
            <a:endParaRPr lang="en-US" sz="1800" b="0" u="none" strike="noStrike">
              <a:solidFill>
                <a:srgbClr val="000000"/>
              </a:solidFill>
              <a:effectLst/>
              <a:uFillTx/>
              <a:latin typeface="Arial"/>
            </a:endParaRPr>
          </a:p>
        </p:txBody>
      </p:sp>
      <p:sp>
        <p:nvSpPr>
          <p:cNvPr id="561" name="PlaceHolder 3"/>
          <p:cNvSpPr>
            <a:spLocks noGrp="1"/>
          </p:cNvSpPr>
          <p:nvPr>
            <p:ph type="sldNum" idx="11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A6EC5C5F-EB1C-4AE7-879C-55CD8206B239}" type="slidenum">
              <a:rPr lang="en" sz="1000" b="0" u="none" strike="noStrike">
                <a:solidFill>
                  <a:schemeClr val="dk2"/>
                </a:solidFill>
                <a:effectLst/>
                <a:uFillTx/>
                <a:latin typeface="Arial"/>
                <a:ea typeface="Arial"/>
              </a:rPr>
              <a:t>106</a:t>
            </a:fld>
            <a:endParaRPr lang="en-US" sz="1000" b="0" u="none" strike="noStrike">
              <a:solidFill>
                <a:srgbClr val="000000"/>
              </a:solidFill>
              <a:effectLst/>
              <a:uFillTx/>
              <a:latin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 sz="2500" b="0" u="none" strike="noStrike">
                <a:solidFill>
                  <a:schemeClr val="lt1"/>
                </a:solidFill>
                <a:effectLst/>
                <a:uFillTx/>
                <a:latin typeface="Arial"/>
                <a:ea typeface="Arial"/>
              </a:rPr>
              <a:t>Summary</a:t>
            </a:r>
            <a:endParaRPr lang="en-US" sz="2500" b="0" u="none" strike="noStrike">
              <a:solidFill>
                <a:srgbClr val="000000"/>
              </a:solidFill>
              <a:effectLst/>
              <a:uFillTx/>
              <a:latin typeface="Arial"/>
            </a:endParaRPr>
          </a:p>
        </p:txBody>
      </p:sp>
      <p:sp>
        <p:nvSpPr>
          <p:cNvPr id="563" name="PlaceHolder 2"/>
          <p:cNvSpPr>
            <a:spLocks noGrp="1"/>
          </p:cNvSpPr>
          <p:nvPr>
            <p:ph/>
          </p:nvPr>
        </p:nvSpPr>
        <p:spPr>
          <a:xfrm>
            <a:off x="311760" y="853920"/>
            <a:ext cx="8520120" cy="3646080"/>
          </a:xfrm>
          <a:prstGeom prst="rect">
            <a:avLst/>
          </a:prstGeom>
          <a:noFill/>
          <a:ln w="0">
            <a:noFill/>
          </a:ln>
        </p:spPr>
        <p:txBody>
          <a:bodyPr lIns="91440" tIns="91440" rIns="91440" bIns="91440" anchor="t">
            <a:normAutofit fontScale="70000" lnSpcReduction="19999"/>
          </a:bodyPr>
          <a:lstStyle/>
          <a:p>
            <a:pPr marL="457200" indent="-349200" algn="l">
              <a:lnSpc>
                <a:spcPct val="150000"/>
              </a:lnSpc>
              <a:buClr>
                <a:srgbClr val="000000"/>
              </a:buClr>
              <a:buFont typeface="Arial"/>
              <a:buChar char="●"/>
            </a:pPr>
            <a:r>
              <a:rPr lang="en" sz="3200" b="0" u="none" strike="noStrike">
                <a:solidFill>
                  <a:schemeClr val="dk1"/>
                </a:solidFill>
                <a:effectLst/>
                <a:uFillTx/>
                <a:latin typeface="Arial"/>
                <a:ea typeface="Arial"/>
              </a:rPr>
              <a:t>This was a introduction into Pybricks</a:t>
            </a:r>
            <a:endParaRPr lang="en-US" sz="3200" b="0" u="none" strike="noStrike">
              <a:solidFill>
                <a:srgbClr val="000000"/>
              </a:solidFill>
              <a:effectLst/>
              <a:uFillTx/>
              <a:latin typeface="Arial"/>
            </a:endParaRPr>
          </a:p>
          <a:p>
            <a:pPr marL="457200" indent="-349200" algn="l">
              <a:lnSpc>
                <a:spcPct val="150000"/>
              </a:lnSpc>
              <a:buClr>
                <a:srgbClr val="000000"/>
              </a:buClr>
              <a:buFont typeface="Arial"/>
              <a:buChar char="●"/>
            </a:pPr>
            <a:r>
              <a:rPr lang="en-US" sz="3200" b="0" u="none" strike="noStrike">
                <a:solidFill>
                  <a:schemeClr val="dk1"/>
                </a:solidFill>
                <a:effectLst/>
                <a:uFillTx/>
                <a:latin typeface="Arial"/>
                <a:ea typeface="Arial"/>
              </a:rPr>
              <a:t>It covered the key concepts and Pybricks APIs that teams will need to be successful using Pybricks</a:t>
            </a:r>
            <a:endParaRPr lang="en-US" sz="3200" b="0" u="none" strike="noStrike">
              <a:solidFill>
                <a:srgbClr val="000000"/>
              </a:solidFill>
              <a:effectLst/>
              <a:uFillTx/>
              <a:latin typeface="Arial"/>
            </a:endParaRPr>
          </a:p>
          <a:p>
            <a:pPr marL="457200" indent="-349200" algn="l">
              <a:lnSpc>
                <a:spcPct val="150000"/>
              </a:lnSpc>
              <a:buClr>
                <a:srgbClr val="000000"/>
              </a:buClr>
              <a:buFont typeface="Arial"/>
              <a:buChar char="●"/>
            </a:pPr>
            <a:r>
              <a:rPr lang="en" sz="3200" b="0" u="none" strike="noStrike">
                <a:solidFill>
                  <a:schemeClr val="dk1"/>
                </a:solidFill>
                <a:effectLst/>
                <a:uFillTx/>
                <a:latin typeface="Arial"/>
                <a:ea typeface="Arial"/>
              </a:rPr>
              <a:t>Pybricks has excellent documentation both within the Application and the website.</a:t>
            </a:r>
            <a:endParaRPr lang="en-US" sz="3200" b="0" u="none" strike="noStrike">
              <a:solidFill>
                <a:srgbClr val="000000"/>
              </a:solidFill>
              <a:effectLst/>
              <a:uFillTx/>
              <a:latin typeface="Arial"/>
            </a:endParaRPr>
          </a:p>
          <a:p>
            <a:pPr marL="457200" indent="-349200" algn="l">
              <a:lnSpc>
                <a:spcPct val="150000"/>
              </a:lnSpc>
              <a:buClr>
                <a:srgbClr val="000000"/>
              </a:buClr>
              <a:buFont typeface="Arial"/>
              <a:buChar char="●"/>
            </a:pPr>
            <a:r>
              <a:rPr lang="en" sz="3200" b="0" u="none" strike="noStrike">
                <a:solidFill>
                  <a:schemeClr val="dk1"/>
                </a:solidFill>
                <a:effectLst/>
                <a:uFillTx/>
                <a:latin typeface="Arial"/>
                <a:ea typeface="Arial"/>
              </a:rPr>
              <a:t>Pybrick’s support website has lots of good discussions and examples</a:t>
            </a:r>
            <a:endParaRPr lang="en-US" sz="3200" b="0" u="none" strike="noStrike">
              <a:solidFill>
                <a:srgbClr val="000000"/>
              </a:solidFill>
              <a:effectLst/>
              <a:uFillTx/>
              <a:latin typeface="Arial"/>
            </a:endParaRPr>
          </a:p>
          <a:p>
            <a:pPr marL="914400" lvl="1" indent="-330120" algn="l">
              <a:lnSpc>
                <a:spcPct val="150000"/>
              </a:lnSpc>
              <a:buClr>
                <a:srgbClr val="000000"/>
              </a:buClr>
              <a:buFont typeface="Arial"/>
              <a:buChar char="○"/>
            </a:pPr>
            <a:r>
              <a:rPr lang="en" sz="2300" b="0" u="none" strike="noStrike">
                <a:solidFill>
                  <a:schemeClr val="dk1"/>
                </a:solidFill>
                <a:effectLst/>
                <a:uFillTx/>
                <a:latin typeface="Arial"/>
                <a:ea typeface="Arial"/>
              </a:rPr>
              <a:t>https://github.com/pybricks/support</a:t>
            </a:r>
            <a:endParaRPr lang="en-US" sz="2300" b="0" u="none" strike="noStrike">
              <a:solidFill>
                <a:srgbClr val="000000"/>
              </a:solidFill>
              <a:effectLst/>
              <a:uFillTx/>
              <a:latin typeface="Arial"/>
            </a:endParaRPr>
          </a:p>
        </p:txBody>
      </p:sp>
      <p:sp>
        <p:nvSpPr>
          <p:cNvPr id="564" name="PlaceHolder 3"/>
          <p:cNvSpPr>
            <a:spLocks noGrp="1"/>
          </p:cNvSpPr>
          <p:nvPr>
            <p:ph type="sldNum" idx="12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8B91D14-2B3D-4B89-898D-3915E80D02FA}" type="slidenum">
              <a:rPr lang="en" sz="1000" b="0" u="none" strike="noStrike">
                <a:solidFill>
                  <a:schemeClr val="dk2"/>
                </a:solidFill>
                <a:effectLst/>
                <a:uFillTx/>
                <a:latin typeface="Arial"/>
                <a:ea typeface="Arial"/>
              </a:rPr>
              <a:t>107</a:t>
            </a:fld>
            <a:endParaRPr lang="en-US" sz="1000" b="0" u="none" strike="noStrike">
              <a:solidFill>
                <a:srgbClr val="000000"/>
              </a:solidFill>
              <a:effectLst/>
              <a:uFillTx/>
              <a:latin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600" b="1" u="none" strike="noStrike">
                <a:solidFill>
                  <a:schemeClr val="dk1"/>
                </a:solidFill>
                <a:effectLst/>
                <a:uFillTx/>
                <a:latin typeface="Arial"/>
                <a:ea typeface="Arial"/>
              </a:rPr>
              <a:t>Xbox Controller Example</a:t>
            </a:r>
            <a:endParaRPr lang="en-US" sz="3600" b="0" u="none" strike="noStrike">
              <a:solidFill>
                <a:srgbClr val="000000"/>
              </a:solidFill>
              <a:effectLst/>
              <a:uFillTx/>
              <a:latin typeface="Arial"/>
            </a:endParaRPr>
          </a:p>
        </p:txBody>
      </p:sp>
      <p:sp>
        <p:nvSpPr>
          <p:cNvPr id="566" name="PlaceHolder 2"/>
          <p:cNvSpPr>
            <a:spLocks noGrp="1"/>
          </p:cNvSpPr>
          <p:nvPr>
            <p:ph type="sldNum" idx="12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7097175-3424-4B12-82C7-83000DBE5E7D}" type="slidenum">
              <a:rPr lang="en" sz="1000" b="0" u="none" strike="noStrike">
                <a:solidFill>
                  <a:schemeClr val="dk2"/>
                </a:solidFill>
                <a:effectLst/>
                <a:uFillTx/>
                <a:latin typeface="Arial"/>
                <a:ea typeface="Arial"/>
              </a:rPr>
              <a:t>108</a:t>
            </a:fld>
            <a:endParaRPr lang="en-US" sz="1000" b="0" u="none" strike="noStrike">
              <a:solidFill>
                <a:srgbClr val="000000"/>
              </a:solidFill>
              <a:effectLst/>
              <a:uFillTx/>
              <a:latin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Controller Example</a:t>
            </a:r>
            <a:endParaRPr lang="en-US" sz="2500" b="0" u="none" strike="noStrike">
              <a:solidFill>
                <a:srgbClr val="000000"/>
              </a:solidFill>
              <a:effectLst/>
              <a:uFillTx/>
              <a:latin typeface="Arial"/>
            </a:endParaRPr>
          </a:p>
        </p:txBody>
      </p:sp>
      <p:sp>
        <p:nvSpPr>
          <p:cNvPr id="568" name="PlaceHolder 2"/>
          <p:cNvSpPr>
            <a:spLocks noGrp="1"/>
          </p:cNvSpPr>
          <p:nvPr>
            <p:ph/>
          </p:nvPr>
        </p:nvSpPr>
        <p:spPr>
          <a:xfrm>
            <a:off x="311760" y="853920"/>
            <a:ext cx="8520120" cy="3646080"/>
          </a:xfrm>
          <a:prstGeom prst="rect">
            <a:avLst/>
          </a:prstGeom>
          <a:noFill/>
          <a:ln w="0">
            <a:noFill/>
          </a:ln>
        </p:spPr>
        <p:txBody>
          <a:bodyPr lIns="91440" tIns="91440" rIns="91440" bIns="91440" anchor="t">
            <a:noAutofit/>
          </a:bodyPr>
          <a:lstStyle/>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This is example of how to use an Xbox Controller with a Lego Spike Prime Robot</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It does not use the robot library</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This was primarily an experiment in how to use the Xbox Controller to get angles and distances to objects on an FLL Course</a:t>
            </a:r>
            <a:endParaRPr lang="en-US" sz="18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a:p>
            <a:pPr marL="457200" indent="-343080" algn="l">
              <a:lnSpc>
                <a:spcPct val="115000"/>
              </a:lnSpc>
              <a:buClr>
                <a:srgbClr val="000000"/>
              </a:buClr>
              <a:buFont typeface="Arial"/>
              <a:buChar char="●"/>
            </a:pPr>
            <a:r>
              <a:rPr lang="en-US" sz="1800" b="0" u="none" strike="noStrike">
                <a:solidFill>
                  <a:schemeClr val="dk1"/>
                </a:solidFill>
                <a:effectLst/>
                <a:uFillTx/>
                <a:latin typeface="Arial"/>
                <a:ea typeface="Arial"/>
              </a:rPr>
              <a:t>It was inspired by a presentation from Julian Huss and Monongahela Cryptid Cooperative at the 2025 First Chesapeake Mentor Conference</a:t>
            </a:r>
            <a:endParaRPr lang="en-US" sz="1800" b="0" u="none" strike="noStrike">
              <a:solidFill>
                <a:srgbClr val="000000"/>
              </a:solidFill>
              <a:effectLst/>
              <a:uFillTx/>
              <a:latin typeface="Arial"/>
            </a:endParaRPr>
          </a:p>
          <a:p>
            <a:pPr marL="914400" lvl="1" indent="-317520" algn="l">
              <a:lnSpc>
                <a:spcPct val="115000"/>
              </a:lnSpc>
              <a:buClr>
                <a:srgbClr val="000000"/>
              </a:buClr>
              <a:buFont typeface="Arial"/>
              <a:buChar char="○"/>
            </a:pPr>
            <a:r>
              <a:rPr lang="en-US" sz="1400" b="0" u="none" strike="noStrike">
                <a:solidFill>
                  <a:schemeClr val="dk1"/>
                </a:solidFill>
                <a:effectLst/>
                <a:uFillTx/>
                <a:latin typeface="Arial"/>
                <a:ea typeface="Arial"/>
              </a:rPr>
              <a:t>https://github.com/MonongahelaCryptidCooperative/FLL-Block-2024-2025/</a:t>
            </a:r>
            <a:endParaRPr lang="en-US" sz="1400" b="0" u="none" strike="noStrike">
              <a:solidFill>
                <a:srgbClr val="000000"/>
              </a:solidFill>
              <a:effectLst/>
              <a:uFillTx/>
              <a:latin typeface="Arial"/>
            </a:endParaRPr>
          </a:p>
          <a:p>
            <a:pPr indent="0" algn="l">
              <a:lnSpc>
                <a:spcPct val="115000"/>
              </a:lnSpc>
              <a:buNone/>
            </a:pPr>
            <a:endParaRPr lang="en-US" sz="1800" b="0" u="none" strike="noStrike">
              <a:solidFill>
                <a:srgbClr val="000000"/>
              </a:solidFill>
              <a:effectLst/>
              <a:uFillTx/>
              <a:latin typeface="Arial"/>
            </a:endParaRPr>
          </a:p>
        </p:txBody>
      </p:sp>
      <p:sp>
        <p:nvSpPr>
          <p:cNvPr id="569" name="PlaceHolder 3"/>
          <p:cNvSpPr>
            <a:spLocks noGrp="1"/>
          </p:cNvSpPr>
          <p:nvPr>
            <p:ph type="sldNum" idx="122"/>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E1D95F9-FF49-4A75-8EC3-8AF17F9325A0}" type="slidenum">
              <a:rPr lang="en" sz="1000" b="0" u="none" strike="noStrike">
                <a:solidFill>
                  <a:schemeClr val="dk2"/>
                </a:solidFill>
                <a:effectLst/>
                <a:uFillTx/>
                <a:latin typeface="Arial"/>
                <a:ea typeface="Arial"/>
              </a:rPr>
              <a:t>109</a:t>
            </a:fld>
            <a:endParaRPr lang="en-US" sz="1000" b="0" u="none" strike="noStrike">
              <a:solidFill>
                <a:srgbClr val="000000"/>
              </a:solidFill>
              <a:effectLst/>
              <a:uFillTx/>
              <a:latin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Example (1/5)</a:t>
            </a:r>
            <a:endParaRPr lang="en-US" sz="2500" b="0" u="none" strike="noStrike">
              <a:solidFill>
                <a:srgbClr val="000000"/>
              </a:solidFill>
              <a:effectLst/>
              <a:uFillTx/>
              <a:latin typeface="Arial"/>
            </a:endParaRPr>
          </a:p>
        </p:txBody>
      </p:sp>
      <p:sp>
        <p:nvSpPr>
          <p:cNvPr id="571" name="PlaceHolder 2"/>
          <p:cNvSpPr>
            <a:spLocks noGrp="1"/>
          </p:cNvSpPr>
          <p:nvPr>
            <p:ph type="sldNum" idx="123"/>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413A570-DB3C-4F7B-8CD8-E8BA26917689}" type="slidenum">
              <a:rPr lang="en" sz="1000" b="0" u="none" strike="noStrike">
                <a:solidFill>
                  <a:schemeClr val="dk2"/>
                </a:solidFill>
                <a:effectLst/>
                <a:uFillTx/>
                <a:latin typeface="Arial"/>
                <a:ea typeface="Arial"/>
              </a:rPr>
              <a:t>110</a:t>
            </a:fld>
            <a:endParaRPr lang="en-US" sz="1000" b="0" u="none" strike="noStrike">
              <a:solidFill>
                <a:srgbClr val="000000"/>
              </a:solidFill>
              <a:effectLst/>
              <a:uFillTx/>
              <a:latin typeface="Times New Roman"/>
            </a:endParaRPr>
          </a:p>
        </p:txBody>
      </p:sp>
      <p:sp>
        <p:nvSpPr>
          <p:cNvPr id="572" name="TextBox 7"/>
          <p:cNvSpPr/>
          <p:nvPr/>
        </p:nvSpPr>
        <p:spPr>
          <a:xfrm>
            <a:off x="441720" y="751680"/>
            <a:ext cx="6896520" cy="3503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hubs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PrimeHub</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iodevices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XboxController</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parameters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Direction</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Port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Stop</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pupdevices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Motor</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robotics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DriveBase</a:t>
            </a:r>
            <a:endParaRPr lang="en-US" sz="1400" b="0" u="none" strike="noStrike">
              <a:solidFill>
                <a:srgbClr val="000000"/>
              </a:solidFill>
              <a:effectLst/>
              <a:uFillTx/>
              <a:latin typeface="Arial"/>
            </a:endParaRPr>
          </a:p>
          <a:p>
            <a:pPr>
              <a:lnSpc>
                <a:spcPts val="1349"/>
              </a:lnSpc>
            </a:pPr>
            <a:r>
              <a:rPr lang="en-US" sz="1400" b="1" u="none" strike="noStrike">
                <a:solidFill>
                  <a:srgbClr val="AF00DB"/>
                </a:solidFill>
                <a:effectLst/>
                <a:uFillTx/>
                <a:latin typeface="Menlo"/>
                <a:ea typeface="Arial"/>
              </a:rPr>
              <a:t>from</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pybricks</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tools</a:t>
            </a:r>
            <a:r>
              <a:rPr lang="en-US" sz="1400" b="1" u="none" strike="noStrike">
                <a:solidFill>
                  <a:srgbClr val="3B3B3B"/>
                </a:solidFill>
                <a:effectLst/>
                <a:uFillTx/>
                <a:latin typeface="Menlo"/>
                <a:ea typeface="Arial"/>
              </a:rPr>
              <a:t> </a:t>
            </a:r>
            <a:r>
              <a:rPr lang="en-US" sz="1400" b="1" u="none" strike="noStrike">
                <a:solidFill>
                  <a:srgbClr val="AF00DB"/>
                </a:solidFill>
                <a:effectLst/>
                <a:uFillTx/>
                <a:latin typeface="Menlo"/>
                <a:ea typeface="Arial"/>
              </a:rPr>
              <a:t>import</a:t>
            </a:r>
            <a:r>
              <a:rPr lang="en-US" sz="1400" b="1" u="none" strike="noStrike">
                <a:solidFill>
                  <a:srgbClr val="3B3B3B"/>
                </a:solidFill>
                <a:effectLst/>
                <a:uFillTx/>
                <a:latin typeface="Menlo"/>
                <a:ea typeface="Arial"/>
              </a:rPr>
              <a:t> </a:t>
            </a:r>
            <a:r>
              <a:rPr lang="en-US" sz="1400" b="1" u="none" strike="noStrike">
                <a:solidFill>
                  <a:srgbClr val="795E26"/>
                </a:solidFill>
                <a:effectLst/>
                <a:uFillTx/>
                <a:latin typeface="Menlo"/>
                <a:ea typeface="Arial"/>
              </a:rPr>
              <a:t>wait</a:t>
            </a:r>
            <a:endParaRPr lang="en-US" sz="140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a:p>
            <a:pPr>
              <a:lnSpc>
                <a:spcPts val="1349"/>
              </a:lnSpc>
            </a:pPr>
            <a:r>
              <a:rPr lang="en-US" sz="1400" b="1" u="none" strike="noStrike">
                <a:solidFill>
                  <a:srgbClr val="008000"/>
                </a:solidFill>
                <a:effectLst/>
                <a:uFillTx/>
                <a:latin typeface="Menlo"/>
                <a:ea typeface="Arial"/>
              </a:rPr>
              <a:t># Set up all devices.</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prime_hub</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PrimeHub</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right_motor</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Motor</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Port</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A</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Direction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CLOCKWISE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left_motor</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Motor</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Port</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B</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Direction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COUNTERCLOCKWISE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attachment_motor</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Motor</a:t>
            </a:r>
            <a:r>
              <a:rPr lang="en-US" sz="1400" b="1" u="none" strike="noStrike">
                <a:solidFill>
                  <a:srgbClr val="3B3B3B"/>
                </a:solidFill>
                <a:effectLst/>
                <a:uFillTx/>
                <a:latin typeface="Menlo"/>
                <a:ea typeface="Arial"/>
              </a:rPr>
              <a:t>(</a:t>
            </a:r>
            <a:r>
              <a:rPr lang="en-US" sz="1400" b="1" u="none" strike="noStrike">
                <a:solidFill>
                  <a:srgbClr val="267F99"/>
                </a:solidFill>
                <a:effectLst/>
                <a:uFillTx/>
                <a:latin typeface="Menlo"/>
                <a:ea typeface="Arial"/>
              </a:rPr>
              <a:t>Port</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C</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Direction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CLOCKWISE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drive_base</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DriveBase</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left_motor</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right_motor</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62.4</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204</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XboxController()</a:t>
            </a:r>
            <a:endParaRPr lang="en-US" sz="1400" b="0" u="none" strike="noStrike">
              <a:solidFill>
                <a:srgbClr val="000000"/>
              </a:solidFill>
              <a:effectLst/>
              <a:uFillTx/>
              <a:latin typeface="Arial"/>
            </a:endParaRPr>
          </a:p>
          <a:p>
            <a:pPr>
              <a:lnSpc>
                <a:spcPts val="1349"/>
              </a:lnSpc>
            </a:pPr>
            <a:br>
              <a:rPr sz="1400"/>
            </a:br>
            <a:endParaRPr lang="en-US" sz="1400" b="0" u="none" strike="noStrike">
              <a:solidFill>
                <a:srgbClr val="000000"/>
              </a:solidFill>
              <a:effectLst/>
              <a:uFillTx/>
              <a:latin typeface="Arial"/>
            </a:endParaRPr>
          </a:p>
          <a:p>
            <a:pPr>
              <a:lnSpc>
                <a:spcPts val="1349"/>
              </a:lnSpc>
            </a:pPr>
            <a:r>
              <a:rPr lang="en-US" sz="1400" b="1" u="none" strike="noStrike">
                <a:solidFill>
                  <a:srgbClr val="008000"/>
                </a:solidFill>
                <a:effectLst/>
                <a:uFillTx/>
                <a:latin typeface="Menlo"/>
                <a:ea typeface="Arial"/>
              </a:rPr>
              <a:t># Initialize variables.</a:t>
            </a:r>
            <a:endParaRPr lang="en-US" sz="1400" b="0" u="none" strike="noStrike">
              <a:solidFill>
                <a:srgbClr val="000000"/>
              </a:solidFill>
              <a:effectLst/>
              <a:uFillTx/>
              <a:latin typeface="Arial"/>
            </a:endParaRPr>
          </a:p>
          <a:p>
            <a:pPr>
              <a:lnSpc>
                <a:spcPts val="1349"/>
              </a:lnSpc>
            </a:pP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950</a:t>
            </a:r>
            <a:endParaRPr lang="en-US" sz="1400" b="0" u="none" strike="noStrike">
              <a:solidFill>
                <a:srgbClr val="000000"/>
              </a:solidFill>
              <a:effectLst/>
              <a:uFillTx/>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Example (2/5)</a:t>
            </a:r>
            <a:endParaRPr lang="en-US" sz="2500" b="0" u="none" strike="noStrike">
              <a:solidFill>
                <a:srgbClr val="000000"/>
              </a:solidFill>
              <a:effectLst/>
              <a:uFillTx/>
              <a:latin typeface="Arial"/>
            </a:endParaRPr>
          </a:p>
        </p:txBody>
      </p:sp>
      <p:sp>
        <p:nvSpPr>
          <p:cNvPr id="574" name="PlaceHolder 2"/>
          <p:cNvSpPr>
            <a:spLocks noGrp="1"/>
          </p:cNvSpPr>
          <p:nvPr>
            <p:ph type="sldNum" idx="124"/>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FE031FB-1039-4EBF-9EE1-68D522E012A0}" type="slidenum">
              <a:rPr lang="en" sz="1000" b="0" u="none" strike="noStrike">
                <a:solidFill>
                  <a:schemeClr val="dk2"/>
                </a:solidFill>
                <a:effectLst/>
                <a:uFillTx/>
                <a:latin typeface="Arial"/>
                <a:ea typeface="Arial"/>
              </a:rPr>
              <a:t>111</a:t>
            </a:fld>
            <a:endParaRPr lang="en-US" sz="1000" b="0" u="none" strike="noStrike">
              <a:solidFill>
                <a:srgbClr val="000000"/>
              </a:solidFill>
              <a:effectLst/>
              <a:uFillTx/>
              <a:latin typeface="Times New Roman"/>
            </a:endParaRPr>
          </a:p>
        </p:txBody>
      </p:sp>
      <p:sp>
        <p:nvSpPr>
          <p:cNvPr id="575" name="TextBox 7"/>
          <p:cNvSpPr/>
          <p:nvPr/>
        </p:nvSpPr>
        <p:spPr>
          <a:xfrm>
            <a:off x="322560" y="682920"/>
            <a:ext cx="6524280" cy="440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0000FF"/>
                </a:solidFill>
                <a:effectLst/>
                <a:uFillTx/>
                <a:latin typeface="Menlo"/>
                <a:ea typeface="Arial"/>
              </a:rPr>
              <a:t>def</a:t>
            </a:r>
            <a:r>
              <a:rPr lang="en-US" sz="1400" b="1" u="none" strike="noStrike">
                <a:solidFill>
                  <a:srgbClr val="3B3B3B"/>
                </a:solidFill>
                <a:effectLst/>
                <a:uFillTx/>
                <a:latin typeface="Menlo"/>
                <a:ea typeface="Arial"/>
              </a:rPr>
              <a:t> </a:t>
            </a:r>
            <a:r>
              <a:rPr lang="en-US" sz="1400" b="1" u="none" strike="noStrike">
                <a:solidFill>
                  <a:srgbClr val="795E26"/>
                </a:solidFill>
                <a:effectLst/>
                <a:uFillTx/>
                <a:latin typeface="Menlo"/>
                <a:ea typeface="Arial"/>
              </a:rPr>
              <a:t>xbox_controller_test</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00FF"/>
                </a:solidFill>
                <a:effectLst/>
                <a:uFillTx/>
                <a:latin typeface="Menlo"/>
                <a:ea typeface="Arial"/>
              </a:rPr>
              <a:t>   global</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endParaRPr lang="en-US" sz="1400" b="0" u="none" strike="noStrike">
              <a:solidFill>
                <a:srgbClr val="000000"/>
              </a:solidFill>
              <a:effectLst/>
              <a:uFillTx/>
              <a:latin typeface="Arial"/>
            </a:endParaRPr>
          </a:p>
          <a:p>
            <a:pPr>
              <a:lnSpc>
                <a:spcPct val="100000"/>
              </a:lnSpc>
            </a:pPr>
            <a:r>
              <a:rPr lang="en-US" sz="1400" b="1" u="none" strike="noStrike">
                <a:solidFill>
                  <a:srgbClr val="0000FF"/>
                </a:solidFill>
                <a:effectLst/>
                <a:uFillTx/>
                <a:latin typeface="Menlo"/>
                <a:ea typeface="Arial"/>
              </a:rPr>
              <a:t>   </a:t>
            </a:r>
            <a:r>
              <a:rPr lang="en-US" sz="1400" b="1" u="none" strike="noStrike">
                <a:solidFill>
                  <a:srgbClr val="795E26"/>
                </a:solidFill>
                <a:effectLst/>
                <a:uFillTx/>
                <a:latin typeface="Menlo"/>
                <a:ea typeface="Arial"/>
              </a:rPr>
              <a:t>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'Connected’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use_gyro</a:t>
            </a:r>
            <a:r>
              <a:rPr lang="en-US" sz="1400" b="1" u="none" strike="noStrike">
                <a:solidFill>
                  <a:srgbClr val="3B3B3B"/>
                </a:solidFill>
                <a:effectLst/>
                <a:uFillTx/>
                <a:latin typeface="Menlo"/>
                <a:ea typeface="Arial"/>
              </a:rPr>
              <a:t>(</a:t>
            </a:r>
            <a:r>
              <a:rPr lang="en-US" sz="1400" b="1" u="none" strike="noStrike">
                <a:solidFill>
                  <a:srgbClr val="0000FF"/>
                </a:solidFill>
                <a:effectLst/>
                <a:uFillTx/>
                <a:latin typeface="Menlo"/>
                <a:ea typeface="Arial"/>
              </a:rPr>
              <a:t>False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reset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settings</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straight_speed</a:t>
            </a:r>
            <a:r>
              <a:rPr lang="en-US" sz="1400" b="1" u="none" strike="noStrike">
                <a:solidFill>
                  <a:srgbClr val="000000"/>
                </a:solidFill>
                <a:effectLst/>
                <a:uFillTx/>
                <a:latin typeface="Menlo"/>
                <a:ea typeface="Arial"/>
              </a:rPr>
              <a:t>=</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settings</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straight_acceleration</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750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while</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not</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.X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UP</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'forward’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straight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then</a:t>
            </a:r>
            <a:r>
              <a:rPr lang="en-US" sz="1400" b="1" u="none" strike="noStrike">
                <a:solidFill>
                  <a:srgbClr val="000000"/>
                </a:solidFill>
                <a:effectLst/>
                <a:uFillTx/>
                <a:latin typeface="Menlo"/>
                <a:ea typeface="Arial"/>
              </a:rPr>
              <a:t>=</a:t>
            </a:r>
            <a:r>
              <a:rPr lang="en-US" sz="1400" b="1" u="none" strike="noStrike">
                <a:solidFill>
                  <a:srgbClr val="267F99"/>
                </a:solidFill>
                <a:effectLst/>
                <a:uFillTx/>
                <a:latin typeface="Menlo"/>
                <a:ea typeface="Arial"/>
              </a:rPr>
              <a:t>Stop</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NONE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DOWN</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'backward’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straight</a:t>
            </a:r>
            <a:r>
              <a:rPr lang="en-US" sz="1400" b="1" u="none" strike="noStrike">
                <a:solidFill>
                  <a:srgbClr val="3B3B3B"/>
                </a:solidFill>
                <a:effectLst/>
                <a:uFillTx/>
                <a:latin typeface="Menlo"/>
                <a:ea typeface="Arial"/>
              </a:rPr>
              <a:t>(</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10</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then</a:t>
            </a:r>
            <a:r>
              <a:rPr lang="en-US" sz="1400" b="1" u="none" strike="noStrike">
                <a:solidFill>
                  <a:srgbClr val="000000"/>
                </a:solidFill>
                <a:effectLst/>
                <a:uFillTx/>
                <a:latin typeface="Menlo"/>
                <a:ea typeface="Arial"/>
              </a:rPr>
              <a:t>=</a:t>
            </a:r>
            <a:r>
              <a:rPr lang="en-US" sz="1400" b="1" u="none" strike="noStrike">
                <a:solidFill>
                  <a:srgbClr val="267F99"/>
                </a:solidFill>
                <a:effectLst/>
                <a:uFillTx/>
                <a:latin typeface="Menlo"/>
                <a:ea typeface="Arial"/>
              </a:rPr>
              <a:t>Stop</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NONE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LEFT</a:t>
            </a:r>
            <a:r>
              <a:rPr lang="en-US" sz="1400" b="1" u="none" strike="noStrike">
                <a:solidFill>
                  <a:srgbClr val="3B3B3B"/>
                </a:solidFill>
                <a:effectLst/>
                <a:uFillTx/>
                <a:latin typeface="Menlo"/>
                <a:ea typeface="Arial"/>
              </a:rPr>
              <a:t>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'left'</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angle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turn</a:t>
            </a:r>
            <a:r>
              <a:rPr lang="en-US" sz="1400" b="1" u="none" strike="noStrike">
                <a:solidFill>
                  <a:srgbClr val="3B3B3B"/>
                </a:solidFill>
                <a:effectLst/>
                <a:uFillTx/>
                <a:latin typeface="Menlo"/>
                <a:ea typeface="Arial"/>
              </a:rPr>
              <a:t>(</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1</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then</a:t>
            </a:r>
            <a:r>
              <a:rPr lang="en-US" sz="1400" b="1" u="none" strike="noStrike">
                <a:solidFill>
                  <a:srgbClr val="000000"/>
                </a:solidFill>
                <a:effectLst/>
                <a:uFillTx/>
                <a:latin typeface="Menlo"/>
                <a:ea typeface="Arial"/>
              </a:rPr>
              <a:t>=</a:t>
            </a:r>
            <a:r>
              <a:rPr lang="en-US" sz="1400" b="1" u="none" strike="noStrike">
                <a:solidFill>
                  <a:srgbClr val="267F99"/>
                </a:solidFill>
                <a:effectLst/>
                <a:uFillTx/>
                <a:latin typeface="Menlo"/>
                <a:ea typeface="Arial"/>
              </a:rPr>
              <a:t>Stop</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NONE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Example (3/5)</a:t>
            </a:r>
            <a:endParaRPr lang="en-US" sz="2500" b="0" u="none" strike="noStrike">
              <a:solidFill>
                <a:srgbClr val="000000"/>
              </a:solidFill>
              <a:effectLst/>
              <a:uFillTx/>
              <a:latin typeface="Arial"/>
            </a:endParaRPr>
          </a:p>
        </p:txBody>
      </p:sp>
      <p:sp>
        <p:nvSpPr>
          <p:cNvPr id="577" name="PlaceHolder 2"/>
          <p:cNvSpPr>
            <a:spLocks noGrp="1"/>
          </p:cNvSpPr>
          <p:nvPr>
            <p:ph type="sldNum" idx="125"/>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455B7E9-966B-4C73-81D5-DCB770A03306}" type="slidenum">
              <a:rPr lang="en" sz="1000" b="0" u="none" strike="noStrike">
                <a:solidFill>
                  <a:schemeClr val="dk2"/>
                </a:solidFill>
                <a:effectLst/>
                <a:uFillTx/>
                <a:latin typeface="Arial"/>
                <a:ea typeface="Arial"/>
              </a:rPr>
              <a:t>112</a:t>
            </a:fld>
            <a:endParaRPr lang="en-US" sz="1000" b="0" u="none" strike="noStrike">
              <a:solidFill>
                <a:srgbClr val="000000"/>
              </a:solidFill>
              <a:effectLst/>
              <a:uFillTx/>
              <a:latin typeface="Times New Roman"/>
            </a:endParaRPr>
          </a:p>
        </p:txBody>
      </p:sp>
      <p:sp>
        <p:nvSpPr>
          <p:cNvPr id="578" name="TextBox 5"/>
          <p:cNvSpPr/>
          <p:nvPr/>
        </p:nvSpPr>
        <p:spPr>
          <a:xfrm>
            <a:off x="227520" y="1123200"/>
            <a:ext cx="8668800" cy="30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1" u="none" strike="noStrike">
                <a:solidFill>
                  <a:srgbClr val="AF00DB"/>
                </a:solidFill>
                <a:effectLst/>
                <a:uFillTx/>
                <a:latin typeface="Menlo"/>
                <a:ea typeface="Arial"/>
              </a:rPr>
              <a:t>   elif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Button</a:t>
            </a:r>
            <a:r>
              <a:rPr lang="en-US" sz="1200" b="1" u="none" strike="noStrike">
                <a:solidFill>
                  <a:srgbClr val="3B3B3B"/>
                </a:solidFill>
                <a:effectLst/>
                <a:uFillTx/>
                <a:latin typeface="Menlo"/>
                <a:ea typeface="Arial"/>
              </a:rPr>
              <a:t>.</a:t>
            </a:r>
            <a:r>
              <a:rPr lang="en-US" sz="1200" b="1" u="none" strike="noStrike">
                <a:solidFill>
                  <a:srgbClr val="0070C1"/>
                </a:solidFill>
                <a:effectLst/>
                <a:uFillTx/>
                <a:latin typeface="Menlo"/>
                <a:ea typeface="Arial"/>
              </a:rPr>
              <a:t>RIGHT</a:t>
            </a:r>
            <a:r>
              <a:rPr lang="en-US" sz="1200" b="1" u="none" strike="noStrike">
                <a:solidFill>
                  <a:srgbClr val="3B3B3B"/>
                </a:solidFill>
                <a:effectLst/>
                <a:uFillTx/>
                <a:latin typeface="Menlo"/>
                <a:ea typeface="Arial"/>
              </a:rPr>
              <a:t> </a:t>
            </a:r>
            <a:r>
              <a:rPr lang="en-US" sz="1200" b="1" u="none" strike="noStrike">
                <a:solidFill>
                  <a:srgbClr val="0000FF"/>
                </a:solidFill>
                <a:effectLst/>
                <a:uFillTx/>
                <a:latin typeface="Menlo"/>
                <a:ea typeface="Arial"/>
              </a:rPr>
              <a:t>in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controller</a:t>
            </a:r>
            <a:r>
              <a:rPr lang="en-US" sz="1200" b="1" u="none" strike="noStrike">
                <a:solidFill>
                  <a:srgbClr val="3B3B3B"/>
                </a:solidFill>
                <a:effectLst/>
                <a:uFillTx/>
                <a:latin typeface="Menlo"/>
                <a:ea typeface="Arial"/>
              </a:rPr>
              <a:t>.buttons.pressed():</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'right'</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drive_base</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angle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001080"/>
                </a:solidFill>
                <a:effectLst/>
                <a:uFillTx/>
                <a:latin typeface="Menlo"/>
                <a:ea typeface="Arial"/>
              </a:rPr>
              <a:t>      drive_base</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turn</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then</a:t>
            </a:r>
            <a:r>
              <a:rPr lang="en-US" sz="1200" b="1" u="none" strike="noStrike">
                <a:solidFill>
                  <a:srgbClr val="000000"/>
                </a:solidFill>
                <a:effectLst/>
                <a:uFillTx/>
                <a:latin typeface="Menlo"/>
                <a:ea typeface="Arial"/>
              </a:rPr>
              <a:t>=</a:t>
            </a:r>
            <a:r>
              <a:rPr lang="en-US" sz="1200" b="1" u="none" strike="noStrike">
                <a:solidFill>
                  <a:srgbClr val="267F99"/>
                </a:solidFill>
                <a:effectLst/>
                <a:uFillTx/>
                <a:latin typeface="Menlo"/>
                <a:ea typeface="Arial"/>
              </a:rPr>
              <a:t>Stop</a:t>
            </a:r>
            <a:r>
              <a:rPr lang="en-US" sz="1200" b="1" u="none" strike="noStrike">
                <a:solidFill>
                  <a:srgbClr val="3B3B3B"/>
                </a:solidFill>
                <a:effectLst/>
                <a:uFillTx/>
                <a:latin typeface="Menlo"/>
                <a:ea typeface="Arial"/>
              </a:rPr>
              <a:t>.</a:t>
            </a:r>
            <a:r>
              <a:rPr lang="en-US" sz="1200" b="1" u="none" strike="noStrike">
                <a:solidFill>
                  <a:srgbClr val="0070C1"/>
                </a:solidFill>
                <a:effectLst/>
                <a:uFillTx/>
                <a:latin typeface="Menlo"/>
                <a:ea typeface="Arial"/>
              </a:rPr>
              <a:t>NONE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wait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AF00DB"/>
                </a:solidFill>
                <a:effectLst/>
                <a:uFillTx/>
                <a:latin typeface="Menlo"/>
                <a:ea typeface="Arial"/>
              </a:rPr>
              <a:t>   elif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Button</a:t>
            </a:r>
            <a:r>
              <a:rPr lang="en-US" sz="1200" b="1" u="none" strike="noStrike">
                <a:solidFill>
                  <a:srgbClr val="3B3B3B"/>
                </a:solidFill>
                <a:effectLst/>
                <a:uFillTx/>
                <a:latin typeface="Menlo"/>
                <a:ea typeface="Arial"/>
              </a:rPr>
              <a:t>.A </a:t>
            </a:r>
            <a:r>
              <a:rPr lang="en-US" sz="1200" b="1" u="none" strike="noStrike">
                <a:solidFill>
                  <a:srgbClr val="0000FF"/>
                </a:solidFill>
                <a:effectLst/>
                <a:uFillTx/>
                <a:latin typeface="Menlo"/>
                <a:ea typeface="Arial"/>
              </a:rPr>
              <a:t>in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controller</a:t>
            </a:r>
            <a:r>
              <a:rPr lang="en-US" sz="1200" b="1" u="none" strike="noStrike">
                <a:solidFill>
                  <a:srgbClr val="3B3B3B"/>
                </a:solidFill>
                <a:effectLst/>
                <a:uFillTx/>
                <a:latin typeface="Menlo"/>
                <a:ea typeface="Arial"/>
              </a:rPr>
              <a:t>.buttons.pressed():</a:t>
            </a:r>
            <a:endParaRPr lang="en-US" sz="1200" b="0" u="none" strike="noStrike">
              <a:solidFill>
                <a:srgbClr val="000000"/>
              </a:solidFill>
              <a:effectLst/>
              <a:uFillTx/>
              <a:latin typeface="Arial"/>
            </a:endParaRPr>
          </a:p>
          <a:p>
            <a:pPr>
              <a:lnSpc>
                <a:spcPct val="100000"/>
              </a:lnSpc>
            </a:pPr>
            <a:r>
              <a:rPr lang="en-US" sz="1200" b="1" u="none" strike="noStrike">
                <a:solidFill>
                  <a:srgbClr val="001080"/>
                </a:solidFill>
                <a:effectLst/>
                <a:uFillTx/>
                <a:latin typeface="Menlo"/>
                <a:ea typeface="Arial"/>
              </a:rPr>
              <a:t>      drive_base</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stop</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wait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AF00DB"/>
                </a:solidFill>
                <a:effectLst/>
                <a:uFillTx/>
                <a:latin typeface="Menlo"/>
                <a:ea typeface="Arial"/>
              </a:rPr>
              <a:t>   elif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Button</a:t>
            </a:r>
            <a:r>
              <a:rPr lang="en-US" sz="1200" b="1" u="none" strike="noStrike">
                <a:solidFill>
                  <a:srgbClr val="3B3B3B"/>
                </a:solidFill>
                <a:effectLst/>
                <a:uFillTx/>
                <a:latin typeface="Menlo"/>
                <a:ea typeface="Arial"/>
              </a:rPr>
              <a:t>.B </a:t>
            </a:r>
            <a:r>
              <a:rPr lang="en-US" sz="1200" b="1" u="none" strike="noStrike">
                <a:solidFill>
                  <a:srgbClr val="0000FF"/>
                </a:solidFill>
                <a:effectLst/>
                <a:uFillTx/>
                <a:latin typeface="Menlo"/>
                <a:ea typeface="Arial"/>
              </a:rPr>
              <a:t>in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controller</a:t>
            </a:r>
            <a:r>
              <a:rPr lang="en-US" sz="1200" b="1" u="none" strike="noStrike">
                <a:solidFill>
                  <a:srgbClr val="3B3B3B"/>
                </a:solidFill>
                <a:effectLst/>
                <a:uFillTx/>
                <a:latin typeface="Menlo"/>
                <a:ea typeface="Arial"/>
              </a:rPr>
              <a:t>.buttons.pressed():</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'B_dist='</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drive_base</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distance</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wait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AF00DB"/>
                </a:solidFill>
                <a:effectLst/>
                <a:uFillTx/>
                <a:latin typeface="Menlo"/>
                <a:ea typeface="Arial"/>
              </a:rPr>
              <a:t>   elif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Button</a:t>
            </a:r>
            <a:r>
              <a:rPr lang="en-US" sz="1200" b="1" u="none" strike="noStrike">
                <a:solidFill>
                  <a:srgbClr val="3B3B3B"/>
                </a:solidFill>
                <a:effectLst/>
                <a:uFillTx/>
                <a:latin typeface="Menlo"/>
                <a:ea typeface="Arial"/>
              </a:rPr>
              <a:t>.Y </a:t>
            </a:r>
            <a:r>
              <a:rPr lang="en-US" sz="1200" b="1" u="none" strike="noStrike">
                <a:solidFill>
                  <a:srgbClr val="0000FF"/>
                </a:solidFill>
                <a:effectLst/>
                <a:uFillTx/>
                <a:latin typeface="Menlo"/>
                <a:ea typeface="Arial"/>
              </a:rPr>
              <a:t>in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controller</a:t>
            </a:r>
            <a:r>
              <a:rPr lang="en-US" sz="1200" b="1" u="none" strike="noStrike">
                <a:solidFill>
                  <a:srgbClr val="3B3B3B"/>
                </a:solidFill>
                <a:effectLst/>
                <a:uFillTx/>
                <a:latin typeface="Menlo"/>
                <a:ea typeface="Arial"/>
              </a:rPr>
              <a:t>.buttons.pressed():</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print</a:t>
            </a:r>
            <a:r>
              <a:rPr lang="en-US" sz="1200" b="1" u="none" strike="noStrike">
                <a:solidFill>
                  <a:srgbClr val="3B3B3B"/>
                </a:solidFill>
                <a:effectLst/>
                <a:uFillTx/>
                <a:latin typeface="Menlo"/>
                <a:ea typeface="Arial"/>
              </a:rPr>
              <a:t>(</a:t>
            </a:r>
            <a:r>
              <a:rPr lang="en-US" sz="1200" b="1" u="none" strike="noStrike">
                <a:solidFill>
                  <a:srgbClr val="A31515"/>
                </a:solidFill>
                <a:effectLst/>
                <a:uFillTx/>
                <a:latin typeface="Menlo"/>
                <a:ea typeface="Arial"/>
              </a:rPr>
              <a:t>'Y_angle='</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drive_base</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angle</a:t>
            </a:r>
            <a:r>
              <a:rPr lang="en-US" sz="1200" b="1" u="none" strike="noStrike">
                <a:solidFill>
                  <a:srgbClr val="3B3B3B"/>
                </a:solidFill>
                <a:effectLst/>
                <a:uFillTx/>
                <a:latin typeface="Menlo"/>
                <a:ea typeface="Arial"/>
              </a:rPr>
              <a:t>(), </a:t>
            </a:r>
            <a:r>
              <a:rPr lang="en-US" sz="1200" b="1" u="none" strike="noStrike">
                <a:solidFill>
                  <a:srgbClr val="A31515"/>
                </a:solidFill>
                <a:effectLst/>
                <a:uFillTx/>
                <a:latin typeface="Menlo"/>
                <a:ea typeface="Arial"/>
              </a:rPr>
              <a:t>‘ hub_heading=‘</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prime_hub</a:t>
            </a:r>
            <a:r>
              <a:rPr lang="en-US" sz="1200" b="1" u="none" strike="noStrike">
                <a:solidFill>
                  <a:srgbClr val="3B3B3B"/>
                </a:solidFill>
                <a:effectLst/>
                <a:uFillTx/>
                <a:latin typeface="Menlo"/>
                <a:ea typeface="Arial"/>
              </a:rPr>
              <a:t>.</a:t>
            </a:r>
            <a:r>
              <a:rPr lang="en-US" sz="1200" b="1" u="none" strike="noStrike">
                <a:solidFill>
                  <a:srgbClr val="001080"/>
                </a:solidFill>
                <a:effectLst/>
                <a:uFillTx/>
                <a:latin typeface="Menlo"/>
                <a:ea typeface="Arial"/>
              </a:rPr>
              <a:t>imu</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heading</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wait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AF00DB"/>
                </a:solidFill>
                <a:effectLst/>
                <a:uFillTx/>
                <a:latin typeface="Menlo"/>
                <a:ea typeface="Arial"/>
              </a:rPr>
              <a:t>   elif</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Button</a:t>
            </a:r>
            <a:r>
              <a:rPr lang="en-US" sz="1200" b="1" u="none" strike="noStrike">
                <a:solidFill>
                  <a:srgbClr val="3B3B3B"/>
                </a:solidFill>
                <a:effectLst/>
                <a:uFillTx/>
                <a:latin typeface="Menlo"/>
                <a:ea typeface="Arial"/>
              </a:rPr>
              <a:t>.RB </a:t>
            </a:r>
            <a:r>
              <a:rPr lang="en-US" sz="1200" b="1" u="none" strike="noStrike">
                <a:solidFill>
                  <a:srgbClr val="0000FF"/>
                </a:solidFill>
                <a:effectLst/>
                <a:uFillTx/>
                <a:latin typeface="Menlo"/>
                <a:ea typeface="Arial"/>
              </a:rPr>
              <a:t>in</a:t>
            </a:r>
            <a:r>
              <a:rPr lang="en-US" sz="1200" b="1" u="none" strike="noStrike">
                <a:solidFill>
                  <a:srgbClr val="3B3B3B"/>
                </a:solidFill>
                <a:effectLst/>
                <a:uFillTx/>
                <a:latin typeface="Menlo"/>
                <a:ea typeface="Arial"/>
              </a:rPr>
              <a:t> </a:t>
            </a:r>
            <a:r>
              <a:rPr lang="en-US" sz="1200" b="1" u="none" strike="noStrike">
                <a:solidFill>
                  <a:srgbClr val="001080"/>
                </a:solidFill>
                <a:effectLst/>
                <a:uFillTx/>
                <a:latin typeface="Menlo"/>
                <a:ea typeface="Arial"/>
              </a:rPr>
              <a:t>controller</a:t>
            </a:r>
            <a:r>
              <a:rPr lang="en-US" sz="1200" b="1" u="none" strike="noStrike">
                <a:solidFill>
                  <a:srgbClr val="3B3B3B"/>
                </a:solidFill>
                <a:effectLst/>
                <a:uFillTx/>
                <a:latin typeface="Menlo"/>
                <a:ea typeface="Arial"/>
              </a:rPr>
              <a:t>.buttons.pressed():</a:t>
            </a:r>
            <a:endParaRPr lang="en-US" sz="1200" b="0" u="none" strike="noStrike">
              <a:solidFill>
                <a:srgbClr val="000000"/>
              </a:solidFill>
              <a:effectLst/>
              <a:uFillTx/>
              <a:latin typeface="Arial"/>
            </a:endParaRPr>
          </a:p>
          <a:p>
            <a:pPr>
              <a:lnSpc>
                <a:spcPct val="100000"/>
              </a:lnSpc>
            </a:pPr>
            <a:r>
              <a:rPr lang="en-US" sz="1200" b="1" u="none" strike="noStrike">
                <a:solidFill>
                  <a:srgbClr val="001080"/>
                </a:solidFill>
                <a:effectLst/>
                <a:uFillTx/>
                <a:latin typeface="Menlo"/>
                <a:ea typeface="Arial"/>
              </a:rPr>
              <a:t>      attachment_motor</a:t>
            </a:r>
            <a:r>
              <a:rPr lang="en-US" sz="1200" b="1" u="none" strike="noStrike">
                <a:solidFill>
                  <a:srgbClr val="3B3B3B"/>
                </a:solidFill>
                <a:effectLst/>
                <a:uFillTx/>
                <a:latin typeface="Menlo"/>
                <a:ea typeface="Arial"/>
              </a:rPr>
              <a:t>.</a:t>
            </a:r>
            <a:r>
              <a:rPr lang="en-US" sz="1200" b="1" u="none" strike="noStrike">
                <a:solidFill>
                  <a:srgbClr val="795E26"/>
                </a:solidFill>
                <a:effectLst/>
                <a:uFillTx/>
                <a:latin typeface="Menlo"/>
                <a:ea typeface="Arial"/>
              </a:rPr>
              <a:t>run_angle</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900</a:t>
            </a:r>
            <a:r>
              <a:rPr lang="en-US" sz="1200" b="1" u="none" strike="noStrike">
                <a:solidFill>
                  <a:srgbClr val="3B3B3B"/>
                </a:solidFill>
                <a:effectLst/>
                <a:uFillTx/>
                <a:latin typeface="Menlo"/>
                <a:ea typeface="Arial"/>
              </a:rPr>
              <a:t>, </a:t>
            </a:r>
            <a:r>
              <a:rPr lang="en-US" sz="1200" b="1" u="none" strike="noStrike">
                <a:solidFill>
                  <a:srgbClr val="000000"/>
                </a:solidFill>
                <a:effectLst/>
                <a:uFillTx/>
                <a:latin typeface="Menlo"/>
                <a:ea typeface="Arial"/>
              </a:rPr>
              <a:t>-</a:t>
            </a:r>
            <a:r>
              <a:rPr lang="en-US" sz="1200" b="1" u="none" strike="noStrike">
                <a:solidFill>
                  <a:srgbClr val="098658"/>
                </a:solidFill>
                <a:effectLst/>
                <a:uFillTx/>
                <a:latin typeface="Menlo"/>
                <a:ea typeface="Arial"/>
              </a:rPr>
              <a:t>190</a:t>
            </a:r>
            <a:r>
              <a:rPr lang="en-US" sz="1200" b="1" u="none" strike="noStrike">
                <a:solidFill>
                  <a:srgbClr val="3B3B3B"/>
                </a:solidFill>
                <a:effectLst/>
                <a:uFillTx/>
                <a:latin typeface="Menlo"/>
                <a:ea typeface="Arial"/>
              </a:rPr>
              <a:t>, </a:t>
            </a:r>
            <a:r>
              <a:rPr lang="en-US" sz="1200" b="1" u="none" strike="noStrike">
                <a:solidFill>
                  <a:srgbClr val="267F99"/>
                </a:solidFill>
                <a:effectLst/>
                <a:uFillTx/>
                <a:latin typeface="Menlo"/>
                <a:ea typeface="Arial"/>
              </a:rPr>
              <a:t>Stop</a:t>
            </a:r>
            <a:r>
              <a:rPr lang="en-US" sz="1200" b="1" u="none" strike="noStrike">
                <a:solidFill>
                  <a:srgbClr val="3B3B3B"/>
                </a:solidFill>
                <a:effectLst/>
                <a:uFillTx/>
                <a:latin typeface="Menlo"/>
                <a:ea typeface="Arial"/>
              </a:rPr>
              <a:t>.</a:t>
            </a:r>
            <a:r>
              <a:rPr lang="en-US" sz="1200" b="1" u="none" strike="noStrike">
                <a:solidFill>
                  <a:srgbClr val="0070C1"/>
                </a:solidFill>
                <a:effectLst/>
                <a:uFillTx/>
                <a:latin typeface="Menlo"/>
                <a:ea typeface="Arial"/>
              </a:rPr>
              <a:t>COAST</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a:p>
            <a:pPr>
              <a:lnSpc>
                <a:spcPct val="100000"/>
              </a:lnSpc>
            </a:pPr>
            <a:r>
              <a:rPr lang="en-US" sz="1200" b="1" u="none" strike="noStrike">
                <a:solidFill>
                  <a:srgbClr val="795E26"/>
                </a:solidFill>
                <a:effectLst/>
                <a:uFillTx/>
                <a:latin typeface="Menlo"/>
                <a:ea typeface="Arial"/>
              </a:rPr>
              <a:t>      wait</a:t>
            </a:r>
            <a:r>
              <a:rPr lang="en-US" sz="1200" b="1" u="none" strike="noStrike">
                <a:solidFill>
                  <a:srgbClr val="3B3B3B"/>
                </a:solidFill>
                <a:effectLst/>
                <a:uFillTx/>
                <a:latin typeface="Menlo"/>
                <a:ea typeface="Arial"/>
              </a:rPr>
              <a:t>(</a:t>
            </a:r>
            <a:r>
              <a:rPr lang="en-US" sz="1200" b="1" u="none" strike="noStrike">
                <a:solidFill>
                  <a:srgbClr val="098658"/>
                </a:solidFill>
                <a:effectLst/>
                <a:uFillTx/>
                <a:latin typeface="Menlo"/>
                <a:ea typeface="Arial"/>
              </a:rPr>
              <a:t>100</a:t>
            </a:r>
            <a:r>
              <a:rPr lang="en-US" sz="1200" b="1" u="none" strike="noStrike">
                <a:solidFill>
                  <a:srgbClr val="3B3B3B"/>
                </a:solidFill>
                <a:effectLst/>
                <a:uFillTx/>
                <a:latin typeface="Menlo"/>
                <a:ea typeface="Arial"/>
              </a:rPr>
              <a:t>)</a:t>
            </a:r>
            <a:endParaRPr lang="en-US" sz="1200" b="0" u="none" strike="noStrike">
              <a:solidFill>
                <a:srgbClr val="000000"/>
              </a:solidFill>
              <a:effectLst/>
              <a:uFillTx/>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Example (4/5)</a:t>
            </a:r>
            <a:endParaRPr lang="en-US" sz="2500" b="0" u="none" strike="noStrike">
              <a:solidFill>
                <a:srgbClr val="000000"/>
              </a:solidFill>
              <a:effectLst/>
              <a:uFillTx/>
              <a:latin typeface="Arial"/>
            </a:endParaRPr>
          </a:p>
        </p:txBody>
      </p:sp>
      <p:sp>
        <p:nvSpPr>
          <p:cNvPr id="580" name="PlaceHolder 2"/>
          <p:cNvSpPr>
            <a:spLocks noGrp="1"/>
          </p:cNvSpPr>
          <p:nvPr>
            <p:ph type="sldNum" idx="126"/>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8A942E3D-7F9E-4C43-9A33-5A167EE4329E}" type="slidenum">
              <a:rPr lang="en" sz="1000" b="0" u="none" strike="noStrike">
                <a:solidFill>
                  <a:schemeClr val="dk2"/>
                </a:solidFill>
                <a:effectLst/>
                <a:uFillTx/>
                <a:latin typeface="Arial"/>
                <a:ea typeface="Arial"/>
              </a:rPr>
              <a:t>113</a:t>
            </a:fld>
            <a:endParaRPr lang="en-US" sz="1000" b="0" u="none" strike="noStrike">
              <a:solidFill>
                <a:srgbClr val="000000"/>
              </a:solidFill>
              <a:effectLst/>
              <a:uFillTx/>
              <a:latin typeface="Times New Roman"/>
            </a:endParaRPr>
          </a:p>
        </p:txBody>
      </p:sp>
      <p:sp>
        <p:nvSpPr>
          <p:cNvPr id="581" name="TextBox 5"/>
          <p:cNvSpPr/>
          <p:nvPr/>
        </p:nvSpPr>
        <p:spPr>
          <a:xfrm>
            <a:off x="344880" y="991800"/>
            <a:ext cx="7636320" cy="353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.LB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attachment_motor</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run_angle</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900</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190</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Stop</a:t>
            </a:r>
            <a:r>
              <a:rPr lang="en-US" sz="1400" b="1" u="none" strike="noStrike">
                <a:solidFill>
                  <a:srgbClr val="3B3B3B"/>
                </a:solidFill>
                <a:effectLst/>
                <a:uFillTx/>
                <a:latin typeface="Menlo"/>
                <a:ea typeface="Arial"/>
              </a:rPr>
              <a:t>.</a:t>
            </a:r>
            <a:r>
              <a:rPr lang="en-US" sz="1400" b="1" u="none" strike="noStrike">
                <a:solidFill>
                  <a:srgbClr val="0070C1"/>
                </a:solidFill>
                <a:effectLst/>
                <a:uFillTx/>
                <a:latin typeface="Menlo"/>
                <a:ea typeface="Arial"/>
              </a:rPr>
              <a:t>COAST</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.MENU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'Dist/Angle Reset’</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reset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prime_hub</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imu</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reset_heading</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settings</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straight_speed</a:t>
            </a:r>
            <a:r>
              <a:rPr lang="en-US" sz="1400" b="1" u="none" strike="noStrike">
                <a:solidFill>
                  <a:srgbClr val="000000"/>
                </a:solidFill>
                <a:effectLst/>
                <a:uFillTx/>
                <a:latin typeface="Menlo"/>
                <a:ea typeface="Arial"/>
              </a:rPr>
              <a:t>=</a:t>
            </a:r>
            <a:r>
              <a:rPr lang="en-US" sz="1400" b="1" u="none" strike="noStrike">
                <a:solidFill>
                  <a:srgbClr val="098658"/>
                </a:solidFill>
                <a:effectLst/>
                <a:uFillTx/>
                <a:latin typeface="Menlo"/>
                <a:ea typeface="Arial"/>
              </a:rPr>
              <a:t>10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10</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.VIEW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10</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'Up Speed='</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if</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&gt;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960</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950</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settings</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straight_speed</a:t>
            </a:r>
            <a:r>
              <a:rPr lang="en-US" sz="1400" b="1" u="none" strike="noStrike">
                <a:solidFill>
                  <a:srgbClr val="000000"/>
                </a:solidFill>
                <a:effectLst/>
                <a:uFillTx/>
                <a:latin typeface="Menlo"/>
                <a:ea typeface="Arial"/>
              </a:rPr>
              <a:t>=</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PlaceHolder 1"/>
          <p:cNvSpPr>
            <a:spLocks noGrp="1"/>
          </p:cNvSpPr>
          <p:nvPr>
            <p:ph type="title"/>
          </p:nvPr>
        </p:nvSpPr>
        <p:spPr>
          <a:xfrm>
            <a:off x="146520" y="110520"/>
            <a:ext cx="8520120" cy="572400"/>
          </a:xfrm>
          <a:prstGeom prst="rect">
            <a:avLst/>
          </a:prstGeom>
          <a:noFill/>
          <a:ln w="0">
            <a:noFill/>
          </a:ln>
        </p:spPr>
        <p:txBody>
          <a:bodyPr lIns="91440" tIns="91440" rIns="91440" bIns="91440" anchor="t">
            <a:noAutofit/>
          </a:bodyPr>
          <a:lstStyle/>
          <a:p>
            <a:pPr indent="0" algn="l">
              <a:lnSpc>
                <a:spcPct val="100000"/>
              </a:lnSpc>
              <a:buNone/>
            </a:pPr>
            <a:r>
              <a:rPr lang="en-US" sz="2500" b="0" u="none" strike="noStrike">
                <a:solidFill>
                  <a:schemeClr val="lt1"/>
                </a:solidFill>
                <a:effectLst/>
                <a:uFillTx/>
                <a:latin typeface="Arial"/>
                <a:ea typeface="Arial"/>
              </a:rPr>
              <a:t>Xbox Example (5/5)</a:t>
            </a:r>
            <a:endParaRPr lang="en-US" sz="2500" b="0" u="none" strike="noStrike">
              <a:solidFill>
                <a:srgbClr val="000000"/>
              </a:solidFill>
              <a:effectLst/>
              <a:uFillTx/>
              <a:latin typeface="Arial"/>
            </a:endParaRPr>
          </a:p>
        </p:txBody>
      </p:sp>
      <p:sp>
        <p:nvSpPr>
          <p:cNvPr id="583" name="PlaceHolder 2"/>
          <p:cNvSpPr>
            <a:spLocks noGrp="1"/>
          </p:cNvSpPr>
          <p:nvPr>
            <p:ph type="sldNum" idx="127"/>
          </p:nvPr>
        </p:nvSpPr>
        <p:spPr>
          <a:xfrm>
            <a:off x="8472600" y="4663080"/>
            <a:ext cx="548280" cy="39312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F22FA6D-CA41-46F7-9BA2-34EE192451B6}" type="slidenum">
              <a:rPr lang="en" sz="1000" b="0" u="none" strike="noStrike">
                <a:solidFill>
                  <a:schemeClr val="dk2"/>
                </a:solidFill>
                <a:effectLst/>
                <a:uFillTx/>
                <a:latin typeface="Arial"/>
                <a:ea typeface="Arial"/>
              </a:rPr>
              <a:t>114</a:t>
            </a:fld>
            <a:endParaRPr lang="en-US" sz="1000" b="0" u="none" strike="noStrike">
              <a:solidFill>
                <a:srgbClr val="000000"/>
              </a:solidFill>
              <a:effectLst/>
              <a:uFillTx/>
              <a:latin typeface="Times New Roman"/>
            </a:endParaRPr>
          </a:p>
        </p:txBody>
      </p:sp>
      <p:sp>
        <p:nvSpPr>
          <p:cNvPr id="584" name="TextBox 5"/>
          <p:cNvSpPr/>
          <p:nvPr/>
        </p:nvSpPr>
        <p:spPr>
          <a:xfrm>
            <a:off x="446040" y="1118880"/>
            <a:ext cx="6725880" cy="310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AF00DB"/>
                </a:solidFill>
                <a:effectLst/>
                <a:uFillTx/>
                <a:latin typeface="Menlo"/>
                <a:ea typeface="Arial"/>
              </a:rPr>
              <a:t>   elif</a:t>
            </a:r>
            <a:r>
              <a:rPr lang="en-US" sz="1400" b="1" u="none" strike="noStrike">
                <a:solidFill>
                  <a:srgbClr val="3B3B3B"/>
                </a:solidFill>
                <a:effectLst/>
                <a:uFillTx/>
                <a:latin typeface="Menlo"/>
                <a:ea typeface="Arial"/>
              </a:rPr>
              <a:t> </a:t>
            </a:r>
            <a:r>
              <a:rPr lang="en-US" sz="1400" b="1" u="none" strike="noStrike">
                <a:solidFill>
                  <a:srgbClr val="267F99"/>
                </a:solidFill>
                <a:effectLst/>
                <a:uFillTx/>
                <a:latin typeface="Menlo"/>
                <a:ea typeface="Arial"/>
              </a:rPr>
              <a:t>Button</a:t>
            </a:r>
            <a:r>
              <a:rPr lang="en-US" sz="1400" b="1" u="none" strike="noStrike">
                <a:solidFill>
                  <a:srgbClr val="3B3B3B"/>
                </a:solidFill>
                <a:effectLst/>
                <a:uFillTx/>
                <a:latin typeface="Menlo"/>
                <a:ea typeface="Arial"/>
              </a:rPr>
              <a:t>.UPLOAD </a:t>
            </a:r>
            <a:r>
              <a:rPr lang="en-US" sz="1400" b="1" u="none" strike="noStrike">
                <a:solidFill>
                  <a:srgbClr val="0000FF"/>
                </a:solidFill>
                <a:effectLst/>
                <a:uFillTx/>
                <a:latin typeface="Menlo"/>
                <a:ea typeface="Arial"/>
              </a:rPr>
              <a:t>in</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controller</a:t>
            </a:r>
            <a:r>
              <a:rPr lang="en-US" sz="1400" b="1" u="none" strike="noStrike">
                <a:solidFill>
                  <a:srgbClr val="3B3B3B"/>
                </a:solidFill>
                <a:effectLst/>
                <a:uFillTx/>
                <a:latin typeface="Menlo"/>
                <a:ea typeface="Arial"/>
              </a:rPr>
              <a:t>.buttons.pressed():</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10</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'Down Speed='</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if</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&lt;=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10</a:t>
            </a:r>
            <a:r>
              <a:rPr lang="en-US" sz="1400" b="1" u="none" strike="noStrike">
                <a:solidFill>
                  <a:srgbClr val="3B3B3B"/>
                </a:solidFill>
                <a:effectLst/>
                <a:uFillTx/>
                <a:latin typeface="Menlo"/>
                <a:ea typeface="Arial"/>
              </a:rPr>
              <a:t>: </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 </a:t>
            </a:r>
            <a:r>
              <a:rPr lang="en-US" sz="1400" b="1" u="none" strike="noStrike">
                <a:solidFill>
                  <a:srgbClr val="000000"/>
                </a:solidFill>
                <a:effectLst/>
                <a:uFillTx/>
                <a:latin typeface="Menlo"/>
                <a:ea typeface="Arial"/>
              </a:rPr>
              <a:t>=</a:t>
            </a:r>
            <a:r>
              <a:rPr lang="en-US" sz="1400" b="1" u="none" strike="noStrike">
                <a:solidFill>
                  <a:srgbClr val="3B3B3B"/>
                </a:solidFill>
                <a:effectLst/>
                <a:uFillTx/>
                <a:latin typeface="Menlo"/>
                <a:ea typeface="Arial"/>
              </a:rPr>
              <a:t> </a:t>
            </a:r>
            <a:r>
              <a:rPr lang="en-US" sz="1400" b="1" u="none" strike="noStrike">
                <a:solidFill>
                  <a:srgbClr val="098658"/>
                </a:solidFill>
                <a:effectLst/>
                <a:uFillTx/>
                <a:latin typeface="Menlo"/>
                <a:ea typeface="Arial"/>
              </a:rPr>
              <a:t>10</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settings</a:t>
            </a:r>
            <a:r>
              <a:rPr lang="en-US" sz="1400" b="1" u="none" strike="noStrike">
                <a:solidFill>
                  <a:srgbClr val="3B3B3B"/>
                </a:solidFill>
                <a:effectLst/>
                <a:uFillTx/>
                <a:latin typeface="Menlo"/>
                <a:ea typeface="Arial"/>
              </a:rPr>
              <a:t>(</a:t>
            </a:r>
            <a:r>
              <a:rPr lang="en-US" sz="1400" b="1" u="none" strike="noStrike">
                <a:solidFill>
                  <a:srgbClr val="001080"/>
                </a:solidFill>
                <a:effectLst/>
                <a:uFillTx/>
                <a:latin typeface="Menlo"/>
                <a:ea typeface="Arial"/>
              </a:rPr>
              <a:t>straight_speed</a:t>
            </a:r>
            <a:r>
              <a:rPr lang="en-US" sz="1400" b="1" u="none" strike="noStrike">
                <a:solidFill>
                  <a:srgbClr val="000000"/>
                </a:solidFill>
                <a:effectLst/>
                <a:uFillTx/>
                <a:latin typeface="Menlo"/>
                <a:ea typeface="Arial"/>
              </a:rPr>
              <a:t>=</a:t>
            </a:r>
            <a:r>
              <a:rPr lang="en-US" sz="1400" b="1" u="none" strike="noStrike">
                <a:solidFill>
                  <a:srgbClr val="001080"/>
                </a:solidFill>
                <a:effectLst/>
                <a:uFillTx/>
                <a:latin typeface="Menlo"/>
                <a:ea typeface="Arial"/>
              </a:rPr>
              <a:t>mySpeed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AF00DB"/>
                </a:solidFill>
                <a:effectLst/>
                <a:uFillTx/>
                <a:latin typeface="Menlo"/>
                <a:ea typeface="Arial"/>
              </a:rPr>
              <a:t>   else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wait</a:t>
            </a:r>
            <a:r>
              <a:rPr lang="en-US" sz="1400" b="1" u="none" strike="noStrike">
                <a:solidFill>
                  <a:srgbClr val="3B3B3B"/>
                </a:solidFill>
                <a:effectLst/>
                <a:uFillTx/>
                <a:latin typeface="Menlo"/>
                <a:ea typeface="Arial"/>
              </a:rPr>
              <a:t>(</a:t>
            </a:r>
            <a:r>
              <a:rPr lang="en-US" sz="1400" b="1" u="none" strike="noStrike">
                <a:solidFill>
                  <a:srgbClr val="098658"/>
                </a:solidFill>
                <a:effectLst/>
                <a:uFillTx/>
                <a:latin typeface="Menlo"/>
                <a:ea typeface="Arial"/>
              </a:rPr>
              <a:t>100</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795E26"/>
                </a:solidFill>
                <a:effectLst/>
                <a:uFillTx/>
                <a:latin typeface="Menlo"/>
                <a:ea typeface="Arial"/>
              </a:rPr>
              <a:t>       print</a:t>
            </a:r>
            <a:r>
              <a:rPr lang="en-US" sz="1400" b="1" u="none" strike="noStrike">
                <a:solidFill>
                  <a:srgbClr val="3B3B3B"/>
                </a:solidFill>
                <a:effectLst/>
                <a:uFillTx/>
                <a:latin typeface="Menlo"/>
                <a:ea typeface="Arial"/>
              </a:rPr>
              <a:t>(</a:t>
            </a:r>
            <a:r>
              <a:rPr lang="en-US" sz="1400" b="1" u="none" strike="noStrike">
                <a:solidFill>
                  <a:srgbClr val="A31515"/>
                </a:solidFill>
                <a:effectLst/>
                <a:uFillTx/>
                <a:latin typeface="Menlo"/>
                <a:ea typeface="Arial"/>
              </a:rPr>
              <a:t>'Program Ended’</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stop</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attachment_motor</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stop</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r>
              <a:rPr lang="en-US" sz="1400" b="1" u="none" strike="noStrike">
                <a:solidFill>
                  <a:srgbClr val="001080"/>
                </a:solidFill>
                <a:effectLst/>
                <a:uFillTx/>
                <a:latin typeface="Menlo"/>
                <a:ea typeface="Arial"/>
              </a:rPr>
              <a:t>       drive_base</a:t>
            </a:r>
            <a:r>
              <a:rPr lang="en-US" sz="1400" b="1" u="none" strike="noStrike">
                <a:solidFill>
                  <a:srgbClr val="3B3B3B"/>
                </a:solidFill>
                <a:effectLst/>
                <a:uFillTx/>
                <a:latin typeface="Menlo"/>
                <a:ea typeface="Arial"/>
              </a:rPr>
              <a:t>.</a:t>
            </a:r>
            <a:r>
              <a:rPr lang="en-US" sz="1400" b="1" u="none" strike="noStrike">
                <a:solidFill>
                  <a:srgbClr val="795E26"/>
                </a:solidFill>
                <a:effectLst/>
                <a:uFillTx/>
                <a:latin typeface="Menlo"/>
                <a:ea typeface="Arial"/>
              </a:rPr>
              <a:t>use_gyro</a:t>
            </a:r>
            <a:r>
              <a:rPr lang="en-US" sz="1400" b="1" u="none" strike="noStrike">
                <a:solidFill>
                  <a:srgbClr val="3B3B3B"/>
                </a:solidFill>
                <a:effectLst/>
                <a:uFillTx/>
                <a:latin typeface="Menlo"/>
                <a:ea typeface="Arial"/>
              </a:rPr>
              <a:t>(</a:t>
            </a:r>
            <a:r>
              <a:rPr lang="en-US" sz="1400" b="1" u="none" strike="noStrike">
                <a:solidFill>
                  <a:srgbClr val="0000FF"/>
                </a:solidFill>
                <a:effectLst/>
                <a:uFillTx/>
                <a:latin typeface="Menlo"/>
                <a:ea typeface="Arial"/>
              </a:rPr>
              <a:t>False</a:t>
            </a:r>
            <a:r>
              <a:rPr lang="en-US" sz="1400" b="1" u="none" strike="noStrike">
                <a:solidFill>
                  <a:srgbClr val="3B3B3B"/>
                </a:solidFill>
                <a:effectLst/>
                <a:uFillTx/>
                <a:latin typeface="Menlo"/>
                <a:ea typeface="Arial"/>
              </a:rPr>
              <a:t>)</a:t>
            </a:r>
            <a:endParaRPr lang="en-US" sz="1400" b="0" u="none" strike="noStrike">
              <a:solidFill>
                <a:srgbClr val="000000"/>
              </a:solidFill>
              <a:effectLst/>
              <a:uFillTx/>
              <a:latin typeface="Arial"/>
            </a:endParaRPr>
          </a:p>
          <a:p>
            <a:pPr>
              <a:lnSpc>
                <a:spcPct val="100000"/>
              </a:lnSpc>
            </a:pPr>
            <a:br>
              <a:rPr sz="1400"/>
            </a:br>
            <a:endParaRPr lang="en-US" sz="14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5981</TotalTime>
  <Words>18711</Words>
  <Application>Microsoft Macintosh PowerPoint</Application>
  <PresentationFormat>On-screen Show (16:9)</PresentationFormat>
  <Paragraphs>1779</Paragraphs>
  <Slides>114</Slides>
  <Notes>16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114</vt:i4>
      </vt:variant>
    </vt:vector>
  </HeadingPairs>
  <TitlesOfParts>
    <vt:vector size="123" baseType="lpstr">
      <vt:lpstr>Arial</vt:lpstr>
      <vt:lpstr>Calibri</vt:lpstr>
      <vt:lpstr>Courier New</vt:lpstr>
      <vt:lpstr>Menlo</vt:lpstr>
      <vt:lpstr>Symbol</vt:lpstr>
      <vt:lpstr>Times New Roman</vt:lpstr>
      <vt:lpstr>Verdana</vt:lpstr>
      <vt:lpstr>Wingdings</vt:lpstr>
      <vt:lpstr>Simple Light</vt:lpstr>
      <vt:lpstr>Introduction to Pybricks for FLL Teams  MD FLL Mentors Group 3 October 2026 Rev 20  Boyd Fletcher fllcoachboyd@gmail.com</vt:lpstr>
      <vt:lpstr>Section Overview</vt:lpstr>
      <vt:lpstr>Section 1 – Introduction to Pybricks</vt:lpstr>
      <vt:lpstr>Introduction</vt:lpstr>
      <vt:lpstr>Caveats</vt:lpstr>
      <vt:lpstr>Block Coding vs. Python</vt:lpstr>
      <vt:lpstr>Why use Pybricks (1/3)</vt:lpstr>
      <vt:lpstr>Why use Pybricks (2/3)</vt:lpstr>
      <vt:lpstr>Why use Pybricks (3/3) </vt:lpstr>
      <vt:lpstr>Where do I get Pybricks?</vt:lpstr>
      <vt:lpstr>Installing Pybricks for Offline Use</vt:lpstr>
      <vt:lpstr>Pybricks Factoids (1/2)</vt:lpstr>
      <vt:lpstr>Pybricks Factoids (2/2)</vt:lpstr>
      <vt:lpstr>Pybricks User Interface (UI)</vt:lpstr>
      <vt:lpstr>Pybricks User Interface (UI)</vt:lpstr>
      <vt:lpstr>Section 2 - Pybricks Python vs. Block Coding Comparison</vt:lpstr>
      <vt:lpstr>My First Program: Block Code - Initializing the Robot</vt:lpstr>
      <vt:lpstr>My First Program: Python - Initializing the Robot </vt:lpstr>
      <vt:lpstr>My First Program: Block Code - Do something useful Part 1</vt:lpstr>
      <vt:lpstr>My First Program: Block Code - Do something useful Part 2</vt:lpstr>
      <vt:lpstr>My First Program: Python </vt:lpstr>
      <vt:lpstr>Example Running</vt:lpstr>
      <vt:lpstr>Blocking Coding vs. Python (1/2)</vt:lpstr>
      <vt:lpstr>Blocking Coding vs. Python (2/2)</vt:lpstr>
      <vt:lpstr>More Examples</vt:lpstr>
      <vt:lpstr>pybricks_class_bc_task2(): Part 1</vt:lpstr>
      <vt:lpstr>pybricks_class_bc_task2(): Part 2 </vt:lpstr>
      <vt:lpstr>pybricks_class_bc_task2(): Part 3 </vt:lpstr>
      <vt:lpstr>pybricks_class_basic_task2()</vt:lpstr>
      <vt:lpstr>pybricks_class_bc_task3(): Part 1 </vt:lpstr>
      <vt:lpstr>pybricks_class_bc_task3(): Part 2 </vt:lpstr>
      <vt:lpstr>pybricks_class_bc_task3(): Part 3 </vt:lpstr>
      <vt:lpstr>pybricks_class_basic_task3()</vt:lpstr>
      <vt:lpstr>Section 3 – How to use hub_menu()</vt:lpstr>
      <vt:lpstr>Hub Menu or “how do I store and run multiple tasks on my robot”</vt:lpstr>
      <vt:lpstr>Using hub_menu() (1/2)</vt:lpstr>
      <vt:lpstr>Using hub_menu() (2/2)</vt:lpstr>
      <vt:lpstr>pybricks_class_basic_task1() – Revised for hub_menu() </vt:lpstr>
      <vt:lpstr>Basic Robot Library (pybricks_class_basic_lib_rev1.py)</vt:lpstr>
      <vt:lpstr>hub_menu() Example Part 1 (pybricks_class_basic_menu_rev3.py)</vt:lpstr>
      <vt:lpstr>hub_menu() Example Part 2</vt:lpstr>
      <vt:lpstr>hub_menu() Example: Part 1</vt:lpstr>
      <vt:lpstr>hub_menu() Example: Part 2</vt:lpstr>
      <vt:lpstr>Running Multi Programs – Option 2</vt:lpstr>
      <vt:lpstr>Section 4 – Overview of Core Pybricks Python Functions</vt:lpstr>
      <vt:lpstr>Introduction to Pybricks Functions</vt:lpstr>
      <vt:lpstr>Components of a Pybricks program</vt:lpstr>
      <vt:lpstr>await()</vt:lpstr>
      <vt:lpstr>Pybricks Multitasking</vt:lpstr>
      <vt:lpstr>Miscellaneous Tidbits</vt:lpstr>
      <vt:lpstr>Motor()</vt:lpstr>
      <vt:lpstr>Motor() Examples</vt:lpstr>
      <vt:lpstr>DriveBase()</vt:lpstr>
      <vt:lpstr>DriveBase()Functions</vt:lpstr>
      <vt:lpstr>DriveBase()Examples</vt:lpstr>
      <vt:lpstr>Gyroscope </vt:lpstr>
      <vt:lpstr>Motor.run_target()</vt:lpstr>
      <vt:lpstr>then=Stop.????</vt:lpstr>
      <vt:lpstr>Motor.run_target()Examples</vt:lpstr>
      <vt:lpstr>Section 5 – Building &amp; Using a Pybricks Robot Library</vt:lpstr>
      <vt:lpstr>Why a Robot Library?</vt:lpstr>
      <vt:lpstr>Why a Robot Library?</vt:lpstr>
      <vt:lpstr>Changes from Actual Code</vt:lpstr>
      <vt:lpstr>Support Functions</vt:lpstr>
      <vt:lpstr>Movement Functions (1/2)</vt:lpstr>
      <vt:lpstr>Movement Functions (2/2)</vt:lpstr>
      <vt:lpstr>Robot Library Header </vt:lpstr>
      <vt:lpstr>initializeRobot() (1/4) </vt:lpstr>
      <vt:lpstr>initializeRobot() (2/4) </vt:lpstr>
      <vt:lpstr>initializeRobot() (3/4) </vt:lpstr>
      <vt:lpstr>initializeRobot() (4/4)</vt:lpstr>
      <vt:lpstr>PowerPoint Presentation</vt:lpstr>
      <vt:lpstr>moveAttachment(attachmentStr, degrees, speed, stopMode,                 resetAngle, stallDetect) (2/2)</vt:lpstr>
      <vt:lpstr>driveRobot(dist, speed, accel) </vt:lpstr>
      <vt:lpstr>driveRobotAndLift(dist, accel, attachmentStr, degrees, aSpeed, stopMode, resetAngle, stallDetect)</vt:lpstr>
      <vt:lpstr>turnRobot(dir, turnAccel, turnRate)</vt:lpstr>
      <vt:lpstr>turnRobotAndLift(dir, turnAccel, turnRate, attachmentStr, degrees, aSpeed, stopMode, resetAngle, stallDetect)</vt:lpstr>
      <vt:lpstr>driveRobotInArc(radius, mode, angleOrDist, speed, accel, turnAccel, turnRate)</vt:lpstr>
      <vt:lpstr>driveRobotInArcAndLift(radius,mode, angleOrDist, attachmentStr, degrees, aSpeed, stopMode, resetAngle, stallDetect) (1/2)</vt:lpstr>
      <vt:lpstr>driveRobotInArcAndLift(radius,mode, angleOrDist, attachmentStr, degrees, aSpeed, stopMode, resetAngle, stallDetect) (2/2)</vt:lpstr>
      <vt:lpstr>isStalled() </vt:lpstr>
      <vt:lpstr>resetAttachment(attachmentStr)</vt:lpstr>
      <vt:lpstr>initializeRobotForTask()</vt:lpstr>
      <vt:lpstr>stopEverything()</vt:lpstr>
      <vt:lpstr>Using RobotLib</vt:lpstr>
      <vt:lpstr>Examples of Using the Robot Library </vt:lpstr>
      <vt:lpstr>Robot Lib Example (1/3)</vt:lpstr>
      <vt:lpstr>Robot Lib Example (2/3)</vt:lpstr>
      <vt:lpstr>Robot Lib Example (3/3)</vt:lpstr>
      <vt:lpstr>Pybricks Library Menu (1/4)</vt:lpstr>
      <vt:lpstr>Pybricks Library Menu (2/4)</vt:lpstr>
      <vt:lpstr>Pybricks Library Menu (3/4)</vt:lpstr>
      <vt:lpstr>Pybricks Library Menu (4/4)</vt:lpstr>
      <vt:lpstr>Section 7 - Robot Game</vt:lpstr>
      <vt:lpstr>Robot Game: Introduction</vt:lpstr>
      <vt:lpstr>Robot Game: Rulebook &amp; Videos</vt:lpstr>
      <vt:lpstr>Robot Game: Missions vs. Tasks (1 of 2) </vt:lpstr>
      <vt:lpstr>Robot Game: Missions vs. Tasks (2 of 2) </vt:lpstr>
      <vt:lpstr>Robot Game: Approach to Missions  </vt:lpstr>
      <vt:lpstr>Robot Game: Team Organization</vt:lpstr>
      <vt:lpstr>Robot Game: “The Grand Unification”</vt:lpstr>
      <vt:lpstr>Robot Game: At the Competition Table</vt:lpstr>
      <vt:lpstr>Parts….I need Parts!</vt:lpstr>
      <vt:lpstr>Robot Design Presentation</vt:lpstr>
      <vt:lpstr>Conclusion</vt:lpstr>
      <vt:lpstr>Wait…. But I don’t know Python</vt:lpstr>
      <vt:lpstr>Summary</vt:lpstr>
      <vt:lpstr>Xbox Controller Example</vt:lpstr>
      <vt:lpstr>Xbox Controller Example</vt:lpstr>
      <vt:lpstr>Xbox Example (1/5)</vt:lpstr>
      <vt:lpstr>Xbox Example (2/5)</vt:lpstr>
      <vt:lpstr>Xbox Example (3/5)</vt:lpstr>
      <vt:lpstr>Xbox Example (4/5)</vt:lpstr>
      <vt:lpstr>Xbox Example (5/5)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OMMS FLL Team1</cp:lastModifiedBy>
  <cp:revision>252</cp:revision>
  <dcterms:modified xsi:type="dcterms:W3CDTF">2026-10-20T00:25:11Z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3</vt:i4>
  </property>
  <property fmtid="{D5CDD505-2E9C-101B-9397-08002B2CF9AE}" pid="3" name="Notes">
    <vt:i4>60</vt:i4>
  </property>
  <property fmtid="{D5CDD505-2E9C-101B-9397-08002B2CF9AE}" pid="4" name="PresentationFormat">
    <vt:lpwstr>On-screen Show (16:9)</vt:lpwstr>
  </property>
  <property fmtid="{D5CDD505-2E9C-101B-9397-08002B2CF9AE}" pid="5" name="Slides">
    <vt:i4>116</vt:i4>
  </property>
</Properties>
</file>